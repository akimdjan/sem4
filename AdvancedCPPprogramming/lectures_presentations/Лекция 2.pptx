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42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44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5" d="100"/>
          <a:sy n="85" d="100"/>
        </p:scale>
        <p:origin x="246" y="48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presProps" Target="presProps.xml" /><Relationship Id="rId51" Type="http://schemas.openxmlformats.org/officeDocument/2006/relationships/tableStyles" Target="tableStyles.xml" /><Relationship Id="rId5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Лекция 2. Классы. Повторение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Владение ресурсом. </a:t>
            </a:r>
            <a:r>
              <a:rPr lang="en-US"/>
              <a:t>RAII. </a:t>
            </a:r>
            <a:r>
              <a:rPr lang="ru-RU"/>
              <a:t>Умные указатели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 flipH="0" flipV="0">
            <a:off x="7325699" y="5686425"/>
            <a:ext cx="4776204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Чубанов Кирилл Константинович</a:t>
            </a:r>
            <a:br>
              <a:rPr lang="ru-RU"/>
            </a:br>
            <a:r>
              <a:rPr lang="ru-RU"/>
              <a:t>МФТИ, 2026 г.</a:t>
            </a:r>
            <a:br>
              <a:rPr lang="ru-RU"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Чем плох этот код?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Владение ресурсом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78139" y="1774357"/>
            <a:ext cx="4614598" cy="373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Памятью владеет тот, кто ее выделяет и освобождает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общем случае память – только один из видов ресурсов (файловые дескрипторы, сетевые соединения)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Владение ресурсом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78139" y="1774357"/>
            <a:ext cx="4614598" cy="373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Пример С-</a:t>
            </a:r>
            <a:r>
              <a:rPr lang="en-US"/>
              <a:t>style </a:t>
            </a:r>
            <a:r>
              <a:rPr lang="ru-RU"/>
              <a:t>метода</a:t>
            </a:r>
            <a:r>
              <a:rPr lang="en-US"/>
              <a:t> </a:t>
            </a:r>
            <a:r>
              <a:rPr lang="ru-RU"/>
              <a:t>в С++</a:t>
            </a:r>
            <a:endParaRPr/>
          </a:p>
          <a:p>
            <a:pPr>
              <a:defRPr/>
            </a:pPr>
            <a:r>
              <a:rPr lang="ru-RU"/>
              <a:t>Как хочется его поправить?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Владение ресурсом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05659" y="1373688"/>
            <a:ext cx="6944952" cy="4988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Хочется иметь единую точку</a:t>
            </a:r>
            <a:br>
              <a:rPr lang="ru-RU"/>
            </a:br>
            <a:r>
              <a:rPr lang="ru-RU"/>
              <a:t>освобождения памяти.</a:t>
            </a:r>
            <a:endParaRPr/>
          </a:p>
          <a:p>
            <a:pPr>
              <a:defRPr/>
            </a:pPr>
            <a:r>
              <a:rPr lang="ru-RU"/>
              <a:t>Например….. Так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Владение ресурсом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rcRect l="0" t="0" r="36209" b="0"/>
          <a:stretch/>
        </p:blipFill>
        <p:spPr bwMode="auto">
          <a:xfrm>
            <a:off x="7247067" y="1034041"/>
            <a:ext cx="4090283" cy="55406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Глава 7 – централизованный выход из функций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Linux Kernel Coding Guide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0" t="0" r="32390" b="0"/>
          <a:stretch/>
        </p:blipFill>
        <p:spPr bwMode="auto">
          <a:xfrm>
            <a:off x="6738190" y="1321724"/>
            <a:ext cx="4678991" cy="483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А в случае с </a:t>
            </a:r>
            <a:r>
              <a:rPr lang="en-US"/>
              <a:t>null – </a:t>
            </a:r>
            <a:r>
              <a:rPr lang="ru-RU"/>
              <a:t>можно сделать и так!</a:t>
            </a:r>
            <a:br>
              <a:rPr lang="ru-RU"/>
            </a:br>
            <a:r>
              <a:rPr lang="ru-RU"/>
              <a:t>Вдруг </a:t>
            </a:r>
            <a:r>
              <a:rPr lang="en-US"/>
              <a:t>foo – null?</a:t>
            </a:r>
            <a:endParaRPr/>
          </a:p>
          <a:p>
            <a:pPr>
              <a:defRPr/>
            </a:pPr>
            <a:r>
              <a:rPr lang="ru-RU"/>
              <a:t>А чем собственно плох </a:t>
            </a:r>
            <a:r>
              <a:rPr lang="en-US"/>
              <a:t>Goto</a:t>
            </a:r>
            <a:r>
              <a:rPr lang="en-US"/>
              <a:t>?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Linux Kernel Coding Guide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91240" y="2632667"/>
            <a:ext cx="4950292" cy="145688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393859" y="2673746"/>
            <a:ext cx="3868362" cy="1685082"/>
          </a:xfrm>
          <a:prstGeom prst="rect">
            <a:avLst/>
          </a:prstGeom>
        </p:spPr>
      </p:pic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 flipV="1">
            <a:off x="5396643" y="3516287"/>
            <a:ext cx="1767092" cy="1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Goto</a:t>
            </a:r>
            <a:r>
              <a:rPr lang="ru-RU" sz="4000">
                <a:solidFill>
                  <a:srgbClr val="00B0F0"/>
                </a:solidFill>
              </a:rPr>
              <a:t> </a:t>
            </a:r>
            <a:r>
              <a:rPr lang="en-US" sz="4000">
                <a:solidFill>
                  <a:srgbClr val="00B0F0"/>
                </a:solidFill>
              </a:rPr>
              <a:t>considered harmful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Goto</a:t>
            </a:r>
            <a:r>
              <a:rPr lang="en-US"/>
              <a:t> </a:t>
            </a:r>
            <a:r>
              <a:rPr lang="ru-RU"/>
              <a:t>превращают алгоритм из дерева – граф. </a:t>
            </a:r>
            <a:endParaRPr/>
          </a:p>
          <a:p>
            <a:pPr>
              <a:defRPr/>
            </a:pPr>
            <a:r>
              <a:rPr lang="ru-RU"/>
              <a:t>Графы сложно анализировать.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Кстати, </a:t>
            </a:r>
            <a:r>
              <a:rPr lang="en-US"/>
              <a:t>break, continue, switch </a:t>
            </a:r>
            <a:r>
              <a:rPr lang="ru-RU"/>
              <a:t>и т.п. – </a:t>
            </a:r>
            <a:r>
              <a:rPr lang="en-US"/>
              <a:t>Goto</a:t>
            </a:r>
            <a:r>
              <a:rPr lang="ru-RU"/>
              <a:t>-маскирующие конструкции (Но приемлемые обществом).</a:t>
            </a: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RAII – resource acquisition is initialization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Чтобы не использовать </a:t>
            </a:r>
            <a:r>
              <a:rPr lang="en-US"/>
              <a:t>Goto</a:t>
            </a:r>
            <a:r>
              <a:rPr lang="ru-RU"/>
              <a:t>,</a:t>
            </a:r>
            <a:r>
              <a:rPr lang="en-US"/>
              <a:t> </a:t>
            </a:r>
            <a:r>
              <a:rPr lang="ru-RU"/>
              <a:t>можно написать</a:t>
            </a:r>
            <a:br>
              <a:rPr lang="ru-RU"/>
            </a:br>
            <a:r>
              <a:rPr lang="ru-RU"/>
              <a:t>класс, в котором конструктор захватывает </a:t>
            </a:r>
            <a:br>
              <a:rPr lang="ru-RU"/>
            </a:br>
            <a:r>
              <a:rPr lang="ru-RU"/>
              <a:t>владение, а деструктор освобождает </a:t>
            </a:r>
            <a:br>
              <a:rPr lang="ru-RU"/>
            </a:br>
            <a:r>
              <a:rPr lang="ru-RU"/>
              <a:t>ресурс (</a:t>
            </a:r>
            <a:r>
              <a:rPr lang="en-US" b="1" i="1"/>
              <a:t>RAII</a:t>
            </a:r>
            <a:r>
              <a:rPr lang="en-US"/>
              <a:t>)</a:t>
            </a:r>
            <a:endParaRPr lang="ru-RU"/>
          </a:p>
          <a:p>
            <a:pPr>
              <a:defRPr/>
            </a:pPr>
            <a:r>
              <a:rPr lang="ru-RU"/>
              <a:t>Как это класс может выглядеть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786238" y="1083306"/>
            <a:ext cx="6298189" cy="5729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Возвращение к инкапсуляции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Давайте подумаем – что является</a:t>
            </a:r>
            <a:br>
              <a:rPr lang="en-US"/>
            </a:br>
            <a:r>
              <a:rPr lang="ru-RU"/>
              <a:t> инвариантом класса </a:t>
            </a:r>
            <a:r>
              <a:rPr lang="en-US"/>
              <a:t>ScopedPointer</a:t>
            </a:r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786238" y="1083306"/>
            <a:ext cx="6298189" cy="5729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Инвариант класса </a:t>
            </a:r>
            <a:r>
              <a:rPr lang="en-US" sz="4000">
                <a:solidFill>
                  <a:srgbClr val="00B0F0"/>
                </a:solidFill>
              </a:rPr>
              <a:t>ScopedPointer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«Никто кроме меня не имеет доступ </a:t>
            </a:r>
            <a:br>
              <a:rPr lang="ru-RU"/>
            </a:br>
            <a:r>
              <a:rPr lang="ru-RU"/>
              <a:t>к указателю, который я храню»</a:t>
            </a:r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786238" y="1083306"/>
            <a:ext cx="6298189" cy="5729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может выглядеть </a:t>
            </a:r>
            <a:r>
              <a:rPr lang="en-US"/>
              <a:t>ScopedPointer</a:t>
            </a:r>
            <a:r>
              <a:rPr lang="ru-RU"/>
              <a:t>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Две проблемы:</a:t>
            </a:r>
            <a:endParaRPr/>
          </a:p>
          <a:p>
            <a:pPr lvl="1">
              <a:defRPr/>
            </a:pPr>
            <a:r>
              <a:rPr lang="ru-RU"/>
              <a:t>Как написать копирование/присваивание?</a:t>
            </a:r>
            <a:endParaRPr/>
          </a:p>
          <a:p>
            <a:pPr lvl="1">
              <a:defRPr/>
            </a:pPr>
            <a:r>
              <a:rPr lang="ru-RU"/>
              <a:t>Как сделать что-то полезное, не </a:t>
            </a:r>
            <a:br>
              <a:rPr lang="ru-RU"/>
            </a:br>
            <a:r>
              <a:rPr lang="ru-RU"/>
              <a:t>дав утечь указателю?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78013" y="2321772"/>
            <a:ext cx="6813986" cy="1986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может выглядеть </a:t>
            </a:r>
            <a:r>
              <a:rPr lang="en-US"/>
              <a:t>ScopedPointer</a:t>
            </a:r>
            <a:r>
              <a:rPr lang="ru-RU"/>
              <a:t>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Вот такой конструктор сгенерирует</a:t>
            </a:r>
            <a:br>
              <a:rPr lang="ru-RU"/>
            </a:br>
            <a:r>
              <a:rPr lang="ru-RU"/>
              <a:t>компилятор по умолчанию.</a:t>
            </a:r>
            <a:endParaRPr/>
          </a:p>
          <a:p>
            <a:pPr>
              <a:defRPr/>
            </a:pPr>
            <a:r>
              <a:rPr lang="ru-RU"/>
              <a:t>Есть ли у него проблемы?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422779" y="1705031"/>
            <a:ext cx="6640621" cy="2777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может выглядеть </a:t>
            </a:r>
            <a:r>
              <a:rPr lang="en-US"/>
              <a:t>ScopedPointer</a:t>
            </a:r>
            <a:r>
              <a:rPr lang="ru-RU"/>
              <a:t>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Две проблемы:</a:t>
            </a:r>
            <a:endParaRPr/>
          </a:p>
          <a:p>
            <a:pPr lvl="1">
              <a:defRPr/>
            </a:pPr>
            <a:r>
              <a:rPr lang="ru-RU"/>
              <a:t>Как написать копирование/присваивание?</a:t>
            </a:r>
            <a:endParaRPr/>
          </a:p>
          <a:p>
            <a:pPr lvl="1">
              <a:defRPr/>
            </a:pPr>
            <a:r>
              <a:rPr lang="ru-RU"/>
              <a:t>Как сделать что-то полезное, не </a:t>
            </a:r>
            <a:br>
              <a:rPr lang="ru-RU"/>
            </a:br>
            <a:r>
              <a:rPr lang="ru-RU"/>
              <a:t>дав утечь указателю?</a:t>
            </a:r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422779" y="1705031"/>
            <a:ext cx="6640621" cy="2777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 (Копирование)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может выглядеть </a:t>
            </a:r>
            <a:r>
              <a:rPr lang="en-US"/>
              <a:t>ScopedPointer</a:t>
            </a:r>
            <a:r>
              <a:rPr lang="ru-RU"/>
              <a:t>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Тогда можно написать так.</a:t>
            </a:r>
            <a:endParaRPr/>
          </a:p>
          <a:p>
            <a:pPr>
              <a:defRPr/>
            </a:pPr>
            <a:r>
              <a:rPr lang="ru-RU"/>
              <a:t>Очень МОЩНОЕ ПРЕДПОЛОЖЕНИЕ – что</a:t>
            </a:r>
            <a:br>
              <a:rPr lang="ru-RU"/>
            </a:br>
            <a:r>
              <a:rPr lang="ru-RU"/>
              <a:t> тип Т – копируемый!</a:t>
            </a:r>
            <a:endParaRPr/>
          </a:p>
          <a:p>
            <a:pPr>
              <a:defRPr/>
            </a:pPr>
            <a:r>
              <a:rPr lang="ru-RU"/>
              <a:t>Как бы вы написали оператор присваивания?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0" t="0" r="12897" b="0"/>
          <a:stretch/>
        </p:blipFill>
        <p:spPr bwMode="auto">
          <a:xfrm>
            <a:off x="5566807" y="1939834"/>
            <a:ext cx="6625193" cy="2704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 (Доступ)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может выглядеть </a:t>
            </a:r>
            <a:r>
              <a:rPr lang="en-US"/>
              <a:t>ScopedPointer</a:t>
            </a:r>
            <a:r>
              <a:rPr lang="ru-RU"/>
              <a:t>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Для доступа можно написать функцию вроде</a:t>
            </a:r>
            <a:br>
              <a:rPr lang="ru-RU"/>
            </a:br>
            <a:r>
              <a:rPr lang="en-US"/>
              <a:t>access</a:t>
            </a:r>
            <a:r>
              <a:rPr lang="ru-RU"/>
              <a:t>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Но… хочется меньше кода для вызова.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961556" y="2046139"/>
            <a:ext cx="6138176" cy="2722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 (Доступ)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может выглядеть </a:t>
            </a:r>
            <a:r>
              <a:rPr lang="en-US"/>
              <a:t>ScopedPointer</a:t>
            </a:r>
            <a:r>
              <a:rPr lang="ru-RU"/>
              <a:t>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Разыменование указателя это оператор, и он </a:t>
            </a:r>
            <a:br>
              <a:rPr lang="ru-RU"/>
            </a:br>
            <a:r>
              <a:rPr lang="ru-RU"/>
              <a:t>перегружается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Стало лучше, но хочется, конечно, стрелочку :с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85676" y="2008313"/>
            <a:ext cx="5906324" cy="2448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 (Проблема со стрелочкой)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Что принимать и возвращать?)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0" t="0" r="16387" b="0"/>
          <a:stretch/>
        </p:blipFill>
        <p:spPr bwMode="auto">
          <a:xfrm>
            <a:off x="6520768" y="1814295"/>
            <a:ext cx="5456189" cy="2286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 (Решение)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Вызов </a:t>
            </a:r>
            <a:r>
              <a:rPr lang="en-US"/>
              <a:t>p-&gt; </a:t>
            </a:r>
            <a:r>
              <a:rPr lang="ru-RU"/>
              <a:t>эквивалентен (</a:t>
            </a:r>
            <a:r>
              <a:rPr lang="en-US"/>
              <a:t>p.operator</a:t>
            </a:r>
            <a:r>
              <a:rPr lang="en-US"/>
              <a:t>-&gt;()</a:t>
            </a:r>
            <a:r>
              <a:rPr lang="ru-RU"/>
              <a:t>)</a:t>
            </a:r>
            <a:r>
              <a:rPr lang="en-US"/>
              <a:t>-&gt;x</a:t>
            </a:r>
            <a:br>
              <a:rPr lang="en-US"/>
            </a:br>
            <a:r>
              <a:rPr lang="ru-RU"/>
              <a:t>и так сколько угодно раз.</a:t>
            </a:r>
            <a:endParaRPr/>
          </a:p>
          <a:p>
            <a:pPr>
              <a:defRPr/>
            </a:pPr>
            <a:r>
              <a:rPr lang="ru-RU"/>
              <a:t>Стрелочка «зарывается» в глубину на столько</a:t>
            </a:r>
            <a:br>
              <a:rPr lang="ru-RU"/>
            </a:br>
            <a:r>
              <a:rPr lang="ru-RU"/>
              <a:t>уровней на сколько может (</a:t>
            </a:r>
            <a:r>
              <a:rPr lang="en-US"/>
              <a:t>“drill down </a:t>
            </a:r>
            <a:r>
              <a:rPr lang="en-US"/>
              <a:t>behaviour</a:t>
            </a:r>
            <a:r>
              <a:rPr lang="en-US"/>
              <a:t>”</a:t>
            </a:r>
            <a:r>
              <a:rPr lang="ru-RU"/>
              <a:t>)</a:t>
            </a:r>
            <a:r>
              <a:rPr lang="en-US"/>
              <a:t>.</a:t>
            </a:r>
            <a:endParaRPr/>
          </a:p>
          <a:p>
            <a:pPr>
              <a:defRPr/>
            </a:pPr>
            <a:r>
              <a:rPr lang="ru-RU"/>
              <a:t>Почему это не нарушает инвариант класса?</a:t>
            </a:r>
            <a:endParaRPr/>
          </a:p>
          <a:p>
            <a:pPr>
              <a:defRPr/>
            </a:pPr>
            <a:r>
              <a:rPr lang="ru-RU"/>
              <a:t>Благодаря </a:t>
            </a:r>
            <a:r>
              <a:rPr lang="en-US"/>
              <a:t>drill-down </a:t>
            </a:r>
            <a:r>
              <a:rPr lang="ru-RU"/>
              <a:t>поведению, все что можно</a:t>
            </a:r>
            <a:br>
              <a:rPr lang="ru-RU"/>
            </a:br>
            <a:r>
              <a:rPr lang="ru-RU"/>
              <a:t>получить – конкретное поле класса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rcRect l="0" t="0" r="19442" b="0"/>
          <a:stretch/>
        </p:blipFill>
        <p:spPr bwMode="auto">
          <a:xfrm>
            <a:off x="6282557" y="1740652"/>
            <a:ext cx="5909443" cy="27297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 (Решение)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Хорош ли получившийся указатель?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0" t="0" r="28412" b="0"/>
          <a:stretch/>
        </p:blipFill>
        <p:spPr bwMode="auto">
          <a:xfrm>
            <a:off x="5503492" y="1570840"/>
            <a:ext cx="5988349" cy="4754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Обертка класса (Решение)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Хорош ли получившийся указатель?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Как будто в языке не хватает какого-то механизма, что выражать такие вещи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40167" y="2123604"/>
            <a:ext cx="9194247" cy="3471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Lvalue</a:t>
            </a:r>
            <a:r>
              <a:rPr lang="en-US"/>
              <a:t> – </a:t>
            </a:r>
            <a:r>
              <a:rPr lang="ru-RU"/>
              <a:t>переменная, которая хранится в памяти</a:t>
            </a:r>
            <a:endParaRPr/>
          </a:p>
          <a:p>
            <a:pPr>
              <a:defRPr/>
            </a:pPr>
            <a:r>
              <a:rPr lang="en-US"/>
              <a:t>Rvalue</a:t>
            </a:r>
            <a:r>
              <a:rPr lang="en-US"/>
              <a:t> – </a:t>
            </a:r>
            <a:r>
              <a:rPr lang="ru-RU"/>
              <a:t>некоторое выражение над </a:t>
            </a:r>
            <a:r>
              <a:rPr lang="en-US"/>
              <a:t>lvalue</a:t>
            </a:r>
            <a:r>
              <a:rPr lang="ru-RU"/>
              <a:t>, которое не хранится в памяти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Lvalue</a:t>
            </a:r>
            <a:r>
              <a:rPr lang="en-US" sz="4000">
                <a:solidFill>
                  <a:srgbClr val="00B0F0"/>
                </a:solidFill>
              </a:rPr>
              <a:t> </a:t>
            </a:r>
            <a:r>
              <a:rPr lang="ru-RU" sz="4000">
                <a:solidFill>
                  <a:srgbClr val="00B0F0"/>
                </a:solidFill>
              </a:rPr>
              <a:t>и </a:t>
            </a:r>
            <a:r>
              <a:rPr lang="en-US" sz="4000">
                <a:solidFill>
                  <a:srgbClr val="00B0F0"/>
                </a:solidFill>
              </a:rPr>
              <a:t>Rvalue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11956" y="2440095"/>
            <a:ext cx="8688012" cy="3772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Rvalue</a:t>
            </a:r>
            <a:r>
              <a:rPr lang="en-US"/>
              <a:t> ref –</a:t>
            </a:r>
            <a:r>
              <a:rPr lang="ru-RU"/>
              <a:t> операции взять выражение, связать выражение с именем и материализовать объект выражения  </a:t>
            </a:r>
            <a:r>
              <a:rPr lang="en-US"/>
              <a:t> </a:t>
            </a:r>
            <a:endParaRPr lang="ru-RU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Rvalue</a:t>
            </a:r>
            <a:r>
              <a:rPr lang="ru-RU" sz="4000">
                <a:solidFill>
                  <a:srgbClr val="00B0F0"/>
                </a:solidFill>
              </a:rPr>
              <a:t> </a:t>
            </a:r>
            <a:r>
              <a:rPr lang="en-US" sz="4000">
                <a:solidFill>
                  <a:srgbClr val="00B0F0"/>
                </a:solidFill>
              </a:rPr>
              <a:t>reference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295679"/>
            <a:ext cx="8066721" cy="4059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Что делает </a:t>
            </a:r>
            <a:r>
              <a:rPr lang="en-US"/>
              <a:t>std::move? </a:t>
            </a:r>
            <a:endParaRPr/>
          </a:p>
          <a:p>
            <a:pPr>
              <a:defRPr/>
            </a:pPr>
            <a:r>
              <a:rPr lang="ru-RU"/>
              <a:t>Берет </a:t>
            </a:r>
            <a:r>
              <a:rPr lang="en-US"/>
              <a:t>lvalue</a:t>
            </a:r>
            <a:r>
              <a:rPr lang="en-US"/>
              <a:t> ref </a:t>
            </a:r>
            <a:r>
              <a:rPr lang="ru-RU"/>
              <a:t>и приводит его к </a:t>
            </a:r>
            <a:r>
              <a:rPr lang="en-US"/>
              <a:t>rvalue</a:t>
            </a:r>
            <a:r>
              <a:rPr lang="en-US"/>
              <a:t> ref</a:t>
            </a:r>
            <a:r>
              <a:rPr lang="ru-RU"/>
              <a:t> 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Как превратить </a:t>
            </a:r>
            <a:r>
              <a:rPr lang="en-US" sz="4000">
                <a:solidFill>
                  <a:srgbClr val="00B0F0"/>
                </a:solidFill>
              </a:rPr>
              <a:t>lvalue</a:t>
            </a:r>
            <a:r>
              <a:rPr lang="en-US" sz="4000">
                <a:solidFill>
                  <a:srgbClr val="00B0F0"/>
                </a:solidFill>
              </a:rPr>
              <a:t> </a:t>
            </a:r>
            <a:r>
              <a:rPr lang="ru-RU" sz="4000">
                <a:solidFill>
                  <a:srgbClr val="00B0F0"/>
                </a:solidFill>
              </a:rPr>
              <a:t>в </a:t>
            </a:r>
            <a:r>
              <a:rPr lang="en-US" sz="4000">
                <a:solidFill>
                  <a:srgbClr val="00B0F0"/>
                </a:solidFill>
              </a:rPr>
              <a:t>rvalue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5070" y="2276047"/>
            <a:ext cx="8659433" cy="4220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Что будет выведено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Как превратить </a:t>
            </a:r>
            <a:r>
              <a:rPr lang="en-US" sz="4000">
                <a:solidFill>
                  <a:srgbClr val="00B0F0"/>
                </a:solidFill>
              </a:rPr>
              <a:t>lvalue</a:t>
            </a:r>
            <a:r>
              <a:rPr lang="en-US" sz="4000">
                <a:solidFill>
                  <a:srgbClr val="00B0F0"/>
                </a:solidFill>
              </a:rPr>
              <a:t> </a:t>
            </a:r>
            <a:r>
              <a:rPr lang="ru-RU" sz="4000">
                <a:solidFill>
                  <a:srgbClr val="00B0F0"/>
                </a:solidFill>
              </a:rPr>
              <a:t>в </a:t>
            </a:r>
            <a:r>
              <a:rPr lang="en-US" sz="4000">
                <a:solidFill>
                  <a:srgbClr val="00B0F0"/>
                </a:solidFill>
              </a:rPr>
              <a:t>rvalue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40367" y="2072780"/>
            <a:ext cx="6303725" cy="305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2 </a:t>
            </a:r>
            <a:r>
              <a:rPr lang="ru-RU"/>
              <a:t>разных адреса</a:t>
            </a:r>
            <a:endParaRPr/>
          </a:p>
          <a:p>
            <a:pPr>
              <a:defRPr/>
            </a:pPr>
            <a:r>
              <a:rPr lang="ru-RU"/>
              <a:t>Затем 5 и 6</a:t>
            </a:r>
            <a:endParaRPr/>
          </a:p>
          <a:p>
            <a:pPr>
              <a:defRPr/>
            </a:pPr>
            <a:r>
              <a:rPr lang="ru-RU"/>
              <a:t>Все понимают почему 5 и 6,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Как превратить </a:t>
            </a:r>
            <a:r>
              <a:rPr lang="en-US" sz="4000">
                <a:solidFill>
                  <a:srgbClr val="00B0F0"/>
                </a:solidFill>
              </a:rPr>
              <a:t>lvalue</a:t>
            </a:r>
            <a:r>
              <a:rPr lang="en-US" sz="4000">
                <a:solidFill>
                  <a:srgbClr val="00B0F0"/>
                </a:solidFill>
              </a:rPr>
              <a:t> </a:t>
            </a:r>
            <a:r>
              <a:rPr lang="ru-RU" sz="4000">
                <a:solidFill>
                  <a:srgbClr val="00B0F0"/>
                </a:solidFill>
              </a:rPr>
              <a:t>в </a:t>
            </a:r>
            <a:r>
              <a:rPr lang="en-US" sz="4000">
                <a:solidFill>
                  <a:srgbClr val="00B0F0"/>
                </a:solidFill>
              </a:rPr>
              <a:t>rvalue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40367" y="2072780"/>
            <a:ext cx="6303725" cy="305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Правая ссылка не может быть связана с </a:t>
            </a:r>
            <a:r>
              <a:rPr lang="en-US"/>
              <a:t>lvalue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Неконстантная</a:t>
            </a:r>
            <a:r>
              <a:rPr lang="ru-RU"/>
              <a:t> левая ссылка не может быть связана с </a:t>
            </a:r>
            <a:r>
              <a:rPr lang="en-US"/>
              <a:t>rvalue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Но при этом правая ссылка сама по себе задает имя и адрес и является </a:t>
            </a:r>
            <a:r>
              <a:rPr lang="en-US"/>
              <a:t>lvalue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Кросс-связывание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825057"/>
            <a:ext cx="6364683" cy="11732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7200" y="3620829"/>
            <a:ext cx="6521773" cy="7289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9674" y="5069796"/>
            <a:ext cx="5509709" cy="1006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Что выведет этот код?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Методы над </a:t>
            </a:r>
            <a:r>
              <a:rPr lang="en-US" sz="4000">
                <a:solidFill>
                  <a:srgbClr val="00B0F0"/>
                </a:solidFill>
              </a:rPr>
              <a:t>rvalues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00113" y="1773226"/>
            <a:ext cx="5898169" cy="27389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На удивление – ответа нет, потому что это </a:t>
            </a:r>
            <a:r>
              <a:rPr lang="en-US"/>
              <a:t>UB.</a:t>
            </a:r>
            <a:endParaRPr/>
          </a:p>
          <a:p>
            <a:pPr>
              <a:defRPr/>
            </a:pPr>
            <a:r>
              <a:rPr lang="ru-RU"/>
              <a:t>Временный объект удаляется после присвоения </a:t>
            </a:r>
            <a:br>
              <a:rPr lang="ru-RU"/>
            </a:br>
            <a:r>
              <a:rPr lang="ru-RU"/>
              <a:t>ссылки, а вместе с ним и его поле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Методы над </a:t>
            </a:r>
            <a:r>
              <a:rPr lang="en-US" sz="4000">
                <a:solidFill>
                  <a:srgbClr val="00B0F0"/>
                </a:solidFill>
              </a:rPr>
              <a:t>rvalues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00113" y="1773226"/>
            <a:ext cx="5898169" cy="27389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Методы могут быть аннотированы как </a:t>
            </a:r>
            <a:br>
              <a:rPr lang="ru-RU"/>
            </a:br>
            <a:r>
              <a:rPr lang="en-US"/>
              <a:t>&amp; - </a:t>
            </a:r>
            <a:r>
              <a:rPr lang="ru-RU"/>
              <a:t>вызывается для </a:t>
            </a:r>
            <a:r>
              <a:rPr lang="en-US"/>
              <a:t>lvalue</a:t>
            </a:r>
            <a:r>
              <a:rPr lang="en-US"/>
              <a:t>-ref</a:t>
            </a:r>
            <a:br>
              <a:rPr lang="en-US"/>
            </a:br>
            <a:r>
              <a:rPr lang="en-US"/>
              <a:t>&amp;&amp; - </a:t>
            </a:r>
            <a:r>
              <a:rPr lang="ru-RU"/>
              <a:t>вызывается для </a:t>
            </a:r>
            <a:r>
              <a:rPr lang="en-US"/>
              <a:t>rvalue</a:t>
            </a:r>
            <a:r>
              <a:rPr lang="en-US"/>
              <a:t>-ref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Теперь вызов метода </a:t>
            </a:r>
            <a:r>
              <a:rPr lang="en-US"/>
              <a:t>access() </a:t>
            </a:r>
            <a:r>
              <a:rPr lang="ru-RU"/>
              <a:t>от временного</a:t>
            </a:r>
            <a:br>
              <a:rPr lang="ru-RU"/>
            </a:br>
            <a:r>
              <a:rPr lang="ru-RU"/>
              <a:t>объекта – ошибка компиляции.</a:t>
            </a:r>
            <a:endParaRPr/>
          </a:p>
          <a:p>
            <a:pPr>
              <a:defRPr/>
            </a:pPr>
            <a:r>
              <a:rPr lang="ru-RU"/>
              <a:t>Ошибка компиляции всегда лучше висячей</a:t>
            </a:r>
            <a:br>
              <a:rPr lang="ru-RU"/>
            </a:br>
            <a:r>
              <a:rPr lang="ru-RU"/>
              <a:t>ссылки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Решение проблемы – аннотация методов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17400" y="1779957"/>
            <a:ext cx="5845356" cy="2740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Конструктор, берущий</a:t>
            </a:r>
            <a:r>
              <a:rPr lang="en-US"/>
              <a:t> </a:t>
            </a:r>
            <a:r>
              <a:rPr lang="en-US"/>
              <a:t>rvalue</a:t>
            </a:r>
            <a:r>
              <a:rPr lang="en-US"/>
              <a:t> ref</a:t>
            </a:r>
            <a:r>
              <a:rPr lang="ru-RU"/>
              <a:t>, не обязан сохранять значение.</a:t>
            </a:r>
            <a:endParaRPr/>
          </a:p>
          <a:p>
            <a:pPr>
              <a:defRPr/>
            </a:pPr>
            <a:r>
              <a:rPr lang="ru-RU"/>
              <a:t>Крайне удобно, где требуется глубокое копирование 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Перемещающие конструкторы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22224" y="2364435"/>
            <a:ext cx="9608743" cy="34816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C</a:t>
            </a:r>
            <a:r>
              <a:rPr lang="ru-RU"/>
              <a:t>тарый</a:t>
            </a:r>
            <a:r>
              <a:rPr lang="ru-RU"/>
              <a:t> способ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Новый способ (С++11)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Обновленный </a:t>
            </a:r>
            <a:r>
              <a:rPr lang="en-US" sz="4000">
                <a:solidFill>
                  <a:srgbClr val="00B0F0"/>
                </a:solidFill>
              </a:rPr>
              <a:t>swap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8524" y="1812030"/>
            <a:ext cx="6178649" cy="17982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5070" y="4571202"/>
            <a:ext cx="7468557" cy="1786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В таком коде </a:t>
            </a:r>
            <a:r>
              <a:rPr lang="en-US"/>
              <a:t>std::move </a:t>
            </a:r>
            <a:r>
              <a:rPr lang="ru-RU"/>
              <a:t>не нужен (</a:t>
            </a:r>
            <a:r>
              <a:rPr lang="ru-RU"/>
              <a:t>тк</a:t>
            </a:r>
            <a:r>
              <a:rPr lang="ru-RU"/>
              <a:t>. есть </a:t>
            </a:r>
            <a:r>
              <a:rPr lang="en-US"/>
              <a:t>RVO)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Функция </a:t>
            </a:r>
            <a:r>
              <a:rPr lang="ru-RU"/>
              <a:t>возращающая</a:t>
            </a:r>
            <a:r>
              <a:rPr lang="ru-RU"/>
              <a:t> значение это </a:t>
            </a:r>
            <a:r>
              <a:rPr lang="en-US"/>
              <a:t>rvalue</a:t>
            </a:r>
            <a:r>
              <a:rPr lang="en-US"/>
              <a:t> expression </a:t>
            </a:r>
            <a:r>
              <a:rPr lang="ru-RU"/>
              <a:t>и таким образом все равно делает </a:t>
            </a:r>
            <a:r>
              <a:rPr lang="en-US"/>
              <a:t>move </a:t>
            </a:r>
            <a:r>
              <a:rPr lang="ru-RU"/>
              <a:t>в точке вызова</a:t>
            </a:r>
            <a:endParaRPr/>
          </a:p>
          <a:p>
            <a:pPr>
              <a:defRPr/>
            </a:pPr>
            <a:r>
              <a:rPr lang="ru-RU"/>
              <a:t>При этом использование </a:t>
            </a:r>
            <a:r>
              <a:rPr lang="en-US"/>
              <a:t>move </a:t>
            </a:r>
            <a:r>
              <a:rPr lang="ru-RU"/>
              <a:t>может сделать вещи хуже, убив </a:t>
            </a:r>
            <a:r>
              <a:rPr lang="en-US"/>
              <a:t>RVO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RVO </a:t>
            </a:r>
            <a:r>
              <a:rPr lang="ru-RU" sz="4000">
                <a:solidFill>
                  <a:srgbClr val="00B0F0"/>
                </a:solidFill>
              </a:rPr>
              <a:t>и </a:t>
            </a:r>
            <a:r>
              <a:rPr lang="en-US" sz="4000">
                <a:solidFill>
                  <a:srgbClr val="00B0F0"/>
                </a:solidFill>
              </a:rPr>
              <a:t>move-</a:t>
            </a:r>
            <a:r>
              <a:rPr lang="ru-RU" sz="4000">
                <a:solidFill>
                  <a:srgbClr val="00B0F0"/>
                </a:solidFill>
              </a:rPr>
              <a:t>семантика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8524" y="1678383"/>
            <a:ext cx="7143859" cy="1842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/>
              <a:t>Правило трёх</a:t>
            </a:r>
            <a:r>
              <a:rPr lang="ru-RU"/>
              <a:t> (также известное как «Закон Большой Тройки» или «Большая Тройка») — правило в C++, гласящее, что если класс или структура определяет один из следующих методов, то они должны явным образом определить все три метода:</a:t>
            </a:r>
            <a:endParaRPr/>
          </a:p>
          <a:p>
            <a:pPr lvl="1">
              <a:defRPr/>
            </a:pPr>
            <a:r>
              <a:rPr lang="ru-RU"/>
              <a:t>Деструктор</a:t>
            </a:r>
            <a:endParaRPr/>
          </a:p>
          <a:p>
            <a:pPr lvl="1">
              <a:defRPr/>
            </a:pPr>
            <a:r>
              <a:rPr lang="ru-RU"/>
              <a:t>Конструктор копирования</a:t>
            </a:r>
            <a:endParaRPr/>
          </a:p>
          <a:p>
            <a:pPr lvl="1">
              <a:defRPr/>
            </a:pPr>
            <a:r>
              <a:rPr lang="ru-RU"/>
              <a:t>Оператор присваивания копированием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С выходом одиннадцатого стандарта правило расширилось и стало называться правилом пяти. Теперь при реализации конструктора необходимо реализовать:</a:t>
            </a:r>
            <a:endParaRPr/>
          </a:p>
          <a:p>
            <a:pPr lvl="1">
              <a:defRPr/>
            </a:pPr>
            <a:r>
              <a:rPr lang="ru-RU"/>
              <a:t>Деструктор</a:t>
            </a:r>
            <a:endParaRPr/>
          </a:p>
          <a:p>
            <a:pPr lvl="1">
              <a:defRPr/>
            </a:pPr>
            <a:r>
              <a:rPr lang="ru-RU"/>
              <a:t>Конструктор копирования</a:t>
            </a:r>
            <a:endParaRPr/>
          </a:p>
          <a:p>
            <a:pPr lvl="1">
              <a:defRPr/>
            </a:pPr>
            <a:r>
              <a:rPr lang="ru-RU"/>
              <a:t>Оператор присваивания копированием</a:t>
            </a:r>
            <a:endParaRPr/>
          </a:p>
          <a:p>
            <a:pPr lvl="1">
              <a:defRPr/>
            </a:pPr>
            <a:r>
              <a:rPr lang="ru-RU"/>
              <a:t>Конструктор перемещения</a:t>
            </a:r>
            <a:endParaRPr/>
          </a:p>
          <a:p>
            <a:pPr lvl="1">
              <a:defRPr/>
            </a:pPr>
            <a:r>
              <a:rPr lang="ru-RU"/>
              <a:t>Оператор присваивания перемещением</a:t>
            </a:r>
            <a:endParaRPr/>
          </a:p>
          <a:p>
            <a:pPr lvl="1"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Правило пяти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Если ничего из специальных функций-членов не определено пользователем, то (с учетом переменных-членов) компилятор предоставит реализации по умолчанию для каждой из них. </a:t>
            </a:r>
            <a:r>
              <a:rPr lang="ru-RU" b="1"/>
              <a:t>Правило Ноля заключается в том, что тот сценарий, когда </a:t>
            </a:r>
            <a:r>
              <a:rPr lang="ru-RU" b="1" i="1"/>
              <a:t>не нужно</a:t>
            </a:r>
            <a:r>
              <a:rPr lang="ru-RU" b="1"/>
              <a:t> определять </a:t>
            </a:r>
            <a:r>
              <a:rPr lang="ru-RU" b="1" i="1"/>
              <a:t>ничего</a:t>
            </a:r>
            <a:r>
              <a:rPr lang="ru-RU" b="1"/>
              <a:t> из специальных функций-членов, должен быть </a:t>
            </a:r>
            <a:r>
              <a:rPr lang="ru-RU" b="1" i="1"/>
              <a:t>предпочтительным</a:t>
            </a:r>
            <a:r>
              <a:rPr lang="ru-RU"/>
              <a:t>. 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Правило нуля</a:t>
            </a:r>
            <a:endParaRPr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Основная идея: использовать для передачи управления перемещение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Это очень удобный класс, позволяющий не писать свои велосипеды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Идея </a:t>
            </a:r>
            <a:r>
              <a:rPr lang="en-US" sz="4000">
                <a:solidFill>
                  <a:srgbClr val="00B0F0"/>
                </a:solidFill>
              </a:rPr>
              <a:t>unique_ptr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385070" y="14741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57409" y="1712858"/>
            <a:ext cx="6715061" cy="3352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Описанный умный указатель </a:t>
            </a:r>
            <a:r>
              <a:rPr lang="ru-RU"/>
              <a:t>реазилован</a:t>
            </a:r>
            <a:r>
              <a:rPr lang="ru-RU"/>
              <a:t> в стандарте.</a:t>
            </a:r>
            <a:endParaRPr/>
          </a:p>
          <a:p>
            <a:pPr>
              <a:defRPr/>
            </a:pPr>
            <a:r>
              <a:rPr lang="ru-RU"/>
              <a:t>std::</a:t>
            </a:r>
            <a:r>
              <a:rPr lang="ru-RU"/>
              <a:t>unique_ptr</a:t>
            </a:r>
            <a:r>
              <a:rPr lang="ru-RU"/>
              <a:t> воплощает в себе семантику исключительного владения.</a:t>
            </a:r>
            <a:endParaRPr/>
          </a:p>
          <a:p>
            <a:pPr>
              <a:defRPr/>
            </a:pPr>
            <a:r>
              <a:rPr lang="ru-RU"/>
              <a:t>Перемещение std::</a:t>
            </a:r>
            <a:r>
              <a:rPr lang="ru-RU"/>
              <a:t>unique</a:t>
            </a:r>
            <a:r>
              <a:rPr lang="ru-RU"/>
              <a:t> _</a:t>
            </a:r>
            <a:r>
              <a:rPr lang="ru-RU"/>
              <a:t>ptr</a:t>
            </a:r>
            <a:r>
              <a:rPr lang="ru-RU"/>
              <a:t> передает владение от исходного указателя целевому.</a:t>
            </a:r>
            <a:endParaRPr lang="en-US"/>
          </a:p>
          <a:p>
            <a:pPr>
              <a:defRPr/>
            </a:pPr>
            <a:r>
              <a:rPr lang="ru-RU"/>
              <a:t>Интеллектуальные указатели std::</a:t>
            </a:r>
            <a:r>
              <a:rPr lang="ru-RU"/>
              <a:t>unique_ptr</a:t>
            </a:r>
            <a:r>
              <a:rPr lang="ru-RU"/>
              <a:t> легко преобразуются в интеллектуальные указатели std::</a:t>
            </a:r>
            <a:r>
              <a:rPr lang="ru-RU"/>
              <a:t>shared_ptr</a:t>
            </a:r>
            <a:r>
              <a:rPr lang="ru-RU"/>
              <a:t>, однако неявных преобразований классических указателей в умные не предусмотрено</a:t>
            </a:r>
            <a:r>
              <a:rPr lang="en-US"/>
              <a:t>.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Std::</a:t>
            </a:r>
            <a:r>
              <a:rPr lang="en-US" sz="4000">
                <a:solidFill>
                  <a:srgbClr val="00B0F0"/>
                </a:solidFill>
              </a:rPr>
              <a:t>unique_ptr</a:t>
            </a:r>
            <a:endParaRPr lang="ru-RU" sz="400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Базовая проблема </a:t>
            </a:r>
            <a:r>
              <a:rPr lang="en-US"/>
              <a:t>RAII –</a:t>
            </a:r>
            <a:r>
              <a:rPr lang="ru-RU"/>
              <a:t> копирование</a:t>
            </a:r>
            <a:endParaRPr/>
          </a:p>
          <a:p>
            <a:pPr>
              <a:defRPr/>
            </a:pPr>
            <a:r>
              <a:rPr lang="ru-RU"/>
              <a:t>Реализация </a:t>
            </a:r>
            <a:r>
              <a:rPr lang="en-US"/>
              <a:t>unique_ptr</a:t>
            </a:r>
            <a:r>
              <a:rPr lang="en-US"/>
              <a:t> </a:t>
            </a:r>
            <a:r>
              <a:rPr lang="ru-RU"/>
              <a:t>предполагает отказ от копирования, совмещенный с семантикой перемещения</a:t>
            </a:r>
            <a:endParaRPr/>
          </a:p>
          <a:p>
            <a:pPr>
              <a:defRPr/>
            </a:pPr>
            <a:r>
              <a:rPr lang="ru-RU"/>
              <a:t>Однако этот вариант не предусматривает </a:t>
            </a:r>
            <a:r>
              <a:rPr lang="ru-RU">
                <a:solidFill>
                  <a:schemeClr val="accent1"/>
                </a:solidFill>
              </a:rPr>
              <a:t>совместного владения ресурсом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Проблема </a:t>
            </a:r>
            <a:r>
              <a:rPr lang="en-US" sz="4000">
                <a:solidFill>
                  <a:srgbClr val="00B0F0"/>
                </a:solidFill>
              </a:rPr>
              <a:t>std::</a:t>
            </a:r>
            <a:r>
              <a:rPr lang="en-US" sz="4000">
                <a:solidFill>
                  <a:srgbClr val="00B0F0"/>
                </a:solidFill>
              </a:rPr>
              <a:t>unique_ptr</a:t>
            </a:r>
            <a:endParaRPr lang="ru-RU" sz="400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Как может быть устроен  такой указатель?</a:t>
            </a:r>
            <a:endParaRPr/>
          </a:p>
          <a:p>
            <a:pPr>
              <a:defRPr/>
            </a:pPr>
            <a:r>
              <a:rPr lang="ru-RU"/>
              <a:t>Пока счетчик ссылок не нулевой, данные</a:t>
            </a:r>
            <a:r>
              <a:rPr lang="en-US"/>
              <a:t> Node </a:t>
            </a:r>
            <a:br>
              <a:rPr lang="ru-RU"/>
            </a:br>
            <a:r>
              <a:rPr lang="ru-RU"/>
              <a:t>сохраняются</a:t>
            </a:r>
            <a:endParaRPr/>
          </a:p>
          <a:p>
            <a:pPr>
              <a:defRPr/>
            </a:pPr>
            <a:r>
              <a:rPr lang="ru-RU"/>
              <a:t>Все владеющие указатели могут читать и изменять </a:t>
            </a:r>
            <a:br>
              <a:rPr lang="ru-RU"/>
            </a:br>
            <a:r>
              <a:rPr lang="ru-RU"/>
              <a:t>их;</a:t>
            </a:r>
            <a:endParaRPr/>
          </a:p>
          <a:p>
            <a:pPr>
              <a:defRPr/>
            </a:pPr>
            <a:r>
              <a:rPr lang="ru-RU"/>
              <a:t>Специальная структура – </a:t>
            </a:r>
            <a:r>
              <a:rPr lang="ru-RU">
                <a:solidFill>
                  <a:schemeClr val="accent1"/>
                </a:solidFill>
              </a:rPr>
              <a:t>контрольный блок </a:t>
            </a:r>
            <a:br>
              <a:rPr lang="ru-RU">
                <a:solidFill>
                  <a:schemeClr val="accent1"/>
                </a:solidFill>
              </a:rPr>
            </a:br>
            <a:r>
              <a:rPr lang="ru-RU">
                <a:solidFill>
                  <a:schemeClr val="accent1"/>
                </a:solidFill>
              </a:rPr>
              <a:t>действительно владеет ресурсом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Указатель со совместным владение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54008" y="1321724"/>
            <a:ext cx="5382375" cy="3238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Данный вид умного указателя реализуется с помощью класса стандартной библиотеки </a:t>
            </a:r>
            <a:r>
              <a:rPr lang="en-US"/>
              <a:t>std::</a:t>
            </a:r>
            <a:r>
              <a:rPr lang="en-US"/>
              <a:t>shared_ptr</a:t>
            </a:r>
            <a:endParaRPr lang="en-US"/>
          </a:p>
          <a:p>
            <a:pPr>
              <a:defRPr/>
            </a:pPr>
            <a:r>
              <a:rPr lang="ru-RU"/>
              <a:t>Для совместного владения в стандартной библиотеке существует 2 способа создать такой умный указатель:</a:t>
            </a:r>
            <a:endParaRPr/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r>
              <a:rPr lang="ru-RU"/>
              <a:t>В первом случае одним выделением памяти создается и контрольный блок и данные;</a:t>
            </a:r>
            <a:endParaRPr/>
          </a:p>
          <a:p>
            <a:pPr>
              <a:defRPr/>
            </a:pPr>
            <a:r>
              <a:rPr lang="ru-RU"/>
              <a:t>Во втором – сначала данные, а в конструкторе контрольный блок;</a:t>
            </a:r>
            <a:endParaRPr/>
          </a:p>
          <a:p>
            <a:pPr>
              <a:defRPr/>
            </a:pPr>
            <a:r>
              <a:rPr lang="ru-RU"/>
              <a:t>Второй вариант менее эффективен и безопасен относительно исключений.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Решение:</a:t>
            </a:r>
            <a:r>
              <a:rPr lang="en-US" sz="4000">
                <a:solidFill>
                  <a:srgbClr val="00B0F0"/>
                </a:solidFill>
              </a:rPr>
              <a:t> </a:t>
            </a:r>
            <a:r>
              <a:rPr lang="en-US" sz="4000">
                <a:solidFill>
                  <a:srgbClr val="00B0F0"/>
                </a:solidFill>
              </a:rPr>
              <a:t>shared_ptr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8525" y="2619956"/>
            <a:ext cx="8268727" cy="1037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Представим что два разных разделяемых указателя были сделаны из одного: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Это приводит </a:t>
            </a:r>
            <a:r>
              <a:rPr lang="ru-RU"/>
              <a:t>к созданию </a:t>
            </a:r>
            <a:r>
              <a:rPr lang="ru-RU"/>
              <a:t>двух контрольных блоков вместо одного и проблеме двойного удаления;</a:t>
            </a:r>
            <a:endParaRPr/>
          </a:p>
          <a:p>
            <a:pPr>
              <a:defRPr/>
            </a:pPr>
            <a:r>
              <a:rPr lang="ru-RU"/>
              <a:t>Это еще один аргумент за </a:t>
            </a:r>
            <a:r>
              <a:rPr lang="en-US"/>
              <a:t>make_shared</a:t>
            </a:r>
            <a:endParaRPr lang="ru-RU"/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Проблемы </a:t>
            </a:r>
            <a:r>
              <a:rPr lang="en-US" sz="4000">
                <a:solidFill>
                  <a:srgbClr val="00B0F0"/>
                </a:solidFill>
              </a:rPr>
              <a:t>shared_ptr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8525" y="1799141"/>
            <a:ext cx="6616494" cy="13969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Какие основные проблемы создает копирование и подсчет ссылок при работе с разделяемыми указателями?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Проблемы </a:t>
            </a:r>
            <a:r>
              <a:rPr lang="en-US" sz="4000">
                <a:solidFill>
                  <a:srgbClr val="00B0F0"/>
                </a:solidFill>
              </a:rPr>
              <a:t>shared_ptr</a:t>
            </a:r>
            <a:endParaRPr lang="ru-RU" sz="400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Есть ли проблема в этом коде?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Закольцованные указатели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2494" y="2014369"/>
            <a:ext cx="6360491" cy="2309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Давайте посчитаем!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Теперь эта сладкая парочка не умрет на выходе из области видимости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Закольцованные указатели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3090" y="1817221"/>
            <a:ext cx="7836458" cy="24642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Слабый указатель не владеет объектом, на который указывает</a:t>
            </a: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Теперь все хорошо за счет слабого владения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Решение: слабые указатели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6836" y="1793828"/>
            <a:ext cx="9374521" cy="2786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отличии от сырых - слабый указатель знает когда объект больше не существует;</a:t>
            </a:r>
            <a:endParaRPr/>
          </a:p>
          <a:p>
            <a:pPr>
              <a:defRPr/>
            </a:pPr>
            <a:r>
              <a:rPr lang="ru-RU"/>
              <a:t>Слабый указатель можно проверить на истечение </a:t>
            </a:r>
            <a:r>
              <a:rPr lang="ru-RU"/>
              <a:t>срока жизни;</a:t>
            </a:r>
            <a:endParaRPr lang="ru-RU"/>
          </a:p>
          <a:p>
            <a:pPr>
              <a:defRPr/>
            </a:pPr>
            <a:r>
              <a:rPr lang="ru-RU"/>
              <a:t>Слабый указатель нельзя </a:t>
            </a:r>
            <a:r>
              <a:rPr lang="ru-RU"/>
              <a:t>разыменовать</a:t>
            </a:r>
            <a:r>
              <a:rPr lang="ru-RU"/>
              <a:t>;</a:t>
            </a:r>
            <a:endParaRPr/>
          </a:p>
          <a:p>
            <a:pPr>
              <a:defRPr/>
            </a:pPr>
            <a:r>
              <a:rPr lang="ru-RU"/>
              <a:t>Но… Его можно превратить в сильный и потом </a:t>
            </a:r>
            <a:r>
              <a:rPr lang="ru-RU"/>
              <a:t>разыменовать</a:t>
            </a:r>
            <a:r>
              <a:rPr lang="ru-RU"/>
              <a:t>)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478525" y="336095"/>
            <a:ext cx="11519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слабых указателей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Лекции: 5, 6)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47</Slides>
  <Notes>47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93</cp:revision>
  <dcterms:created xsi:type="dcterms:W3CDTF">2023-01-29T12:06:08Z</dcterms:created>
  <dcterms:modified xsi:type="dcterms:W3CDTF">2026-03-13T06:04:26Z</dcterms:modified>
  <cp:category/>
  <cp:contentStatus/>
  <cp:version/>
</cp:coreProperties>
</file>