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25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12192000" cy="6858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6" d="100"/>
          <a:sy n="106" d="100"/>
        </p:scale>
        <p:origin x="654" y="96"/>
      </p:cViewPr>
      <p:guideLst>
        <p:guide pos="2160" orient="horz"/>
        <p:guide pos="384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 /><Relationship Id="rId29" Type="http://schemas.openxmlformats.org/officeDocument/2006/relationships/tableStyles" Target="tableStyles.xml" /><Relationship Id="rId30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 bwMode="auto">
            <a:xfrm>
              <a:off x="1674042" y="1186483"/>
              <a:ext cx="8843596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 bwMode="auto"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7" name="Group 26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49925"/>
            <a:ext cx="3498978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18447" y="803186"/>
            <a:ext cx="6281873" cy="5248622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Заголовок раздел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9" name="Group 8"/>
          <p:cNvGrpSpPr/>
          <p:nvPr/>
        </p:nvGrpSpPr>
        <p:grpSpPr bwMode="auto"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 bwMode="auto">
            <a:xfrm>
              <a:off x="3259545" y="1186483"/>
              <a:ext cx="5657881" cy="71618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 bwMode="auto">
            <a:xfrm rot="10800000">
              <a:off x="5892384" y="5313353"/>
              <a:ext cx="407232" cy="35106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 bwMode="auto"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3344216" y="2074729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Два объекта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59" name="Group 58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5120878" y="803187"/>
            <a:ext cx="6269591" cy="2382651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18447" y="3672161"/>
            <a:ext cx="6272022" cy="2383586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Сравнение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61" name="Group 6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5125305" y="1488985"/>
            <a:ext cx="6264350" cy="1696853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5118447" y="4351687"/>
            <a:ext cx="6265588" cy="1704060"/>
          </a:xfrm>
        </p:spPr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Только 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4" name="Group 23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Пусто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Объект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1" name="Group 20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 bwMode="auto">
          <a:xfrm>
            <a:off x="5109983" y="802808"/>
            <a:ext cx="6275035" cy="5249940"/>
          </a:xfrm>
        </p:spPr>
        <p:txBody>
          <a:bodyPr anchor="ctr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Рисунок с подписью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 bwMode="auto"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 fill="norm" stroke="1" extrusionOk="0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5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 fill="norm" stroke="1" extrusionOk="0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7"/>
            <p:cNvSpPr/>
            <p:nvPr/>
          </p:nvSpPr>
          <p:spPr bwMode="auto">
            <a:xfrm>
              <a:off x="251350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 fill="norm" stroke="1" extrusionOk="0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 fill="norm" stroke="1" extrusionOk="0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 fill="norm" stroke="1" extrusionOk="0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 fill="norm" stroke="1" extrusionOk="0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 fill="norm" stroke="1" extrusionOk="0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 fill="norm" stroke="1" extrusionOk="0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 fill="norm" stroke="1" extrusionOk="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 fill="norm" stroke="1" extrusionOk="0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 fill="norm" stroke="1" extrusionOk="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 fill="norm" stroke="1" extrusionOk="0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 fill="norm" stroke="1" extrusionOk="0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 fill="norm" stroke="1" extrusionOk="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49"/>
            </a:xfrm>
            <a:custGeom>
              <a:avLst/>
              <a:gdLst/>
              <a:ahLst/>
              <a:cxnLst/>
              <a:rect l="0" t="0" r="r" b="b"/>
              <a:pathLst>
                <a:path w="1058" h="1439" fill="norm" stroke="1" extrusionOk="0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 fill="norm" stroke="1" extrusionOk="0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 fill="norm" stroke="1" extrusionOk="0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 fill="norm" stroke="1" extrusionOk="0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 fill="norm" stroke="1" extrusionOk="0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76" name="Group 75"/>
          <p:cNvGrpSpPr/>
          <p:nvPr/>
        </p:nvGrpSpPr>
        <p:grpSpPr bwMode="auto"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 bwMode="auto"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 bwMode="auto">
            <a:xfrm rot="10800000">
              <a:off x="3618113" y="4896349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 bwMode="auto"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7543510" y="0"/>
            <a:ext cx="4648490" cy="6858000"/>
          </a:xfrm>
          <a:prstGeom prst="rect">
            <a:avLst/>
          </a:prstGeo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ru-RU"/>
              <a:t>Вставка рисунка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5942203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 bwMode="auto">
          <a:xfrm>
            <a:off x="5828377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Заголовок и вертикальный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5109983" y="794719"/>
            <a:ext cx="6275035" cy="5257090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Вертикальный заголовок и текс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 bwMode="auto"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 fill="norm" stroke="1" extrusionOk="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 fill="norm" stroke="1" extrusionOk="0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 fill="norm" stroke="1" extrusionOk="0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 fill="norm" stroke="1" extrusionOk="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 fill="norm" stroke="1" extrusionOk="0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 fill="norm" stroke="1" extrusionOk="0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 fill="norm" stroke="1" extrusionOk="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 fill="norm" stroke="1" extrusionOk="0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 fill="norm" stroke="1" extrusionOk="0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 fill="norm" stroke="1" extrusionOk="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 fill="norm" stroke="1" extrusionOk="0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 fill="norm" stroke="1" extrusionOk="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 fill="norm" stroke="1" extrusionOk="0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 fill="norm" stroke="1" extrusionOk="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2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 fill="norm" stroke="1" extrusionOk="0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 fill="norm" stroke="1" extrusionOk="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 fill="norm" stroke="1" extrusionOk="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 fill="norm" stroke="1" extrusionOk="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 fill="norm" stroke="1" extrusionOk="0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 fill="norm" stroke="1" extrusionOk="0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 fill="norm" stroke="1" extrusionOk="0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</p:spPr>
        </p:sp>
      </p:grpSp>
      <p:grpSp>
        <p:nvGrpSpPr>
          <p:cNvPr id="22" name="Group 21"/>
          <p:cNvGrpSpPr/>
          <p:nvPr/>
        </p:nvGrpSpPr>
        <p:grpSpPr bwMode="auto"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 bwMode="auto"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 bwMode="auto">
            <a:xfrm rot="10800000">
              <a:off x="2380224" y="5014786"/>
              <a:ext cx="315988" cy="272403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 bwMode="auto">
            <a:xfrm>
              <a:off x="704075" y="2392840"/>
              <a:ext cx="3668283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02747" y="798444"/>
            <a:ext cx="6268622" cy="5257303"/>
          </a:xfrm>
        </p:spPr>
        <p:txBody>
          <a:bodyPr vert="eaVert"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>
            <a:off x="804672" y="320040"/>
            <a:ext cx="3657600" cy="320040"/>
          </a:xfrm>
        </p:spPr>
        <p:txBody>
          <a:bodyPr/>
          <a:lstStyle/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>
            <a:off x="804672" y="6227064"/>
            <a:ext cx="10588752" cy="320040"/>
          </a:xfr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0469880" y="320040"/>
            <a:ext cx="914400" cy="320040"/>
          </a:xfrm>
        </p:spPr>
        <p:txBody>
          <a:bodyPr/>
          <a:lstStyle/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B80BED0-FAE8-41EC-8396-63CD87AA7042}" type="datetimeFigureOut">
              <a:rPr lang="ru-RU"/>
              <a:t/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2AEF6-EDA8-41E7-B101-D236B087DA86}" type="slidenum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lnSpc>
          <a:spcPct val="85000"/>
        </a:lnSpc>
        <a:spcBef>
          <a:spcPts val="0"/>
        </a:spcBef>
        <a:buNone/>
        <a:defRPr sz="4000" b="0" i="0" cap="none" spc="-15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/>
        <a:buChar char="§"/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6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/>
        <a:buChar char="§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9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@tili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Лекция 4. Шаблоны классов. Обобщенное программирование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One Definition Rule. Overloading set. </a:t>
            </a:r>
            <a:r>
              <a:rPr lang="ru-RU"/>
              <a:t>Правила разрешения перегрузок</a:t>
            </a:r>
            <a:endParaRPr/>
          </a:p>
        </p:txBody>
      </p:sp>
      <p:sp>
        <p:nvSpPr>
          <p:cNvPr id="5" name="TextBox 4"/>
          <p:cNvSpPr txBox="1"/>
          <p:nvPr/>
        </p:nvSpPr>
        <p:spPr bwMode="auto">
          <a:xfrm>
            <a:off x="7106194" y="5819248"/>
            <a:ext cx="4960653" cy="914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Чубанов Кирилл Константинович, МФТИ</a:t>
            </a:r>
            <a:b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ru-RU" sz="1800" b="0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2026 г.</a:t>
            </a:r>
            <a:endParaRPr sz="1800"/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Как вы думаете, что произойдет в двух фрагментах кода ниже?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Они будут вести себя одинаково, по отношению к переменной из внешней области видимости или по-разному? И почему?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Points of Declaration</a:t>
            </a:r>
            <a:endParaRPr lang="ru-RU" sz="4000">
              <a:solidFill>
                <a:srgbClr val="00B0F0"/>
              </a:solidFill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245204"/>
            <a:ext cx="3505689" cy="1000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Точка объявления – точка в которой объявление завершено.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До точки объявления имя не считается введенным в область видимости.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4000">
                <a:solidFill>
                  <a:srgbClr val="00B0F0"/>
                </a:solidFill>
              </a:rPr>
              <a:t>Points of Declaration</a:t>
            </a:r>
            <a:endParaRPr lang="ru-RU" sz="4000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190709"/>
            <a:ext cx="5144218" cy="1228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Обобщенный тип, задаваемый шаблоном считается объявленным в </a:t>
            </a:r>
            <a:r>
              <a:rPr lang="en-US"/>
              <a:t>PoD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теле таким образом может быть использован указатель или ссылка на себя (как на неполный тип)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Шаблоны классов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rcRect l="681" t="0" r="0" b="0"/>
          <a:stretch/>
        </p:blipFill>
        <p:spPr bwMode="auto">
          <a:xfrm>
            <a:off x="504202" y="2273926"/>
            <a:ext cx="6847537" cy="1528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Обобщенный тип, задаваемый шаблоном считается объявленным в </a:t>
            </a:r>
            <a:r>
              <a:rPr lang="en-US"/>
              <a:t>PoD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теле таким образом может быть использован указатель или ссылка на себя (как на неполный тип)</a:t>
            </a:r>
            <a:endParaRPr/>
          </a:p>
          <a:p>
            <a:pPr>
              <a:defRPr/>
            </a:pPr>
            <a:r>
              <a:rPr lang="ru-RU"/>
              <a:t>Для удобства, шаблонные параметры рядом с именем можно не указывать (только внутри тела класса)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Упрощение имен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271580"/>
            <a:ext cx="6792273" cy="16766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Можно использовать для вторичной типизации.</a:t>
            </a:r>
            <a:endParaRPr/>
          </a:p>
          <a:p>
            <a:pPr>
              <a:defRPr/>
            </a:pPr>
            <a:r>
              <a:rPr lang="ru-RU"/>
              <a:t>Не указывать тип для </a:t>
            </a:r>
            <a:r>
              <a:rPr lang="en-US"/>
              <a:t>fwnode</a:t>
            </a:r>
            <a:r>
              <a:rPr lang="en-US"/>
              <a:t> </a:t>
            </a:r>
            <a:r>
              <a:rPr lang="ru-RU"/>
              <a:t>мы не можем :с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Такой стек использует </a:t>
            </a:r>
            <a:r>
              <a:rPr lang="en-US"/>
              <a:t>fwnode</a:t>
            </a:r>
            <a:r>
              <a:rPr lang="ru-RU"/>
              <a:t> для конструирования сложных объектов типа Т.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Зависимые имена внутри шаблонов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813710"/>
            <a:ext cx="5804033" cy="133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Порождение классов из шаблонов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28317" y="1200958"/>
            <a:ext cx="4467849" cy="4353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Работают почти также как параметры по умолчанию у обычных функций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Параметры по умолчанию в шаблонах связываются статически</a:t>
            </a:r>
            <a:endParaRPr/>
          </a:p>
          <a:p>
            <a:pPr>
              <a:defRPr/>
            </a:pPr>
            <a:r>
              <a:rPr lang="ru-RU"/>
              <a:t>Может ли это быть проблемой?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Параметры по умолчанию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944468" y="2369334"/>
            <a:ext cx="6030167" cy="17433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Кажется, что наш стек не очень эффективен для хранения целых чисел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Для целых чисел проще было бы хранить массив</a:t>
            </a:r>
            <a:endParaRPr/>
          </a:p>
          <a:p>
            <a:pPr>
              <a:defRPr/>
            </a:pPr>
            <a:r>
              <a:rPr lang="ru-RU"/>
              <a:t>Как это сделать?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Слишком общие шаблоны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480480"/>
            <a:ext cx="5804033" cy="1331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Специализация - механизм языка программирования C++, предназначенный для специализации обобщённых шаблонных классов под конкретные задачи или под конкретное подмножество своих параметризованных типов данных. 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Для целых чисел проще было бы хранить массив – полная специализация шаблонного класса </a:t>
            </a:r>
            <a:r>
              <a:rPr lang="en-US"/>
              <a:t>Stack </a:t>
            </a:r>
            <a:r>
              <a:rPr lang="ru-RU"/>
              <a:t>для типа </a:t>
            </a:r>
            <a:r>
              <a:rPr lang="en-US"/>
              <a:t>int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Специализация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617214"/>
            <a:ext cx="5804033" cy="1331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378" y="5165327"/>
            <a:ext cx="5036613" cy="14093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Специализация в некотором смысле заменяет </a:t>
            </a:r>
            <a:r>
              <a:rPr lang="ru-RU"/>
              <a:t>инстанцирование</a:t>
            </a:r>
            <a:endParaRPr lang="en-US"/>
          </a:p>
          <a:p>
            <a:pPr>
              <a:defRPr/>
            </a:pPr>
            <a:r>
              <a:rPr lang="ru-RU"/>
              <a:t>Например:</a:t>
            </a:r>
            <a:endParaRPr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Это может приводить к опасным последствиям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Специализация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378165"/>
            <a:ext cx="7373379" cy="273405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Специализация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rcRect l="0" t="0" r="19287" b="0"/>
          <a:stretch/>
        </p:blipFill>
        <p:spPr bwMode="auto">
          <a:xfrm>
            <a:off x="6153406" y="344485"/>
            <a:ext cx="5966550" cy="623021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rcRect l="0" t="0" r="18323" b="0"/>
          <a:stretch/>
        </p:blipFill>
        <p:spPr bwMode="auto">
          <a:xfrm>
            <a:off x="0" y="344485"/>
            <a:ext cx="6041877" cy="60990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 bwMode="auto">
          <a:xfrm>
            <a:off x="457200" y="6358071"/>
            <a:ext cx="3713148" cy="376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danger1.cpp</a:t>
            </a:r>
            <a:endParaRPr lang="ru-RU"/>
          </a:p>
        </p:txBody>
      </p:sp>
      <p:sp>
        <p:nvSpPr>
          <p:cNvPr id="8" name="TextBox 7"/>
          <p:cNvSpPr txBox="1"/>
          <p:nvPr/>
        </p:nvSpPr>
        <p:spPr bwMode="auto">
          <a:xfrm>
            <a:off x="7403507" y="6358070"/>
            <a:ext cx="3713148" cy="3760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/>
              <a:t>danger2.cpp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Вот такой результат мы получаем: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Ни компилятор, ни </a:t>
            </a:r>
            <a:r>
              <a:rPr lang="en-US"/>
              <a:t>valgrind</a:t>
            </a:r>
            <a:r>
              <a:rPr lang="en-US"/>
              <a:t> </a:t>
            </a:r>
            <a:r>
              <a:rPr lang="ru-RU"/>
              <a:t>эту ошибку не находят!!!!</a:t>
            </a:r>
            <a:endParaRPr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Специализация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1983927"/>
            <a:ext cx="4231494" cy="129765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Сигнатура специализированной функции обязана повторять сигнатуру общего шаблона и следовать за этим объявлением в коде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Специализация функций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59360" y="2213682"/>
            <a:ext cx="8116433" cy="11145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Сигнатура специализированной функции обязана повторять сигнатуру общего шаблона и следовать за этим объявлением в коде</a:t>
            </a:r>
            <a:endParaRPr lang="en-US"/>
          </a:p>
          <a:p>
            <a:pPr>
              <a:defRPr/>
            </a:pPr>
            <a:r>
              <a:rPr lang="ru-RU"/>
              <a:t>Зато вы можете вообще не указывать специализирующий параметр, положившись на вывод типов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Специализация функций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78462" y="2878015"/>
            <a:ext cx="7097115" cy="13241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Сигнатура специализированной функции обязана повторять сигнатуру общего шаблона и следовать за этим объявлением в коде</a:t>
            </a:r>
            <a:endParaRPr lang="en-US"/>
          </a:p>
          <a:p>
            <a:pPr>
              <a:defRPr/>
            </a:pPr>
            <a:r>
              <a:rPr lang="ru-RU"/>
              <a:t>Зато вы можете вообще не указывать специализирующий параметр, положившись на вывод типов</a:t>
            </a:r>
            <a:endParaRPr lang="en-US"/>
          </a:p>
          <a:p>
            <a:pPr>
              <a:defRPr/>
            </a:pPr>
            <a:r>
              <a:rPr lang="ru-RU"/>
              <a:t>В отличии от перегрузки, специализация не требует наличия параметра в сигнатуре функции (но тогда конечно его надо явно указать)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r>
              <a:rPr lang="ru-RU"/>
              <a:t>Это сильный аргумент за специализацию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Специализация функций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3574705"/>
            <a:ext cx="4925111" cy="90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Является ли (3) специализацией для (2) или для (1)?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Специализация функций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55197" y="1321724"/>
            <a:ext cx="5639587" cy="3143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Вопрос является ли (3) специализацией для (2) или для (1)  не имеет смысла. Она одинаково хорошо подходит для обоих, поэтому специализирует </a:t>
            </a:r>
            <a:r>
              <a:rPr lang="ru-RU">
                <a:solidFill>
                  <a:schemeClr val="accent1"/>
                </a:solidFill>
              </a:rPr>
              <a:t>выигравший перегрузку</a:t>
            </a:r>
            <a:r>
              <a:rPr lang="ru-RU"/>
              <a:t> шаблон.</a:t>
            </a:r>
            <a:endParaRPr/>
          </a:p>
          <a:p>
            <a:pPr>
              <a:defRPr/>
            </a:pPr>
            <a:r>
              <a:rPr lang="ru-RU"/>
              <a:t>В связи с этим могут возникать неприятные сюрпризы.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Специализация функций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55197" y="1321724"/>
            <a:ext cx="5639587" cy="3143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 lnSpcReduction="10000"/>
          </a:bodyPr>
          <a:lstStyle/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Важно помнить: </a:t>
            </a:r>
            <a:r>
              <a:rPr lang="ru-RU">
                <a:solidFill>
                  <a:schemeClr val="accent1"/>
                </a:solidFill>
              </a:rPr>
              <a:t>специализации не участвуют в перегрузке</a:t>
            </a:r>
            <a:endParaRPr lang="en-US">
              <a:solidFill>
                <a:schemeClr val="accent1"/>
              </a:solidFill>
            </a:endParaRPr>
          </a:p>
          <a:p>
            <a:pPr>
              <a:defRPr/>
            </a:pPr>
            <a:r>
              <a:rPr lang="ru-RU"/>
              <a:t>Сначала разрешается перегрузка, потом пишется наименее общая специализация. В данном случае (2) не специализирует (3), так как встречается раньше.</a:t>
            </a:r>
            <a:endParaRPr/>
          </a:p>
          <a:p>
            <a:pPr>
              <a:defRPr/>
            </a:pPr>
            <a:r>
              <a:rPr lang="ru-RU"/>
              <a:t>В целом, это аргумент против специализации.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Контрпример</a:t>
            </a:r>
            <a:r>
              <a:rPr lang="ru-RU" sz="4000">
                <a:solidFill>
                  <a:srgbClr val="00B0F0"/>
                </a:solidFill>
              </a:rPr>
              <a:t> </a:t>
            </a:r>
            <a:r>
              <a:rPr lang="ru-RU" sz="4000">
                <a:solidFill>
                  <a:srgbClr val="00B0F0"/>
                </a:solidFill>
              </a:rPr>
              <a:t>Димова-Абрамса</a:t>
            </a:r>
            <a:endParaRPr lang="ru-RU" sz="4000">
              <a:solidFill>
                <a:srgbClr val="00B0F0"/>
              </a:solidFill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519845" y="1014067"/>
            <a:ext cx="6725589" cy="3667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Что будет вызвано?</a:t>
            </a:r>
            <a:endParaRPr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Контрольный вопрос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002991"/>
            <a:ext cx="8770172" cy="29877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Что будет вызвано?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Разумеется (2), так как (3) специализирует (1)</a:t>
            </a:r>
            <a:endParaRPr/>
          </a:p>
          <a:p>
            <a:pPr>
              <a:defRPr/>
            </a:pPr>
            <a:r>
              <a:rPr lang="ru-RU"/>
              <a:t>Специализация </a:t>
            </a:r>
            <a:r>
              <a:rPr lang="ru-RU">
                <a:solidFill>
                  <a:schemeClr val="accent1"/>
                </a:solidFill>
              </a:rPr>
              <a:t>не одинаково хорошо </a:t>
            </a:r>
            <a:r>
              <a:rPr lang="ru-RU"/>
              <a:t>подходит для обоих</a:t>
            </a:r>
            <a:endParaRPr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Контрольный вопрос</a:t>
            </a:r>
            <a:endParaRPr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002991"/>
            <a:ext cx="8770172" cy="29877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ru-RU"/>
              <a:t>Перегрузка и специализация для функций выглядят дублирующими механизмами, но на самом деле это очень разные вещи.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Представим, что вы хотите особую </a:t>
            </a:r>
            <a:r>
              <a:rPr lang="en-US"/>
              <a:t>std::swap </a:t>
            </a:r>
            <a:r>
              <a:rPr lang="ru-RU"/>
              <a:t>для вашего класса. Вы будете специализировать или перегружать?</a:t>
            </a:r>
            <a:endParaRPr/>
          </a:p>
          <a:p>
            <a:pPr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Контрольный вопрос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Кажется, что наш стек не очень эффективен для хранения всех указателей</a:t>
            </a: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Для указателей было бы проще хранить массив указателей</a:t>
            </a:r>
            <a:endParaRPr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Частичная специализация 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57200" y="2480480"/>
            <a:ext cx="5804033" cy="1331000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15659" y="4802078"/>
            <a:ext cx="5287113" cy="11336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4294967295"/>
          </p:nvPr>
        </p:nvSpPr>
        <p:spPr bwMode="auto">
          <a:xfrm>
            <a:off x="232670" y="1321724"/>
            <a:ext cx="11430086" cy="525298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endParaRPr lang="en-US"/>
          </a:p>
          <a:p>
            <a:pPr marL="0" indent="0"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  <p:sp>
        <p:nvSpPr>
          <p:cNvPr id="10" name="TextBox 9"/>
          <p:cNvSpPr txBox="1"/>
          <p:nvPr/>
        </p:nvSpPr>
        <p:spPr bwMode="auto">
          <a:xfrm>
            <a:off x="457200" y="232756"/>
            <a:ext cx="91273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ru-RU" sz="4000">
                <a:solidFill>
                  <a:srgbClr val="00B0F0"/>
                </a:solidFill>
              </a:rPr>
              <a:t>Примеры частичной специализации </a:t>
            </a:r>
            <a:endParaRPr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83099" y="1634127"/>
            <a:ext cx="8916644" cy="3658111"/>
          </a:xfrm>
          <a:prstGeom prst="rect">
            <a:avLst/>
          </a:prstGeom>
        </p:spPr>
      </p:pic>
      <p:sp>
        <p:nvSpPr>
          <p:cNvPr id="7" name="Объект 2"/>
          <p:cNvSpPr txBox="1"/>
          <p:nvPr/>
        </p:nvSpPr>
        <p:spPr bwMode="auto">
          <a:xfrm>
            <a:off x="385070" y="4956559"/>
            <a:ext cx="11430086" cy="17705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10000"/>
              <a:buFont typeface="Wingdings"/>
              <a:buChar char="§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10000"/>
              <a:buFont typeface="Wingdings"/>
              <a:buChar char="§"/>
              <a:defRPr sz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ru-RU"/>
              <a:t>Вопрос:  что будет выбрано для </a:t>
            </a:r>
            <a:r>
              <a:rPr lang="en-US"/>
              <a:t>Foo&lt;</a:t>
            </a:r>
            <a:r>
              <a:rPr lang="en-US"/>
              <a:t>int,int</a:t>
            </a:r>
            <a:r>
              <a:rPr lang="en-US"/>
              <a:t>&gt;?</a:t>
            </a:r>
            <a:endParaRPr/>
          </a:p>
          <a:p>
            <a:pPr>
              <a:defRPr/>
            </a:pPr>
            <a:r>
              <a:rPr lang="ru-RU"/>
              <a:t>Ограничения: нельзя частично специализировать шаблонные функции</a:t>
            </a:r>
            <a:endParaRPr/>
          </a:p>
          <a:p>
            <a:pPr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ru-RU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 marL="0" indent="0">
              <a:buFont typeface="Wingdings"/>
              <a:buNone/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en-US"/>
          </a:p>
          <a:p>
            <a:pPr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Для тех кто хочет почитать что-то еще</a:t>
            </a:r>
            <a:endParaRPr/>
          </a:p>
        </p:txBody>
      </p:sp>
      <p:sp>
        <p:nvSpPr>
          <p:cNvPr id="11" name="Объект 10"/>
          <p:cNvSpPr>
            <a:spLocks noGrp="1"/>
          </p:cNvSpPr>
          <p:nvPr>
            <p:ph idx="1"/>
          </p:nvPr>
        </p:nvSpPr>
        <p:spPr bwMode="auto">
          <a:xfrm>
            <a:off x="5301327" y="953835"/>
            <a:ext cx="6281873" cy="5248622"/>
          </a:xfrm>
        </p:spPr>
        <p:txBody>
          <a:bodyPr/>
          <a:lstStyle/>
          <a:p>
            <a:pPr marL="0" indent="0">
              <a:buNone/>
              <a:defRPr/>
            </a:pPr>
            <a:r>
              <a:rPr lang="ru-RU"/>
              <a:t>Лекция разработана на базе открытых лекций </a:t>
            </a:r>
            <a:r>
              <a:rPr lang="ru-RU" u="sng"/>
              <a:t>Константина Владимирова </a:t>
            </a:r>
            <a:r>
              <a:rPr lang="ru-RU"/>
              <a:t>(МФТИ, </a:t>
            </a:r>
            <a:r>
              <a:rPr lang="en-US"/>
              <a:t>iLAB</a:t>
            </a:r>
            <a:r>
              <a:rPr lang="ru-RU"/>
              <a:t>) (Базовый курс, Лекции: 5, 6)   </a:t>
            </a:r>
            <a:r>
              <a:rPr lang="en-US" u="sng">
                <a:hlinkClick r:id="rId2" tooltip="https://www.youtube.com/@tilir"/>
              </a:rPr>
              <a:t>https://www.youtube.com/@tilir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r>
              <a:rPr lang="ru-RU"/>
              <a:t>Также полезно изучить:</a:t>
            </a:r>
            <a:endParaRPr/>
          </a:p>
          <a:p>
            <a:pPr>
              <a:defRPr/>
            </a:pPr>
            <a:r>
              <a:rPr lang="ru-RU"/>
              <a:t>Идиомы и паттерны проектирования в современном С++ // Ф.Г. </a:t>
            </a:r>
            <a:r>
              <a:rPr lang="ru-RU"/>
              <a:t>Пикус</a:t>
            </a:r>
            <a:r>
              <a:rPr lang="ru-RU"/>
              <a:t> </a:t>
            </a:r>
            <a:endParaRPr/>
          </a:p>
          <a:p>
            <a:pPr>
              <a:defRPr/>
            </a:pPr>
            <a:r>
              <a:rPr lang="ru-RU"/>
              <a:t>Эффективный и современный С++ // </a:t>
            </a:r>
            <a:r>
              <a:rPr lang="ru-RU"/>
              <a:t>С.Майерс</a:t>
            </a:r>
            <a:endParaRPr lang="ru-RU"/>
          </a:p>
          <a:p>
            <a:pPr marL="0" indent="0">
              <a:buNone/>
              <a:defRPr/>
            </a:pPr>
            <a:endParaRPr lang="ru-RU"/>
          </a:p>
          <a:p>
            <a:pPr marL="0" indent="0">
              <a:buNone/>
              <a:defRPr/>
            </a:pP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Атлас">
  <a:themeElements>
    <a:clrScheme name="Атлас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10B6F4"/>
      </a:accent1>
      <a:accent2>
        <a:srgbClr val="3C78C3"/>
      </a:accent2>
      <a:accent3>
        <a:srgbClr val="9F52D0"/>
      </a:accent3>
      <a:accent4>
        <a:srgbClr val="D64198"/>
      </a:accent4>
      <a:accent5>
        <a:srgbClr val="DA2228"/>
      </a:accent5>
      <a:accent6>
        <a:srgbClr val="F18318"/>
      </a:accent6>
      <a:hlink>
        <a:srgbClr val="38DDEC"/>
      </a:hlink>
      <a:folHlink>
        <a:srgbClr val="A8DEE8"/>
      </a:folHlink>
    </a:clrScheme>
    <a:fontScheme name="Атлас">
      <a:majorFont>
        <a:latin typeface="Calibri Light"/>
        <a:ea typeface="Arial"/>
        <a:cs typeface="Arial"/>
      </a:majorFont>
      <a:minorFont>
        <a:latin typeface="Rockwell"/>
        <a:ea typeface="Arial"/>
        <a:cs typeface="Arial"/>
      </a:minorFont>
    </a:fontScheme>
    <a:fmtScheme name="Атлас">
      <a:fillStyleLst>
        <a:solidFill>
          <a:schemeClr val="phClr"/>
        </a:solidFill>
        <a:gradFill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TM16401371[[fn=Атлас]]</Template>
  <TotalTime>0</TotalTime>
  <Words>0</Words>
  <Application>R7-Office/2024.1.1.375</Application>
  <DocSecurity>0</DocSecurity>
  <PresentationFormat>Широкоэкранный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0. Введение.</dc:title>
  <dc:subject/>
  <dc:creator>Василий Бугаев</dc:creator>
  <cp:keywords/>
  <dc:description/>
  <dc:identifier/>
  <dc:language/>
  <cp:lastModifiedBy>Кирилл Чубанов</cp:lastModifiedBy>
  <cp:revision>129</cp:revision>
  <dcterms:created xsi:type="dcterms:W3CDTF">2023-01-29T12:06:08Z</dcterms:created>
  <dcterms:modified xsi:type="dcterms:W3CDTF">2026-04-10T05:36:53Z</dcterms:modified>
  <cp:category/>
  <cp:contentStatus/>
  <cp:version/>
</cp:coreProperties>
</file>