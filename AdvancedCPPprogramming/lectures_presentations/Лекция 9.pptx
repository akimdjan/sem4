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46.xml" ContentType="application/vnd.openxmlformats-officedocument.presentationml.slide+xml"/>
  <Override PartName="/ppt/slides/slide45.xml" ContentType="application/vnd.openxmlformats-officedocument.presentationml.slide+xml"/>
  <Override PartName="/ppt/slides/slide43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42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6.xml" ContentType="application/vnd.openxmlformats-officedocument.presentationml.slide+xml"/>
  <Override PartName="/ppt/slides/slide44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4.xml" ContentType="application/vnd.openxmlformats-officedocument.presentationml.slide+xml"/>
  <Override PartName="/ppt/slides/slide4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28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4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s/slide38.xml" ContentType="application/vnd.openxmlformats-officedocument.presentationml.slide+xml"/>
  <Override PartName="/ppt/slides/slide34.xml" ContentType="application/vnd.openxmlformats-officedocument.presentationml.slide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6" d="100"/>
          <a:sy n="106" d="100"/>
        </p:scale>
        <p:origin x="654" y="96"/>
      </p:cViewPr>
      <p:guideLst>
        <p:guide pos="2160" orient="horz"/>
        <p:guide pos="384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presProps" Target="presProps.xml" /><Relationship Id="rId50" Type="http://schemas.openxmlformats.org/officeDocument/2006/relationships/tableStyles" Target="tableStyles.xml" /><Relationship Id="rId51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9" name="Group 8"/>
          <p:cNvGrpSpPr/>
          <p:nvPr/>
        </p:nvGrpSpPr>
        <p:grpSpPr bwMode="auto"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 bwMode="auto">
            <a:xfrm>
              <a:off x="1674042" y="1186483"/>
              <a:ext cx="8843596" cy="71618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 bwMode="auto">
            <a:xfrm rot="10800000">
              <a:off x="5892384" y="5313353"/>
              <a:ext cx="407232" cy="35106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 bwMode="auto"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7" name="Group 26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1" y="2349925"/>
            <a:ext cx="3498978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18447" y="803186"/>
            <a:ext cx="6281873" cy="5248622"/>
          </a:xfrm>
        </p:spPr>
        <p:txBody>
          <a:bodyPr anchor="ctr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0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9" name="Group 8"/>
          <p:cNvGrpSpPr/>
          <p:nvPr/>
        </p:nvGrpSpPr>
        <p:grpSpPr bwMode="auto"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 bwMode="auto">
            <a:xfrm>
              <a:off x="3259545" y="1186483"/>
              <a:ext cx="5657881" cy="71618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 bwMode="auto">
            <a:xfrm rot="10800000">
              <a:off x="5892384" y="5313353"/>
              <a:ext cx="407232" cy="35106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 bwMode="auto"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3344216" y="2074729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59" name="Group 58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5120878" y="803187"/>
            <a:ext cx="6269591" cy="2382651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118447" y="3672161"/>
            <a:ext cx="6272022" cy="2383586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61" name="Group 60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125305" y="1488985"/>
            <a:ext cx="6264350" cy="1696853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118447" y="4351687"/>
            <a:ext cx="6265588" cy="17040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4" name="Group 23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1" name="Group 20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09983" y="802808"/>
            <a:ext cx="6275035" cy="5249940"/>
          </a:xfrm>
        </p:spPr>
        <p:txBody>
          <a:bodyPr anchor="ctr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76" name="Group 75"/>
          <p:cNvGrpSpPr/>
          <p:nvPr/>
        </p:nvGrpSpPr>
        <p:grpSpPr bwMode="auto"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 bwMode="auto"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 bwMode="auto">
            <a:xfrm rot="10800000">
              <a:off x="3618113" y="4896349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 bwMode="auto"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7543510" y="0"/>
            <a:ext cx="464849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5942203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5828377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2" name="Group 21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5109983" y="794719"/>
            <a:ext cx="6275035" cy="5257090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 bwMode="auto"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2" name="Group 21"/>
          <p:cNvGrpSpPr/>
          <p:nvPr/>
        </p:nvGrpSpPr>
        <p:grpSpPr bwMode="auto"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02747" y="798444"/>
            <a:ext cx="6268622" cy="5257303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lnSpc>
          <a:spcPct val="85000"/>
        </a:lnSpc>
        <a:spcBef>
          <a:spcPts val="0"/>
        </a:spcBef>
        <a:buNone/>
        <a:defRPr sz="4000" b="0" i="0" cap="none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@tili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759236" y="2263513"/>
            <a:ext cx="8679915" cy="1748729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Лекция </a:t>
            </a:r>
            <a:r>
              <a:rPr lang="en-US"/>
              <a:t>9</a:t>
            </a:r>
            <a:r>
              <a:rPr lang="ru-RU"/>
              <a:t>. Адаптеры и декораторы.</a:t>
            </a:r>
            <a:br>
              <a:rPr lang="ru-RU"/>
            </a:br>
            <a:endParaRPr lang="ru-RU"/>
          </a:p>
        </p:txBody>
      </p:sp>
      <p:sp>
        <p:nvSpPr>
          <p:cNvPr id="3" name="TextBox 2"/>
          <p:cNvSpPr txBox="1"/>
          <p:nvPr/>
        </p:nvSpPr>
        <p:spPr bwMode="auto">
          <a:xfrm>
            <a:off x="7106194" y="5819248"/>
            <a:ext cx="4960653" cy="146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Rockwell"/>
                <a:ea typeface="Arial"/>
                <a:cs typeface="Arial"/>
              </a:rPr>
              <a:t>Чубанов Кирилл Константинович МФТИ, 2026 г.</a:t>
            </a:r>
            <a:br>
              <a:rPr lang="ru-RU" sz="1800" b="0" i="0" u="none" strike="noStrike" cap="none" spc="0">
                <a:solidFill>
                  <a:schemeClr val="tx1"/>
                </a:solidFill>
                <a:latin typeface="Rockwell"/>
                <a:ea typeface="Arial"/>
                <a:cs typeface="Arial"/>
              </a:rPr>
            </a:br>
            <a:endParaRPr sz="1800"/>
          </a:p>
          <a:p>
            <a:pPr>
              <a:defRPr/>
            </a:pPr>
            <a:endParaRPr sz="18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Обертки классов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Вы слышали про «обертки классов»? Как думаете, а зачем они используются?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Обертки классов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Как правило, обертки классов используются либо для изменения </a:t>
            </a:r>
            <a:r>
              <a:rPr lang="en-US"/>
              <a:t>API</a:t>
            </a:r>
            <a:r>
              <a:rPr lang="ru-RU"/>
              <a:t> класса, либо для сохранения </a:t>
            </a:r>
            <a:r>
              <a:rPr lang="en-US"/>
              <a:t>API</a:t>
            </a:r>
            <a:r>
              <a:rPr lang="ru-RU"/>
              <a:t>, но дополнения его функционала.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Декораторы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>
                <a:solidFill>
                  <a:schemeClr val="accent1"/>
                </a:solidFill>
              </a:rPr>
              <a:t>Декоратор </a:t>
            </a:r>
            <a:r>
              <a:rPr lang="ru-RU"/>
              <a:t>– структурный паттерн, который позволяет наделять объект новым поведением. </a:t>
            </a:r>
            <a:endParaRPr/>
          </a:p>
          <a:p>
            <a:pPr>
              <a:defRPr/>
            </a:pPr>
            <a:r>
              <a:rPr lang="ru-RU"/>
              <a:t>Декоратор реализует интерфейс исходного класса и переадресует этому классу запросы, адресованные его собственному интерфейсу, но кроме этого выполняет дополнительные действия до и/или после переадресованных запросов.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Декораторы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Кто из вас хотел проектировать игры?</a:t>
            </a:r>
            <a:endParaRPr/>
          </a:p>
          <a:p>
            <a:pPr>
              <a:defRPr/>
            </a:pPr>
            <a:r>
              <a:rPr lang="ru-RU"/>
              <a:t>Давайте попробуем спроектировать классическую фэнтезийную игру.</a:t>
            </a:r>
            <a:endParaRPr/>
          </a:p>
          <a:p>
            <a:pPr>
              <a:defRPr/>
            </a:pPr>
            <a:r>
              <a:rPr lang="ru-RU"/>
              <a:t>Классический пример ООП – создание игрового персонажа.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Декораторы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Для начала – создадим базовый класс </a:t>
            </a:r>
            <a:r>
              <a:rPr lang="en-US"/>
              <a:t>Unit</a:t>
            </a:r>
            <a:r>
              <a:rPr lang="ru-RU"/>
              <a:t>, отвечающий за человека.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У персонажа есть сила и доспехи, определяющие его атакующие и защитные способности.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1921148"/>
            <a:ext cx="7958338" cy="30323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Декораторы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Расширим наш пример основными действующими лицами – доблестными рыцарями и звероподобными </a:t>
            </a:r>
            <a:r>
              <a:rPr lang="ru-RU"/>
              <a:t>ограми</a:t>
            </a:r>
            <a:r>
              <a:rPr lang="ru-RU"/>
              <a:t>. </a:t>
            </a:r>
            <a:endParaRPr/>
          </a:p>
          <a:p>
            <a:pPr>
              <a:defRPr/>
            </a:pPr>
            <a:r>
              <a:rPr lang="ru-RU"/>
              <a:t>Рыцари будут с качественными броней и оружием, </a:t>
            </a:r>
            <a:r>
              <a:rPr lang="ru-RU"/>
              <a:t>огры</a:t>
            </a:r>
            <a:r>
              <a:rPr lang="ru-RU"/>
              <a:t> же напротив.</a:t>
            </a:r>
            <a:endParaRPr/>
          </a:p>
          <a:p>
            <a:pPr>
              <a:defRPr/>
            </a:pPr>
            <a:r>
              <a:rPr lang="ru-RU"/>
              <a:t>С другой стороны, </a:t>
            </a:r>
            <a:r>
              <a:rPr lang="ru-RU"/>
              <a:t>огры</a:t>
            </a:r>
            <a:r>
              <a:rPr lang="ru-RU"/>
              <a:t> обладают более выигрышным преимуществом в силе и здоровье.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87044" y="3251975"/>
            <a:ext cx="5829090" cy="22842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998637" y="3251976"/>
            <a:ext cx="6141005" cy="2337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Декораторы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В ходе сражения, выжившие набираются опыта, и в конце концов становятся ветеранами.</a:t>
            </a:r>
            <a:endParaRPr/>
          </a:p>
          <a:p>
            <a:pPr>
              <a:defRPr/>
            </a:pPr>
            <a:r>
              <a:rPr lang="ru-RU"/>
              <a:t>Ветеран - это все тот же персонаж, но с увеличенными атакующими и защитными возможностями, которые отражают его боевой опыт. В данном случае мы не собираемся изменять интерфейсы классов, но хотим модифицировать поведение функций </a:t>
            </a:r>
            <a:r>
              <a:rPr lang="ru-RU"/>
              <a:t>attack</a:t>
            </a:r>
            <a:r>
              <a:rPr lang="ru-RU"/>
              <a:t>() и </a:t>
            </a:r>
            <a:r>
              <a:rPr lang="ru-RU"/>
              <a:t>defense</a:t>
            </a:r>
            <a:r>
              <a:rPr lang="ru-RU"/>
              <a:t>(). </a:t>
            </a:r>
            <a:endParaRPr/>
          </a:p>
          <a:p>
            <a:pPr>
              <a:defRPr/>
            </a:pPr>
            <a:r>
              <a:rPr lang="ru-RU"/>
              <a:t>Это задача паттерна Декоратор 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Декораторы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Реализацию ветерана с помощью паттерна «Декоратор» можно представить следующим образом.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23186" y="2005099"/>
            <a:ext cx="8747662" cy="31334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Декораторы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Отметим, что этот класс наследует напрямую классу Unit, поэтому в иерархии классов он находится сбоку от конкретных классов Knight и </a:t>
            </a:r>
            <a:r>
              <a:rPr lang="ru-RU"/>
              <a:t>Ogre</a:t>
            </a:r>
            <a:r>
              <a:rPr lang="ru-RU"/>
              <a:t>. Мы по-прежнему имеем исходного персонажа, который декорирован и стал ветераном - декоратор </a:t>
            </a:r>
            <a:r>
              <a:rPr lang="ru-RU"/>
              <a:t>VeteranUnit</a:t>
            </a:r>
            <a:r>
              <a:rPr lang="ru-RU"/>
              <a:t> содержит ссылку на него. </a:t>
            </a:r>
            <a:endParaRPr lang="en-US"/>
          </a:p>
          <a:p>
            <a:pPr>
              <a:defRPr/>
            </a:pPr>
            <a:r>
              <a:rPr lang="ru-RU"/>
              <a:t>Этот класс декорирует персонажа и используется вместо него, но исходный персонаж не удаляется: 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61161" y="2977478"/>
            <a:ext cx="4354014" cy="24759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Декораторы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Отметим, что такой дизайн позволяет декорировать уже декорированный объект! Это сделано намеренно, чтобы бонусы росли по мере того, как персонаж переходит с уровня на уровень. 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16367" y="2383828"/>
            <a:ext cx="4186610" cy="3479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Декораторы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Отметим, что такой дизайн позволяет декорировать уже декорированный объект! Это сделано намеренно, чтобы бонусы росли по мере того, как персонаж переходит с уровня на уровень. 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16367" y="2383828"/>
            <a:ext cx="4186610" cy="3479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Декораторы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Отметим, что такой дизайн позволяет декорировать уже декорированный объект! Это сделано намеренно, чтобы бонусы росли по мере того, как персонаж переходит с уровня на уровень. 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16367" y="2383828"/>
            <a:ext cx="4186610" cy="3479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Ограничения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Какие ограничения в С++ при реализации данного паттерна?</a:t>
            </a:r>
            <a:endParaRPr/>
          </a:p>
          <a:p>
            <a:pPr>
              <a:defRPr/>
            </a:pPr>
            <a:r>
              <a:rPr lang="ru-RU"/>
              <a:t>Первое довольно очевидно - хотя, получив декорированного персонажа, мы хотим использовать именно его, исходного персонажа нужно хранить и тщательно следить за временем его жизни. </a:t>
            </a:r>
            <a:endParaRPr/>
          </a:p>
          <a:p>
            <a:pPr>
              <a:defRPr/>
            </a:pPr>
            <a:r>
              <a:rPr lang="ru-RU"/>
              <a:t>Проблема полиморфных функций…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Ограничения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5186412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Допустим, мы хотим добавить «Рыцарям» новое умение – «Рывок». </a:t>
            </a:r>
            <a:endParaRPr/>
          </a:p>
          <a:p>
            <a:pPr>
              <a:defRPr/>
            </a:pPr>
            <a:r>
              <a:rPr lang="ru-RU"/>
              <a:t>Он может стремглав броситься на врага, получив краткосрочное преимущество в атаке. Данное преимущество действует только для следующей атаки, но в пылу сражения этого может оказаться достаточно.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307874" y="1574603"/>
            <a:ext cx="6610359" cy="4607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Ограничения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5186412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Допустим, мы хотим добавить «Рыцарям» новое умение – «Рывок». </a:t>
            </a:r>
            <a:endParaRPr/>
          </a:p>
          <a:p>
            <a:pPr>
              <a:defRPr/>
            </a:pPr>
            <a:r>
              <a:rPr lang="ru-RU"/>
              <a:t>Он может стремглав броситься на врага, получив краткосрочное преимущество в атаке. Данное преимущество действует только для следующей атаки, но в пылу сражения этого может оказаться достаточно.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307874" y="1574603"/>
            <a:ext cx="6610359" cy="4607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Ограничения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6347929" y="1400261"/>
            <a:ext cx="5679515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r>
              <a:rPr lang="ru-RU"/>
              <a:t>Разумеется, мы ожидаем, что рыцарь-ветеран тоже способен броситься вперед, но тут возникает проблема - код не компилируется: </a:t>
            </a:r>
            <a:endParaRPr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46438" y="2198271"/>
            <a:ext cx="2823438" cy="2461458"/>
          </a:xfrm>
          <a:prstGeom prst="rect">
            <a:avLst/>
          </a:prstGeom>
        </p:spPr>
      </p:pic>
      <p:sp>
        <p:nvSpPr>
          <p:cNvPr id="12" name="Объект 2"/>
          <p:cNvSpPr txBox="1"/>
          <p:nvPr/>
        </p:nvSpPr>
        <p:spPr bwMode="auto">
          <a:xfrm>
            <a:off x="385070" y="1474124"/>
            <a:ext cx="5186412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Итоговый код выглядит примерно следующим образом.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867035" y="2952747"/>
            <a:ext cx="4144279" cy="9797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Ограничения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r>
              <a:rPr lang="ru-RU"/>
              <a:t>Корень проблемы в том, что </a:t>
            </a:r>
            <a:r>
              <a:rPr lang="ru-RU"/>
              <a:t>charge</a:t>
            </a:r>
            <a:r>
              <a:rPr lang="ru-RU"/>
              <a:t>() является частью интерфейса класса Knight, но декоратор </a:t>
            </a:r>
            <a:r>
              <a:rPr lang="ru-RU"/>
              <a:t>VeteranUnit</a:t>
            </a:r>
            <a:r>
              <a:rPr lang="ru-RU"/>
              <a:t> наследует классу Unit. Мы могли бы перенести функцию </a:t>
            </a:r>
            <a:r>
              <a:rPr lang="ru-RU"/>
              <a:t>charge</a:t>
            </a:r>
            <a:r>
              <a:rPr lang="ru-RU"/>
              <a:t>() в базовый класс Unit, однако это неудачное решение, поскольку </a:t>
            </a:r>
            <a:r>
              <a:rPr lang="ru-RU"/>
              <a:t>Ogre</a:t>
            </a:r>
            <a:r>
              <a:rPr lang="ru-RU"/>
              <a:t> тоже наследует Unit, но </a:t>
            </a:r>
            <a:r>
              <a:rPr lang="ru-RU"/>
              <a:t>огры</a:t>
            </a:r>
            <a:r>
              <a:rPr lang="ru-RU"/>
              <a:t> не умеют бросаться вперед, и потому в их интерфейсе не должно быть такой функции.</a:t>
            </a:r>
            <a:endParaRPr lang="en-US"/>
          </a:p>
          <a:p>
            <a:pPr marR="0" lvl="0">
              <a:spcAft>
                <a:spcPts val="0"/>
              </a:spcAft>
              <a:defRPr/>
            </a:pPr>
            <a:r>
              <a:rPr lang="ru-RU"/>
              <a:t>Данная проблема внутренне присуща выбранному нами способу реализации паттерна Декоратор - Knight и </a:t>
            </a:r>
            <a:r>
              <a:rPr lang="ru-RU"/>
              <a:t>VeteranUnit</a:t>
            </a:r>
            <a:r>
              <a:rPr lang="ru-RU"/>
              <a:t> наследуют одному и тому же классу Unit, но ничего не знают друг о друге. </a:t>
            </a:r>
            <a:endParaRPr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Особенности реализации на С++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544152" y="1583743"/>
            <a:ext cx="11202803" cy="397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В процессе реализации классического декоратора на C++ мы столкнулись с двумя проблемами. Первая заключалась в том, что декорированный объект не принимает владения исходным, поэтому нужно сохранять оба (это можно рассматривать как преимущество, а не как проблему, если впоследствии декорации нужно будет сбросить, и это одна из причин реализации декоратора подобным образом). 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Вторая проблема связана с тем, что декорированный Knight - в действительности не Knight, a Unit. Эту проблему можно решить, если наследовать декоратор от декорируемого класса. Тогда у класса </a:t>
            </a:r>
            <a:r>
              <a:rPr lang="ru-RU"/>
              <a:t>VeteranUnit</a:t>
            </a:r>
            <a:r>
              <a:rPr lang="ru-RU"/>
              <a:t> не было бы фиксированного базового класса - базовым всегда был бы декорируемый класс. 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Как вы думаете – какой паттерн можно применить для решения второй проблемы при реализации декоратора?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Особенности реализации на С++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544152" y="1583743"/>
            <a:ext cx="11202803" cy="397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В процессе реализации классического декоратора на C++ мы столкнулись с двумя проблемами. Первая заключалась в том, что декорированный объект не принимает владения исходным, поэтому нужно сохранять оба (это можно рассматривать как преимущество, а не как проблему, если впоследствии декорации нужно будет сбросить, и это одна из причин реализации декоратора подобным образом). 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Вторая проблема связана с тем, что декорированный Knight - в действительности не Knight, a Unit. Эту проблему можно решить, если наследовать декоратор от декорируемого класса. Тогда у класса </a:t>
            </a:r>
            <a:r>
              <a:rPr lang="ru-RU"/>
              <a:t>VeteranUnit</a:t>
            </a:r>
            <a:r>
              <a:rPr lang="ru-RU"/>
              <a:t> не было бы фиксированного базового класса - базовым всегда был бы декорируемый класс. 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Как вы думаете – какой паттерн можно применить для решения второй проблемы при реализации декоратора?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Особенности реализации на С++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544152" y="1583743"/>
            <a:ext cx="11202803" cy="2109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Все верно – это же наш любимый </a:t>
            </a:r>
            <a:r>
              <a:rPr lang="en-US"/>
              <a:t>CRTP!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Для применения CRTP мы должны превратить декоратор в шаблон и унаследовать параметр шаблона: </a:t>
            </a:r>
            <a:endParaRPr lang="en-US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05410" y="3012360"/>
            <a:ext cx="9358598" cy="35166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Особенности реализации на С++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544152" y="1583743"/>
            <a:ext cx="11202803" cy="1649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Теперь, чтобы перевести персонажа в статус ветерана, мы должны преобразовать его в декорированную версию конкретного подкласса Unit: 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74778" y="2456463"/>
            <a:ext cx="8053113" cy="3865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Полиморфные декораторы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323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Некоторые декораторы рассчитаны только на классы, которые модифицируют, и имеют узкую направленность. Другие очень общие, по крайней мере в принципе. </a:t>
            </a:r>
            <a:endParaRPr lang="en-US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Например, отладочный декоратор, который протоколирует вызовы функций и печатает возвращенные ими значения, можно было бы использовать с любой функцией, если бы только мы смогли правильно реализовать его. </a:t>
            </a:r>
            <a:endParaRPr/>
          </a:p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Полиморфные декораторы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131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252369" y="1866617"/>
            <a:ext cx="7482431" cy="454540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 bwMode="auto">
          <a:xfrm>
            <a:off x="305735" y="1627860"/>
            <a:ext cx="3653990" cy="2696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/>
              <a:t>Такую реализацию легко написать на C++14 и выше с помощью шаблонов с переменным числом аргументов, пакетов параметров и идеальной передачи.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Полиморфные декораторы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131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305735" y="1627860"/>
            <a:ext cx="3653990" cy="4358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Этим декоратором можно обернуть любой вызываемый объект или функцию (все, что допускает вызов со скобками ()) с любым числом аргументов. Он печатает заданную строку и результат вызова. Однако зачастую выписать тип вызываемого объекта нелегко, и было бы лучше, чтобы это сделал компилятор с помощью выведения аргументов шаблона</a:t>
            </a: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020887" y="1843055"/>
            <a:ext cx="6466085" cy="1261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Полиморфные декораторы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131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305735" y="1655911"/>
            <a:ext cx="3653990" cy="441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Эта шаблонная функция выводит тип </a:t>
            </a: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Callable</a:t>
            </a: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 и декорирует его отладочной оберткой. Теперь ее можно применить к любой функции или объекту. </a:t>
            </a:r>
            <a:endParaRPr lang="en-US" sz="1800" b="0" i="0" u="none" strike="noStrike" cap="none">
              <a:ln>
                <a:noFill/>
              </a:ln>
              <a:solidFill>
                <a:srgbClr val="212529"/>
              </a:solidFill>
              <a:latin typeface="SFMono-Regular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Декорировать можно даже лямбда-выражение, которое есть не что иное, как неявный вызываемый объект.</a:t>
            </a:r>
            <a:r>
              <a:rPr lang="ru-RU" sz="800" b="0" i="0" u="none" strike="noStrike" cap="none">
                <a:ln>
                  <a:noFill/>
                </a:ln>
                <a:solidFill>
                  <a:schemeClr val="tx1"/>
                </a:solidFill>
              </a:rPr>
              <a:t> </a:t>
            </a:r>
            <a:endParaRPr lang="ru-RU" sz="44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grpSp>
        <p:nvGrpSpPr>
          <p:cNvPr id="24" name="Группа 23"/>
          <p:cNvGrpSpPr/>
          <p:nvPr/>
        </p:nvGrpSpPr>
        <p:grpSpPr bwMode="auto">
          <a:xfrm>
            <a:off x="5461489" y="1730124"/>
            <a:ext cx="5954485" cy="1209420"/>
            <a:chOff x="6336621" y="1716078"/>
            <a:chExt cx="4748247" cy="814091"/>
          </a:xfrm>
        </p:grpSpPr>
        <p:pic>
          <p:nvPicPr>
            <p:cNvPr id="21" name="Рисунок 20"/>
            <p:cNvPicPr>
              <a:picLocks noChangeAspect="1"/>
            </p:cNvPicPr>
            <p:nvPr/>
          </p:nvPicPr>
          <p:blipFill>
            <a:blip r:embed="rId2"/>
            <a:stretch/>
          </p:blipFill>
          <p:spPr bwMode="auto">
            <a:xfrm>
              <a:off x="6336621" y="1716078"/>
              <a:ext cx="4533933" cy="423866"/>
            </a:xfrm>
            <a:prstGeom prst="rect">
              <a:avLst/>
            </a:prstGeom>
          </p:spPr>
        </p:pic>
        <p:pic>
          <p:nvPicPr>
            <p:cNvPr id="23" name="Рисунок 22"/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>
              <a:off x="6336621" y="2011053"/>
              <a:ext cx="4748247" cy="519116"/>
            </a:xfrm>
            <a:prstGeom prst="rect">
              <a:avLst/>
            </a:prstGeom>
          </p:spPr>
        </p:pic>
      </p:grpSp>
      <p:pic>
        <p:nvPicPr>
          <p:cNvPr id="26" name="Рисунок 25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281975" y="4143581"/>
            <a:ext cx="6745469" cy="608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Паттерн Адаптер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131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305735" y="1655911"/>
            <a:ext cx="11497318" cy="2287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sz="1800" b="0" i="0" u="none" strike="noStrike" cap="none">
                <a:ln>
                  <a:noFill/>
                </a:ln>
                <a:solidFill>
                  <a:schemeClr val="accent1"/>
                </a:solidFill>
                <a:latin typeface="SFMono-Regular"/>
              </a:rPr>
              <a:t>Адаптер</a:t>
            </a: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 - это структурный паттерн, который позволяет использовать интерфейс класса как другой, отличный от него интерфейс. 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Он позволяет применить существующий класс в контексте, где ожидается другой интерфейс, не внося изменений в исходный класс.</a:t>
            </a:r>
            <a:r>
              <a:rPr lang="ru-RU" sz="800" b="0" i="0" u="none" strike="noStrike" cap="none">
                <a:ln>
                  <a:noFill/>
                </a:ln>
                <a:solidFill>
                  <a:schemeClr val="tx1"/>
                </a:solidFill>
              </a:rPr>
              <a:t> </a:t>
            </a:r>
            <a:endParaRPr lang="ru-RU" sz="44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Паттерн Адаптер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131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305735" y="1655911"/>
            <a:ext cx="11497318" cy="4297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sz="1800" b="0" i="0" u="none" strike="noStrike" cap="none">
                <a:ln>
                  <a:noFill/>
                </a:ln>
                <a:solidFill>
                  <a:schemeClr val="accent1"/>
                </a:solidFill>
                <a:latin typeface="SFMono-Regular"/>
              </a:rPr>
              <a:t>Адаптер</a:t>
            </a: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 - это структурный паттерн, который позволяет использовать интерфейс класса как другой, отличный от него интерфейс. 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Он позволяет применить существующий класс в контексте, где ожидается другой интерфейс, не внося изменений в исходный класс.</a:t>
            </a:r>
            <a:r>
              <a:rPr lang="ru-RU" sz="800" b="0" i="0" u="none" strike="noStrike" cap="none">
                <a:ln>
                  <a:noFill/>
                </a:ln>
                <a:solidFill>
                  <a:schemeClr val="tx1"/>
                </a:solidFill>
              </a:rPr>
              <a:t> 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Однако Адаптер - очень общий паттерн широкого назначения. Его можно использовать для реализации нескольких других, более узких паттернов, в частности Декоратора. 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 sz="800" b="0" i="0" u="none" strike="noStrike" cap="none">
              <a:ln>
                <a:noFill/>
              </a:ln>
              <a:solidFill>
                <a:schemeClr val="tx1"/>
              </a:solidFill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 sz="44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 двух словах о многопоточности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131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305734" y="1655911"/>
            <a:ext cx="11721709" cy="6216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chemeClr val="accent1"/>
                </a:solidFill>
                <a:latin typeface="SFMono-Regular"/>
              </a:rPr>
              <a:t>Процесс</a:t>
            </a:r>
            <a:r>
              <a:rPr lang="ru-RU">
                <a:latin typeface="SFMono-Regular"/>
              </a:rPr>
              <a:t> – это исполняемая копия приложения. Например, когда вы открываете приложение MS Word, то запускаете процесс, исполняющий программу MS Word. 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chemeClr val="accent1"/>
                </a:solidFill>
                <a:latin typeface="SFMono-Regular"/>
              </a:rPr>
              <a:t>Поток</a:t>
            </a:r>
            <a:r>
              <a:rPr lang="ru-RU">
                <a:latin typeface="SFMono-Regular"/>
              </a:rPr>
              <a:t> – отдельное исполняемое задание внутри процесса. Процесс может содержать множество исполняемых потоков. После запуска приложения исполняется главный поток, который далее может порождать другие потоки.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latin typeface="SFMono-Regular"/>
              </a:rPr>
              <a:t>Каждый процесс обладает собственной памятью. Потоки же, которые запущены внутри процесса, разделяют память между собой. 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latin typeface="SFMono-Regular"/>
              </a:rPr>
              <a:t>Процесс внутри операционной системы обладает собственным идентификатором. Потоки существуют внутри процесса и обладают идентификатором внутри работающего приложения. 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latin typeface="SFMono-Regular"/>
              </a:rPr>
              <a:t>Каждый из потоков имеет свой собственный стек (он не делит его с другими потоками и другие потоки не могут в него залезть) и собственный набор регистров (поток не изменит значения регистра другого потока во время работы)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 sz="800" b="0" i="0" u="none" strike="noStrike" cap="none">
              <a:ln>
                <a:noFill/>
              </a:ln>
              <a:solidFill>
                <a:schemeClr val="tx1"/>
              </a:solidFill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 sz="44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Состояние гонки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131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305734" y="1655911"/>
            <a:ext cx="11721709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latin typeface="SFMono-Regular"/>
              </a:rPr>
              <a:t>Когда несколько потоков делают каждый своё дело, не разделяя память, то они могут сильно ускорить работу. Дополнительные издержки потребуются только для выделения ресурсов под эти потоки и для передачи им необходимых данных. 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latin typeface="SFMono-Regular"/>
              </a:rPr>
              <a:t>Когда несколько потоков должны общаться друг с другом, передавать данные, обрабатывать один объект, то есть совместно обращаться к одному ресурсу (обычно это общий участок памяти), то возникают так называемые </a:t>
            </a:r>
            <a:r>
              <a:rPr lang="ru-RU">
                <a:latin typeface="SFMono-Regular"/>
              </a:rPr>
              <a:t>race</a:t>
            </a:r>
            <a:r>
              <a:rPr lang="ru-RU">
                <a:latin typeface="SFMono-Regular"/>
              </a:rPr>
              <a:t> </a:t>
            </a:r>
            <a:r>
              <a:rPr lang="ru-RU">
                <a:latin typeface="SFMono-Regular"/>
              </a:rPr>
              <a:t>conditions</a:t>
            </a:r>
            <a:r>
              <a:rPr lang="ru-RU">
                <a:latin typeface="SFMono-Regular"/>
              </a:rPr>
              <a:t> – состояния гонки – когда результат работы зависит от порядка доступа к ресурсам.</a:t>
            </a:r>
            <a:endParaRPr lang="ru-RU">
              <a:latin typeface="SFMono-Regular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 sz="44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Состояние гонки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131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305735" y="1145418"/>
            <a:ext cx="11721709" cy="6101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111111"/>
                </a:solidFill>
                <a:latin typeface="Istok"/>
              </a:rPr>
              <a:t>Т</a:t>
            </a:r>
            <a:r>
              <a:rPr lang="ru-RU" b="0" i="0">
                <a:solidFill>
                  <a:srgbClr val="111111"/>
                </a:solidFill>
                <a:latin typeface="Istok"/>
              </a:rPr>
              <a:t>ипичный пример: банковский счёт. 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b="0" i="0">
                <a:solidFill>
                  <a:srgbClr val="111111"/>
                </a:solidFill>
                <a:latin typeface="Istok"/>
              </a:rPr>
              <a:t>Пусть два человека имеют доступ до одного счёта. На счету 10000. </a:t>
            </a:r>
            <a:endParaRPr/>
          </a:p>
          <a:p>
            <a:pPr marL="685800" lvl="1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b="0" i="0">
                <a:solidFill>
                  <a:srgbClr val="111111"/>
                </a:solidFill>
                <a:latin typeface="Istok"/>
              </a:rPr>
              <a:t>Пользователь A снимает со счёта 8000. </a:t>
            </a:r>
            <a:endParaRPr/>
          </a:p>
          <a:p>
            <a:pPr marL="685800" lvl="1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b="0" i="0">
                <a:solidFill>
                  <a:srgbClr val="111111"/>
                </a:solidFill>
                <a:latin typeface="Istok"/>
              </a:rPr>
              <a:t>Второй пользователь запрашивает остаток. </a:t>
            </a:r>
            <a:endParaRPr/>
          </a:p>
          <a:p>
            <a:pPr marL="685800" lvl="1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b="0" i="0">
                <a:solidFill>
                  <a:srgbClr val="111111"/>
                </a:solidFill>
                <a:latin typeface="Istok"/>
              </a:rPr>
              <a:t>Операция первого пользователя не успела завершиться и на счету указано 10000. </a:t>
            </a:r>
            <a:endParaRPr/>
          </a:p>
          <a:p>
            <a:pPr marL="685800" lvl="1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b="0" i="0">
                <a:solidFill>
                  <a:srgbClr val="111111"/>
                </a:solidFill>
                <a:latin typeface="Istok"/>
              </a:rPr>
              <a:t>Второй пользователь снимает 5000. </a:t>
            </a:r>
            <a:endParaRPr/>
          </a:p>
          <a:p>
            <a:pPr marL="685800" lvl="1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b="0" i="0">
                <a:solidFill>
                  <a:srgbClr val="111111"/>
                </a:solidFill>
                <a:latin typeface="Istok"/>
              </a:rPr>
              <a:t>В тот момент, когда он отправил заявку на снятие денег со счёта, деньги уже снялись, и на счету осталось 2000. </a:t>
            </a:r>
            <a:endParaRPr/>
          </a:p>
          <a:p>
            <a:pPr marL="685800" lvl="1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b="0" i="0">
                <a:solidFill>
                  <a:srgbClr val="111111"/>
                </a:solidFill>
                <a:latin typeface="Istok"/>
              </a:rPr>
              <a:t>В данном случае возможно несколько исходов. </a:t>
            </a:r>
            <a:endParaRPr/>
          </a:p>
          <a:p>
            <a:pPr marL="1143000" lvl="2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b="0" i="0">
                <a:solidFill>
                  <a:srgbClr val="111111"/>
                </a:solidFill>
                <a:latin typeface="Istok"/>
              </a:rPr>
              <a:t>Самый лучший, когда у второго пользователя выпадет ошибка, и он ничего не получит. </a:t>
            </a:r>
            <a:endParaRPr/>
          </a:p>
          <a:p>
            <a:pPr marL="1143000" lvl="2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b="0" i="0">
                <a:solidFill>
                  <a:srgbClr val="111111"/>
                </a:solidFill>
                <a:latin typeface="Istok"/>
              </a:rPr>
              <a:t>Ситуация, когда второй пользователь снимет деньги и счёт станет -3000. </a:t>
            </a:r>
            <a:endParaRPr/>
          </a:p>
          <a:p>
            <a:pPr marL="1143000" lvl="2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b="0" i="0">
                <a:solidFill>
                  <a:srgbClr val="111111"/>
                </a:solidFill>
                <a:latin typeface="Istok"/>
              </a:rPr>
              <a:t>А также ситуация, когда оба снимут деньги и на счету останется 2000 или 5000.</a:t>
            </a:r>
            <a:endParaRPr lang="ru-RU" sz="44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Состояние гонки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131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305735" y="1145418"/>
            <a:ext cx="11721709" cy="644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111111"/>
                </a:solidFill>
                <a:latin typeface="Istok"/>
              </a:rPr>
              <a:t>Для избегания состояния гонки используются примитивы синхронизации (например </a:t>
            </a:r>
            <a:r>
              <a:rPr lang="en-US">
                <a:solidFill>
                  <a:srgbClr val="111111"/>
                </a:solidFill>
                <a:latin typeface="Istok"/>
              </a:rPr>
              <a:t>mutex);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b="0" i="0">
                <a:solidFill>
                  <a:srgbClr val="292929"/>
                </a:solidFill>
                <a:latin typeface="source-serif-pro"/>
              </a:rPr>
              <a:t>Мьютекс (англ. </a:t>
            </a:r>
            <a:r>
              <a:rPr lang="ru-RU" b="0" i="1">
                <a:solidFill>
                  <a:srgbClr val="292929"/>
                </a:solidFill>
                <a:latin typeface="source-serif-pro"/>
              </a:rPr>
              <a:t>mutex</a:t>
            </a:r>
            <a:r>
              <a:rPr lang="ru-RU" b="0" i="0">
                <a:solidFill>
                  <a:srgbClr val="292929"/>
                </a:solidFill>
                <a:latin typeface="source-serif-pro"/>
              </a:rPr>
              <a:t>, от </a:t>
            </a:r>
            <a:r>
              <a:rPr lang="ru-RU" b="1" i="1">
                <a:solidFill>
                  <a:srgbClr val="292929"/>
                </a:solidFill>
                <a:latin typeface="source-serif-pro"/>
              </a:rPr>
              <a:t>mut</a:t>
            </a:r>
            <a:r>
              <a:rPr lang="ru-RU" b="0" i="1">
                <a:solidFill>
                  <a:srgbClr val="292929"/>
                </a:solidFill>
                <a:latin typeface="source-serif-pro"/>
              </a:rPr>
              <a:t>ual</a:t>
            </a:r>
            <a:r>
              <a:rPr lang="ru-RU" b="0" i="1">
                <a:solidFill>
                  <a:srgbClr val="292929"/>
                </a:solidFill>
                <a:latin typeface="source-serif-pro"/>
              </a:rPr>
              <a:t> </a:t>
            </a:r>
            <a:r>
              <a:rPr lang="ru-RU" b="1" i="1">
                <a:solidFill>
                  <a:srgbClr val="292929"/>
                </a:solidFill>
                <a:latin typeface="source-serif-pro"/>
              </a:rPr>
              <a:t>ex</a:t>
            </a:r>
            <a:r>
              <a:rPr lang="ru-RU" b="0" i="1">
                <a:solidFill>
                  <a:srgbClr val="292929"/>
                </a:solidFill>
                <a:latin typeface="source-serif-pro"/>
              </a:rPr>
              <a:t>clusion</a:t>
            </a:r>
            <a:r>
              <a:rPr lang="ru-RU" b="0" i="0">
                <a:solidFill>
                  <a:srgbClr val="292929"/>
                </a:solidFill>
                <a:latin typeface="source-serif-pro"/>
              </a:rPr>
              <a:t> — «взаимное исключение») — это базовый механизм синхронизации. Он предназначен для организации взаимоисключающего доступа к общим данным для нескольких потоков с использованием барьеров памяти (для простоты можно считать мьютекс дверью, ведущей к общим данным).</a:t>
            </a:r>
            <a:endParaRPr lang="ru-RU" b="0" i="0">
              <a:solidFill>
                <a:srgbClr val="111111"/>
              </a:solidFill>
              <a:latin typeface="Istok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111111"/>
                </a:solidFill>
                <a:latin typeface="Istok"/>
              </a:rPr>
              <a:t>Использование мьютекса состоит из двух операций: захвата и освобождения.</a:t>
            </a:r>
            <a:endParaRPr lang="ru-RU" sz="20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111111"/>
                </a:solidFill>
                <a:latin typeface="Istok"/>
              </a:rPr>
              <a:t>Захват мьютекса | </a:t>
            </a:r>
            <a:r>
              <a:rPr lang="ru-RU">
                <a:solidFill>
                  <a:srgbClr val="111111"/>
                </a:solidFill>
                <a:latin typeface="Istok"/>
              </a:rPr>
              <a:t>mutex.lock</a:t>
            </a:r>
            <a:r>
              <a:rPr lang="ru-RU">
                <a:solidFill>
                  <a:srgbClr val="111111"/>
                </a:solidFill>
                <a:latin typeface="Istok"/>
              </a:rPr>
              <a:t>();</a:t>
            </a:r>
            <a:br>
              <a:rPr lang="ru-RU">
                <a:solidFill>
                  <a:srgbClr val="111111"/>
                </a:solidFill>
                <a:latin typeface="Istok"/>
              </a:rPr>
            </a:br>
            <a:r>
              <a:rPr lang="ru-RU">
                <a:solidFill>
                  <a:srgbClr val="111111"/>
                </a:solidFill>
                <a:latin typeface="Istok"/>
              </a:rPr>
              <a:t>Поток запрашивает монопольное использование общих данных, защищаемых мьютексом. Дальше два варианта развития событий: происходит захват мьютекса этим потоком (и в этом случае ни один другой поток не сможет получить доступ к этим данным) или поток блокируется (если мьютекс уже захвачен другим потоком).</a:t>
            </a:r>
            <a:endParaRPr/>
          </a:p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111111"/>
                </a:solidFill>
                <a:latin typeface="Istok"/>
              </a:rPr>
              <a:t>Освобождение мьютекса | </a:t>
            </a:r>
            <a:r>
              <a:rPr lang="ru-RU">
                <a:solidFill>
                  <a:srgbClr val="111111"/>
                </a:solidFill>
                <a:latin typeface="Istok"/>
              </a:rPr>
              <a:t>mutex_name.unlock</a:t>
            </a:r>
            <a:r>
              <a:rPr lang="ru-RU">
                <a:solidFill>
                  <a:srgbClr val="111111"/>
                </a:solidFill>
                <a:latin typeface="Istok"/>
              </a:rPr>
              <a:t>();</a:t>
            </a:r>
            <a:br>
              <a:rPr lang="ru-RU">
                <a:solidFill>
                  <a:srgbClr val="111111"/>
                </a:solidFill>
                <a:latin typeface="Istok"/>
              </a:rPr>
            </a:br>
            <a:r>
              <a:rPr lang="ru-RU">
                <a:solidFill>
                  <a:srgbClr val="111111"/>
                </a:solidFill>
                <a:latin typeface="Istok"/>
              </a:rPr>
              <a:t>Когда ресурс больше не нужен, текущий владелец должен вызвать функцию разблокирования </a:t>
            </a:r>
            <a:r>
              <a:rPr lang="ru-RU">
                <a:solidFill>
                  <a:srgbClr val="111111"/>
                </a:solidFill>
                <a:latin typeface="Istok"/>
              </a:rPr>
              <a:t>unlock</a:t>
            </a:r>
            <a:r>
              <a:rPr lang="ru-RU">
                <a:solidFill>
                  <a:srgbClr val="111111"/>
                </a:solidFill>
                <a:latin typeface="Istok"/>
              </a:rPr>
              <a:t>, чтобы и другие потоки могли получить доступ к этому ресурсу. Когда мьютекс освобождается, доступ предоставляется одному из ожидающих потоков.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92929"/>
              </a:solidFill>
              <a:latin typeface="source-serif-pro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en-US" b="0" i="0">
              <a:solidFill>
                <a:srgbClr val="111111"/>
              </a:solidFill>
              <a:latin typeface="Istok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3" name="Rectangle 2"/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0" tIns="0" rIns="0" bIns="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vert="horz" wrap="none" lIns="0" tIns="0" rIns="0" bIns="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Состояние гонки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131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305735" y="1145418"/>
            <a:ext cx="11721709" cy="273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111111"/>
                </a:solidFill>
                <a:latin typeface="Istok"/>
              </a:rPr>
              <a:t>В сочетании с мьютексом</a:t>
            </a:r>
            <a:r>
              <a:rPr lang="en-US">
                <a:solidFill>
                  <a:srgbClr val="111111"/>
                </a:solidFill>
                <a:latin typeface="Istok"/>
              </a:rPr>
              <a:t> </a:t>
            </a:r>
            <a:r>
              <a:rPr lang="ru-RU">
                <a:solidFill>
                  <a:srgbClr val="111111"/>
                </a:solidFill>
                <a:latin typeface="Istok"/>
              </a:rPr>
              <a:t>часто используется </a:t>
            </a:r>
            <a:r>
              <a:rPr lang="en-US">
                <a:solidFill>
                  <a:srgbClr val="111111"/>
                </a:solidFill>
                <a:latin typeface="Istok"/>
              </a:rPr>
              <a:t>lock_guard</a:t>
            </a:r>
            <a:r>
              <a:rPr lang="ru-RU">
                <a:solidFill>
                  <a:srgbClr val="111111"/>
                </a:solidFill>
                <a:latin typeface="Istok"/>
              </a:rPr>
              <a:t>.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en-US">
                <a:solidFill>
                  <a:srgbClr val="111111"/>
                </a:solidFill>
                <a:latin typeface="Istok"/>
              </a:rPr>
              <a:t>lock_guard</a:t>
            </a:r>
            <a:r>
              <a:rPr lang="en-US">
                <a:solidFill>
                  <a:srgbClr val="111111"/>
                </a:solidFill>
                <a:latin typeface="Istok"/>
              </a:rPr>
              <a:t> – RAII </a:t>
            </a:r>
            <a:r>
              <a:rPr lang="ru-RU">
                <a:solidFill>
                  <a:srgbClr val="111111"/>
                </a:solidFill>
                <a:latin typeface="Istok"/>
              </a:rPr>
              <a:t>обертка для мьютекса, которая обеспечивает захват мьютекса в конструкторе и его освобождение в деструкторе.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92929"/>
              </a:solidFill>
              <a:latin typeface="source-serif-pro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en-US" b="0" i="0">
              <a:solidFill>
                <a:srgbClr val="111111"/>
              </a:solidFill>
              <a:latin typeface="Istok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3" name="Rectangle 2"/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0" tIns="0" rIns="0" bIns="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vert="horz" wrap="none" lIns="0" tIns="0" rIns="0" bIns="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Паттерн Адаптер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131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305735" y="1655911"/>
            <a:ext cx="7407762" cy="6548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latin typeface="SFMono-Regular"/>
              </a:rPr>
              <a:t>Для демонстрации мы реализуем объект </a:t>
            </a:r>
            <a:r>
              <a:rPr lang="ru-RU">
                <a:latin typeface="SFMono-Regular"/>
              </a:rPr>
              <a:t>потокобезопасной</a:t>
            </a:r>
            <a:r>
              <a:rPr lang="ru-RU">
                <a:latin typeface="SFMono-Regular"/>
              </a:rPr>
              <a:t> очереди. Очередь - довольно сложная структура данных даже без всякой </a:t>
            </a:r>
            <a:r>
              <a:rPr lang="ru-RU">
                <a:latin typeface="SFMono-Regular"/>
              </a:rPr>
              <a:t>потокобезопасности</a:t>
            </a:r>
            <a:r>
              <a:rPr lang="ru-RU">
                <a:latin typeface="SFMono-Regular"/>
              </a:rPr>
              <a:t>, но, к счастью, нам не нужно начинать с нуля, потому что в стандартной библиотеке C++ имеется шаблон std::</a:t>
            </a:r>
            <a:r>
              <a:rPr lang="ru-RU">
                <a:latin typeface="SFMono-Regular"/>
              </a:rPr>
              <a:t>queue</a:t>
            </a:r>
            <a:r>
              <a:rPr lang="ru-RU">
                <a:latin typeface="SFMono-Regular"/>
              </a:rPr>
              <a:t>.</a:t>
            </a:r>
            <a:endParaRPr/>
          </a:p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latin typeface="SFMono-Regular"/>
              </a:rPr>
              <a:t>Мы можем помещать объекты в очередь и извлекать их оттуда в порядке «первым пришел, первым обслужен», но только в одном потоке. </a:t>
            </a:r>
            <a:endParaRPr/>
          </a:p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latin typeface="SFMono-Regular"/>
              </a:rPr>
              <a:t>Одновременно помещать два объекта в одну очередь из разных потоков небезопасно. 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Но у нас есть решение - мы можем реализовать блокирующую очередь в виде класса, декорирующего основную.</a:t>
            </a:r>
            <a:r>
              <a:rPr lang="ru-RU" sz="800" b="0" i="0" u="none" strike="noStrike" cap="none">
                <a:ln>
                  <a:noFill/>
                </a:ln>
                <a:solidFill>
                  <a:schemeClr val="tx1"/>
                </a:solidFill>
              </a:rPr>
              <a:t> </a:t>
            </a:r>
            <a:endParaRPr lang="ru-RU" sz="44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latin typeface="SFMono-Regular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 sz="800" b="0" i="0" u="none" strike="noStrike" cap="none">
              <a:ln>
                <a:noFill/>
              </a:ln>
              <a:solidFill>
                <a:schemeClr val="tx1"/>
              </a:solidFill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 sz="44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Паттерн Адаптер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131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305735" y="1655911"/>
            <a:ext cx="5169445" cy="4169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Наш декоратор будет содержать очередь и мьютекс. Обернуть метод </a:t>
            </a: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push</a:t>
            </a: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() легко. В std:: </a:t>
            </a: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queue</a:t>
            </a: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 есть два варианта </a:t>
            </a: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push</a:t>
            </a: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(): один перемещает объект, другой копирует. Мы должны защитить мьютексом оба.</a:t>
            </a:r>
            <a:r>
              <a:rPr lang="ru-RU" sz="800" b="0" i="0" u="none" strike="noStrike" cap="none">
                <a:ln>
                  <a:noFill/>
                </a:ln>
                <a:solidFill>
                  <a:schemeClr val="tx1"/>
                </a:solidFill>
              </a:rPr>
              <a:t> </a:t>
            </a:r>
            <a:endParaRPr lang="ru-RU" sz="44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latin typeface="SFMono-Regular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 sz="800" b="0" i="0" u="none" strike="noStrike" cap="none">
              <a:ln>
                <a:noFill/>
              </a:ln>
              <a:solidFill>
                <a:schemeClr val="tx1"/>
              </a:solidFill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 sz="44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10542" y="1400261"/>
            <a:ext cx="6775723" cy="51529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Паттерн Адаптер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131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89759" y="1269594"/>
            <a:ext cx="5169445" cy="5439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Теперь обратимся к получению элементов из очереди. В стандартной очереди для этой цели есть три функции-члена. </a:t>
            </a:r>
            <a:endParaRPr/>
          </a:p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Первая,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front</a:t>
            </a:r>
            <a:r>
              <a:rPr lang="ru-RU">
                <a:solidFill>
                  <a:srgbClr val="212529"/>
                </a:solidFill>
                <a:latin typeface="SFMono-Regular"/>
              </a:rPr>
              <a:t>(), дает доступ к элементу в начале очереди, но не удаляет его. </a:t>
            </a:r>
            <a:endParaRPr/>
          </a:p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Функция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рор</a:t>
            </a:r>
            <a:r>
              <a:rPr lang="ru-RU">
                <a:solidFill>
                  <a:srgbClr val="212529"/>
                </a:solidFill>
                <a:latin typeface="SFMono-Regular"/>
              </a:rPr>
              <a:t>() удаляет элемент из начала очереди, но ничего не возвращает (она не предоставляет доступа к первому элементу, а просто удаляет его). </a:t>
            </a:r>
            <a:endParaRPr/>
          </a:p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Обе эти функции не следует вызывать, если очередь пуста - контроля ошибок нет, но результат не определен. Наконец, имеется еще функция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empty</a:t>
            </a:r>
            <a:r>
              <a:rPr lang="ru-RU">
                <a:solidFill>
                  <a:srgbClr val="212529"/>
                </a:solidFill>
                <a:latin typeface="SFMono-Regular"/>
              </a:rPr>
              <a:t>(); она возвращает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false</a:t>
            </a:r>
            <a:r>
              <a:rPr lang="ru-RU">
                <a:solidFill>
                  <a:srgbClr val="212529"/>
                </a:solidFill>
                <a:latin typeface="SFMono-Regular"/>
              </a:rPr>
              <a:t>, если очередь не пуста, и в этом случае мы можем вызывать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front</a:t>
            </a:r>
            <a:r>
              <a:rPr lang="ru-RU">
                <a:solidFill>
                  <a:srgbClr val="212529"/>
                </a:solidFill>
                <a:latin typeface="SFMono-Regular"/>
              </a:rPr>
              <a:t>() и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рор</a:t>
            </a:r>
            <a:r>
              <a:rPr lang="ru-RU">
                <a:solidFill>
                  <a:srgbClr val="212529"/>
                </a:solidFill>
                <a:latin typeface="SFMono-Regular"/>
              </a:rPr>
              <a:t>(). </a:t>
            </a:r>
            <a:endParaRPr lang="ru-RU"/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932798" y="1328008"/>
            <a:ext cx="4319559" cy="4079583"/>
          </a:xfrm>
          <a:prstGeom prst="rect">
            <a:avLst/>
          </a:prstGeom>
        </p:spPr>
      </p:pic>
      <p:sp>
        <p:nvSpPr>
          <p:cNvPr id="1508875576" name=""/>
          <p:cNvSpPr/>
          <p:nvPr/>
        </p:nvSpPr>
        <p:spPr bwMode="auto">
          <a:xfrm>
            <a:off x="5968559" y="3017519"/>
            <a:ext cx="255240" cy="9147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br>
              <a:rPr/>
            </a:br>
            <a:br>
              <a:rPr/>
            </a:b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Паттерн Адаптер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131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89759" y="1269594"/>
            <a:ext cx="11937685" cy="5211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Является ли наш код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потокобезопасным</a:t>
            </a:r>
            <a:r>
              <a:rPr lang="ru-RU">
                <a:solidFill>
                  <a:srgbClr val="212529"/>
                </a:solidFill>
                <a:latin typeface="SFMono-Regular"/>
              </a:rPr>
              <a:t>?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К</a:t>
            </a: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аждая функция </a:t>
            </a: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потокобезопасна</a:t>
            </a: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, но их комбинация таковой не является. </a:t>
            </a:r>
            <a:endParaRPr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Важно понимать, почему:</a:t>
            </a:r>
            <a:endParaRPr/>
          </a:p>
          <a:p>
            <a:pPr marL="685800" lvl="1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Сначала мы вызываем </a:t>
            </a:r>
            <a:r>
              <a:rPr lang="ru-RU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q.empty</a:t>
            </a:r>
            <a:r>
              <a:rPr lang="ru-RU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(). </a:t>
            </a:r>
            <a:endParaRPr/>
          </a:p>
          <a:p>
            <a:pPr marL="685800" lvl="1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Предположим, что она вернула </a:t>
            </a:r>
            <a:r>
              <a:rPr lang="ru-RU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false</a:t>
            </a:r>
            <a:r>
              <a:rPr lang="ru-RU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, так что в очереди заведомо есть хотя бы один элемент.</a:t>
            </a:r>
            <a:endParaRPr/>
          </a:p>
          <a:p>
            <a:pPr marL="685800" lvl="1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 В следующей строке мы можем обратиться к нему, вызвав </a:t>
            </a:r>
            <a:r>
              <a:rPr lang="ru-RU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q.front</a:t>
            </a:r>
            <a:r>
              <a:rPr lang="ru-RU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(), которая вернет 5. </a:t>
            </a:r>
            <a:endParaRPr/>
          </a:p>
          <a:p>
            <a:pPr marL="685800" lvl="1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Но ведь это лишь один поток из многих работающих в программе. В то же самое время другой поток выполняет тот же самый код. </a:t>
            </a:r>
            <a:endParaRPr/>
          </a:p>
          <a:p>
            <a:pPr marL="685800" lvl="1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Этот поток тоже вызывает q. </a:t>
            </a:r>
            <a:r>
              <a:rPr lang="ru-RU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empty</a:t>
            </a:r>
            <a:r>
              <a:rPr lang="ru-RU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() и тоже получает </a:t>
            </a:r>
            <a:r>
              <a:rPr lang="ru-RU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false</a:t>
            </a:r>
            <a:r>
              <a:rPr lang="ru-RU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 - как мы уже сказали, в очереди есть элемент, и пока что мы еще ничего не сделали, чтобы его удалить. </a:t>
            </a:r>
            <a:endParaRPr/>
          </a:p>
          <a:p>
            <a:pPr marL="685800" lvl="1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Второй поток тоже вызывает </a:t>
            </a:r>
            <a:r>
              <a:rPr lang="ru-RU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q.front</a:t>
            </a:r>
            <a:r>
              <a:rPr lang="ru-RU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() и тоже получает 5. </a:t>
            </a:r>
            <a:endParaRPr/>
          </a:p>
          <a:p>
            <a:pPr marL="685800" lvl="1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Проблема уже налицо - два потока пытались выбрать элемент из очереди, но получили один и тот же. </a:t>
            </a:r>
            <a:endParaRPr lang="ru-RU"/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Паттерн Адаптер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131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89759" y="1269594"/>
            <a:ext cx="11937685" cy="2909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В действительности нам нужна одна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потокобезопасная</a:t>
            </a:r>
            <a:r>
              <a:rPr lang="ru-RU">
                <a:solidFill>
                  <a:srgbClr val="212529"/>
                </a:solidFill>
                <a:latin typeface="SFMono-Regular"/>
              </a:rPr>
              <a:t> функция, которая выполняет всю транзакцию под защитой одного мьютекса как единое непрерываемое действие (такие транзакции называются атомарными). </a:t>
            </a:r>
            <a:endParaRPr/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В нашем случае транзакцией является удаление первого элемента, если он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сущест</a:t>
            </a:r>
            <a:r>
              <a:rPr lang="ru-RU">
                <a:solidFill>
                  <a:srgbClr val="212529"/>
                </a:solidFill>
                <a:latin typeface="SFMono-Regular"/>
              </a:rPr>
              <a:t>-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вует</a:t>
            </a:r>
            <a:r>
              <a:rPr lang="ru-RU">
                <a:solidFill>
                  <a:srgbClr val="212529"/>
                </a:solidFill>
                <a:latin typeface="SFMono-Regular"/>
              </a:rPr>
              <a:t>, и выдача какой-то диагностики, если его нет. </a:t>
            </a:r>
            <a:endParaRPr/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Интерфейс std::</a:t>
            </a:r>
            <a:r>
              <a:rPr lang="ru-RU">
                <a:solidFill>
                  <a:srgbClr val="212529"/>
                </a:solidFill>
                <a:latin typeface="SFMono-Regular"/>
              </a:rPr>
              <a:t>queue</a:t>
            </a:r>
            <a:r>
              <a:rPr lang="ru-RU">
                <a:solidFill>
                  <a:srgbClr val="212529"/>
                </a:solidFill>
                <a:latin typeface="SFMono-Regular"/>
              </a:rPr>
              <a:t> не предоставляет такого транзакционного API. </a:t>
            </a:r>
            <a:endParaRPr/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Паттерн Адаптер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131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89759" y="1269594"/>
            <a:ext cx="11937685" cy="4495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Таким образом, нам необходим новый паттерн, который преобразовывал бы существующий интерфейс класса в другой интерфейс в соответствии с нашими требованиями. </a:t>
            </a:r>
            <a:endParaRPr/>
          </a:p>
          <a:p>
            <a:pPr marL="5715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Декоратор этого сделать не может, но именно эту задачу решает паттерн Адаптер.</a:t>
            </a:r>
            <a:endParaRPr lang="ru-RU">
              <a:solidFill>
                <a:srgbClr val="212529"/>
              </a:solidFill>
              <a:latin typeface="SFMono-Regular"/>
            </a:endParaRPr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Все должна делать новая функция-член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рор</a:t>
            </a:r>
            <a:r>
              <a:rPr lang="ru-RU">
                <a:solidFill>
                  <a:srgbClr val="212529"/>
                </a:solidFill>
                <a:latin typeface="SFMono-Regular"/>
              </a:rPr>
              <a:t>() - если очередь не пуста, то она должна удалить первый элемент и вернуть его вызывающей стороне путем копирования или перемещения. </a:t>
            </a:r>
            <a:endParaRPr/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Если же очередь пуста, то функция не должна изменять ее состояние, а лишь как-то уведомить вызывающую сторону. </a:t>
            </a:r>
            <a:endParaRPr/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Например, можно было бы вернуть два значения - сам элемент (если он существует) и булев флаг, сообщающий, была ли очередь пуста. </a:t>
            </a:r>
            <a:endParaRPr/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Паттерн Адаптер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131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89759" y="1269594"/>
            <a:ext cx="11937685" cy="86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12066" y="1801221"/>
            <a:ext cx="6579717" cy="42357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Адаптеры функций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131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89759" y="1269594"/>
            <a:ext cx="11937685" cy="86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594640" y="1329526"/>
            <a:ext cx="11113044" cy="2192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Функция std::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sort</a:t>
            </a:r>
            <a:r>
              <a:rPr lang="ru-RU">
                <a:solidFill>
                  <a:srgbClr val="212529"/>
                </a:solidFill>
                <a:latin typeface="SFMono-Regular"/>
              </a:rPr>
              <a:t> принимает диапазон итераторов (последовательность, подлежащую сортировке), но ее также можно вызвать с тремя аргументами - третьим будет объект сравнения (по умолчанию используется std::</a:t>
            </a:r>
            <a:r>
              <a:rPr lang="ru-RU">
                <a:solidFill>
                  <a:srgbClr val="212529"/>
                </a:solidFill>
                <a:latin typeface="SFMono-Regular"/>
              </a:rPr>
              <a:t>less</a:t>
            </a:r>
            <a:r>
              <a:rPr lang="ru-RU">
                <a:solidFill>
                  <a:srgbClr val="212529"/>
                </a:solidFill>
                <a:latin typeface="SFMono-Regular"/>
              </a:rPr>
              <a:t>, который, в свою очередь, вызывает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operator</a:t>
            </a:r>
            <a:r>
              <a:rPr lang="ru-RU">
                <a:solidFill>
                  <a:srgbClr val="212529"/>
                </a:solidFill>
                <a:latin typeface="SFMono-Regular"/>
              </a:rPr>
              <a:t>&lt;() для сравниваемых объектов). </a:t>
            </a:r>
            <a:endParaRPr/>
          </a:p>
          <a:p>
            <a:pPr marL="5715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Но нам нужно нечто иное - мы хотим сравнивать числа с плавающей точкой неточно, с некоторым допуском. Если два числа х и у достаточно близки, то мы не будем считать, что одно меньше другого. Лишь если х намного меньше у, мы позаботимся о том, чтобы в отсортированной последовательности х предшествовало у. </a:t>
            </a:r>
            <a:endParaRPr lang="ru-RU">
              <a:solidFill>
                <a:srgbClr val="212529"/>
              </a:solidFill>
              <a:latin typeface="SFMono-Regular"/>
            </a:endParaRP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5" name="Rectangle 5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Адаптеры функций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131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89759" y="1269594"/>
            <a:ext cx="11937685" cy="86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594640" y="1329526"/>
            <a:ext cx="11113044" cy="408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Вот как выглядит наш функтор (вызываемый объект) для сравнения:</a:t>
            </a:r>
            <a:endParaRPr lang="en-US">
              <a:solidFill>
                <a:srgbClr val="212529"/>
              </a:solidFill>
              <a:latin typeface="SFMono-Regular"/>
            </a:endParaRPr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5715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 </a:t>
            </a: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Этот объект сравнения можно использовать в сочетании со стандартной сортировкой:</a:t>
            </a:r>
            <a:r>
              <a:rPr lang="ru-RU" sz="800" b="0" i="0" u="none" strike="noStrike" cap="none">
                <a:ln>
                  <a:noFill/>
                </a:ln>
                <a:solidFill>
                  <a:schemeClr val="tx1"/>
                </a:solidFill>
              </a:rPr>
              <a:t> </a:t>
            </a:r>
            <a:endParaRPr lang="ru-RU" sz="44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5" name="Rectangle 5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31" name="Рисунок 3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03141" y="1985018"/>
            <a:ext cx="7493722" cy="2345760"/>
          </a:xfrm>
          <a:prstGeom prst="rect">
            <a:avLst/>
          </a:prstGeom>
        </p:spPr>
      </p:pic>
      <p:sp>
        <p:nvSpPr>
          <p:cNvPr id="3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3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03141" y="4992909"/>
            <a:ext cx="4916918" cy="71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Адаптеры функций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131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89759" y="1269594"/>
            <a:ext cx="11937685" cy="86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589030" y="1329526"/>
            <a:ext cx="11113044" cy="3370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Однако если такая сортировка бывает нужна часто, то лучше бы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каррировать</a:t>
            </a:r>
            <a:r>
              <a:rPr lang="ru-RU">
                <a:solidFill>
                  <a:srgbClr val="212529"/>
                </a:solidFill>
                <a:latin typeface="SFMono-Regular"/>
              </a:rPr>
              <a:t> последний аргумент, разработав адаптер, который принимает только два итератора, а функция сортировки подразумевается. Вот этот адаптер - очень простой </a:t>
            </a:r>
            <a:endParaRPr lang="en-US">
              <a:solidFill>
                <a:srgbClr val="212529"/>
              </a:solidFill>
              <a:latin typeface="SFMono-Regular"/>
            </a:endParaRPr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5715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5715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Теперь можно вызывать функцию сортировки с двумя аргументами: </a:t>
            </a:r>
            <a:endParaRPr/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5" name="Rectangle 5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3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0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38" name="Рисунок 3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04117" y="2384625"/>
            <a:ext cx="5899565" cy="1244925"/>
          </a:xfrm>
          <a:prstGeom prst="rect">
            <a:avLst/>
          </a:prstGeom>
        </p:spPr>
      </p:pic>
      <p:sp>
        <p:nvSpPr>
          <p:cNvPr id="3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41" name="Рисунок 4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04118" y="4236166"/>
            <a:ext cx="4851919" cy="927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Адаптеры функций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131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89759" y="1269594"/>
            <a:ext cx="11937685" cy="86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589030" y="1329526"/>
            <a:ext cx="11113044" cy="3038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Но если мы часто вызываем </a:t>
            </a:r>
            <a:r>
              <a:rPr lang="ru-RU">
                <a:solidFill>
                  <a:srgbClr val="212529"/>
                </a:solidFill>
                <a:latin typeface="SFMono-Regular"/>
              </a:rPr>
              <a:t>sort</a:t>
            </a:r>
            <a:r>
              <a:rPr lang="ru-RU">
                <a:solidFill>
                  <a:srgbClr val="212529"/>
                </a:solidFill>
                <a:latin typeface="SFMono-Regular"/>
              </a:rPr>
              <a:t> таким образом для сортировки всего контейнера, то возникает желание еще раз изменить интерфейс и создать еще один адаптер: </a:t>
            </a:r>
            <a:endParaRPr/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5715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5715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Теперь можно вызывать функцию сортировки с двумя аргументами: </a:t>
            </a:r>
            <a:endParaRPr/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5" name="Rectangle 5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3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0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04118" y="2263446"/>
            <a:ext cx="6563935" cy="863185"/>
          </a:xfrm>
          <a:prstGeom prst="rect">
            <a:avLst/>
          </a:prstGeom>
        </p:spPr>
      </p:pic>
      <p:pic>
        <p:nvPicPr>
          <p:cNvPr id="42" name="Рисунок 4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8800" y="4027843"/>
            <a:ext cx="3517100" cy="1082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8329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Адаптеры функций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914400" y="1400261"/>
            <a:ext cx="11113044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457200" y="1269594"/>
            <a:ext cx="11202803" cy="131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89759" y="1269594"/>
            <a:ext cx="11937685" cy="86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19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5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7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8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589030" y="1329526"/>
            <a:ext cx="11113044" cy="3038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r>
              <a:rPr lang="ru-RU">
                <a:solidFill>
                  <a:srgbClr val="212529"/>
                </a:solidFill>
                <a:latin typeface="SFMono-Regular"/>
              </a:rPr>
              <a:t>С++ 14 </a:t>
            </a:r>
            <a:r>
              <a:rPr lang="ru-RU" sz="1800" b="0" i="0" u="none" strike="noStrike" cap="none">
                <a:ln>
                  <a:noFill/>
                </a:ln>
                <a:solidFill>
                  <a:srgbClr val="212529"/>
                </a:solidFill>
                <a:latin typeface="SFMono-Regular"/>
              </a:rPr>
              <a:t>предлагает альтернативный способ написания таких простых адаптеров, который мы всячески рекомендуем: можно использовать лямбда-выражение:</a:t>
            </a:r>
            <a:r>
              <a:rPr lang="ru-RU" sz="800" b="0" i="0" u="none" strike="noStrike" cap="none">
                <a:ln>
                  <a:noFill/>
                </a:ln>
                <a:solidFill>
                  <a:schemeClr val="tx1"/>
                </a:solidFill>
              </a:rPr>
              <a:t> </a:t>
            </a:r>
            <a:endParaRPr lang="ru-RU" sz="44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5715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5715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en-US">
              <a:solidFill>
                <a:srgbClr val="212529"/>
              </a:solidFill>
              <a:latin typeface="SFMono-Regular"/>
            </a:endParaRPr>
          </a:p>
          <a:p>
            <a:pPr marL="57150" marR="0" lvl="0" indent="-22860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/>
              <a:buChar char="§"/>
              <a:defRPr/>
            </a:pPr>
            <a:endParaRPr lang="ru-RU">
              <a:solidFill>
                <a:srgbClr val="212529"/>
              </a:solidFill>
              <a:latin typeface="SFMono-Regular"/>
            </a:endParaRP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5" name="Rectangle 5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2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3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0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9" name="Rectangle 2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1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sp>
        <p:nvSpPr>
          <p:cNvPr id="36" name="Rectangle 1"/>
          <p:cNvSpPr>
            <a:spLocks noChangeArrowheads="1"/>
          </p:cNvSpPr>
          <p:nvPr/>
        </p:nvSpPr>
        <p:spPr bwMode="auto">
          <a:xfrm>
            <a:off x="0" y="67017"/>
            <a:ext cx="184731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91440" tIns="0" rIns="91440" bIns="45720" numCol="1" anchor="ctr" anchorCtr="0" compatLnSpc="1">
            <a:prstTxWarp prst="textNoShape"/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  <p:pic>
        <p:nvPicPr>
          <p:cNvPr id="40" name="Рисунок 39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08664" y="2293383"/>
            <a:ext cx="5593273" cy="2074282"/>
          </a:xfrm>
          <a:prstGeom prst="rect">
            <a:avLst/>
          </a:prstGeom>
        </p:spPr>
      </p:pic>
      <p:pic>
        <p:nvPicPr>
          <p:cNvPr id="43" name="Рисунок 4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08664" y="4473312"/>
            <a:ext cx="7693252" cy="1956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Для тех кто хочет почитать что-то еще</a:t>
            </a:r>
            <a:endParaRPr/>
          </a:p>
        </p:txBody>
      </p:sp>
      <p:sp>
        <p:nvSpPr>
          <p:cNvPr id="11" name="Объект 10"/>
          <p:cNvSpPr>
            <a:spLocks noGrp="1"/>
          </p:cNvSpPr>
          <p:nvPr>
            <p:ph idx="1"/>
          </p:nvPr>
        </p:nvSpPr>
        <p:spPr bwMode="auto">
          <a:xfrm>
            <a:off x="5301327" y="953835"/>
            <a:ext cx="6281873" cy="524862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/>
              <a:t>Лекция разработана на базе открытых лекций </a:t>
            </a:r>
            <a:r>
              <a:rPr lang="ru-RU" u="sng"/>
              <a:t>Константина Владимирова </a:t>
            </a:r>
            <a:r>
              <a:rPr lang="ru-RU"/>
              <a:t>(МФТИ, </a:t>
            </a:r>
            <a:r>
              <a:rPr lang="en-US"/>
              <a:t>iLAB</a:t>
            </a:r>
            <a:r>
              <a:rPr lang="ru-RU"/>
              <a:t>) (Базовый курс, Лекция:</a:t>
            </a:r>
            <a:r>
              <a:rPr lang="en-US"/>
              <a:t> 5, 6</a:t>
            </a:r>
            <a:r>
              <a:rPr lang="ru-RU"/>
              <a:t>)   </a:t>
            </a:r>
            <a:r>
              <a:rPr lang="en-US" u="sng">
                <a:hlinkClick r:id="rId2" tooltip="https://www.youtube.com/@tilir"/>
              </a:rPr>
              <a:t>https://www.youtube.com/@tilir</a:t>
            </a: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ru-RU"/>
              <a:t>Также полезно изучить:</a:t>
            </a:r>
            <a:endParaRPr/>
          </a:p>
          <a:p>
            <a:pPr>
              <a:defRPr/>
            </a:pPr>
            <a:r>
              <a:rPr lang="ru-RU"/>
              <a:t>Идиомы и паттерны проектирования в современном С++ // Ф.Г. </a:t>
            </a:r>
            <a:r>
              <a:rPr lang="ru-RU"/>
              <a:t>Пикус</a:t>
            </a:r>
            <a:r>
              <a:rPr lang="ru-RU"/>
              <a:t> </a:t>
            </a:r>
            <a:endParaRPr/>
          </a:p>
          <a:p>
            <a:pPr>
              <a:defRPr/>
            </a:pPr>
            <a:r>
              <a:rPr lang="ru-RU"/>
              <a:t>Эффективный и современный С++ // </a:t>
            </a:r>
            <a:r>
              <a:rPr lang="ru-RU"/>
              <a:t>С.Майерс</a:t>
            </a: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Атлас">
  <a:themeElements>
    <a:clrScheme name="Атлас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10B6F4"/>
      </a:accent1>
      <a:accent2>
        <a:srgbClr val="3C78C3"/>
      </a:accent2>
      <a:accent3>
        <a:srgbClr val="9F52D0"/>
      </a:accent3>
      <a:accent4>
        <a:srgbClr val="D64198"/>
      </a:accent4>
      <a:accent5>
        <a:srgbClr val="DA2228"/>
      </a:accent5>
      <a:accent6>
        <a:srgbClr val="F18318"/>
      </a:accent6>
      <a:hlink>
        <a:srgbClr val="38DDEC"/>
      </a:hlink>
      <a:folHlink>
        <a:srgbClr val="A8DEE8"/>
      </a:folHlink>
    </a:clrScheme>
    <a:fontScheme name="Атлас">
      <a:majorFont>
        <a:latin typeface="Calibri Light"/>
        <a:ea typeface="Arial"/>
        <a:cs typeface="Arial"/>
      </a:majorFont>
      <a:minorFont>
        <a:latin typeface="Rockwell"/>
        <a:ea typeface="Arial"/>
        <a:cs typeface="Arial"/>
      </a:minorFont>
    </a:fontScheme>
    <a:fmtScheme name="Атлас">
      <a:fillStyleLst>
        <a:solidFill>
          <a:schemeClr val="phClr"/>
        </a:solidFill>
        <a:gradFill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TM16401371[[fn=Атлас]]</Template>
  <TotalTime>0</TotalTime>
  <Words>0</Words>
  <Application>R7-Office/2024.1.1.375</Application>
  <DocSecurity>0</DocSecurity>
  <PresentationFormat>Широкоэкранный</PresentationFormat>
  <Paragraphs>0</Paragraphs>
  <Slides>46</Slides>
  <Notes>46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0. Введение.</dc:title>
  <dc:subject/>
  <dc:creator>Василий Бугаев</dc:creator>
  <cp:keywords/>
  <dc:description/>
  <dc:identifier/>
  <dc:language/>
  <cp:lastModifiedBy>Кирилл Чубанов</cp:lastModifiedBy>
  <cp:revision>261</cp:revision>
  <dcterms:created xsi:type="dcterms:W3CDTF">2023-01-29T12:06:08Z</dcterms:created>
  <dcterms:modified xsi:type="dcterms:W3CDTF">2026-05-15T07:39:52Z</dcterms:modified>
  <cp:category/>
  <cp:contentStatus/>
  <cp:version/>
</cp:coreProperties>
</file>