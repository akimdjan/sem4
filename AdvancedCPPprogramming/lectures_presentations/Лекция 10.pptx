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440" r:id="rId3"/>
    <p:sldId id="598" r:id="rId4"/>
    <p:sldId id="599" r:id="rId5"/>
    <p:sldId id="600" r:id="rId6"/>
    <p:sldId id="601" r:id="rId7"/>
    <p:sldId id="602" r:id="rId8"/>
    <p:sldId id="603" r:id="rId9"/>
    <p:sldId id="604" r:id="rId10"/>
    <p:sldId id="605" r:id="rId11"/>
    <p:sldId id="606" r:id="rId12"/>
    <p:sldId id="607" r:id="rId13"/>
    <p:sldId id="608" r:id="rId14"/>
    <p:sldId id="609" r:id="rId15"/>
    <p:sldId id="610" r:id="rId16"/>
    <p:sldId id="611" r:id="rId17"/>
    <p:sldId id="612" r:id="rId18"/>
    <p:sldId id="613" r:id="rId19"/>
    <p:sldId id="614" r:id="rId20"/>
    <p:sldId id="615" r:id="rId21"/>
    <p:sldId id="616" r:id="rId22"/>
    <p:sldId id="617" r:id="rId23"/>
    <p:sldId id="618" r:id="rId24"/>
    <p:sldId id="619" r:id="rId25"/>
    <p:sldId id="620" r:id="rId26"/>
    <p:sldId id="621" r:id="rId27"/>
    <p:sldId id="622" r:id="rId28"/>
    <p:sldId id="275" r:id="rId29"/>
    <p:sldId id="31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-110-06" initials="K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5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14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06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5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43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02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98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165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29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85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02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0BED0-FAE8-41EC-8396-63CD87AA7042}" type="datetimeFigureOut">
              <a:rPr lang="ru-RU" smtClean="0"/>
              <a:pPr/>
              <a:t>07.04.2024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2AEF6-EDA8-41E7-B101-D236B087DA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46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@tilir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9FCC0-6480-4BEA-9D28-E9655C597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236" y="2263513"/>
            <a:ext cx="8679915" cy="1748729"/>
          </a:xfrm>
        </p:spPr>
        <p:txBody>
          <a:bodyPr>
            <a:normAutofit fontScale="90000"/>
          </a:bodyPr>
          <a:lstStyle/>
          <a:p>
            <a:r>
              <a:rPr lang="ru-RU" dirty="0"/>
              <a:t>Лекция 10. </a:t>
            </a:r>
            <a:br>
              <a:rPr lang="ru-RU" dirty="0"/>
            </a:br>
            <a:r>
              <a:rPr lang="ru-RU" dirty="0"/>
              <a:t>Вариабельные шаблоны</a:t>
            </a:r>
            <a:br>
              <a:rPr lang="ru-RU" dirty="0"/>
            </a:br>
            <a:endParaRPr lang="ru-RU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D2AA038-DAD7-45C2-0F1F-86F7C520A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5159D-C868-28F4-4F8C-BE30DBACC15E}"/>
              </a:ext>
            </a:extLst>
          </p:cNvPr>
          <p:cNvSpPr txBox="1"/>
          <p:nvPr/>
        </p:nvSpPr>
        <p:spPr>
          <a:xfrm>
            <a:off x="7106195" y="5819249"/>
            <a:ext cx="4959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Шиловский Алексей Иванович, МФТИ, 2024 г.</a:t>
            </a:r>
            <a:br>
              <a:rPr lang="ru-RU" dirty="0"/>
            </a:br>
            <a:r>
              <a:rPr lang="en-US" dirty="0"/>
              <a:t>Telegram: @shilich_a</a:t>
            </a:r>
          </a:p>
          <a:p>
            <a:r>
              <a:rPr lang="en-US" dirty="0"/>
              <a:t>E-mail: shilovskii.ai@mipt.ru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872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Универсальные ссылки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Допустим, мы хоти написать функцию, которая сможет принимать как </a:t>
            </a:r>
            <a:r>
              <a:rPr lang="en-US" dirty="0" err="1"/>
              <a:t>lvalue</a:t>
            </a:r>
            <a:r>
              <a:rPr lang="ru-RU" dirty="0"/>
              <a:t>, так и </a:t>
            </a:r>
            <a:r>
              <a:rPr lang="en-US" dirty="0" err="1"/>
              <a:t>rvale</a:t>
            </a:r>
            <a:r>
              <a:rPr lang="ru-RU" dirty="0"/>
              <a:t>, и, при этом, избежать копирования</a:t>
            </a:r>
            <a:r>
              <a:rPr lang="en-US" dirty="0"/>
              <a:t>. </a:t>
            </a:r>
            <a:r>
              <a:rPr lang="ru-RU" dirty="0"/>
              <a:t>Как такая функция может выглядеть?</a:t>
            </a:r>
          </a:p>
        </p:txBody>
      </p:sp>
    </p:spTree>
    <p:extLst>
      <p:ext uri="{BB962C8B-B14F-4D97-AF65-F5344CB8AC3E}">
        <p14:creationId xmlns:p14="http://schemas.microsoft.com/office/powerpoint/2010/main" val="387184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Универсальные ссылки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Допустим, мы хоти написать функцию, которая сможет принимать как </a:t>
            </a:r>
            <a:r>
              <a:rPr lang="en-US" dirty="0" err="1"/>
              <a:t>lvalue</a:t>
            </a:r>
            <a:r>
              <a:rPr lang="ru-RU" dirty="0"/>
              <a:t>, так и </a:t>
            </a:r>
            <a:r>
              <a:rPr lang="en-US" dirty="0" err="1"/>
              <a:t>rvale</a:t>
            </a:r>
            <a:r>
              <a:rPr lang="ru-RU" dirty="0"/>
              <a:t>, и, при этом, избежать копирования</a:t>
            </a:r>
            <a:r>
              <a:rPr lang="en-US" dirty="0"/>
              <a:t>. </a:t>
            </a:r>
            <a:r>
              <a:rPr lang="ru-RU" dirty="0"/>
              <a:t>Как такая функция может выглядеть?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0AE6E1-900C-FC77-7698-61E57230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123" y="2270374"/>
            <a:ext cx="2654908" cy="40245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4F5668-3CCE-9114-143C-EE580D4D5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026" y="2270374"/>
            <a:ext cx="2175504" cy="368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3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Универсальные ссылки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5656313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Хорошим вариантам может быть использование константной  </a:t>
            </a:r>
            <a:r>
              <a:rPr lang="en-US" dirty="0" err="1"/>
              <a:t>lvalue</a:t>
            </a:r>
            <a:r>
              <a:rPr lang="en-US" dirty="0"/>
              <a:t> </a:t>
            </a:r>
            <a:r>
              <a:rPr lang="ru-RU" dirty="0"/>
              <a:t>ссылки, так как она может быть инициализирована как </a:t>
            </a:r>
            <a:r>
              <a:rPr lang="en-US" dirty="0" err="1"/>
              <a:t>lvalue</a:t>
            </a:r>
            <a:r>
              <a:rPr lang="ru-RU" dirty="0"/>
              <a:t>, так и </a:t>
            </a:r>
            <a:r>
              <a:rPr lang="en-US" dirty="0" err="1"/>
              <a:t>rvalue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60E3F0-0333-1973-68D2-1389A3E7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635" y="991182"/>
            <a:ext cx="3146375" cy="564218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B0C4454-F460-63DD-A736-21A30CBADAC8}"/>
              </a:ext>
            </a:extLst>
          </p:cNvPr>
          <p:cNvSpPr/>
          <p:nvPr/>
        </p:nvSpPr>
        <p:spPr>
          <a:xfrm>
            <a:off x="7179398" y="2227152"/>
            <a:ext cx="1855960" cy="7967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19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Универсальные ссылки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5656313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Хорошим вариантам может быть использование константной  </a:t>
            </a:r>
            <a:r>
              <a:rPr lang="en-US" dirty="0" err="1"/>
              <a:t>lvalue</a:t>
            </a:r>
            <a:r>
              <a:rPr lang="en-US" dirty="0"/>
              <a:t> </a:t>
            </a:r>
            <a:r>
              <a:rPr lang="ru-RU" dirty="0"/>
              <a:t>ссылки, так как оно может быть инициализирована как </a:t>
            </a:r>
            <a:r>
              <a:rPr lang="en-US" dirty="0" err="1"/>
              <a:t>lvalue</a:t>
            </a:r>
            <a:r>
              <a:rPr lang="ru-RU" dirty="0"/>
              <a:t>, так и </a:t>
            </a:r>
            <a:r>
              <a:rPr lang="en-US" dirty="0" err="1"/>
              <a:t>rvalue</a:t>
            </a:r>
            <a:r>
              <a:rPr lang="ru-RU" dirty="0"/>
              <a:t>.</a:t>
            </a:r>
          </a:p>
          <a:p>
            <a:r>
              <a:rPr lang="ru-RU" dirty="0"/>
              <a:t>Но в таком случаю мы не сможем изменить значение внутри функции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60E3F0-0333-1973-68D2-1389A3E7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635" y="991182"/>
            <a:ext cx="3146375" cy="564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3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Ссылки у шаблонов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7D6CFD-D99F-20A8-A497-EFA4E0E0C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92" y="1747603"/>
            <a:ext cx="5249008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Ссылки у шаблонов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7D6CFD-D99F-20A8-A497-EFA4E0E0C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92" y="1747603"/>
            <a:ext cx="5249008" cy="33627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BC9E58-83D5-714D-393C-81F4E7C38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6092"/>
            <a:ext cx="5668166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35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Сворачивание ссылок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51701-C419-D220-920E-5133D398FAE6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При подстановке типа компилятор может столкнуться с ситуацией, когда к имени типа требуется подставить более одного знака </a:t>
            </a:r>
            <a:r>
              <a:rPr lang="en-US" dirty="0"/>
              <a:t>‘&amp;’</a:t>
            </a:r>
            <a:r>
              <a:rPr lang="ru-RU" dirty="0"/>
              <a:t>. В таком случае, применяются правила сворачивания ссылок:</a:t>
            </a:r>
          </a:p>
          <a:p>
            <a:r>
              <a:rPr lang="en-US" dirty="0"/>
              <a:t>&amp; + &amp; -&gt; &amp;</a:t>
            </a:r>
          </a:p>
          <a:p>
            <a:r>
              <a:rPr lang="en-US" dirty="0"/>
              <a:t>&amp; + &amp;&amp; -&gt; &amp;</a:t>
            </a:r>
          </a:p>
          <a:p>
            <a:r>
              <a:rPr lang="en-US" dirty="0"/>
              <a:t>&amp;&amp; + &amp; -&gt; &amp;</a:t>
            </a:r>
          </a:p>
          <a:p>
            <a:r>
              <a:rPr lang="en-US" dirty="0"/>
              <a:t>&amp;&amp; + &amp;&amp; -&gt; &amp;&amp;</a:t>
            </a:r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Правило может быть сформулировано как </a:t>
            </a:r>
            <a:r>
              <a:rPr lang="en-US" dirty="0"/>
              <a:t>“</a:t>
            </a:r>
            <a:r>
              <a:rPr lang="ru-RU" dirty="0"/>
              <a:t>Одиночный амперсанд всегда побеждает</a:t>
            </a:r>
            <a:r>
              <a:rPr lang="en-US" dirty="0"/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86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Универсальная ссылка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51701-C419-D220-920E-5133D398FAE6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Применяя правило сворачивания к шаблонной функции, которая принимает тип с двойным амперсантом (</a:t>
            </a:r>
            <a:r>
              <a:rPr lang="en-US" dirty="0"/>
              <a:t>&amp;&amp;)</a:t>
            </a:r>
            <a:r>
              <a:rPr lang="ru-RU" dirty="0"/>
              <a:t>, можно получить </a:t>
            </a:r>
            <a:r>
              <a:rPr lang="en-US" dirty="0"/>
              <a:t>“</a:t>
            </a:r>
            <a:r>
              <a:rPr lang="ru-RU" dirty="0"/>
              <a:t>универсальную ссылку</a:t>
            </a:r>
            <a:r>
              <a:rPr lang="en-US" dirty="0"/>
              <a:t>”</a:t>
            </a:r>
            <a:r>
              <a:rPr lang="ru-RU" dirty="0"/>
              <a:t>. Правила вывода типа для универсально ссылки несколько отличаются от обычных.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BB20D5-5B69-9748-877B-427037222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077" y="2667677"/>
            <a:ext cx="5453846" cy="331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2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std::move</a:t>
            </a:r>
            <a:endParaRPr lang="ru-RU" sz="4000" dirty="0">
              <a:solidFill>
                <a:srgbClr val="00B0F0"/>
              </a:solidFill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51701-C419-D220-920E-5133D398FAE6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Реализация функции </a:t>
            </a:r>
            <a:r>
              <a:rPr lang="en-US" dirty="0"/>
              <a:t>std::move </a:t>
            </a:r>
            <a:r>
              <a:rPr lang="ru-RU" dirty="0"/>
              <a:t>может выглядеть так: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2C8E4C-EC8F-7D2B-6B51-E6E1DE31A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393" y="1939305"/>
            <a:ext cx="6020640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Идеальная передача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51701-C419-D220-920E-5133D398FAE6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Напишем </a:t>
            </a:r>
            <a:r>
              <a:rPr lang="en-US" dirty="0"/>
              <a:t>“</a:t>
            </a:r>
            <a:r>
              <a:rPr lang="ru-RU" dirty="0"/>
              <a:t>прозрачную</a:t>
            </a:r>
            <a:r>
              <a:rPr lang="en-US" dirty="0"/>
              <a:t>” </a:t>
            </a:r>
            <a:r>
              <a:rPr lang="ru-RU" dirty="0"/>
              <a:t>обертку функции.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В чем может быть проблема?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2A837A-D873-BB77-C7EF-4DF1EF4FD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642" y="1321724"/>
            <a:ext cx="408679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6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Идеальная передача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51701-C419-D220-920E-5133D398FAE6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Если один из аргументов (или оба) функции </a:t>
            </a:r>
            <a:r>
              <a:rPr lang="en-US" dirty="0"/>
              <a:t>wrapper</a:t>
            </a:r>
            <a:r>
              <a:rPr lang="ru-RU" dirty="0"/>
              <a:t> был </a:t>
            </a:r>
            <a:r>
              <a:rPr lang="en-US" dirty="0" err="1"/>
              <a:t>rvalue</a:t>
            </a:r>
            <a:r>
              <a:rPr lang="ru-RU" dirty="0"/>
              <a:t>, то при вызове </a:t>
            </a:r>
            <a:r>
              <a:rPr lang="en-US" dirty="0"/>
              <a:t>f </a:t>
            </a:r>
            <a:r>
              <a:rPr lang="ru-RU" dirty="0"/>
              <a:t>произойдет копирование. 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D78A3F-5C2E-4995-8BA1-32C8CFA60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41" y="1800911"/>
            <a:ext cx="5965215" cy="47737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CAF462D-4E7F-99FA-E7C7-5D6B965F5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010" y="3768210"/>
            <a:ext cx="2200582" cy="1038370"/>
          </a:xfrm>
          <a:prstGeom prst="rect">
            <a:avLst/>
          </a:prstGeom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5D4EE4F1-6E6F-ECFB-4A66-D5460FB8B54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684761" y="4287395"/>
            <a:ext cx="4579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06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std::forward</a:t>
            </a:r>
            <a:endParaRPr lang="ru-RU" sz="4000" dirty="0">
              <a:solidFill>
                <a:srgbClr val="00B0F0"/>
              </a:solidFill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51701-C419-D220-920E-5133D398FAE6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std::forward </a:t>
            </a:r>
            <a:r>
              <a:rPr lang="ru-RU" dirty="0"/>
              <a:t>возвращает </a:t>
            </a:r>
            <a:r>
              <a:rPr lang="en-US" dirty="0" err="1"/>
              <a:t>lvalue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rvalue</a:t>
            </a:r>
            <a:r>
              <a:rPr lang="en-US" dirty="0"/>
              <a:t> </a:t>
            </a:r>
            <a:r>
              <a:rPr lang="ru-RU" dirty="0"/>
              <a:t>в зависимости от типа шаблонного аргумента. Возможная реализация: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E6BC84-4042-AAC7-A8E4-F31D1ACCE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403" y="2319685"/>
            <a:ext cx="6737193" cy="19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9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Идеальная передача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B789417-55AE-7808-5F7A-EDF01B1AEB04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51701-C419-D220-920E-5133D398FAE6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62737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Теперь перепишем нашу функцию под использование идеальной передачи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448EDE-AAAA-149A-7255-CBFBE7B9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8" y="1846516"/>
            <a:ext cx="5777519" cy="4699682"/>
          </a:xfrm>
          <a:prstGeom prst="rect">
            <a:avLst/>
          </a:prstGeom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5D4EE4F1-6E6F-ECFB-4A66-D5460FB8B54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368705" y="4196357"/>
            <a:ext cx="3320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EA7BA1-FC94-5063-C05E-8A65E10FF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100" y="3705751"/>
            <a:ext cx="1790950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31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Пачки параметров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Шаблон может принимать неопределенное количество аргументов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Подобную функцию можно вызвать с любым количеством аргументов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Узнать размер пачки можно при помощи вызова </a:t>
            </a:r>
            <a:r>
              <a:rPr lang="en-US" dirty="0" err="1"/>
              <a:t>sizeof</a:t>
            </a:r>
            <a:r>
              <a:rPr lang="en-US" dirty="0"/>
              <a:t>…(ARGS) </a:t>
            </a:r>
            <a:r>
              <a:rPr lang="ru-RU" dirty="0"/>
              <a:t>или </a:t>
            </a:r>
            <a:r>
              <a:rPr lang="en-US" dirty="0" err="1"/>
              <a:t>sizeof</a:t>
            </a:r>
            <a:r>
              <a:rPr lang="en-US" dirty="0"/>
              <a:t>…(</a:t>
            </a:r>
            <a:r>
              <a:rPr lang="en-US" dirty="0" err="1"/>
              <a:t>args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81DE44-2FA5-AE64-19FC-B8DEB98E8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33" y="1759921"/>
            <a:ext cx="3457425" cy="89893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07ABF6-390B-BFDA-4D9D-9C086FB343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714"/>
          <a:stretch/>
        </p:blipFill>
        <p:spPr>
          <a:xfrm>
            <a:off x="616633" y="3212362"/>
            <a:ext cx="3923520" cy="130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20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Паттерн раскрытия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Параметры в пачке можно </a:t>
            </a:r>
            <a:r>
              <a:rPr lang="en-US" dirty="0"/>
              <a:t>“</a:t>
            </a:r>
            <a:r>
              <a:rPr lang="ru-RU" dirty="0"/>
              <a:t>раскрыть</a:t>
            </a:r>
            <a:r>
              <a:rPr lang="en-US" dirty="0"/>
              <a:t>”</a:t>
            </a:r>
            <a:r>
              <a:rPr lang="ru-RU" dirty="0"/>
              <a:t> согласно паттерну раскрытия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F8F586-D885-333D-8815-35DCC52E3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57" y="1957517"/>
            <a:ext cx="10553174" cy="286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15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Рекурсия с пачками параметров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Напишем функцию для суммирования всех аргументов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Будет ли работать такая функция?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27DFA7-D718-F829-66F9-F6262308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44" y="1756819"/>
            <a:ext cx="4307806" cy="264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44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Рекурсия с пачками параметров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Вызов: </a:t>
            </a:r>
          </a:p>
          <a:p>
            <a:r>
              <a:rPr lang="ru-RU" dirty="0"/>
              <a:t>Вывод компилятора:</a:t>
            </a:r>
            <a:endParaRPr lang="en-US" dirty="0"/>
          </a:p>
          <a:p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840CB8-E752-3431-D027-54634973A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88" y="1231271"/>
            <a:ext cx="3360806" cy="5353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2F135-3A37-9ACA-F62C-7C441318B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06" y="2250364"/>
            <a:ext cx="11592388" cy="140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39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Рекурсия с пачками параметров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Можно поправить заменив тип возвращаемого значения на </a:t>
            </a:r>
            <a:r>
              <a:rPr lang="en-US" dirty="0"/>
              <a:t>auto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ru-RU" dirty="0"/>
              <a:t>А можно добавить </a:t>
            </a:r>
            <a:r>
              <a:rPr lang="en-US" dirty="0"/>
              <a:t>forward</a:t>
            </a:r>
          </a:p>
          <a:p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38A07A-65D9-72B9-C24E-CC6C481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39" y="1787692"/>
            <a:ext cx="4686599" cy="19297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6E046D-54B7-97E2-0812-3DD4B8473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38" y="4183436"/>
            <a:ext cx="6746621" cy="192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38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Самопроверка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Во что раскроются пачки аргументов в обоих случаях?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031800-48A9-7A2F-C1D8-2056CC5E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660" y="1770048"/>
            <a:ext cx="7278515" cy="396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87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Самопроверка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Во что раскроются пачки аргументов в обоих случаях?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D9C1B8-FB82-A82B-A56E-FB58B2175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43" y="1902318"/>
            <a:ext cx="9594494" cy="377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2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10289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Наследование от пачки типов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Раскрыть пачку можно и в списке наследования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6907A2-7763-6448-E74A-612D734C1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268" y="1850782"/>
            <a:ext cx="5292134" cy="315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29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10289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Свертки (</a:t>
            </a:r>
            <a:r>
              <a:rPr lang="en-US" sz="4000" dirty="0">
                <a:solidFill>
                  <a:srgbClr val="00B0F0"/>
                </a:solidFill>
              </a:rPr>
              <a:t>fold expression)</a:t>
            </a:r>
            <a:endParaRPr lang="ru-RU" sz="4000" dirty="0">
              <a:solidFill>
                <a:srgbClr val="00B0F0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D7BC7B2-D57C-69D9-71F1-FD9653471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46137"/>
              </p:ext>
            </p:extLst>
          </p:nvPr>
        </p:nvGraphicFramePr>
        <p:xfrm>
          <a:off x="697116" y="1371516"/>
          <a:ext cx="1078267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1339">
                  <a:extLst>
                    <a:ext uri="{9D8B030D-6E8A-4147-A177-3AD203B41FA5}">
                      <a16:colId xmlns:a16="http://schemas.microsoft.com/office/drawing/2014/main" val="410380891"/>
                    </a:ext>
                  </a:extLst>
                </a:gridCol>
                <a:gridCol w="5391339">
                  <a:extLst>
                    <a:ext uri="{9D8B030D-6E8A-4147-A177-3AD203B41FA5}">
                      <a16:colId xmlns:a16="http://schemas.microsoft.com/office/drawing/2014/main" val="2676929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Паттерн свертки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 сверки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840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 op 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 … (p1 op p2) op p3) … ) op </a:t>
                      </a:r>
                      <a:r>
                        <a:rPr lang="en-US" dirty="0" err="1"/>
                        <a:t>pN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90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init</a:t>
                      </a:r>
                      <a:r>
                        <a:rPr lang="en-US" dirty="0"/>
                        <a:t> op … op 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 … (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 op p1) op p2) … ) op </a:t>
                      </a:r>
                      <a:r>
                        <a:rPr lang="en-US" dirty="0" err="1"/>
                        <a:t>pN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08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pack op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(p1 op (p2 op ( … ( pN-1 op </a:t>
                      </a:r>
                      <a:r>
                        <a:rPr lang="en-US" dirty="0" err="1"/>
                        <a:t>pN</a:t>
                      </a:r>
                      <a:r>
                        <a:rPr lang="en-US" dirty="0"/>
                        <a:t>) …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48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pack op … op </a:t>
                      </a:r>
                      <a:r>
                        <a:rPr lang="en-US" dirty="0" err="1"/>
                        <a:t>fini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(p1 op (p2 op ( … ( </a:t>
                      </a:r>
                      <a:r>
                        <a:rPr lang="en-US" dirty="0" err="1"/>
                        <a:t>pN</a:t>
                      </a:r>
                      <a:r>
                        <a:rPr lang="en-US" dirty="0"/>
                        <a:t> op </a:t>
                      </a:r>
                      <a:r>
                        <a:rPr lang="en-US" dirty="0" err="1"/>
                        <a:t>fini</a:t>
                      </a:r>
                      <a:r>
                        <a:rPr lang="en-US" dirty="0"/>
                        <a:t>) …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75720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2EC675-6B40-7381-7F51-D33EDB9E8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597" y="3632285"/>
            <a:ext cx="8894806" cy="200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92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10289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Свертки с пустыми пачками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Пустая пачка – тоже валидная. Но не все операторы поддерживают сверку с пустыми пачками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Какой результат будет у следующих выражений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auto x = </a:t>
            </a:r>
            <a:r>
              <a:rPr lang="en-US" dirty="0" err="1"/>
              <a:t>sumAll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auto y = </a:t>
            </a:r>
            <a:r>
              <a:rPr lang="en-US" dirty="0" err="1"/>
              <a:t>andAll</a:t>
            </a:r>
            <a:r>
              <a:rPr lang="en-US" dirty="0"/>
              <a:t>();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43F030-41E8-7C04-8D2E-699EADCE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420" y="1878226"/>
            <a:ext cx="6587248" cy="138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71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10289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Свертки с пустыми пачками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Пустая пачка – тоже валидная. Но не все операторы поддерживают сверку с пустыми пачками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Какой результат будет у следующих выражений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auto x = </a:t>
            </a:r>
            <a:r>
              <a:rPr lang="en-US" dirty="0" err="1"/>
              <a:t>sumAll</a:t>
            </a:r>
            <a:r>
              <a:rPr lang="en-US" dirty="0"/>
              <a:t>(); - </a:t>
            </a:r>
            <a:r>
              <a:rPr lang="ru-RU" dirty="0"/>
              <a:t>ошибка компиляции: оператор + не поддерживает пустые свертки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auto y = </a:t>
            </a:r>
            <a:r>
              <a:rPr lang="en-US" dirty="0" err="1"/>
              <a:t>andAll</a:t>
            </a:r>
            <a:r>
              <a:rPr lang="en-US" dirty="0"/>
              <a:t>();</a:t>
            </a:r>
            <a:r>
              <a:rPr lang="ru-RU" dirty="0"/>
              <a:t> - </a:t>
            </a:r>
            <a:r>
              <a:rPr lang="en-US" dirty="0"/>
              <a:t>OK: </a:t>
            </a:r>
            <a:r>
              <a:rPr lang="ru-RU" dirty="0"/>
              <a:t>оператор </a:t>
            </a:r>
            <a:r>
              <a:rPr lang="en-US" dirty="0"/>
              <a:t>&amp;&amp; </a:t>
            </a:r>
            <a:r>
              <a:rPr lang="ru-RU" dirty="0"/>
              <a:t>поддерживает пустые свертки</a:t>
            </a:r>
          </a:p>
          <a:p>
            <a:r>
              <a:rPr lang="ru-RU" dirty="0"/>
              <a:t>Только три оператора поддерживают свертки с пустыми пачками: </a:t>
            </a:r>
            <a:r>
              <a:rPr lang="en-US" dirty="0"/>
              <a:t>&amp;&amp;, || </a:t>
            </a:r>
            <a:r>
              <a:rPr lang="ru-RU" dirty="0"/>
              <a:t>и оператор </a:t>
            </a:r>
            <a:r>
              <a:rPr lang="en-US" dirty="0"/>
              <a:t>,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43F030-41E8-7C04-8D2E-699EADCE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420" y="1878226"/>
            <a:ext cx="6587248" cy="138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3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10289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Свертки с концептами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Свертки также можно использовать в</a:t>
            </a:r>
            <a:r>
              <a:rPr lang="en-US" dirty="0"/>
              <a:t> requires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И даже внутри шаблонных параметров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DB90D-8E8A-B8E8-5A79-61CE0D040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4" y="1799889"/>
            <a:ext cx="4585964" cy="8771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template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&lt;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... 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&gt;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 ...</a:t>
            </a:r>
            <a:r>
              <a:rPr kumimoji="0" lang="en-US" altLang="en-US" sz="17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)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requires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EqualityComparable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&lt;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&gt;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&amp;&amp; ... &amp;&amp;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{}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46F5827-1594-F12A-BF5D-438D135AA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4" y="3640437"/>
            <a:ext cx="4585964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template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&lt;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EqualityComparable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... 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&gt;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 ...</a:t>
            </a:r>
            <a:r>
              <a:rPr kumimoji="0" lang="en-US" altLang="en-US" sz="17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)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{}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306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7200" y="283296"/>
            <a:ext cx="10289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B0F0"/>
                </a:solidFill>
              </a:rPr>
              <a:t>Свертки с концептами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47CA37-FC62-7251-1AC7-77D61CDC2598}"/>
              </a:ext>
            </a:extLst>
          </p:cNvPr>
          <p:cNvSpPr txBox="1">
            <a:spLocks/>
          </p:cNvSpPr>
          <p:nvPr/>
        </p:nvSpPr>
        <p:spPr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Если есть дополнительные аргументы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И даже внутри шаблонных параметров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DB90D-8E8A-B8E8-5A79-61CE0D040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3" y="1930694"/>
            <a:ext cx="7890480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template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&lt;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... 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&gt;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 ...</a:t>
            </a:r>
            <a:r>
              <a:rPr kumimoji="0" lang="en-US" altLang="en-US" sz="17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)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requires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altLang="en-US" sz="1700" dirty="0" err="1">
                <a:solidFill>
                  <a:srgbClr val="080808"/>
                </a:solidFill>
                <a:latin typeface="JetBrains Mono"/>
              </a:rPr>
              <a:t>ConvertibleTo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&lt;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ARGS, int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&gt;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&amp;&amp; ... &amp;&amp;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{}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46F5827-1594-F12A-BF5D-438D135AA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44" y="3640437"/>
            <a:ext cx="4585964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template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&lt;</a:t>
            </a:r>
            <a:r>
              <a:rPr lang="en-US" altLang="en-US" sz="1700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sz="1700" dirty="0" err="1">
                <a:solidFill>
                  <a:srgbClr val="080808"/>
                </a:solidFill>
                <a:latin typeface="JetBrains Mono"/>
              </a:rPr>
              <a:t>ConvertibleTo</a:t>
            </a:r>
            <a:r>
              <a:rPr lang="en-US" altLang="en-US" sz="1700" dirty="0">
                <a:solidFill>
                  <a:srgbClr val="080808"/>
                </a:solidFill>
                <a:latin typeface="JetBrains Mono"/>
              </a:rPr>
              <a:t>&lt;int&gt;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... 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&gt;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ARGS ...</a:t>
            </a:r>
            <a:r>
              <a:rPr kumimoji="0" lang="en-US" altLang="en-US" sz="17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args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JetBrains Mono"/>
              </a:rPr>
              <a:t>)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{}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415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9F24B-68C7-4E99-A84A-DEA824A8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тех кто хочет почитать что-то еще</a:t>
            </a:r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Лекция разработана на базе открытых лекций </a:t>
            </a:r>
            <a:r>
              <a:rPr lang="ru-RU" u="sng" dirty="0"/>
              <a:t>Константина Владимирова </a:t>
            </a:r>
            <a:r>
              <a:rPr lang="ru-RU" dirty="0"/>
              <a:t>(МФТИ, </a:t>
            </a:r>
            <a:r>
              <a:rPr lang="en-US" dirty="0" err="1"/>
              <a:t>iLAB</a:t>
            </a:r>
            <a:r>
              <a:rPr lang="ru-RU" dirty="0"/>
              <a:t>) (Базовый курс, Лекция:</a:t>
            </a:r>
            <a:r>
              <a:rPr lang="en-US" dirty="0"/>
              <a:t> 5, 6</a:t>
            </a:r>
            <a:r>
              <a:rPr lang="ru-RU" dirty="0"/>
              <a:t>)   </a:t>
            </a:r>
            <a:r>
              <a:rPr lang="en-US" dirty="0">
                <a:hlinkClick r:id="rId2"/>
              </a:rPr>
              <a:t>https://www.youtube.com/@tilir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Также полезно изучить:</a:t>
            </a:r>
          </a:p>
          <a:p>
            <a:r>
              <a:rPr lang="ru-RU" dirty="0"/>
              <a:t>Идиомы и паттерны проектирования в современном С++ // Ф.Г. </a:t>
            </a:r>
            <a:r>
              <a:rPr lang="ru-RU" dirty="0" err="1"/>
              <a:t>Пикус</a:t>
            </a:r>
            <a:r>
              <a:rPr lang="ru-RU" dirty="0"/>
              <a:t> </a:t>
            </a:r>
          </a:p>
          <a:p>
            <a:r>
              <a:rPr lang="ru-RU" dirty="0"/>
              <a:t>Эффективный и современный С++ // </a:t>
            </a:r>
            <a:r>
              <a:rPr lang="ru-RU" dirty="0" err="1"/>
              <a:t>С.Майерс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840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9F24B-68C7-4E99-A84A-DEA824A8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Полезные ссылки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666A9E-38F9-4AEA-ACBE-802F8586B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1223" y="1835438"/>
            <a:ext cx="2711776" cy="685800"/>
          </a:xfrm>
        </p:spPr>
        <p:txBody>
          <a:bodyPr/>
          <a:lstStyle/>
          <a:p>
            <a:pPr algn="ctr"/>
            <a:r>
              <a:rPr lang="en-US" dirty="0"/>
              <a:t>Telegram-</a:t>
            </a:r>
            <a:r>
              <a:rPr lang="ru-RU" dirty="0"/>
              <a:t>чат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36EED5-A19B-4E83-B114-214E4D812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9714" y="1716995"/>
            <a:ext cx="3143794" cy="922687"/>
          </a:xfrm>
        </p:spPr>
        <p:txBody>
          <a:bodyPr/>
          <a:lstStyle/>
          <a:p>
            <a:pPr algn="ctr"/>
            <a:r>
              <a:rPr lang="ru-RU" dirty="0"/>
              <a:t>Яндекс-диск с материалами курса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E016182-C121-6A87-6503-BF84E4CC8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260" y="2635710"/>
            <a:ext cx="2188702" cy="218870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4C0A60B-360C-EADE-C701-10FB1C50B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760" y="2635710"/>
            <a:ext cx="2188702" cy="218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31294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CB9708-C445-4049-9D7F-4C8684E69AF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15519</TotalTime>
  <Words>831</Words>
  <Application>Microsoft Office PowerPoint</Application>
  <PresentationFormat>Широкоэкранный</PresentationFormat>
  <Paragraphs>126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 Light</vt:lpstr>
      <vt:lpstr>JetBrains Mono</vt:lpstr>
      <vt:lpstr>Rockwell</vt:lpstr>
      <vt:lpstr>Wingdings</vt:lpstr>
      <vt:lpstr>Атлас</vt:lpstr>
      <vt:lpstr>Лекция 10.  Вариабельные шаблоны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Для тех кто хочет почитать что-то еще</vt:lpstr>
      <vt:lpstr>Полезные 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creator>Василий Бугаев</dc:creator>
  <cp:lastModifiedBy>Алексей Шиловский</cp:lastModifiedBy>
  <cp:revision>292</cp:revision>
  <dcterms:created xsi:type="dcterms:W3CDTF">2023-01-29T12:06:08Z</dcterms:created>
  <dcterms:modified xsi:type="dcterms:W3CDTF">2024-04-10T18:01:53Z</dcterms:modified>
</cp:coreProperties>
</file>