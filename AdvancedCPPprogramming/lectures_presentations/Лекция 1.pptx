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viewProps.xml" ContentType="application/vnd.openxmlformats-officedocument.presentationml.viewProps+xml"/>
  <Override PartName="/ppt/slides/slide38.xml" ContentType="application/vnd.openxmlformats-officedocument.presentationml.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0" d="100"/>
          <a:sy n="110" d="100"/>
        </p:scale>
        <p:origin x="492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 /><Relationship Id="rId43" Type="http://schemas.openxmlformats.org/officeDocument/2006/relationships/tableStyles" Target="tableStyles.xml" /><Relationship Id="rId44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Лекция 1. Классы. Повторение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Инкапсуляция. Наследование. Полиморфизм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7106194" y="5819248"/>
            <a:ext cx="4977933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Чубанов Кирилл Константинович, МФТИ, 2026 г.</a:t>
            </a:r>
            <a:br>
              <a:rPr lang="ru-RU"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04818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Давайте спроектируем список на С</a:t>
            </a:r>
            <a:r>
              <a:rPr lang="en-US"/>
              <a:t>++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Можем ли мы написать для него метод </a:t>
            </a:r>
            <a:r>
              <a:rPr lang="en-US"/>
              <a:t>length?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Список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2258" y="1996416"/>
            <a:ext cx="6368657" cy="2698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Что не так с этим методом</a:t>
            </a:r>
            <a:r>
              <a:rPr lang="en-US"/>
              <a:t>?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Список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2699" y="1068223"/>
            <a:ext cx="9071857" cy="379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Можем ли мы проверить что в списке нет петли?</a:t>
            </a: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Список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321724"/>
            <a:ext cx="10902902" cy="3002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Начинают два указателя: заяц и черепаха</a:t>
            </a:r>
            <a:endParaRPr/>
          </a:p>
          <a:p>
            <a:pPr>
              <a:defRPr/>
            </a:pPr>
            <a:r>
              <a:rPr lang="ru-RU"/>
              <a:t>Заяц за один ход продвигается вперед на два элемента, </a:t>
            </a:r>
            <a:br>
              <a:rPr lang="ru-RU"/>
            </a:br>
            <a:r>
              <a:rPr lang="ru-RU"/>
              <a:t>а черепаха на один</a:t>
            </a:r>
            <a:endParaRPr/>
          </a:p>
          <a:p>
            <a:pPr>
              <a:defRPr/>
            </a:pPr>
            <a:r>
              <a:rPr lang="ru-RU"/>
              <a:t>Если они встретились, значит петля есть</a:t>
            </a: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Алгоритм </a:t>
            </a:r>
            <a:r>
              <a:rPr lang="ru-RU" sz="4000">
                <a:solidFill>
                  <a:srgbClr val="00B0F0"/>
                </a:solidFill>
              </a:rPr>
              <a:t>Флойда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530451" y="1211327"/>
            <a:ext cx="3010320" cy="44011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7323" y="3592069"/>
            <a:ext cx="6334034" cy="27741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Если необходимо написать метод </a:t>
            </a:r>
            <a:r>
              <a:rPr lang="en-US"/>
              <a:t>reverse?</a:t>
            </a:r>
            <a:endParaRPr lang="ru-RU"/>
          </a:p>
          <a:p>
            <a:pPr>
              <a:defRPr/>
            </a:pPr>
            <a:r>
              <a:rPr lang="ru-RU"/>
              <a:t>Опять использовать алгоритм </a:t>
            </a:r>
            <a:r>
              <a:rPr lang="ru-RU"/>
              <a:t>Флойда</a:t>
            </a:r>
            <a:r>
              <a:rPr lang="ru-RU"/>
              <a:t>, проверяя нет ли петель и тем самым </a:t>
            </a:r>
            <a:r>
              <a:rPr lang="ru-RU" b="1"/>
              <a:t>удваивать </a:t>
            </a:r>
            <a:r>
              <a:rPr lang="ru-RU"/>
              <a:t>время работы?</a:t>
            </a: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Проблемы подхода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>
                <a:solidFill>
                  <a:srgbClr val="00B0F0"/>
                </a:solidFill>
              </a:rPr>
              <a:t>Предусловия</a:t>
            </a:r>
            <a:r>
              <a:rPr lang="ru-RU"/>
              <a:t> эффективного метода </a:t>
            </a:r>
            <a:r>
              <a:rPr lang="en-US"/>
              <a:t>reverse – </a:t>
            </a:r>
            <a:r>
              <a:rPr lang="ru-RU"/>
              <a:t>список корректен, начинается и заканчивается нулем, без петлей</a:t>
            </a:r>
            <a:endParaRPr/>
          </a:p>
          <a:p>
            <a:pPr>
              <a:defRPr/>
            </a:pPr>
            <a:r>
              <a:rPr lang="ru-RU"/>
              <a:t>Проверять каждый раз – неэффективно и дорого</a:t>
            </a:r>
            <a:endParaRPr/>
          </a:p>
          <a:p>
            <a:pPr>
              <a:defRPr/>
            </a:pPr>
            <a:r>
              <a:rPr lang="ru-RU"/>
              <a:t>Утверждение, которое должно быть верно все время жизни объекта класса называется его </a:t>
            </a:r>
            <a:r>
              <a:rPr lang="ru-RU">
                <a:solidFill>
                  <a:srgbClr val="00B0F0"/>
                </a:solidFill>
              </a:rPr>
              <a:t>инвариантом</a:t>
            </a:r>
            <a:endParaRPr/>
          </a:p>
          <a:p>
            <a:pPr>
              <a:defRPr/>
            </a:pPr>
            <a:r>
              <a:rPr lang="ru-RU"/>
              <a:t>Все методы списка упростятся, если будет гарантировано сохранение </a:t>
            </a:r>
            <a:r>
              <a:rPr lang="ru-RU">
                <a:solidFill>
                  <a:srgbClr val="00B0F0"/>
                </a:solidFill>
              </a:rPr>
              <a:t>инвариант списка</a:t>
            </a:r>
            <a:endParaRPr/>
          </a:p>
          <a:p>
            <a:pPr>
              <a:defRPr/>
            </a:pPr>
            <a:r>
              <a:rPr lang="ru-RU"/>
              <a:t>Кто должен гарантировать сохранение инварианта?</a:t>
            </a:r>
            <a:endParaRPr/>
          </a:p>
          <a:p>
            <a:pPr marL="0" indent="0"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Инварианты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Инварианты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r>
              <a:rPr lang="ru-RU">
                <a:solidFill>
                  <a:srgbClr val="00B0F0"/>
                </a:solidFill>
              </a:rPr>
              <a:t>Гарантировать сохранение инвариантов </a:t>
            </a:r>
            <a:r>
              <a:rPr lang="ru-RU"/>
              <a:t>в методе – обязанность разработчика.</a:t>
            </a:r>
            <a:endParaRPr/>
          </a:p>
          <a:p>
            <a:pPr>
              <a:defRPr/>
            </a:pPr>
            <a:r>
              <a:rPr lang="ru-RU"/>
              <a:t>Однако, как запретить внешним функциям </a:t>
            </a:r>
            <a:r>
              <a:rPr lang="ru-RU">
                <a:solidFill>
                  <a:srgbClr val="00B0F0"/>
                </a:solidFill>
              </a:rPr>
              <a:t>нарушать инварианты </a:t>
            </a:r>
            <a:r>
              <a:rPr lang="ru-RU"/>
              <a:t>у объектов?</a:t>
            </a:r>
            <a:endParaRPr/>
          </a:p>
          <a:p>
            <a:pPr>
              <a:defRPr/>
            </a:pPr>
            <a:r>
              <a:rPr lang="ru-RU"/>
              <a:t>Есть ли в С++ языковые средства, чтобы запретить всем кроме методов класса, работать с его состоянием?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Инкапсуляция в языке С++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В языке С++ для инкапсуляции (скрытия состояния объекта) используется специальный механизм, позволяющий сохранить видимость состояния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структуре по умолчанию все поля </a:t>
            </a:r>
            <a:r>
              <a:rPr lang="en-US"/>
              <a:t>public</a:t>
            </a:r>
            <a:endParaRPr lang="ru-RU"/>
          </a:p>
          <a:p>
            <a:pPr>
              <a:defRPr/>
            </a:pPr>
            <a:r>
              <a:rPr lang="ru-RU"/>
              <a:t>С приватной частью могут работать только методы класса (но </a:t>
            </a:r>
            <a:r>
              <a:rPr lang="ru-RU">
                <a:solidFill>
                  <a:srgbClr val="00B0F0"/>
                </a:solidFill>
              </a:rPr>
              <a:t>Дружба – это магия</a:t>
            </a:r>
            <a:r>
              <a:rPr lang="ru-RU"/>
              <a:t>)</a:t>
            </a:r>
            <a:endParaRPr/>
          </a:p>
          <a:p>
            <a:pPr>
              <a:defRPr/>
            </a:pPr>
            <a:r>
              <a:rPr lang="ru-RU"/>
              <a:t>В хорошо спроектированной программе – друзей нет!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5070" y="2823505"/>
            <a:ext cx="9066579" cy="2314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192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Инкапсуляция в языке С++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В языке С++ для инкапсуляции (скрытия состояния объекта) используется специальный механизм, позволяющий сохранить видимость состояния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классе по умолчанию все поля </a:t>
            </a:r>
            <a:r>
              <a:rPr lang="en-US"/>
              <a:t>private</a:t>
            </a: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7296" y="2848891"/>
            <a:ext cx="8268326" cy="2284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192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Ссылки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Ссылки тоже сохраняют инварианты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Инвариант </a:t>
            </a:r>
            <a:r>
              <a:rPr lang="en-US"/>
              <a:t>const int reference: </a:t>
            </a:r>
            <a:r>
              <a:rPr lang="ru-RU"/>
              <a:t>корректное и не принадлежащее вам целое число в ней.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199" y="2328511"/>
            <a:ext cx="7417797" cy="2570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192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инкапсуляции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Инкапсуляция – свойство типа, а не объектов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.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035569"/>
            <a:ext cx="6463364" cy="4624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51920" y="1321724"/>
            <a:ext cx="11430086" cy="454069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инкапсуляции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Разные шаблонные параметры – разные типы!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.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010677"/>
            <a:ext cx="9389444" cy="4438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Конструкторы и деструкторы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Инкапсуляция делает критически важными конструкторы (так как состояние нельзя изменить извне) и деструкторы (так как очистить извне также нельзя).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Стоит отметить, что </a:t>
            </a:r>
            <a:r>
              <a:rPr lang="en-US"/>
              <a:t>C-</a:t>
            </a:r>
            <a:r>
              <a:rPr lang="ru-RU"/>
              <a:t>шные</a:t>
            </a:r>
            <a:r>
              <a:rPr lang="ru-RU"/>
              <a:t> </a:t>
            </a:r>
            <a:r>
              <a:rPr lang="en-US"/>
              <a:t>malloc</a:t>
            </a:r>
            <a:r>
              <a:rPr lang="en-US"/>
              <a:t>() </a:t>
            </a:r>
            <a:r>
              <a:rPr lang="ru-RU"/>
              <a:t>и </a:t>
            </a:r>
            <a:r>
              <a:rPr lang="en-US"/>
              <a:t>free() </a:t>
            </a:r>
            <a:r>
              <a:rPr lang="ru-RU"/>
              <a:t>ничего не знают о конструкторах и деструкторах. Поэтому используются </a:t>
            </a:r>
            <a:r>
              <a:rPr lang="en-US"/>
              <a:t>new</a:t>
            </a:r>
            <a:r>
              <a:rPr lang="ru-RU"/>
              <a:t> и </a:t>
            </a:r>
            <a:r>
              <a:rPr lang="en-US"/>
              <a:t>delete</a:t>
            </a:r>
            <a:r>
              <a:rPr lang="ru-RU"/>
              <a:t>, которые помимо выделения/очистки памяти вызывают конструктор/ деструктор соответственно.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11027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инициализации объектов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Повторение: когда вызываются конструктор копирования и оператор присваивания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5071" y="2117546"/>
            <a:ext cx="11705330" cy="2698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11027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инициализации объектов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Инициализация полей класса по умолчанию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Для </a:t>
            </a:r>
            <a:r>
              <a:rPr lang="ru-RU"/>
              <a:t>некопируемых</a:t>
            </a:r>
            <a:r>
              <a:rPr lang="ru-RU"/>
              <a:t> объектов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rcRect l="0" t="0" r="29677" b="0"/>
          <a:stretch/>
        </p:blipFill>
        <p:spPr bwMode="auto">
          <a:xfrm>
            <a:off x="534202" y="2130648"/>
            <a:ext cx="7214135" cy="212249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7200" y="4909666"/>
            <a:ext cx="4239928" cy="10476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унифицированной инициализации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Запрет сужающих преобразований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5070" y="2489963"/>
            <a:ext cx="11744227" cy="21975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унифицированной инициализации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Не подвержена </a:t>
            </a:r>
            <a:r>
              <a:rPr lang="ru-RU" i="1"/>
              <a:t>наиболее неприятному анализу</a:t>
            </a:r>
            <a:r>
              <a:rPr lang="ru-RU"/>
              <a:t> в С++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Что будет выведено в обоих случаях?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682954" y="2008317"/>
            <a:ext cx="5999148" cy="4229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унифицированной инициализации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error: request for member ‘x’ in ‘m1’, which is of non-class type ‘</a:t>
            </a:r>
            <a:r>
              <a:rPr lang="en-US"/>
              <a:t>my_class_t</a:t>
            </a:r>
            <a:r>
              <a:rPr lang="en-US"/>
              <a:t>(</a:t>
            </a:r>
            <a:r>
              <a:rPr lang="en-US"/>
              <a:t>list_t</a:t>
            </a:r>
            <a:r>
              <a:rPr lang="en-US"/>
              <a:t> (*)(), </a:t>
            </a:r>
            <a:r>
              <a:rPr lang="en-US"/>
              <a:t>list_t</a:t>
            </a:r>
            <a:r>
              <a:rPr lang="en-US"/>
              <a:t> (*)())’</a:t>
            </a:r>
            <a:r>
              <a:rPr lang="ru-RU"/>
              <a:t> </a:t>
            </a:r>
            <a:r>
              <a:rPr lang="en-US"/>
              <a:t>std::</a:t>
            </a:r>
            <a:r>
              <a:rPr lang="en-US"/>
              <a:t>cout</a:t>
            </a:r>
            <a:r>
              <a:rPr lang="en-US"/>
              <a:t>&lt;&lt;m1.x&lt;&lt;std::</a:t>
            </a:r>
            <a:r>
              <a:rPr lang="en-US"/>
              <a:t>endl</a:t>
            </a:r>
            <a:r>
              <a:rPr lang="en-US"/>
              <a:t>;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А что будет выведено в этом случае?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2392712"/>
            <a:ext cx="8970745" cy="1351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унифицированной инициализации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Ответ: 10 2</a:t>
            </a:r>
            <a:endParaRPr/>
          </a:p>
          <a:p>
            <a:pPr>
              <a:defRPr/>
            </a:pPr>
            <a:r>
              <a:rPr lang="ru-RU"/>
              <a:t>Так как при наличии конструктора, принимающего </a:t>
            </a:r>
            <a:r>
              <a:rPr lang="en-US"/>
              <a:t>std::</a:t>
            </a:r>
            <a:r>
              <a:rPr lang="en-US"/>
              <a:t>initializer_list</a:t>
            </a:r>
            <a:r>
              <a:rPr lang="ru-RU"/>
              <a:t> в качестве аргумента, будет использован именно этот конструктор даже когда он подходит не лучшим образом.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Двойная инициализация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421063" y="1012112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Что будет выведено?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1063" y="1935825"/>
            <a:ext cx="8745170" cy="4391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Двойная инициализация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421063" y="1012112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Что будет выведено?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80767" y="1126155"/>
            <a:ext cx="7505685" cy="54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Двойная инициализация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Присваивая в теле конструктора мы инициализируем дважды.</a:t>
            </a:r>
            <a:endParaRPr/>
          </a:p>
          <a:p>
            <a:pPr>
              <a:defRPr/>
            </a:pPr>
            <a:r>
              <a:rPr lang="ru-RU"/>
              <a:t>Чтобы уйти от двойной инициализации предусмотрены списки инициализации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en-US"/>
              <a:t>NB! </a:t>
            </a:r>
            <a:r>
              <a:rPr lang="ru-RU"/>
              <a:t>Список инициализации выполняется строго в том порядке, в каком поля определены в классе (не в том в каком они записаны в списке).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Спецсемантика</a:t>
            </a:r>
            <a:r>
              <a:rPr lang="ru-RU" sz="4000">
                <a:solidFill>
                  <a:srgbClr val="00B0F0"/>
                </a:solidFill>
              </a:rPr>
              <a:t> копирования: </a:t>
            </a:r>
            <a:r>
              <a:rPr lang="en-US" sz="4000">
                <a:solidFill>
                  <a:srgbClr val="00B0F0"/>
                </a:solidFill>
              </a:rPr>
              <a:t>RVO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664143" y="940641"/>
            <a:ext cx="869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Что будет выведено в этом случае?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4143" y="1648528"/>
            <a:ext cx="9043039" cy="41610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Спецсемантика</a:t>
            </a:r>
            <a:r>
              <a:rPr lang="ru-RU" sz="4000">
                <a:solidFill>
                  <a:srgbClr val="00B0F0"/>
                </a:solidFill>
              </a:rPr>
              <a:t> копирования: </a:t>
            </a:r>
            <a:r>
              <a:rPr lang="en-US" sz="4000">
                <a:solidFill>
                  <a:srgbClr val="00B0F0"/>
                </a:solidFill>
              </a:rPr>
              <a:t>RVO (return value optimization)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RVO (</a:t>
            </a:r>
            <a:r>
              <a:rPr lang="ru-RU"/>
              <a:t>Return</a:t>
            </a:r>
            <a:r>
              <a:rPr lang="ru-RU"/>
              <a:t> </a:t>
            </a:r>
            <a:r>
              <a:rPr lang="ru-RU"/>
              <a:t>Value</a:t>
            </a:r>
            <a:r>
              <a:rPr lang="ru-RU"/>
              <a:t> </a:t>
            </a:r>
            <a:r>
              <a:rPr lang="ru-RU"/>
              <a:t>Optimization</a:t>
            </a:r>
            <a:r>
              <a:rPr lang="ru-RU"/>
              <a:t>) – оптимизация компилятора, позволяющая в некоторых случаях не создавать локальный объект, который будет использован как возвращаемое значение.</a:t>
            </a:r>
            <a:endParaRPr/>
          </a:p>
          <a:p>
            <a:pPr>
              <a:defRPr/>
            </a:pPr>
            <a:r>
              <a:rPr lang="ru-RU"/>
              <a:t>Вместо этого возвращаемый объект будет сконструирован на месте вызова функции. Это позволяет устранить лишний вызов конструктора перемещения/копирования.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Наследование и полиморфизм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Наследование – концепция ООП, которая позволяет определять новые классы как расширения существующих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Различают открытое (А является </a:t>
            </a:r>
            <a:r>
              <a:rPr lang="en-US"/>
              <a:t>B</a:t>
            </a:r>
            <a:r>
              <a:rPr lang="ru-RU"/>
              <a:t>)</a:t>
            </a:r>
            <a:r>
              <a:rPr lang="en-US"/>
              <a:t> </a:t>
            </a:r>
            <a:r>
              <a:rPr lang="ru-RU"/>
              <a:t>и закрытое (А содержит </a:t>
            </a:r>
            <a:r>
              <a:rPr lang="en-US"/>
              <a:t>B</a:t>
            </a:r>
            <a:r>
              <a:rPr lang="ru-RU"/>
              <a:t>)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Открытое наследование = контракт, где мы обещаем клиенту, что класс поддерживает открытые методы класса родителя, сохраняет инварианты и </a:t>
            </a:r>
            <a:r>
              <a:rPr lang="ru-RU"/>
              <a:t>тп</a:t>
            </a:r>
            <a:endParaRPr lang="ru-RU"/>
          </a:p>
          <a:p>
            <a:pPr>
              <a:defRPr/>
            </a:pPr>
            <a:r>
              <a:rPr lang="ru-RU"/>
              <a:t>По умолчанию: наследование для структур – открытое, для классов - закрытое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Наследование и полиморфизм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Полиморфизм – концепция ООП, которая позволяет для единого интерфейса представить множество реализаций в зависимости от аргументов.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Полиморфизм делится на </a:t>
            </a:r>
            <a:r>
              <a:rPr lang="ru-RU">
                <a:solidFill>
                  <a:srgbClr val="00B0F0"/>
                </a:solidFill>
              </a:rPr>
              <a:t>статический</a:t>
            </a:r>
            <a:r>
              <a:rPr lang="ru-RU"/>
              <a:t> (выбор реализации осуществляется во время компиляции) и </a:t>
            </a:r>
            <a:r>
              <a:rPr lang="ru-RU">
                <a:solidFill>
                  <a:srgbClr val="00B0F0"/>
                </a:solidFill>
              </a:rPr>
              <a:t>динамический</a:t>
            </a:r>
            <a:r>
              <a:rPr lang="ru-RU"/>
              <a:t> (выбор реализации осуществляется во время выполнения).</a:t>
            </a:r>
            <a:endParaRPr/>
          </a:p>
          <a:p>
            <a:pPr>
              <a:defRPr/>
            </a:pPr>
            <a:r>
              <a:rPr lang="ru-RU"/>
              <a:t>Статический полиморфизм – перегрузки функций, шаблоны.</a:t>
            </a:r>
            <a:endParaRPr/>
          </a:p>
          <a:p>
            <a:pPr>
              <a:defRPr/>
            </a:pPr>
            <a:r>
              <a:rPr lang="ru-RU"/>
              <a:t>Динамический полиморфизм– виртуальные функции.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Виртуальные функции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Есть ли проблема в этом коде?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rcRect l="0" t="0" r="0" b="33009"/>
          <a:stretch/>
        </p:blipFill>
        <p:spPr bwMode="auto">
          <a:xfrm>
            <a:off x="487932" y="2101055"/>
            <a:ext cx="7154273" cy="2827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Виртуальные функции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А в таком случае?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7932" y="2101055"/>
            <a:ext cx="7154273" cy="4220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Виртуальные функции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Есть ли проблема в этом коде?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13508" y="1387497"/>
            <a:ext cx="6397826" cy="5209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Виртуальные функции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Перегрузка функции </a:t>
            </a:r>
            <a:r>
              <a:rPr lang="en-US"/>
              <a:t>(overloading) </a:t>
            </a:r>
            <a:r>
              <a:rPr lang="ru-RU"/>
              <a:t>– введение того же имени с другими типами аргументов</a:t>
            </a:r>
            <a:endParaRPr/>
          </a:p>
          <a:p>
            <a:pPr>
              <a:defRPr/>
            </a:pPr>
            <a:r>
              <a:rPr lang="ru-RU"/>
              <a:t>Переопределение функции (</a:t>
            </a:r>
            <a:r>
              <a:rPr lang="en-US"/>
              <a:t>overriding</a:t>
            </a:r>
            <a:r>
              <a:rPr lang="ru-RU"/>
              <a:t>)</a:t>
            </a:r>
            <a:r>
              <a:rPr lang="en-US"/>
              <a:t> – </a:t>
            </a:r>
            <a:r>
              <a:rPr lang="ru-RU"/>
              <a:t>замещение в классе наследнике виртуальной функции класса родителя</a:t>
            </a:r>
            <a:endParaRPr/>
          </a:p>
          <a:p>
            <a:pPr>
              <a:defRPr/>
            </a:pPr>
            <a:r>
              <a:rPr lang="ru-RU"/>
              <a:t>Аннотация </a:t>
            </a:r>
            <a:r>
              <a:rPr lang="en-US"/>
              <a:t>override – </a:t>
            </a:r>
            <a:r>
              <a:rPr lang="ru-RU"/>
              <a:t>требует переопределения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Интерфейсные классы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1588023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Классы в котором все методы чисто виртуальные служит своего рода общим интерфейсом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Класс, содержащий хотя бы одну чисто виртуальную функцию называется абстрактным базовым классом</a:t>
            </a:r>
            <a:endParaRPr/>
          </a:p>
          <a:p>
            <a:pPr>
              <a:defRPr/>
            </a:pPr>
            <a:r>
              <a:rPr lang="ru-RU"/>
              <a:t>К сожалению виртуальный конструктор (в том числе копирующий невозможен)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5070" y="2080670"/>
            <a:ext cx="7449894" cy="227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Интерфейсные классы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940641"/>
            <a:ext cx="11430086" cy="591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Обычно используется виртуальный метод </a:t>
            </a:r>
            <a:r>
              <a:rPr lang="en-US"/>
              <a:t>clone</a:t>
            </a: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Класс, содержащий хотя бы одну чисто</a:t>
            </a:r>
            <a:br>
              <a:rPr lang="en-US"/>
            </a:br>
            <a:r>
              <a:rPr lang="ru-RU"/>
              <a:t> виртуальную функцию называется абстрактным </a:t>
            </a:r>
            <a:br>
              <a:rPr lang="en-US"/>
            </a:br>
            <a:r>
              <a:rPr lang="ru-RU"/>
              <a:t>базовым классом</a:t>
            </a:r>
            <a:endParaRPr/>
          </a:p>
          <a:p>
            <a:pPr>
              <a:defRPr/>
            </a:pPr>
            <a:r>
              <a:rPr lang="ru-RU"/>
              <a:t>К сожалению виртуальный конструктор </a:t>
            </a:r>
            <a:br>
              <a:rPr lang="en-US"/>
            </a:br>
            <a:r>
              <a:rPr lang="ru-RU"/>
              <a:t>(в том числе копирующий невозможен)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88124" y="1300601"/>
            <a:ext cx="5832968" cy="3667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Статическое и динамическое связывание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279134" y="940641"/>
            <a:ext cx="11430086" cy="591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Виртуальные функции </a:t>
            </a:r>
            <a:r>
              <a:rPr lang="ru-RU">
                <a:solidFill>
                  <a:srgbClr val="00B0F0"/>
                </a:solidFill>
              </a:rPr>
              <a:t>связываются динамически </a:t>
            </a:r>
            <a:r>
              <a:rPr lang="ru-RU"/>
              <a:t>(адреса функций определяются с помощью таблицы виртуальных функций)</a:t>
            </a:r>
            <a:endParaRPr/>
          </a:p>
          <a:p>
            <a:pPr>
              <a:defRPr/>
            </a:pPr>
            <a:r>
              <a:rPr lang="ru-RU"/>
              <a:t>Обычные функции </a:t>
            </a:r>
            <a:r>
              <a:rPr lang="ru-RU">
                <a:solidFill>
                  <a:srgbClr val="00B0F0"/>
                </a:solidFill>
              </a:rPr>
              <a:t>связываются статически </a:t>
            </a:r>
            <a:br>
              <a:rPr lang="en-US">
                <a:solidFill>
                  <a:srgbClr val="00B0F0"/>
                </a:solidFill>
              </a:rPr>
            </a:br>
            <a:r>
              <a:rPr lang="ru-RU"/>
              <a:t>(на этапе компиляции)</a:t>
            </a:r>
            <a:endParaRPr lang="en-US"/>
          </a:p>
          <a:p>
            <a:pPr>
              <a:defRPr/>
            </a:pPr>
            <a:r>
              <a:rPr lang="ru-RU"/>
              <a:t>Как думаете, что выведет этот код?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0" t="0" r="27158" b="0"/>
          <a:stretch/>
        </p:blipFill>
        <p:spPr bwMode="auto">
          <a:xfrm>
            <a:off x="5459015" y="1561519"/>
            <a:ext cx="5479602" cy="5230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NVI – non-virtual interface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317636" y="940641"/>
            <a:ext cx="11430086" cy="591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Аргументы по умолчанию связываются статически , т.е. зависят от </a:t>
            </a:r>
            <a:r>
              <a:rPr lang="ru-RU">
                <a:solidFill>
                  <a:schemeClr val="accent1"/>
                </a:solidFill>
              </a:rPr>
              <a:t>статического типа</a:t>
            </a:r>
            <a:r>
              <a:rPr lang="ru-RU"/>
              <a:t>.</a:t>
            </a:r>
            <a:endParaRPr/>
          </a:p>
          <a:p>
            <a:pPr>
              <a:defRPr/>
            </a:pPr>
            <a:r>
              <a:rPr lang="ru-RU"/>
              <a:t>Если нужен</a:t>
            </a:r>
            <a:r>
              <a:rPr lang="en-US"/>
              <a:t> </a:t>
            </a:r>
            <a:r>
              <a:rPr lang="ru-RU"/>
              <a:t>интерфейс с аргументами по умолчанию, его можно сделать </a:t>
            </a:r>
            <a:r>
              <a:rPr lang="ru-RU">
                <a:solidFill>
                  <a:schemeClr val="accent1"/>
                </a:solidFill>
              </a:rPr>
              <a:t>невиртуальным</a:t>
            </a:r>
            <a:r>
              <a:rPr lang="ru-RU">
                <a:solidFill>
                  <a:schemeClr val="accent1"/>
                </a:solidFill>
              </a:rPr>
              <a:t>, </a:t>
            </a:r>
            <a:r>
              <a:rPr lang="ru-RU"/>
              <a:t>чтобы никто не смог их переопределить.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57949" y="2263874"/>
            <a:ext cx="7847036" cy="3450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317636" y="940641"/>
            <a:ext cx="11430086" cy="591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Насколько можно смешивать статический и динамический полиморфизм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/>
              <a:t>Может ли существовать шаблон виртуального метода?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/>
              <a:t>Можно ли перегружать виртуальные функции</a:t>
            </a:r>
            <a:r>
              <a:rPr lang="en-US"/>
              <a:t>?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41302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317636" y="940641"/>
            <a:ext cx="11430086" cy="591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Насколько можно смешивать статический и динамический полиморфизм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/>
              <a:t>Может ли существовать шаблон </a:t>
            </a:r>
            <a:br>
              <a:rPr lang="en-US"/>
            </a:br>
            <a:r>
              <a:rPr lang="ru-RU"/>
              <a:t>виртуального метода?</a:t>
            </a:r>
            <a:br>
              <a:rPr lang="en-US"/>
            </a:br>
            <a:r>
              <a:rPr lang="ru-RU"/>
              <a:t> </a:t>
            </a:r>
            <a:r>
              <a:rPr lang="ru-RU">
                <a:solidFill>
                  <a:srgbClr val="00B0F0"/>
                </a:solidFill>
              </a:rPr>
              <a:t>К счастью - нет</a:t>
            </a:r>
            <a:endParaRPr lang="ru-RU"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/>
              <a:t>Можно ли перегружать </a:t>
            </a:r>
            <a:br>
              <a:rPr lang="en-US"/>
            </a:br>
            <a:r>
              <a:rPr lang="ru-RU"/>
              <a:t>виртуальные функции? </a:t>
            </a:r>
            <a:br>
              <a:rPr lang="en-US"/>
            </a:br>
            <a:r>
              <a:rPr lang="ru-RU">
                <a:solidFill>
                  <a:schemeClr val="accent5"/>
                </a:solidFill>
              </a:rPr>
              <a:t>К сожалению – да.</a:t>
            </a:r>
            <a:endParaRPr lang="en-US">
              <a:solidFill>
                <a:schemeClr val="accent5"/>
              </a:solidFill>
            </a:endParaRPr>
          </a:p>
          <a:p>
            <a:pPr marL="800100" lvl="1" indent="-342900">
              <a:buFont typeface="+mj-lt"/>
              <a:buAutoNum type="arabicPeriod"/>
              <a:defRPr/>
            </a:pPr>
            <a:endParaRPr lang="en-US">
              <a:solidFill>
                <a:schemeClr val="accent5"/>
              </a:solidFill>
            </a:endParaRPr>
          </a:p>
          <a:p>
            <a:pPr>
              <a:defRPr/>
            </a:pPr>
            <a:r>
              <a:rPr lang="ru-RU"/>
              <a:t>Что выведет код?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rcRect l="0" t="0" r="15561" b="0"/>
          <a:stretch/>
        </p:blipFill>
        <p:spPr bwMode="auto">
          <a:xfrm>
            <a:off x="5033473" y="1320299"/>
            <a:ext cx="6503351" cy="5432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279134" y="232756"/>
            <a:ext cx="11713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85070" y="1474124"/>
            <a:ext cx="11430086" cy="454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317636" y="940641"/>
            <a:ext cx="11430086" cy="591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быть?</a:t>
            </a:r>
            <a:endParaRPr lang="en-US"/>
          </a:p>
          <a:p>
            <a:pPr>
              <a:defRPr/>
            </a:pPr>
            <a:r>
              <a:rPr lang="ru-RU"/>
              <a:t>Ввести в область видимости</a:t>
            </a:r>
            <a:br>
              <a:rPr lang="ru-RU"/>
            </a:br>
            <a:r>
              <a:rPr lang="ru-RU"/>
              <a:t>с использованием </a:t>
            </a:r>
            <a:r>
              <a:rPr lang="en-US"/>
              <a:t>using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>
              <a:solidFill>
                <a:srgbClr val="00B0F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rcRect l="0" t="0" r="19111" b="0"/>
          <a:stretch/>
        </p:blipFill>
        <p:spPr bwMode="auto">
          <a:xfrm>
            <a:off x="5091764" y="497880"/>
            <a:ext cx="6400800" cy="5645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Лекции: 2, 4, 8)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39</Slides>
  <Notes>39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55</cp:revision>
  <dcterms:created xsi:type="dcterms:W3CDTF">2023-01-29T12:06:08Z</dcterms:created>
  <dcterms:modified xsi:type="dcterms:W3CDTF">2026-02-20T07:37:04Z</dcterms:modified>
  <cp:category/>
  <cp:contentStatus/>
  <cp:version/>
</cp:coreProperties>
</file>