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6" d="100"/>
          <a:sy n="106" d="100"/>
        </p:scale>
        <p:origin x="402" y="96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presProps" Target="presProps.xml" /><Relationship Id="rId35" Type="http://schemas.openxmlformats.org/officeDocument/2006/relationships/tableStyles" Target="tableStyles.xml" /><Relationship Id="rId36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 bwMode="auto">
            <a:xfrm>
              <a:off x="1674042" y="1186483"/>
              <a:ext cx="8843596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 bwMode="auto"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7" name="Group 26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49925"/>
            <a:ext cx="3498978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18447" y="803186"/>
            <a:ext cx="6281873" cy="5248622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 bwMode="auto">
            <a:xfrm>
              <a:off x="3259545" y="1186483"/>
              <a:ext cx="5657881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 bwMode="auto"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3344216" y="2074729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59" name="Group 58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120878" y="803187"/>
            <a:ext cx="6269591" cy="2382651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18447" y="3672161"/>
            <a:ext cx="6272022" cy="2383586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61" name="Group 6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25305" y="1488985"/>
            <a:ext cx="6264350" cy="1696853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118447" y="4351687"/>
            <a:ext cx="6265588" cy="17040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4" name="Group 23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1" name="Group 2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09983" y="802808"/>
            <a:ext cx="6275035" cy="5249940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76" name="Group 75"/>
          <p:cNvGrpSpPr/>
          <p:nvPr/>
        </p:nvGrpSpPr>
        <p:grpSpPr bwMode="auto"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 bwMode="auto"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 bwMode="auto">
            <a:xfrm rot="10800000">
              <a:off x="3618113" y="4896349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 bwMode="auto"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43510" y="0"/>
            <a:ext cx="464849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5942203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828377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5109983" y="794719"/>
            <a:ext cx="6275035" cy="5257090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02747" y="798444"/>
            <a:ext cx="6268622" cy="5257303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lnSpc>
          <a:spcPct val="85000"/>
        </a:lnSpc>
        <a:spcBef>
          <a:spcPts val="0"/>
        </a:spcBef>
        <a:buNone/>
        <a:defRPr sz="4000" b="0" i="0" cap="none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Лекция 0.5. Средства разработки.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Система автоматизированной сборки. Системы контроля версий. 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7106194" y="5819248"/>
            <a:ext cx="4960653" cy="640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Rubik"/>
                <a:ea typeface="Rubik"/>
                <a:cs typeface="Rubik"/>
              </a:rPr>
              <a:t>Чубанов Кирилл Константинович, 2026 г.</a:t>
            </a:r>
            <a:b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800" b="0" i="0" u="none" strike="noStrike" cap="none" spc="0">
                <a:solidFill>
                  <a:srgbClr val="000000"/>
                </a:solidFill>
                <a:latin typeface="Rubik"/>
                <a:ea typeface="Rubik"/>
                <a:cs typeface="Rubik"/>
              </a:rPr>
              <a:t>Telegram: @kirachewie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Системы </a:t>
            </a:r>
            <a:r>
              <a:rPr lang="ru-RU"/>
              <a:t>автоматизиро</a:t>
            </a:r>
            <a:r>
              <a:rPr lang="ru-RU"/>
              <a:t>-ванной сборки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b="1" i="1"/>
              <a:t>Зачем нужны?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/>
              <a:t>Исходя из названия – для сборки проектов, состоящих из множества файлов.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 b="1"/>
              <a:t>Однако… у них еще есть ряд других преимуществ перед ручной сборкой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Системы </a:t>
            </a:r>
            <a:r>
              <a:rPr lang="ru-RU"/>
              <a:t>автоматизиро</a:t>
            </a:r>
            <a:r>
              <a:rPr lang="ru-RU"/>
              <a:t>-ванной сборки</a:t>
            </a:r>
            <a:endParaRPr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 bwMode="auto">
          <a:xfrm>
            <a:off x="5012940" y="435041"/>
            <a:ext cx="6265088" cy="685800"/>
          </a:xfrm>
        </p:spPr>
        <p:txBody>
          <a:bodyPr/>
          <a:lstStyle/>
          <a:p>
            <a:pPr>
              <a:defRPr/>
            </a:pPr>
            <a:r>
              <a:rPr lang="ru-RU"/>
              <a:t>Представим что программист написал код, который компилируется и даже работает</a:t>
            </a:r>
            <a:endParaRPr/>
          </a:p>
        </p:txBody>
      </p:sp>
      <p:pic>
        <p:nvPicPr>
          <p:cNvPr id="7" name="Объект 6"/>
          <p:cNvPicPr>
            <a:picLocks noChangeAspect="1" noGrp="1"/>
          </p:cNvPicPr>
          <p:nvPr>
            <p:ph sz="half" idx="2"/>
          </p:nvPr>
        </p:nvPicPr>
        <p:blipFill>
          <a:blip r:embed="rId2"/>
          <a:stretch/>
        </p:blipFill>
        <p:spPr bwMode="auto">
          <a:xfrm>
            <a:off x="5125137" y="1488986"/>
            <a:ext cx="2969827" cy="1980418"/>
          </a:xfrm>
          <a:prstGeom prst="rect">
            <a:avLst/>
          </a:prstGeom>
        </p:spPr>
      </p:pic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 bwMode="auto">
          <a:xfrm>
            <a:off x="5125137" y="3469404"/>
            <a:ext cx="6264414" cy="685800"/>
          </a:xfrm>
        </p:spPr>
        <p:txBody>
          <a:bodyPr/>
          <a:lstStyle/>
          <a:p>
            <a:pPr>
              <a:defRPr/>
            </a:pPr>
            <a:r>
              <a:rPr lang="ru-RU"/>
              <a:t>Он передает его коллеге – и……..</a:t>
            </a:r>
            <a:br>
              <a:rPr lang="ru-RU"/>
            </a:br>
            <a:r>
              <a:rPr lang="ru-RU"/>
              <a:t> у него ничего не работает</a:t>
            </a:r>
            <a:endParaRPr/>
          </a:p>
        </p:txBody>
      </p:sp>
      <p:pic>
        <p:nvPicPr>
          <p:cNvPr id="17" name="Объект 16"/>
          <p:cNvPicPr>
            <a:picLocks noChangeAspect="1" noGrp="1"/>
          </p:cNvPicPr>
          <p:nvPr>
            <p:ph sz="quarter" idx="4"/>
          </p:nvPr>
        </p:nvPicPr>
        <p:blipFill>
          <a:blip r:embed="rId3"/>
          <a:stretch/>
        </p:blipFill>
        <p:spPr bwMode="auto">
          <a:xfrm>
            <a:off x="5125137" y="4197857"/>
            <a:ext cx="3096618" cy="20654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 bwMode="auto">
          <a:xfrm>
            <a:off x="7752767" y="6357131"/>
            <a:ext cx="309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0" i="0">
                <a:solidFill>
                  <a:srgbClr val="374957"/>
                </a:solidFill>
              </a:rPr>
              <a:t>изображения: </a:t>
            </a:r>
            <a:r>
              <a:rPr lang="en-US" b="0" i="0">
                <a:solidFill>
                  <a:srgbClr val="374957"/>
                </a:solidFill>
              </a:rPr>
              <a:t>Freepik.com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Системы </a:t>
            </a:r>
            <a:r>
              <a:rPr lang="ru-RU"/>
              <a:t>автоматизиро</a:t>
            </a:r>
            <a:r>
              <a:rPr lang="ru-RU"/>
              <a:t>-ванной сборки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b="1" i="1"/>
              <a:t>Возможные причины:</a:t>
            </a:r>
            <a:endParaRPr/>
          </a:p>
          <a:p>
            <a:pPr>
              <a:defRPr/>
            </a:pPr>
            <a:r>
              <a:rPr lang="ru-RU"/>
              <a:t>Отсутствие необходимых библиотек;</a:t>
            </a:r>
            <a:endParaRPr/>
          </a:p>
          <a:p>
            <a:pPr>
              <a:defRPr/>
            </a:pPr>
            <a:r>
              <a:rPr lang="ru-RU"/>
              <a:t>Неподходящий компилятор;</a:t>
            </a:r>
            <a:endParaRPr/>
          </a:p>
          <a:p>
            <a:pPr>
              <a:defRPr/>
            </a:pPr>
            <a:r>
              <a:rPr lang="ru-RU"/>
              <a:t>Некорректные пути к библиотекам;</a:t>
            </a:r>
            <a:endParaRPr/>
          </a:p>
          <a:p>
            <a:pPr>
              <a:defRPr/>
            </a:pPr>
            <a:r>
              <a:rPr lang="ru-RU"/>
              <a:t>Неподходящая операционная система;</a:t>
            </a:r>
            <a:endParaRPr/>
          </a:p>
          <a:p>
            <a:pPr>
              <a:defRPr/>
            </a:pPr>
            <a:r>
              <a:rPr lang="ru-RU"/>
              <a:t>И многое другое…. 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 b="1"/>
              <a:t>Все это можно указать в файле сборки!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Основы </a:t>
            </a:r>
            <a:br>
              <a:rPr lang="en-US"/>
            </a:br>
            <a:r>
              <a:rPr lang="en-US"/>
              <a:t>Cmake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18447" y="814406"/>
            <a:ext cx="6281873" cy="524862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  <a:defRPr/>
            </a:pPr>
            <a:r>
              <a:rPr lang="ru-RU" b="1" i="1"/>
              <a:t>Существующие системы сборки:</a:t>
            </a:r>
            <a:endParaRPr/>
          </a:p>
          <a:p>
            <a:pPr>
              <a:defRPr/>
            </a:pPr>
            <a:r>
              <a:rPr lang="ru-RU"/>
              <a:t>Низкого уровня:</a:t>
            </a:r>
            <a:endParaRPr/>
          </a:p>
          <a:p>
            <a:pPr lvl="1">
              <a:defRPr/>
            </a:pPr>
            <a:r>
              <a:rPr lang="en-US"/>
              <a:t>Make</a:t>
            </a:r>
            <a:endParaRPr lang="ru-RU"/>
          </a:p>
          <a:p>
            <a:pPr lvl="1">
              <a:defRPr/>
            </a:pPr>
            <a:r>
              <a:rPr lang="en-US"/>
              <a:t>Ninja</a:t>
            </a:r>
            <a:endParaRPr/>
          </a:p>
          <a:p>
            <a:pPr lvl="1">
              <a:defRPr/>
            </a:pPr>
            <a:r>
              <a:rPr lang="en-US"/>
              <a:t>Nmake</a:t>
            </a:r>
            <a:endParaRPr lang="en-US"/>
          </a:p>
          <a:p>
            <a:pPr>
              <a:defRPr/>
            </a:pPr>
            <a:r>
              <a:rPr lang="ru-RU"/>
              <a:t>Высокого уровня:</a:t>
            </a:r>
            <a:endParaRPr lang="en-US"/>
          </a:p>
          <a:p>
            <a:pPr lvl="1">
              <a:defRPr/>
            </a:pPr>
            <a:r>
              <a:rPr lang="en-US"/>
              <a:t>Cmake</a:t>
            </a:r>
            <a:endParaRPr/>
          </a:p>
          <a:p>
            <a:pPr lvl="1">
              <a:defRPr/>
            </a:pPr>
            <a:r>
              <a:rPr lang="en-US"/>
              <a:t>Qmake</a:t>
            </a:r>
            <a:endParaRPr lang="en-US"/>
          </a:p>
          <a:p>
            <a:pPr lvl="1">
              <a:defRPr/>
            </a:pPr>
            <a:r>
              <a:rPr lang="en-US"/>
              <a:t>QBS</a:t>
            </a:r>
            <a:endParaRPr/>
          </a:p>
          <a:p>
            <a:pPr lvl="1">
              <a:defRPr/>
            </a:pPr>
            <a:r>
              <a:rPr lang="en-US"/>
              <a:t>MSBuild</a:t>
            </a:r>
            <a:endParaRPr lang="en-US"/>
          </a:p>
          <a:p>
            <a:pPr lvl="1">
              <a:defRPr/>
            </a:pPr>
            <a:r>
              <a:rPr lang="en-US"/>
              <a:t>Autotools</a:t>
            </a:r>
            <a:endParaRPr lang="en-US"/>
          </a:p>
          <a:p>
            <a:pPr>
              <a:defRPr/>
            </a:pPr>
            <a:endParaRPr lang="en-US" b="1" i="1"/>
          </a:p>
          <a:p>
            <a:pPr marL="0" indent="0">
              <a:buNone/>
              <a:defRPr/>
            </a:pPr>
            <a:r>
              <a:rPr lang="ru-RU"/>
              <a:t>В настоящий момент наиболее распространенной и гибкой </a:t>
            </a:r>
            <a:r>
              <a:rPr lang="ru-RU"/>
              <a:t>кросплатформенной</a:t>
            </a:r>
            <a:r>
              <a:rPr lang="ru-RU"/>
              <a:t> системой автоматизации сборки является </a:t>
            </a:r>
            <a:r>
              <a:rPr lang="en-US"/>
              <a:t>Cmake.</a:t>
            </a:r>
            <a:endParaRPr/>
          </a:p>
          <a:p>
            <a:pPr marL="0" indent="0">
              <a:buNone/>
              <a:defRPr/>
            </a:pPr>
            <a:r>
              <a:rPr lang="en-US"/>
              <a:t>Qmake</a:t>
            </a:r>
            <a:r>
              <a:rPr lang="en-US"/>
              <a:t>/QBS </a:t>
            </a:r>
            <a:r>
              <a:rPr lang="ru-RU"/>
              <a:t>– в ближайшем будущем перестанут поддерживаться </a:t>
            </a:r>
            <a:r>
              <a:rPr lang="en-US"/>
              <a:t>Qt Group.</a:t>
            </a:r>
            <a:endParaRPr/>
          </a:p>
          <a:p>
            <a:pPr marL="0" indent="0">
              <a:buNone/>
              <a:defRPr/>
            </a:pPr>
            <a:r>
              <a:rPr lang="en-US"/>
              <a:t>MSBuild</a:t>
            </a:r>
            <a:r>
              <a:rPr lang="en-US"/>
              <a:t> – </a:t>
            </a:r>
            <a:r>
              <a:rPr lang="ru-RU"/>
              <a:t>используется исключительно на </a:t>
            </a:r>
            <a:r>
              <a:rPr lang="en-US"/>
              <a:t>Windows </a:t>
            </a:r>
            <a:r>
              <a:rPr lang="ru-RU"/>
              <a:t>и в основном с компилятором </a:t>
            </a:r>
            <a:r>
              <a:rPr lang="en-US"/>
              <a:t>MSVC. </a:t>
            </a:r>
            <a:endParaRPr/>
          </a:p>
          <a:p>
            <a:pPr marL="0" indent="0">
              <a:buNone/>
              <a:defRPr/>
            </a:pPr>
            <a:r>
              <a:rPr lang="en-US"/>
              <a:t>Autotools</a:t>
            </a:r>
            <a:r>
              <a:rPr lang="en-US"/>
              <a:t> – </a:t>
            </a:r>
            <a:r>
              <a:rPr lang="ru-RU"/>
              <a:t>используется на </a:t>
            </a:r>
            <a:r>
              <a:rPr lang="en-US"/>
              <a:t>UNIX-</a:t>
            </a:r>
            <a:r>
              <a:rPr lang="ru-RU"/>
              <a:t>подобных системах.</a:t>
            </a:r>
            <a:endParaRPr/>
          </a:p>
          <a:p>
            <a:pPr marL="0" indent="0">
              <a:buNone/>
              <a:defRPr/>
            </a:pPr>
            <a:endParaRPr lang="ru-RU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Основы </a:t>
            </a:r>
            <a:br>
              <a:rPr lang="en-US"/>
            </a:br>
            <a:r>
              <a:rPr lang="en-US"/>
              <a:t>Cmake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18447" y="814406"/>
            <a:ext cx="6281873" cy="524862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b="1" i="1"/>
              <a:t>Основные термины </a:t>
            </a:r>
            <a:r>
              <a:rPr lang="en-US" b="1" i="1"/>
              <a:t>Cmake:</a:t>
            </a:r>
            <a:endParaRPr/>
          </a:p>
          <a:p>
            <a:pPr>
              <a:defRPr/>
            </a:pPr>
            <a:r>
              <a:rPr lang="en-US"/>
              <a:t>Target</a:t>
            </a:r>
            <a:r>
              <a:rPr lang="ru-RU"/>
              <a:t> (цель сборки) </a:t>
            </a:r>
            <a:r>
              <a:rPr lang="en-US"/>
              <a:t>–</a:t>
            </a:r>
            <a:r>
              <a:rPr lang="ru-RU"/>
              <a:t> отдельный исполняемый файл, статическая или динамическая библиотека, который(</a:t>
            </a:r>
            <a:r>
              <a:rPr lang="ru-RU"/>
              <a:t>ая</a:t>
            </a:r>
            <a:r>
              <a:rPr lang="ru-RU"/>
              <a:t>) генерируется в результате компиляции проекта.</a:t>
            </a:r>
            <a:endParaRPr/>
          </a:p>
          <a:p>
            <a:pPr>
              <a:defRPr/>
            </a:pPr>
            <a:r>
              <a:rPr lang="en-US"/>
              <a:t>Project (</a:t>
            </a:r>
            <a:r>
              <a:rPr lang="ru-RU"/>
              <a:t>проект</a:t>
            </a:r>
            <a:r>
              <a:rPr lang="en-US"/>
              <a:t>)</a:t>
            </a:r>
            <a:r>
              <a:rPr lang="ru-RU"/>
              <a:t> – совокупность исполняемых файлов/библиотек, полученных в результате запуска </a:t>
            </a:r>
            <a:r>
              <a:rPr lang="en-US"/>
              <a:t>Cmake.</a:t>
            </a:r>
            <a:endParaRPr/>
          </a:p>
          <a:p>
            <a:pPr marL="0" indent="0">
              <a:buNone/>
              <a:defRPr/>
            </a:pPr>
            <a:endParaRPr lang="en-US" b="1" i="1"/>
          </a:p>
          <a:p>
            <a:pPr marL="0" indent="0">
              <a:buNone/>
              <a:defRPr/>
            </a:pPr>
            <a:r>
              <a:rPr lang="ru-RU" b="1" i="1"/>
              <a:t>Документация по </a:t>
            </a:r>
            <a:r>
              <a:rPr lang="en-US" b="1" i="1"/>
              <a:t>Cmake:</a:t>
            </a:r>
            <a:endParaRPr/>
          </a:p>
          <a:p>
            <a:pPr marL="0" indent="0">
              <a:buNone/>
              <a:defRPr/>
            </a:pPr>
            <a:r>
              <a:rPr lang="en-US"/>
              <a:t>https://cmake.org/cmake/help/latest/index.html</a:t>
            </a:r>
            <a:endParaRPr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Основы </a:t>
            </a:r>
            <a:br>
              <a:rPr lang="en-US"/>
            </a:br>
            <a:r>
              <a:rPr lang="en-US"/>
              <a:t>Cmake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18447" y="814406"/>
            <a:ext cx="6281873" cy="524862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  <a:defRPr/>
            </a:pPr>
            <a:r>
              <a:rPr lang="ru-RU" b="1" i="1"/>
              <a:t>Основные команды </a:t>
            </a:r>
            <a:r>
              <a:rPr lang="en-US" b="1" i="1"/>
              <a:t>Cmake:</a:t>
            </a:r>
            <a:endParaRPr/>
          </a:p>
          <a:p>
            <a:pPr>
              <a:defRPr/>
            </a:pPr>
            <a:r>
              <a:rPr lang="ru-RU"/>
              <a:t>cmake_minimum_required</a:t>
            </a:r>
            <a:r>
              <a:rPr lang="ru-RU"/>
              <a:t>(VERSION </a:t>
            </a:r>
            <a:r>
              <a:rPr lang="ru-RU"/>
              <a:t>num</a:t>
            </a:r>
            <a:r>
              <a:rPr lang="ru-RU"/>
              <a:t>) указывается в начале главного cmake-файла, </a:t>
            </a:r>
            <a:r>
              <a:rPr lang="ru-RU"/>
              <a:t>num</a:t>
            </a:r>
            <a:r>
              <a:rPr lang="ru-RU"/>
              <a:t> – номер версии cmake;</a:t>
            </a:r>
            <a:endParaRPr/>
          </a:p>
          <a:p>
            <a:pPr>
              <a:defRPr/>
            </a:pPr>
            <a:r>
              <a:rPr lang="en-US"/>
              <a:t>add_executable</a:t>
            </a:r>
            <a:r>
              <a:rPr lang="en-US"/>
              <a:t>(name src_1 src_2 ...) </a:t>
            </a:r>
            <a:r>
              <a:rPr lang="ru-RU"/>
              <a:t>собрать бинарный файл </a:t>
            </a:r>
            <a:r>
              <a:rPr lang="en-US"/>
              <a:t>name </a:t>
            </a:r>
            <a:r>
              <a:rPr lang="ru-RU"/>
              <a:t>из исходников </a:t>
            </a:r>
            <a:r>
              <a:rPr lang="en-US"/>
              <a:t>src_i</a:t>
            </a:r>
            <a:r>
              <a:rPr lang="ru-RU"/>
              <a:t>, функция </a:t>
            </a:r>
            <a:r>
              <a:rPr lang="en-US"/>
              <a:t>main – </a:t>
            </a:r>
            <a:r>
              <a:rPr lang="ru-RU"/>
              <a:t>в </a:t>
            </a:r>
            <a:r>
              <a:rPr lang="en-US"/>
              <a:t>src_1</a:t>
            </a:r>
            <a:r>
              <a:rPr lang="ru-RU"/>
              <a:t>;</a:t>
            </a:r>
            <a:endParaRPr/>
          </a:p>
          <a:p>
            <a:pPr>
              <a:defRPr/>
            </a:pPr>
            <a:r>
              <a:rPr lang="ru-RU"/>
              <a:t>add_library</a:t>
            </a:r>
            <a:r>
              <a:rPr lang="ru-RU"/>
              <a:t>(</a:t>
            </a:r>
            <a:r>
              <a:rPr lang="ru-RU"/>
              <a:t>name</a:t>
            </a:r>
            <a:r>
              <a:rPr lang="ru-RU"/>
              <a:t> src_1 src_2 ...) собрать статическую библиотеку </a:t>
            </a:r>
            <a:r>
              <a:rPr lang="ru-RU"/>
              <a:t>name</a:t>
            </a:r>
            <a:r>
              <a:rPr lang="ru-RU"/>
              <a:t> из исходников </a:t>
            </a:r>
            <a:r>
              <a:rPr lang="ru-RU"/>
              <a:t>src_i</a:t>
            </a:r>
            <a:r>
              <a:rPr lang="ru-RU"/>
              <a:t>;</a:t>
            </a:r>
            <a:endParaRPr/>
          </a:p>
          <a:p>
            <a:pPr>
              <a:defRPr/>
            </a:pPr>
            <a:r>
              <a:rPr lang="ru-RU"/>
              <a:t>add_subdirectory</a:t>
            </a:r>
            <a:r>
              <a:rPr lang="ru-RU"/>
              <a:t>(</a:t>
            </a:r>
            <a:r>
              <a:rPr lang="ru-RU"/>
              <a:t>name</a:t>
            </a:r>
            <a:r>
              <a:rPr lang="ru-RU"/>
              <a:t>) добавить к проекту папку </a:t>
            </a:r>
            <a:r>
              <a:rPr lang="ru-RU"/>
              <a:t>name</a:t>
            </a:r>
            <a:r>
              <a:rPr lang="ru-RU"/>
              <a:t> и обработать вложенный в нее CMakeLists.txt;</a:t>
            </a:r>
            <a:endParaRPr/>
          </a:p>
          <a:p>
            <a:pPr>
              <a:defRPr/>
            </a:pPr>
            <a:r>
              <a:rPr lang="ru-RU"/>
              <a:t>add_dependencies</a:t>
            </a:r>
            <a:r>
              <a:rPr lang="ru-RU"/>
              <a:t>(</a:t>
            </a:r>
            <a:r>
              <a:rPr lang="ru-RU"/>
              <a:t>name</a:t>
            </a:r>
            <a:r>
              <a:rPr lang="ru-RU"/>
              <a:t> dep_1 dep_2 ...) добавить зависимости </a:t>
            </a:r>
            <a:r>
              <a:rPr lang="ru-RU"/>
              <a:t>dep_i</a:t>
            </a:r>
            <a:r>
              <a:rPr lang="ru-RU"/>
              <a:t> к объекту (цели) </a:t>
            </a:r>
            <a:r>
              <a:rPr lang="ru-RU"/>
              <a:t>name</a:t>
            </a:r>
            <a:r>
              <a:rPr lang="ru-RU"/>
              <a:t>;</a:t>
            </a:r>
            <a:endParaRPr/>
          </a:p>
          <a:p>
            <a:pPr>
              <a:defRPr/>
            </a:pPr>
            <a:r>
              <a:rPr lang="ru-RU"/>
              <a:t>project</a:t>
            </a:r>
            <a:r>
              <a:rPr lang="ru-RU"/>
              <a:t>(</a:t>
            </a:r>
            <a:r>
              <a:rPr lang="ru-RU"/>
              <a:t>name</a:t>
            </a:r>
            <a:r>
              <a:rPr lang="ru-RU"/>
              <a:t>):</a:t>
            </a:r>
            <a:endParaRPr/>
          </a:p>
          <a:p>
            <a:pPr lvl="1">
              <a:defRPr/>
            </a:pPr>
            <a:r>
              <a:rPr lang="ru-RU"/>
              <a:t>сохраняет имя </a:t>
            </a:r>
            <a:r>
              <a:rPr lang="ru-RU"/>
              <a:t>name</a:t>
            </a:r>
            <a:r>
              <a:rPr lang="ru-RU"/>
              <a:t> в переменную PROJECT_NAME </a:t>
            </a:r>
            <a:endParaRPr/>
          </a:p>
          <a:p>
            <a:pPr lvl="1">
              <a:defRPr/>
            </a:pPr>
            <a:r>
              <a:rPr lang="ru-RU"/>
              <a:t>сохраняет путь к исходным файлам в переменные PROJECT_SOURCE_DIR и _SOURCE_DIR </a:t>
            </a:r>
            <a:endParaRPr/>
          </a:p>
          <a:p>
            <a:pPr lvl="1">
              <a:defRPr/>
            </a:pPr>
            <a:r>
              <a:rPr lang="ru-RU"/>
              <a:t>сохраняет путь к собираемым файлам в переменные PROJECT_BINARY_DIR и _BINARY_DIR </a:t>
            </a:r>
            <a:endParaRPr/>
          </a:p>
          <a:p>
            <a:pPr lvl="1">
              <a:defRPr/>
            </a:pPr>
            <a:r>
              <a:rPr lang="ru-RU"/>
              <a:t>заводит переменные, специфичные для языка исходного кода  например, CMAKE_CXX_COMPILER – переменная для компилятора C/C++ </a:t>
            </a:r>
            <a:endParaRPr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Основы </a:t>
            </a:r>
            <a:br>
              <a:rPr lang="en-US"/>
            </a:br>
            <a:r>
              <a:rPr lang="en-US"/>
              <a:t>Cmake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18447" y="814406"/>
            <a:ext cx="6281873" cy="524862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400" b="1" i="1"/>
              <a:t>Основные команды </a:t>
            </a:r>
            <a:r>
              <a:rPr lang="en-US" sz="1400" b="1" i="1"/>
              <a:t>Cmake:</a:t>
            </a:r>
            <a:endParaRPr/>
          </a:p>
          <a:p>
            <a:pPr>
              <a:defRPr/>
            </a:pPr>
            <a:r>
              <a:rPr lang="en-US" sz="1400"/>
              <a:t>target_link_libraries</a:t>
            </a:r>
            <a:r>
              <a:rPr lang="en-US" sz="1400"/>
              <a:t>(</a:t>
            </a:r>
            <a:r>
              <a:rPr lang="en-US" sz="1400"/>
              <a:t>targ</a:t>
            </a:r>
            <a:r>
              <a:rPr lang="en-US" sz="1400"/>
              <a:t> lib_1 lib_2 ...) </a:t>
            </a:r>
            <a:r>
              <a:rPr lang="ru-RU" sz="1400"/>
              <a:t>слинковать объект </a:t>
            </a:r>
            <a:r>
              <a:rPr lang="en-US" sz="1400"/>
              <a:t>targ</a:t>
            </a:r>
            <a:r>
              <a:rPr lang="en-US" sz="1400"/>
              <a:t> </a:t>
            </a:r>
            <a:r>
              <a:rPr lang="ru-RU" sz="1400"/>
              <a:t>с библиотеками </a:t>
            </a:r>
            <a:r>
              <a:rPr lang="en-US" sz="1400"/>
              <a:t>lib_i</a:t>
            </a:r>
            <a:r>
              <a:rPr lang="en-US" sz="1400"/>
              <a:t> </a:t>
            </a:r>
            <a:r>
              <a:rPr lang="ru-RU" sz="1400"/>
              <a:t>(используется для подключения библиотек </a:t>
            </a:r>
            <a:r>
              <a:rPr lang="en-US" sz="1400"/>
              <a:t>*.a, *.lib, *.</a:t>
            </a:r>
            <a:r>
              <a:rPr lang="en-US" sz="1400"/>
              <a:t>dll</a:t>
            </a:r>
            <a:r>
              <a:rPr lang="en-US" sz="1400"/>
              <a:t>, *.so</a:t>
            </a:r>
            <a:r>
              <a:rPr lang="ru-RU" sz="1400"/>
              <a:t>);</a:t>
            </a:r>
            <a:endParaRPr/>
          </a:p>
          <a:p>
            <a:pPr>
              <a:defRPr/>
            </a:pPr>
            <a:r>
              <a:rPr lang="en-US" sz="1400"/>
              <a:t>target_include_directories</a:t>
            </a:r>
            <a:r>
              <a:rPr lang="en-US" sz="1400"/>
              <a:t>(</a:t>
            </a:r>
            <a:r>
              <a:rPr lang="en-US" sz="1400"/>
              <a:t>targ</a:t>
            </a:r>
            <a:r>
              <a:rPr lang="en-US" sz="1400"/>
              <a:t> {PUBLIC|PRIVATE|INTERFACE}</a:t>
            </a:r>
            <a:r>
              <a:rPr lang="ru-RU" sz="1400"/>
              <a:t> </a:t>
            </a:r>
            <a:r>
              <a:rPr lang="en-US" sz="1400"/>
              <a:t>dir_1 dir_2 ...) </a:t>
            </a:r>
            <a:r>
              <a:rPr lang="ru-RU" sz="1400"/>
              <a:t>добавить к проекту путь с заголовочными файлами к библиотекам </a:t>
            </a:r>
            <a:r>
              <a:rPr lang="en-US" sz="1400"/>
              <a:t>dir_i</a:t>
            </a:r>
            <a:r>
              <a:rPr lang="ru-RU" sz="1400"/>
              <a:t>;</a:t>
            </a:r>
            <a:endParaRPr/>
          </a:p>
          <a:p>
            <a:pPr>
              <a:defRPr/>
            </a:pPr>
            <a:r>
              <a:rPr lang="ru-RU" sz="1400"/>
              <a:t>find_package</a:t>
            </a:r>
            <a:r>
              <a:rPr lang="ru-RU" sz="1400"/>
              <a:t>(</a:t>
            </a:r>
            <a:r>
              <a:rPr lang="ru-RU" sz="1400"/>
              <a:t>name</a:t>
            </a:r>
            <a:r>
              <a:rPr lang="ru-RU" sz="1400"/>
              <a:t>) найти пакет </a:t>
            </a:r>
            <a:r>
              <a:rPr lang="ru-RU" sz="1400"/>
              <a:t>name</a:t>
            </a:r>
            <a:r>
              <a:rPr lang="ru-RU" sz="1400"/>
              <a:t>, поддерживающий сборку системой cmake, и загрузить его объекты и переменные</a:t>
            </a:r>
            <a:r>
              <a:rPr lang="en-US" sz="1400"/>
              <a:t>;</a:t>
            </a:r>
            <a:endParaRPr/>
          </a:p>
          <a:p>
            <a:pPr>
              <a:defRPr/>
            </a:pPr>
            <a:r>
              <a:rPr lang="ru-RU" sz="1400"/>
              <a:t>set</a:t>
            </a:r>
            <a:r>
              <a:rPr lang="ru-RU" sz="1400"/>
              <a:t>(</a:t>
            </a:r>
            <a:r>
              <a:rPr lang="ru-RU" sz="1400"/>
              <a:t>name</a:t>
            </a:r>
            <a:r>
              <a:rPr lang="ru-RU" sz="1400"/>
              <a:t> </a:t>
            </a:r>
            <a:r>
              <a:rPr lang="ru-RU" sz="1400"/>
              <a:t>val</a:t>
            </a:r>
            <a:r>
              <a:rPr lang="ru-RU" sz="1400"/>
              <a:t>) установить в переменную </a:t>
            </a:r>
            <a:r>
              <a:rPr lang="ru-RU" sz="1400"/>
              <a:t>name</a:t>
            </a:r>
            <a:r>
              <a:rPr lang="ru-RU" sz="1400"/>
              <a:t> значение </a:t>
            </a:r>
            <a:r>
              <a:rPr lang="ru-RU" sz="1400"/>
              <a:t>val</a:t>
            </a:r>
            <a:r>
              <a:rPr lang="ru-RU" sz="1400"/>
              <a:t>;</a:t>
            </a:r>
            <a:endParaRPr/>
          </a:p>
          <a:p>
            <a:pPr>
              <a:defRPr/>
            </a:pPr>
            <a:r>
              <a:rPr lang="en-US" sz="1400"/>
              <a:t>add_definitions</a:t>
            </a:r>
            <a:r>
              <a:rPr lang="en-US" sz="1400"/>
              <a:t>(-</a:t>
            </a:r>
            <a:r>
              <a:rPr lang="en-US" sz="1400"/>
              <a:t>D”Option</a:t>
            </a:r>
            <a:r>
              <a:rPr lang="en-US" sz="1400"/>
              <a:t>”) </a:t>
            </a:r>
            <a:r>
              <a:rPr lang="ru-RU" sz="1400"/>
              <a:t>установить опцию </a:t>
            </a:r>
            <a:r>
              <a:rPr lang="en-US" sz="1400"/>
              <a:t>Option</a:t>
            </a:r>
            <a:r>
              <a:rPr lang="ru-RU" sz="1400"/>
              <a:t> для компилятора.</a:t>
            </a:r>
            <a:endParaRPr lang="en-US" sz="1400"/>
          </a:p>
          <a:p>
            <a:pPr marL="0" indent="0">
              <a:buNone/>
              <a:defRPr/>
            </a:pPr>
            <a:endParaRPr lang="ru-RU" sz="1400"/>
          </a:p>
          <a:p>
            <a:pPr marL="0" indent="0">
              <a:buNone/>
              <a:defRPr/>
            </a:pPr>
            <a:endParaRPr lang="ru-RU" sz="1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Основы </a:t>
            </a:r>
            <a:br>
              <a:rPr lang="en-US"/>
            </a:br>
            <a:r>
              <a:rPr lang="en-US"/>
              <a:t>Cmake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18447" y="814406"/>
            <a:ext cx="6281873" cy="5248622"/>
          </a:xfrm>
        </p:spPr>
        <p:txBody>
          <a:bodyPr anchor="t">
            <a:normAutofit/>
          </a:bodyPr>
          <a:lstStyle/>
          <a:p>
            <a:pPr marL="0" indent="0">
              <a:buNone/>
              <a:defRPr/>
            </a:pPr>
            <a:r>
              <a:rPr lang="ru-RU" sz="1400" b="1" i="1"/>
              <a:t>Пример </a:t>
            </a:r>
            <a:r>
              <a:rPr lang="en-US" sz="1400" b="1" i="1"/>
              <a:t>CmakeLists.txt </a:t>
            </a:r>
            <a:r>
              <a:rPr lang="ru-RU" sz="1400" b="1" i="1"/>
              <a:t>для простейшего проекта:</a:t>
            </a:r>
            <a:endParaRPr lang="en-US" sz="1400" b="1" i="1"/>
          </a:p>
          <a:p>
            <a:pPr marL="0" indent="0">
              <a:buNone/>
              <a:defRPr/>
            </a:pPr>
            <a:r>
              <a:rPr lang="ru-RU" sz="1400"/>
              <a:t>Исполняемый файл состоит из одного </a:t>
            </a:r>
            <a:r>
              <a:rPr lang="en-US" sz="1400"/>
              <a:t>main.cpp</a:t>
            </a:r>
            <a:r>
              <a:rPr lang="ru-RU" sz="1400"/>
              <a:t>.</a:t>
            </a:r>
            <a:endParaRPr lang="en-US" sz="1400"/>
          </a:p>
          <a:p>
            <a:pPr marL="0" indent="0">
              <a:buNone/>
              <a:defRPr/>
            </a:pPr>
            <a:endParaRPr lang="ru-RU" sz="1400" b="1"/>
          </a:p>
          <a:p>
            <a:pPr marL="0" indent="0">
              <a:buNone/>
              <a:defRPr/>
            </a:pPr>
            <a:endParaRPr lang="ru-RU" sz="1400" b="1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057943" y="1715687"/>
            <a:ext cx="5815055" cy="194787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057943" y="4044855"/>
            <a:ext cx="5815055" cy="22574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Основы </a:t>
            </a:r>
            <a:br>
              <a:rPr lang="en-US"/>
            </a:br>
            <a:r>
              <a:rPr lang="en-US"/>
              <a:t>Cmake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821121" y="607373"/>
            <a:ext cx="6281873" cy="5248622"/>
          </a:xfrm>
        </p:spPr>
        <p:txBody>
          <a:bodyPr anchor="t">
            <a:normAutofit/>
          </a:bodyPr>
          <a:lstStyle/>
          <a:p>
            <a:pPr marL="0" indent="0">
              <a:buNone/>
              <a:defRPr/>
            </a:pPr>
            <a:r>
              <a:rPr lang="ru-RU" sz="1400" b="1" i="1"/>
              <a:t>Пример </a:t>
            </a:r>
            <a:r>
              <a:rPr lang="en-US" sz="1400" b="1" i="1"/>
              <a:t>CmakeLists.txt </a:t>
            </a:r>
            <a:r>
              <a:rPr lang="ru-RU" sz="1400" b="1" i="1"/>
              <a:t>для простейшего проекта:</a:t>
            </a:r>
            <a:endParaRPr lang="en-US" sz="1400" b="1" i="1"/>
          </a:p>
          <a:p>
            <a:pPr marL="0" indent="0">
              <a:buNone/>
              <a:defRPr/>
            </a:pPr>
            <a:r>
              <a:rPr lang="ru-RU" sz="1400"/>
              <a:t>В проекте создается статическая библиотека </a:t>
            </a:r>
            <a:r>
              <a:rPr lang="en-US" sz="1400"/>
              <a:t>foo</a:t>
            </a:r>
            <a:r>
              <a:rPr lang="ru-RU" sz="1400"/>
              <a:t>, которая в дальнейшем подключается к исполняемому файлу </a:t>
            </a:r>
            <a:r>
              <a:rPr lang="en-US" sz="1400"/>
              <a:t>main.</a:t>
            </a:r>
            <a:endParaRPr/>
          </a:p>
          <a:p>
            <a:pPr marL="0" indent="0">
              <a:buNone/>
              <a:defRPr/>
            </a:pPr>
            <a:endParaRPr lang="ru-RU" sz="1400" b="1"/>
          </a:p>
          <a:p>
            <a:pPr marL="0" indent="0">
              <a:buNone/>
              <a:defRPr/>
            </a:pPr>
            <a:endParaRPr lang="ru-RU" sz="1400" b="1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21121" y="1918557"/>
            <a:ext cx="7115083" cy="188479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21121" y="3937745"/>
            <a:ext cx="2746091" cy="173724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654791" y="3937745"/>
            <a:ext cx="4474325" cy="16751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Основы </a:t>
            </a:r>
            <a:br>
              <a:rPr lang="en-US"/>
            </a:br>
            <a:r>
              <a:rPr lang="en-US"/>
              <a:t>Cmake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18447" y="814406"/>
            <a:ext cx="6281873" cy="524862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400" b="1" i="1"/>
              <a:t>Алгоритм сборки проекта с использованием </a:t>
            </a:r>
            <a:r>
              <a:rPr lang="en-US" sz="1400" b="1" i="1"/>
              <a:t>Cmake: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ru-RU" sz="1400"/>
              <a:t>Создать каталог сборки (например </a:t>
            </a:r>
            <a:r>
              <a:rPr lang="en-US" sz="1400"/>
              <a:t>build) </a:t>
            </a:r>
            <a:r>
              <a:rPr lang="ru-RU" sz="1400"/>
              <a:t>на уровне основного </a:t>
            </a:r>
            <a:r>
              <a:rPr lang="en-US" sz="1400"/>
              <a:t>CmakeLists.txt </a:t>
            </a:r>
            <a:r>
              <a:rPr lang="ru-RU" sz="1400"/>
              <a:t>и перейти в него.</a:t>
            </a:r>
            <a:endParaRPr lang="en-US" sz="1400"/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400"/>
              <a:t>cmake  -DCMAKE_BUILD_TYPE=Debug/Release </a:t>
            </a:r>
            <a:r>
              <a:rPr lang="ru-RU" sz="1400"/>
              <a:t>..</a:t>
            </a:r>
            <a:br>
              <a:rPr lang="ru-RU" sz="1400"/>
            </a:br>
            <a:r>
              <a:rPr lang="ru-RU" sz="1400"/>
              <a:t>Данная команда сгенерирует необходимые файлы для сборки проекта в соответствии с конфигурацией.</a:t>
            </a:r>
            <a:br>
              <a:rPr lang="en-US" sz="1400"/>
            </a:br>
            <a:r>
              <a:rPr lang="ru-RU" sz="1400"/>
              <a:t>Примечание: «..» предназначен для выполнения </a:t>
            </a:r>
            <a:r>
              <a:rPr lang="en-US" sz="1400"/>
              <a:t>CmakeLists.txt</a:t>
            </a:r>
            <a:r>
              <a:rPr lang="ru-RU" sz="1400"/>
              <a:t>, находящегося на уровень выше текущего положения.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400"/>
              <a:t>Cmake --build . –</a:t>
            </a:r>
            <a:r>
              <a:rPr lang="en-US" sz="1400"/>
              <a:t>jX</a:t>
            </a:r>
            <a:r>
              <a:rPr lang="en-US" sz="1400"/>
              <a:t> </a:t>
            </a:r>
            <a:br>
              <a:rPr lang="ru-RU" sz="1400"/>
            </a:br>
            <a:r>
              <a:rPr lang="ru-RU" sz="1400"/>
              <a:t>Х – максимальное количество одновременных процессов для использования при сборке.</a:t>
            </a:r>
            <a:endParaRPr/>
          </a:p>
          <a:p>
            <a:pPr marL="0" indent="0">
              <a:buNone/>
              <a:defRPr/>
            </a:pPr>
            <a:endParaRPr lang="en-US" sz="1400"/>
          </a:p>
          <a:p>
            <a:pPr marL="0" indent="0">
              <a:buNone/>
              <a:defRPr/>
            </a:pPr>
            <a:r>
              <a:rPr lang="ru-RU" sz="1400"/>
              <a:t>Современные </a:t>
            </a:r>
            <a:r>
              <a:rPr lang="en-US" sz="1400"/>
              <a:t>IDE </a:t>
            </a:r>
            <a:r>
              <a:rPr lang="ru-RU" sz="1400"/>
              <a:t>выполняют указанные операции автоматически!</a:t>
            </a:r>
            <a:endParaRPr/>
          </a:p>
          <a:p>
            <a:pPr marL="0" indent="0">
              <a:buNone/>
              <a:defRPr/>
            </a:pPr>
            <a:endParaRPr lang="ru-RU" sz="1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Системы контроля версий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18447" y="814406"/>
            <a:ext cx="6861517" cy="524862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400"/>
              <a:t>Системы контроля версий — это программные инструменты, помогающие командам разработчиков управлять изменениями в исходном коде с течением времени. В свете усложнения сред разработки они помогают командам разработчиков работать быстрее и эффективнее.</a:t>
            </a:r>
            <a:r>
              <a:rPr lang="ru-RU" sz="1400" baseline="30000"/>
              <a:t>1</a:t>
            </a:r>
            <a:r>
              <a:rPr lang="ru-RU" sz="1400"/>
              <a:t> </a:t>
            </a:r>
            <a:endParaRPr/>
          </a:p>
          <a:p>
            <a:pPr marL="0" indent="0">
              <a:buNone/>
              <a:defRPr/>
            </a:pPr>
            <a:endParaRPr lang="en-US" sz="1400" b="1" i="1"/>
          </a:p>
          <a:p>
            <a:pPr marL="0" indent="0">
              <a:buNone/>
              <a:defRPr/>
            </a:pPr>
            <a:r>
              <a:rPr lang="ru-RU" sz="1400" b="1" i="1"/>
              <a:t>Зачем нужны?</a:t>
            </a:r>
            <a:endParaRPr/>
          </a:p>
          <a:p>
            <a:pPr>
              <a:buFont typeface="Arial"/>
              <a:buChar char="•"/>
              <a:defRPr/>
            </a:pPr>
            <a:r>
              <a:rPr lang="ru-RU" sz="1400"/>
              <a:t>Хранение полной истории изменений</a:t>
            </a:r>
            <a:endParaRPr lang="en-US" sz="1400"/>
          </a:p>
          <a:p>
            <a:pPr>
              <a:buFont typeface="Arial"/>
              <a:buChar char="•"/>
              <a:defRPr/>
            </a:pPr>
            <a:r>
              <a:rPr lang="ru-RU" sz="1400"/>
              <a:t>Описание причин всех производимых изменений </a:t>
            </a:r>
            <a:endParaRPr lang="en-US" sz="1400"/>
          </a:p>
          <a:p>
            <a:pPr>
              <a:buFont typeface="Arial"/>
              <a:buChar char="•"/>
              <a:defRPr/>
            </a:pPr>
            <a:r>
              <a:rPr lang="ru-RU" sz="1400"/>
              <a:t>Отмена изменений, если что-то было сделано не так</a:t>
            </a:r>
            <a:endParaRPr lang="en-US" sz="1400"/>
          </a:p>
          <a:p>
            <a:pPr>
              <a:buFont typeface="Arial"/>
              <a:buChar char="•"/>
              <a:defRPr/>
            </a:pPr>
            <a:r>
              <a:rPr lang="ru-RU" sz="1400"/>
              <a:t>Поиск причин и ответственного за появление ошибки в программе</a:t>
            </a:r>
            <a:endParaRPr lang="en-US" sz="1400"/>
          </a:p>
          <a:p>
            <a:pPr>
              <a:buFont typeface="Arial"/>
              <a:buChar char="•"/>
              <a:defRPr/>
            </a:pPr>
            <a:r>
              <a:rPr lang="ru-RU" sz="1400"/>
              <a:t>Совместная работа нескольких разработчиков над одним проектом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ru-RU" sz="1400"/>
              <a:t>Возможность вносить изменения, не мешая работе других разработчиков</a:t>
            </a:r>
            <a:endParaRPr lang="ru-RU" sz="1400" b="1"/>
          </a:p>
          <a:p>
            <a:pPr marL="0" indent="0">
              <a:buNone/>
              <a:defRPr/>
            </a:pPr>
            <a:endParaRPr lang="ru-RU" sz="1400" b="1" i="1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>
          <a:xfrm>
            <a:off x="804671" y="6227064"/>
            <a:ext cx="11175293" cy="320040"/>
          </a:xfrm>
        </p:spPr>
        <p:txBody>
          <a:bodyPr/>
          <a:lstStyle/>
          <a:p>
            <a:pPr>
              <a:defRPr/>
            </a:pPr>
            <a:r>
              <a:rPr lang="ru-RU" baseline="30000"/>
              <a:t>1</a:t>
            </a:r>
            <a:r>
              <a:rPr lang="ru-RU"/>
              <a:t> - </a:t>
            </a:r>
            <a:r>
              <a:rPr lang="en-US"/>
              <a:t>https://www.atlassian.com/ru/git/tutorials/what-is-version-control#:~:text=%D0%A1%D0%B8%D1%81%D1%82%D0%B5%D0%BC%D1%8B%20%D0%BA%D0%BE%D0%BD%D1%82%D1%80%D0%BE%D0%BB%D1%8F%20%D0%B2%D0%B5%D1%80%D1%81%D0%B8%D0%B9%20%E2%80%94%20%D1%8D%D1%82%D0%BE%20%D0%BF%D1%80%D0%BE%D0%B3%D1%80%D0%B0%D0%BC%D0%BC%D0%BD%D1%8B%D0%B5,%D1%80%D0%B0%D0%B7%D1%80%D0%B0%D0%B1%D0%BE%D1%82%D1%87%D0%B8%D0%BA%D0%BE%D0%B2%20%D1%80%D0%B0%D0%B1%D0%BE%D1%82%D0%B0%D1%82%D1%8C%20%D0%B1%D1%8B%D1%81%D1%82%D1%80%D0%B5%D0%B5%20%D0%B8%20%D1%8D%D1%84%D1%84%D0%B5%D0%BA%D1%82%D0%B8%D0%B2%D0%BD%D0%B5%D0%B5.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Системы контроля версий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 bwMode="auto">
          <a:xfrm>
            <a:off x="4389829" y="880795"/>
            <a:ext cx="4188196" cy="685800"/>
          </a:xfrm>
        </p:spPr>
        <p:txBody>
          <a:bodyPr/>
          <a:lstStyle/>
          <a:p>
            <a:pPr>
              <a:defRPr/>
            </a:pPr>
            <a:r>
              <a:rPr lang="ru-RU"/>
              <a:t>Централизованные СКВ</a:t>
            </a:r>
            <a:endParaRPr/>
          </a:p>
        </p:txBody>
      </p:sp>
      <p:pic>
        <p:nvPicPr>
          <p:cNvPr id="10" name="Объект 9"/>
          <p:cNvPicPr>
            <a:picLocks noChangeAspect="1" noGrp="1"/>
          </p:cNvPicPr>
          <p:nvPr>
            <p:ph sz="half" idx="2"/>
          </p:nvPr>
        </p:nvPicPr>
        <p:blipFill>
          <a:blip r:embed="rId2"/>
          <a:stretch/>
        </p:blipFill>
        <p:spPr bwMode="auto">
          <a:xfrm>
            <a:off x="4742600" y="1978810"/>
            <a:ext cx="3137657" cy="2180672"/>
          </a:xfrm>
          <a:prstGeom prst="rect">
            <a:avLst/>
          </a:prstGeom>
        </p:spPr>
      </p:pic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 bwMode="auto">
          <a:xfrm>
            <a:off x="8494643" y="880795"/>
            <a:ext cx="6264414" cy="685800"/>
          </a:xfrm>
        </p:spPr>
        <p:txBody>
          <a:bodyPr/>
          <a:lstStyle/>
          <a:p>
            <a:pPr>
              <a:defRPr/>
            </a:pPr>
            <a:r>
              <a:rPr lang="ru-RU"/>
              <a:t>Распределенные СКВ</a:t>
            </a:r>
            <a:endParaRPr/>
          </a:p>
        </p:txBody>
      </p:sp>
      <p:pic>
        <p:nvPicPr>
          <p:cNvPr id="13" name="Объект 12"/>
          <p:cNvPicPr>
            <a:picLocks noChangeAspect="1" noGrp="1"/>
          </p:cNvPicPr>
          <p:nvPr>
            <p:ph sz="quarter" idx="4"/>
          </p:nvPr>
        </p:nvPicPr>
        <p:blipFill>
          <a:blip r:embed="rId3"/>
          <a:stretch/>
        </p:blipFill>
        <p:spPr bwMode="auto">
          <a:xfrm>
            <a:off x="8705921" y="1410072"/>
            <a:ext cx="2567987" cy="30754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 bwMode="auto">
          <a:xfrm>
            <a:off x="5125137" y="251791"/>
            <a:ext cx="2839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b="1" i="1"/>
              <a:t>Какие есть?</a:t>
            </a:r>
            <a:endParaRPr/>
          </a:p>
          <a:p>
            <a:pPr>
              <a:defRPr/>
            </a:pPr>
            <a:endParaRPr lang="ru-RU" sz="1400"/>
          </a:p>
        </p:txBody>
      </p:sp>
      <p:sp>
        <p:nvSpPr>
          <p:cNvPr id="11" name="TextBox 10"/>
          <p:cNvSpPr txBox="1"/>
          <p:nvPr/>
        </p:nvSpPr>
        <p:spPr bwMode="auto">
          <a:xfrm>
            <a:off x="4953081" y="4571697"/>
            <a:ext cx="27166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Примеры: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Subversion (SVN)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Perforce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CVS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endParaRPr lang="ru-RU"/>
          </a:p>
        </p:txBody>
      </p:sp>
      <p:sp>
        <p:nvSpPr>
          <p:cNvPr id="14" name="TextBox 13"/>
          <p:cNvSpPr txBox="1"/>
          <p:nvPr/>
        </p:nvSpPr>
        <p:spPr bwMode="auto">
          <a:xfrm>
            <a:off x="8631566" y="4571697"/>
            <a:ext cx="27166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Примеры: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Git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Mercurial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Bazaar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Системы контроля версий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 bwMode="auto">
          <a:xfrm>
            <a:off x="4433447" y="1223695"/>
            <a:ext cx="4061196" cy="685800"/>
          </a:xfrm>
        </p:spPr>
        <p:txBody>
          <a:bodyPr/>
          <a:lstStyle/>
          <a:p>
            <a:pPr>
              <a:defRPr/>
            </a:pPr>
            <a:r>
              <a:rPr lang="ru-RU"/>
              <a:t>Централизованные СКВ</a:t>
            </a:r>
            <a:endParaRPr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 bwMode="auto">
          <a:xfrm>
            <a:off x="8535576" y="1223695"/>
            <a:ext cx="6264414" cy="685800"/>
          </a:xfrm>
        </p:spPr>
        <p:txBody>
          <a:bodyPr/>
          <a:lstStyle/>
          <a:p>
            <a:pPr>
              <a:defRPr/>
            </a:pPr>
            <a:r>
              <a:rPr lang="ru-RU"/>
              <a:t>Распределенные СКВ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5125137" y="251791"/>
            <a:ext cx="2839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b="1" i="1"/>
              <a:t>Какие есть?</a:t>
            </a:r>
            <a:endParaRPr/>
          </a:p>
          <a:p>
            <a:pPr>
              <a:defRPr/>
            </a:pPr>
            <a:endParaRPr lang="ru-RU" sz="1400"/>
          </a:p>
        </p:txBody>
      </p:sp>
      <p:sp>
        <p:nvSpPr>
          <p:cNvPr id="7" name="Объект 6"/>
          <p:cNvSpPr>
            <a:spLocks noGrp="1"/>
          </p:cNvSpPr>
          <p:nvPr>
            <p:ph sz="half" idx="2"/>
          </p:nvPr>
        </p:nvSpPr>
        <p:spPr bwMode="auto">
          <a:xfrm>
            <a:off x="4709254" y="1977563"/>
            <a:ext cx="3422346" cy="444937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/>
              <a:t>Основной недостаток - единая точка отказа, представленная централизованным сервером</a:t>
            </a:r>
            <a:endParaRPr/>
          </a:p>
        </p:txBody>
      </p:sp>
      <p:sp>
        <p:nvSpPr>
          <p:cNvPr id="12" name="Объект 11"/>
          <p:cNvSpPr>
            <a:spLocks noGrp="1"/>
          </p:cNvSpPr>
          <p:nvPr>
            <p:ph sz="quarter" idx="4"/>
          </p:nvPr>
        </p:nvSpPr>
        <p:spPr bwMode="auto">
          <a:xfrm>
            <a:off x="8535576" y="1977563"/>
            <a:ext cx="3656424" cy="444937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/>
              <a:t>Лишен основного недостатка централизованных СВН, так как каждая копия репозитория является полным бэкапом всех данных.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Основы </a:t>
            </a:r>
            <a:r>
              <a:rPr lang="en-US"/>
              <a:t>GIT</a:t>
            </a:r>
            <a:endParaRPr lang="ru-RU"/>
          </a:p>
        </p:txBody>
      </p:sp>
      <p:sp>
        <p:nvSpPr>
          <p:cNvPr id="10" name="Текст 9"/>
          <p:cNvSpPr>
            <a:spLocks noGrp="1"/>
          </p:cNvSpPr>
          <p:nvPr>
            <p:ph type="body" idx="1"/>
          </p:nvPr>
        </p:nvSpPr>
        <p:spPr bwMode="auto">
          <a:xfrm>
            <a:off x="5125137" y="809811"/>
            <a:ext cx="6265088" cy="685800"/>
          </a:xfrm>
        </p:spPr>
        <p:txBody>
          <a:bodyPr/>
          <a:lstStyle/>
          <a:p>
            <a:pPr>
              <a:defRPr/>
            </a:pPr>
            <a:r>
              <a:rPr lang="en-US"/>
              <a:t>GIT</a:t>
            </a:r>
            <a:endParaRPr lang="ru-RU"/>
          </a:p>
        </p:txBody>
      </p:sp>
      <p:sp>
        <p:nvSpPr>
          <p:cNvPr id="17" name="Объект 16"/>
          <p:cNvSpPr>
            <a:spLocks noGrp="1"/>
          </p:cNvSpPr>
          <p:nvPr>
            <p:ph sz="half" idx="2"/>
          </p:nvPr>
        </p:nvSpPr>
        <p:spPr bwMode="auto">
          <a:xfrm>
            <a:off x="5125305" y="1488985"/>
            <a:ext cx="6264350" cy="328179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Наиболее популярная распределенная система контроля версий</a:t>
            </a:r>
            <a:endParaRPr/>
          </a:p>
          <a:p>
            <a:pPr>
              <a:defRPr/>
            </a:pPr>
            <a:r>
              <a:rPr lang="ru-RU"/>
              <a:t>Подробно рассмотрена в материалах первого семестра первого курса</a:t>
            </a:r>
            <a:endParaRPr/>
          </a:p>
          <a:p>
            <a:pPr>
              <a:defRPr/>
            </a:pPr>
            <a:r>
              <a:rPr lang="ru-RU"/>
              <a:t>В данной лекции – «освежаем память» по </a:t>
            </a:r>
            <a:r>
              <a:rPr lang="en-US"/>
              <a:t>GIT</a:t>
            </a:r>
            <a:endParaRPr/>
          </a:p>
          <a:p>
            <a:pPr>
              <a:defRPr/>
            </a:pPr>
            <a:r>
              <a:rPr lang="ru-RU"/>
              <a:t>Документация по </a:t>
            </a:r>
            <a:r>
              <a:rPr lang="en-US"/>
              <a:t>GIT</a:t>
            </a:r>
            <a:r>
              <a:rPr lang="ru-RU"/>
              <a:t> на русском языке</a:t>
            </a:r>
            <a:r>
              <a:rPr lang="en-US"/>
              <a:t>: </a:t>
            </a:r>
            <a:br>
              <a:rPr lang="en-US"/>
            </a:br>
            <a:r>
              <a:rPr lang="en-US"/>
              <a:t>https://git-scm.com/book/ru/v2/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Основы </a:t>
            </a:r>
            <a:r>
              <a:rPr lang="en-US"/>
              <a:t>GIT</a:t>
            </a:r>
            <a:endParaRPr lang="ru-RU"/>
          </a:p>
        </p:txBody>
      </p:sp>
      <p:sp>
        <p:nvSpPr>
          <p:cNvPr id="10" name="Текст 9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Состояния файлов в </a:t>
            </a:r>
            <a:r>
              <a:rPr lang="en-US"/>
              <a:t>GIT</a:t>
            </a:r>
            <a:endParaRPr lang="ru-RU"/>
          </a:p>
        </p:txBody>
      </p:sp>
      <p:pic>
        <p:nvPicPr>
          <p:cNvPr id="15" name="Объект 14"/>
          <p:cNvPicPr>
            <a:picLocks noChangeAspect="1" noGrp="1"/>
          </p:cNvPicPr>
          <p:nvPr>
            <p:ph sz="half" idx="2"/>
          </p:nvPr>
        </p:nvPicPr>
        <p:blipFill>
          <a:blip r:embed="rId2"/>
          <a:stretch/>
        </p:blipFill>
        <p:spPr bwMode="auto">
          <a:xfrm>
            <a:off x="5230880" y="1488985"/>
            <a:ext cx="6264275" cy="3453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Основы </a:t>
            </a:r>
            <a:r>
              <a:rPr lang="en-US"/>
              <a:t>GIT</a:t>
            </a:r>
            <a:endParaRPr lang="ru-RU"/>
          </a:p>
        </p:txBody>
      </p:sp>
      <p:sp>
        <p:nvSpPr>
          <p:cNvPr id="10" name="Текст 9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Жизненный цикл состояния файлов</a:t>
            </a:r>
            <a:endParaRPr/>
          </a:p>
        </p:txBody>
      </p:sp>
      <p:pic>
        <p:nvPicPr>
          <p:cNvPr id="7" name="Объект 6"/>
          <p:cNvPicPr>
            <a:picLocks noChangeAspect="1" noGrp="1"/>
          </p:cNvPicPr>
          <p:nvPr>
            <p:ph sz="half" idx="2"/>
          </p:nvPr>
        </p:nvPicPr>
        <p:blipFill>
          <a:blip r:embed="rId2"/>
          <a:stretch/>
        </p:blipFill>
        <p:spPr bwMode="auto">
          <a:xfrm>
            <a:off x="5178435" y="2065545"/>
            <a:ext cx="5819243" cy="24004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Основы </a:t>
            </a:r>
            <a:r>
              <a:rPr lang="en-US"/>
              <a:t>GIT</a:t>
            </a:r>
            <a:endParaRPr lang="ru-RU"/>
          </a:p>
        </p:txBody>
      </p:sp>
      <p:sp>
        <p:nvSpPr>
          <p:cNvPr id="10" name="Текст 9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Основные команды</a:t>
            </a:r>
            <a:endParaRPr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 bwMode="auto">
          <a:xfrm>
            <a:off x="5125305" y="1488985"/>
            <a:ext cx="6264350" cy="4341972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ru-RU"/>
              <a:t>Создание репозитория</a:t>
            </a:r>
            <a:br>
              <a:rPr lang="ru-RU"/>
            </a:br>
            <a:r>
              <a:rPr lang="en-US"/>
              <a:t>git init</a:t>
            </a:r>
            <a:endParaRPr lang="ru-RU"/>
          </a:p>
          <a:p>
            <a:pPr>
              <a:defRPr/>
            </a:pPr>
            <a:r>
              <a:rPr lang="ru-RU"/>
              <a:t>Клонирование репозитория</a:t>
            </a:r>
            <a:br>
              <a:rPr lang="en-US"/>
            </a:br>
            <a:r>
              <a:rPr lang="en-US"/>
              <a:t>git clone &lt;</a:t>
            </a:r>
            <a:r>
              <a:rPr lang="ru-RU"/>
              <a:t>Адрес репозитория</a:t>
            </a:r>
            <a:r>
              <a:rPr lang="en-US"/>
              <a:t>&gt;</a:t>
            </a:r>
            <a:endParaRPr lang="ru-RU"/>
          </a:p>
          <a:p>
            <a:pPr>
              <a:defRPr/>
            </a:pPr>
            <a:r>
              <a:rPr lang="ru-RU"/>
              <a:t>Состояние репозитория</a:t>
            </a:r>
            <a:br>
              <a:rPr lang="ru-RU"/>
            </a:br>
            <a:r>
              <a:rPr lang="en-US"/>
              <a:t>git status</a:t>
            </a:r>
            <a:endParaRPr lang="ru-RU"/>
          </a:p>
          <a:p>
            <a:pPr>
              <a:defRPr/>
            </a:pPr>
            <a:r>
              <a:rPr lang="ru-RU"/>
              <a:t>Добавление новых файлов в индекс</a:t>
            </a:r>
            <a:br>
              <a:rPr lang="en-US"/>
            </a:br>
            <a:r>
              <a:rPr lang="en-US"/>
              <a:t>git add &lt;</a:t>
            </a:r>
            <a:r>
              <a:rPr lang="ru-RU"/>
              <a:t>Имя файла</a:t>
            </a:r>
            <a:r>
              <a:rPr lang="en-US"/>
              <a:t>&gt;</a:t>
            </a:r>
            <a:endParaRPr lang="ru-RU"/>
          </a:p>
          <a:p>
            <a:pPr>
              <a:defRPr/>
            </a:pPr>
            <a:r>
              <a:rPr lang="ru-RU"/>
              <a:t>Удаление файлов из индекса</a:t>
            </a:r>
            <a:br>
              <a:rPr lang="ru-RU"/>
            </a:br>
            <a:r>
              <a:rPr lang="en-US"/>
              <a:t>git rm &lt;</a:t>
            </a:r>
            <a:r>
              <a:rPr lang="ru-RU"/>
              <a:t>Имя файла</a:t>
            </a:r>
            <a:r>
              <a:rPr lang="en-US"/>
              <a:t>&gt;</a:t>
            </a:r>
            <a:endParaRPr lang="ru-RU"/>
          </a:p>
          <a:p>
            <a:pPr>
              <a:defRPr/>
            </a:pPr>
            <a:r>
              <a:rPr lang="ru-RU"/>
              <a:t>Фиксация изменений</a:t>
            </a:r>
            <a:br>
              <a:rPr lang="ru-RU"/>
            </a:br>
            <a:r>
              <a:rPr lang="en-US"/>
              <a:t>git commit –m &lt;</a:t>
            </a:r>
            <a:r>
              <a:rPr lang="ru-RU"/>
              <a:t>Текст с описанием изменений</a:t>
            </a:r>
            <a:r>
              <a:rPr lang="en-US"/>
              <a:t>&gt;</a:t>
            </a:r>
            <a:endParaRPr lang="ru-RU"/>
          </a:p>
          <a:p>
            <a:pPr>
              <a:defRPr/>
            </a:pPr>
            <a:r>
              <a:rPr lang="ru-RU"/>
              <a:t>Добавление изменений в удаленный репозиторий</a:t>
            </a:r>
            <a:br>
              <a:rPr lang="ru-RU"/>
            </a:br>
            <a:r>
              <a:rPr lang="en-US"/>
              <a:t>git push</a:t>
            </a:r>
            <a:endParaRPr/>
          </a:p>
          <a:p>
            <a:pPr>
              <a:defRPr/>
            </a:pPr>
            <a:r>
              <a:rPr lang="ru-RU"/>
              <a:t>Получение актуальных данных из репозитория</a:t>
            </a:r>
            <a:br>
              <a:rPr lang="ru-RU"/>
            </a:br>
            <a:r>
              <a:rPr lang="en-US"/>
              <a:t>git pull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Основы </a:t>
            </a:r>
            <a:r>
              <a:rPr lang="en-US"/>
              <a:t>GIT</a:t>
            </a:r>
            <a:endParaRPr lang="ru-RU"/>
          </a:p>
        </p:txBody>
      </p:sp>
      <p:sp>
        <p:nvSpPr>
          <p:cNvPr id="10" name="Текст 9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Основные команды</a:t>
            </a:r>
            <a:endParaRPr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 bwMode="auto">
          <a:xfrm>
            <a:off x="5125305" y="1488985"/>
            <a:ext cx="6264350" cy="4341972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ru-RU"/>
              <a:t>Создание ветки</a:t>
            </a:r>
            <a:r>
              <a:rPr lang="en-US"/>
              <a:t> </a:t>
            </a:r>
            <a:r>
              <a:rPr lang="ru-RU"/>
              <a:t>и переход</a:t>
            </a:r>
            <a:br>
              <a:rPr lang="ru-RU"/>
            </a:br>
            <a:r>
              <a:rPr lang="en-US"/>
              <a:t>git</a:t>
            </a:r>
            <a:r>
              <a:rPr lang="en-US"/>
              <a:t> checkout –b &lt;</a:t>
            </a:r>
            <a:r>
              <a:rPr lang="ru-RU"/>
              <a:t>Название новой ветки</a:t>
            </a:r>
            <a:r>
              <a:rPr lang="en-US"/>
              <a:t>&gt;</a:t>
            </a:r>
            <a:br>
              <a:rPr lang="en-US"/>
            </a:br>
            <a:r>
              <a:rPr lang="en-US"/>
              <a:t>git</a:t>
            </a:r>
            <a:r>
              <a:rPr lang="en-US"/>
              <a:t> switch –c &lt;</a:t>
            </a:r>
            <a:r>
              <a:rPr lang="ru-RU"/>
              <a:t> Название новой ветки </a:t>
            </a:r>
            <a:r>
              <a:rPr lang="en-US"/>
              <a:t>&gt;</a:t>
            </a:r>
            <a:endParaRPr lang="ru-RU"/>
          </a:p>
          <a:p>
            <a:pPr>
              <a:defRPr/>
            </a:pPr>
            <a:r>
              <a:rPr lang="ru-RU"/>
              <a:t>Переход на другую ветку</a:t>
            </a:r>
            <a:br>
              <a:rPr lang="ru-RU"/>
            </a:br>
            <a:r>
              <a:rPr lang="en-US"/>
              <a:t>git</a:t>
            </a:r>
            <a:r>
              <a:rPr lang="en-US"/>
              <a:t> checkout &lt;</a:t>
            </a:r>
            <a:r>
              <a:rPr lang="ru-RU"/>
              <a:t>Название ветки</a:t>
            </a:r>
            <a:r>
              <a:rPr lang="en-US"/>
              <a:t>&gt;</a:t>
            </a:r>
            <a:br>
              <a:rPr lang="en-US"/>
            </a:br>
            <a:r>
              <a:rPr lang="en-US"/>
              <a:t>git</a:t>
            </a:r>
            <a:r>
              <a:rPr lang="en-US"/>
              <a:t> switch &lt;</a:t>
            </a:r>
            <a:r>
              <a:rPr lang="ru-RU"/>
              <a:t>Название ветки</a:t>
            </a:r>
            <a:r>
              <a:rPr lang="en-US"/>
              <a:t>&gt;</a:t>
            </a:r>
            <a:endParaRPr lang="ru-RU"/>
          </a:p>
          <a:p>
            <a:pPr marL="0" indent="0">
              <a:buNone/>
              <a:defRPr/>
            </a:pPr>
            <a:br>
              <a:rPr lang="ru-RU"/>
            </a:br>
            <a:r>
              <a:rPr lang="ru-RU"/>
              <a:t>Отличие между </a:t>
            </a:r>
            <a:r>
              <a:rPr lang="en-US"/>
              <a:t>git</a:t>
            </a:r>
            <a:r>
              <a:rPr lang="en-US"/>
              <a:t> checkout </a:t>
            </a:r>
            <a:r>
              <a:rPr lang="ru-RU"/>
              <a:t>и </a:t>
            </a:r>
            <a:r>
              <a:rPr lang="en-US"/>
              <a:t>git</a:t>
            </a:r>
            <a:r>
              <a:rPr lang="en-US"/>
              <a:t> switch</a:t>
            </a:r>
            <a:r>
              <a:rPr lang="ru-RU"/>
              <a:t>:</a:t>
            </a:r>
            <a:endParaRPr/>
          </a:p>
          <a:p>
            <a:pPr>
              <a:defRPr/>
            </a:pPr>
            <a:r>
              <a:rPr lang="en-US"/>
              <a:t>git</a:t>
            </a:r>
            <a:r>
              <a:rPr lang="en-US"/>
              <a:t> checkout </a:t>
            </a:r>
            <a:r>
              <a:rPr lang="ru-RU"/>
              <a:t>используется при переключение веток</a:t>
            </a:r>
            <a:r>
              <a:rPr lang="en-US"/>
              <a:t>/</a:t>
            </a:r>
            <a:r>
              <a:rPr lang="ru-RU"/>
              <a:t>для отката изменений в определенном файле</a:t>
            </a:r>
            <a:br>
              <a:rPr lang="ru-RU"/>
            </a:br>
            <a:endParaRPr lang="ru-RU"/>
          </a:p>
          <a:p>
            <a:pPr>
              <a:defRPr/>
            </a:pPr>
            <a:r>
              <a:rPr lang="ru-RU"/>
              <a:t>В новых версиях </a:t>
            </a:r>
            <a:r>
              <a:rPr lang="en-US"/>
              <a:t>git</a:t>
            </a:r>
            <a:r>
              <a:rPr lang="en-US"/>
              <a:t> </a:t>
            </a:r>
            <a:r>
              <a:rPr lang="ru-RU"/>
              <a:t>функционал </a:t>
            </a:r>
            <a:r>
              <a:rPr lang="en-US"/>
              <a:t>checkout </a:t>
            </a:r>
            <a:r>
              <a:rPr lang="ru-RU"/>
              <a:t>разделен на:</a:t>
            </a:r>
            <a:endParaRPr/>
          </a:p>
          <a:p>
            <a:pPr lvl="1">
              <a:defRPr/>
            </a:pPr>
            <a:r>
              <a:rPr lang="en-US"/>
              <a:t>git</a:t>
            </a:r>
            <a:r>
              <a:rPr lang="en-US"/>
              <a:t> switch – </a:t>
            </a:r>
            <a:r>
              <a:rPr lang="ru-RU"/>
              <a:t>работа с ветками;</a:t>
            </a:r>
            <a:endParaRPr/>
          </a:p>
          <a:p>
            <a:pPr lvl="1">
              <a:defRPr/>
            </a:pPr>
            <a:r>
              <a:rPr lang="en-US"/>
              <a:t>git</a:t>
            </a:r>
            <a:r>
              <a:rPr lang="en-US"/>
              <a:t> restore – </a:t>
            </a:r>
            <a:r>
              <a:rPr lang="ru-RU"/>
              <a:t>работа с файлами.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Основы </a:t>
            </a:r>
            <a:r>
              <a:rPr lang="en-US"/>
              <a:t>GIT</a:t>
            </a:r>
            <a:endParaRPr lang="ru-RU"/>
          </a:p>
        </p:txBody>
      </p:sp>
      <p:sp>
        <p:nvSpPr>
          <p:cNvPr id="10" name="Текст 9"/>
          <p:cNvSpPr>
            <a:spLocks noGrp="1"/>
          </p:cNvSpPr>
          <p:nvPr>
            <p:ph type="body" idx="1"/>
          </p:nvPr>
        </p:nvSpPr>
        <p:spPr bwMode="auto">
          <a:xfrm>
            <a:off x="4998968" y="281469"/>
            <a:ext cx="6265088" cy="685800"/>
          </a:xfrm>
        </p:spPr>
        <p:txBody>
          <a:bodyPr/>
          <a:lstStyle/>
          <a:p>
            <a:pPr>
              <a:defRPr/>
            </a:pPr>
            <a:r>
              <a:rPr lang="en-US"/>
              <a:t>REBASE/MERGE/CHERRY-PICK</a:t>
            </a:r>
            <a:endParaRPr lang="ru-RU"/>
          </a:p>
        </p:txBody>
      </p:sp>
      <p:pic>
        <p:nvPicPr>
          <p:cNvPr id="13" name="Объект 12"/>
          <p:cNvPicPr>
            <a:picLocks noChangeAspect="1" noGrp="1"/>
          </p:cNvPicPr>
          <p:nvPr>
            <p:ph sz="half" idx="2"/>
          </p:nvPr>
        </p:nvPicPr>
        <p:blipFill>
          <a:blip r:embed="rId2"/>
          <a:stretch/>
        </p:blipFill>
        <p:spPr bwMode="auto">
          <a:xfrm>
            <a:off x="5073393" y="886099"/>
            <a:ext cx="5554850" cy="1940141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073393" y="2618340"/>
            <a:ext cx="5554850" cy="2123386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073393" y="4741726"/>
            <a:ext cx="5788302" cy="20531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Методологии разработки	</a:t>
            </a:r>
            <a:endParaRPr/>
          </a:p>
        </p:txBody>
      </p:sp>
      <p:sp>
        <p:nvSpPr>
          <p:cNvPr id="7" name="Текст 6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Классические (</a:t>
            </a:r>
            <a:r>
              <a:rPr lang="en-US"/>
              <a:t>WAterfall</a:t>
            </a:r>
            <a:r>
              <a:rPr lang="ru-RU"/>
              <a:t>)</a:t>
            </a:r>
            <a:endParaRPr/>
          </a:p>
        </p:txBody>
      </p:sp>
      <p:pic>
        <p:nvPicPr>
          <p:cNvPr id="20" name="Объект 19"/>
          <p:cNvPicPr>
            <a:picLocks noChangeAspect="1" noGrp="1"/>
          </p:cNvPicPr>
          <p:nvPr>
            <p:ph sz="half" idx="2"/>
          </p:nvPr>
        </p:nvPicPr>
        <p:blipFill>
          <a:blip r:embed="rId2"/>
          <a:stretch/>
        </p:blipFill>
        <p:spPr bwMode="auto">
          <a:xfrm>
            <a:off x="5125137" y="1326265"/>
            <a:ext cx="3170724" cy="2442752"/>
          </a:xfrm>
          <a:prstGeom prst="rect">
            <a:avLst/>
          </a:prstGeom>
        </p:spPr>
      </p:pic>
      <p:sp>
        <p:nvSpPr>
          <p:cNvPr id="9" name="Текст 8"/>
          <p:cNvSpPr>
            <a:spLocks noGrp="1"/>
          </p:cNvSpPr>
          <p:nvPr>
            <p:ph type="body" sz="quarter" idx="3"/>
          </p:nvPr>
        </p:nvSpPr>
        <p:spPr bwMode="auto">
          <a:xfrm>
            <a:off x="5125811" y="3665887"/>
            <a:ext cx="6264414" cy="685800"/>
          </a:xfrm>
        </p:spPr>
        <p:txBody>
          <a:bodyPr/>
          <a:lstStyle/>
          <a:p>
            <a:pPr>
              <a:defRPr/>
            </a:pPr>
            <a:r>
              <a:rPr lang="ru-RU"/>
              <a:t>Гибкие </a:t>
            </a:r>
            <a:endParaRPr/>
          </a:p>
        </p:txBody>
      </p:sp>
      <p:pic>
        <p:nvPicPr>
          <p:cNvPr id="22" name="Объект 21"/>
          <p:cNvPicPr>
            <a:picLocks noChangeAspect="1" noGrp="1"/>
          </p:cNvPicPr>
          <p:nvPr>
            <p:ph sz="quarter" idx="4"/>
          </p:nvPr>
        </p:nvPicPr>
        <p:blipFill>
          <a:blip r:embed="rId3"/>
          <a:stretch/>
        </p:blipFill>
        <p:spPr bwMode="auto">
          <a:xfrm>
            <a:off x="5125137" y="4240945"/>
            <a:ext cx="5635628" cy="2480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Методологии разработки	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4 ценности </a:t>
            </a:r>
            <a:r>
              <a:rPr lang="en-US"/>
              <a:t>AGILE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 bwMode="auto">
          <a:xfrm>
            <a:off x="4916557" y="1488985"/>
            <a:ext cx="6891130" cy="4666650"/>
          </a:xfrm>
        </p:spPr>
        <p:txBody>
          <a:bodyPr>
            <a:normAutofit fontScale="77500" lnSpcReduction="20000"/>
          </a:bodyPr>
          <a:lstStyle/>
          <a:p>
            <a:pPr algn="l">
              <a:buFont typeface="+mj-lt"/>
              <a:buAutoNum type="arabicPeriod"/>
              <a:defRPr/>
            </a:pPr>
            <a:r>
              <a:rPr lang="ru-RU" b="1" i="0">
                <a:solidFill>
                  <a:srgbClr val="575757"/>
                </a:solidFill>
              </a:rPr>
              <a:t>Люди и взаимодействие важнее процессов и инструментов</a:t>
            </a:r>
            <a:br>
              <a:rPr lang="ru-RU" b="0" i="0">
                <a:solidFill>
                  <a:srgbClr val="676767"/>
                </a:solidFill>
              </a:rPr>
            </a:br>
            <a:r>
              <a:rPr lang="ru-RU" b="0" i="0">
                <a:solidFill>
                  <a:srgbClr val="676767"/>
                </a:solidFill>
              </a:rPr>
              <a:t>То, что общение и межличностные отношения важнее, чем строгие процессы — краеугольный камень </a:t>
            </a:r>
            <a:r>
              <a:rPr lang="ru-RU" b="0" i="0">
                <a:solidFill>
                  <a:srgbClr val="676767"/>
                </a:solidFill>
              </a:rPr>
              <a:t>Agile</a:t>
            </a:r>
            <a:r>
              <a:rPr lang="ru-RU" b="0" i="0">
                <a:solidFill>
                  <a:srgbClr val="676767"/>
                </a:solidFill>
              </a:rPr>
              <a:t>-управления проектами. </a:t>
            </a:r>
            <a:r>
              <a:rPr lang="ru-RU" b="0" i="0">
                <a:solidFill>
                  <a:srgbClr val="676767"/>
                </a:solidFill>
              </a:rPr>
              <a:t>Agile</a:t>
            </a:r>
            <a:r>
              <a:rPr lang="ru-RU" b="0" i="0">
                <a:solidFill>
                  <a:srgbClr val="676767"/>
                </a:solidFill>
              </a:rPr>
              <a:t> рекомендует персонализированный подход к управлению проектами, когда команды ориентируются на постоянное общение, а не на жестко распланированный выпуск обновлений.</a:t>
            </a:r>
            <a:endParaRPr/>
          </a:p>
          <a:p>
            <a:pPr algn="l">
              <a:buFont typeface="+mj-lt"/>
              <a:buAutoNum type="arabicPeriod"/>
              <a:defRPr/>
            </a:pPr>
            <a:r>
              <a:rPr lang="ru-RU" b="1" i="0">
                <a:solidFill>
                  <a:srgbClr val="575757"/>
                </a:solidFill>
              </a:rPr>
              <a:t>Работающий продукт важнее исчерпывающей документации</a:t>
            </a:r>
            <a:br>
              <a:rPr lang="ru-RU" b="0" i="0">
                <a:solidFill>
                  <a:srgbClr val="676767"/>
                </a:solidFill>
              </a:rPr>
            </a:br>
            <a:r>
              <a:rPr lang="ru-RU" b="0" i="0">
                <a:solidFill>
                  <a:srgbClr val="676767"/>
                </a:solidFill>
              </a:rPr>
              <a:t>Agile</a:t>
            </a:r>
            <a:r>
              <a:rPr lang="ru-RU" b="0" i="0">
                <a:solidFill>
                  <a:srgbClr val="676767"/>
                </a:solidFill>
              </a:rPr>
              <a:t>-команды не очень любят бумажную работу. Для управления данными, отчетами и обновлениями статуса они предпочитают использовать гибкие программные решения, а не традиционную документацию.</a:t>
            </a:r>
            <a:endParaRPr/>
          </a:p>
          <a:p>
            <a:pPr algn="l">
              <a:buFont typeface="+mj-lt"/>
              <a:buAutoNum type="arabicPeriod"/>
              <a:defRPr/>
            </a:pPr>
            <a:r>
              <a:rPr lang="ru-RU" b="1" i="0">
                <a:solidFill>
                  <a:srgbClr val="575757"/>
                </a:solidFill>
              </a:rPr>
              <a:t>Сотрудничество с заказчиком важнее согласования условий контракта</a:t>
            </a:r>
            <a:br>
              <a:rPr lang="ru-RU" b="0" i="0">
                <a:solidFill>
                  <a:srgbClr val="676767"/>
                </a:solidFill>
              </a:rPr>
            </a:br>
            <a:r>
              <a:rPr lang="ru-RU" b="0" i="0">
                <a:solidFill>
                  <a:srgbClr val="676767"/>
                </a:solidFill>
              </a:rPr>
              <a:t>Agile</a:t>
            </a:r>
            <a:r>
              <a:rPr lang="ru-RU" b="0" i="0">
                <a:solidFill>
                  <a:srgbClr val="676767"/>
                </a:solidFill>
              </a:rPr>
              <a:t>-команды любят сотрудничество — включая регулярные обновления и обратную связь о том, как продвигается проект, от клиентов и заинтересованных сторон. Чего </a:t>
            </a:r>
            <a:r>
              <a:rPr lang="ru-RU" b="0" i="0">
                <a:solidFill>
                  <a:srgbClr val="676767"/>
                </a:solidFill>
              </a:rPr>
              <a:t>Agile</a:t>
            </a:r>
            <a:r>
              <a:rPr lang="ru-RU" b="0" i="0">
                <a:solidFill>
                  <a:srgbClr val="676767"/>
                </a:solidFill>
              </a:rPr>
              <a:t>-команды не любят, так это долгих согласований объемных контрактов.</a:t>
            </a:r>
            <a:endParaRPr/>
          </a:p>
          <a:p>
            <a:pPr algn="l">
              <a:buFont typeface="+mj-lt"/>
              <a:buAutoNum type="arabicPeriod"/>
              <a:defRPr/>
            </a:pPr>
            <a:r>
              <a:rPr lang="ru-RU" b="1" i="0">
                <a:solidFill>
                  <a:srgbClr val="575757"/>
                </a:solidFill>
              </a:rPr>
              <a:t>Готовность к изменениям важнее следования первоначальному плану</a:t>
            </a:r>
            <a:br>
              <a:rPr lang="ru-RU" b="0" i="0">
                <a:solidFill>
                  <a:srgbClr val="676767"/>
                </a:solidFill>
              </a:rPr>
            </a:br>
            <a:r>
              <a:rPr lang="ru-RU" b="0" i="0">
                <a:solidFill>
                  <a:srgbClr val="676767"/>
                </a:solidFill>
              </a:rPr>
              <a:t>Эта ценность прежде всего характеризует </a:t>
            </a:r>
            <a:r>
              <a:rPr lang="ru-RU" b="0" i="0">
                <a:solidFill>
                  <a:srgbClr val="676767"/>
                </a:solidFill>
              </a:rPr>
              <a:t>Agile</a:t>
            </a:r>
            <a:r>
              <a:rPr lang="ru-RU" b="0" i="0">
                <a:solidFill>
                  <a:srgbClr val="676767"/>
                </a:solidFill>
              </a:rPr>
              <a:t>-управление проектами. </a:t>
            </a:r>
            <a:r>
              <a:rPr lang="ru-RU" b="0" i="0">
                <a:solidFill>
                  <a:srgbClr val="676767"/>
                </a:solidFill>
              </a:rPr>
              <a:t>Agile</a:t>
            </a:r>
            <a:r>
              <a:rPr lang="ru-RU" b="0" i="0">
                <a:solidFill>
                  <a:srgbClr val="676767"/>
                </a:solidFill>
              </a:rPr>
              <a:t>-команды чутко реагируют на изменения и успешно адаптируются к новым условиям и вызовам.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Методологии разработки	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 bwMode="auto">
          <a:xfrm>
            <a:off x="5150537" y="168165"/>
            <a:ext cx="6265088" cy="685800"/>
          </a:xfrm>
        </p:spPr>
        <p:txBody>
          <a:bodyPr/>
          <a:lstStyle/>
          <a:p>
            <a:pPr>
              <a:defRPr/>
            </a:pPr>
            <a:r>
              <a:rPr lang="ru-RU"/>
              <a:t>Методики на базе </a:t>
            </a:r>
            <a:r>
              <a:rPr lang="en-US"/>
              <a:t>AGILE</a:t>
            </a:r>
            <a:endParaRPr lang="ru-RU"/>
          </a:p>
        </p:txBody>
      </p:sp>
      <p:graphicFrame>
        <p:nvGraphicFramePr>
          <p:cNvPr id="3" name="Объект 2"/>
          <p:cNvGraphicFramePr>
            <a:graphicFrameLocks xmlns:a="http://schemas.openxmlformats.org/drawingml/2006/main" noGrp="1"/>
          </p:cNvGraphicFramePr>
          <p:nvPr>
            <p:ph sz="half" idx="2"/>
          </p:nvPr>
        </p:nvGraphicFramePr>
        <p:xfrm>
          <a:off x="4766427" y="853965"/>
          <a:ext cx="6679095" cy="5707398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421865"/>
                <a:gridCol w="2088114"/>
                <a:gridCol w="2169115"/>
              </a:tblGrid>
              <a:tr h="212489">
                <a:tc>
                  <a:txBody>
                    <a:bodyPr/>
                    <a:p>
                      <a:pPr algn="ctr">
                        <a:defRPr/>
                      </a:pPr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74" marR="7274" marT="7274" marB="7274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+mn-lt"/>
                        </a:rPr>
                        <a:t>Scrum</a:t>
                      </a:r>
                      <a:endParaRPr/>
                    </a:p>
                  </a:txBody>
                  <a:tcPr marL="7274" marR="7274" marT="7274" marB="7274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+mn-lt"/>
                        </a:rPr>
                        <a:t>Kanban</a:t>
                      </a:r>
                      <a:endParaRPr/>
                    </a:p>
                  </a:txBody>
                  <a:tcPr marL="7274" marR="7274" marT="7274" marB="7274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</a:tr>
              <a:tr h="42497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+mn-lt"/>
                        </a:rPr>
                        <a:t>Источник</a:t>
                      </a:r>
                      <a:endParaRPr/>
                    </a:p>
                  </a:txBody>
                  <a:tcPr marL="14549" marR="14549" marT="14549" marB="14549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+mn-lt"/>
                        </a:rPr>
                        <a:t>Разработка программного обеспечения</a:t>
                      </a:r>
                      <a:endParaRPr/>
                    </a:p>
                  </a:txBody>
                  <a:tcPr marL="14549" marR="14549" marT="14549" marB="14549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+mn-lt"/>
                        </a:rPr>
                        <a:t>Бережливое производство</a:t>
                      </a:r>
                      <a:endParaRPr/>
                    </a:p>
                  </a:txBody>
                  <a:tcPr marL="14549" marR="14549" marT="14549" marB="14549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1853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+mn-lt"/>
                        </a:rPr>
                        <a:t>Основная идея</a:t>
                      </a:r>
                      <a:endParaRPr/>
                    </a:p>
                  </a:txBody>
                  <a:tcPr marL="14549" marR="14549" marT="14549" marB="14549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+mn-lt"/>
                        </a:rPr>
                        <a:t>Учиться на собственном опыте, самоорганизовываться и расставлять приоритеты, анализировать свои победы и поражения, чтобы постоянно совершенствоваться.</a:t>
                      </a:r>
                      <a:endParaRPr/>
                    </a:p>
                  </a:txBody>
                  <a:tcPr marL="14549" marR="14549" marT="14549" marB="14549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+mn-lt"/>
                        </a:rPr>
                        <a:t>Повышать качество выполняемой работы с помощью наглядных материалов</a:t>
                      </a:r>
                      <a:endParaRPr/>
                    </a:p>
                  </a:txBody>
                  <a:tcPr marL="14549" marR="14549" marT="14549" marB="14549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83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+mn-lt"/>
                        </a:rPr>
                        <a:t>График</a:t>
                      </a:r>
                      <a:endParaRPr/>
                    </a:p>
                  </a:txBody>
                  <a:tcPr marL="14549" marR="14549" marT="14549" marB="14549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+mn-lt"/>
                        </a:rPr>
                        <a:t>Регулярные спринты фиксированной продолжительности (например, 2 недели)</a:t>
                      </a:r>
                      <a:endParaRPr/>
                    </a:p>
                  </a:txBody>
                  <a:tcPr marL="14549" marR="14549" marT="14549" marB="14549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+mn-lt"/>
                        </a:rPr>
                        <a:t>Непрерывный процесс</a:t>
                      </a:r>
                      <a:endParaRPr/>
                    </a:p>
                  </a:txBody>
                  <a:tcPr marL="14549" marR="14549" marT="14549" marB="14549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9126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+mn-lt"/>
                        </a:rPr>
                        <a:t>Методы</a:t>
                      </a:r>
                      <a:endParaRPr/>
                    </a:p>
                  </a:txBody>
                  <a:tcPr marL="14549" marR="14549" marT="14549" marB="14549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+mn-lt"/>
                        </a:rPr>
                        <a:t>Планирование спринтов, спринт, ежедневное Scrum-совещание, обзор спринта, ретроспектива спринта</a:t>
                      </a:r>
                      <a:endParaRPr/>
                    </a:p>
                  </a:txBody>
                  <a:tcPr marL="14549" marR="14549" marT="14549" marB="14549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+mn-lt"/>
                        </a:rPr>
                        <a:t>Визуализация процесса работы, ограничение объемов незавершенной работы, управление процессом, включение циклов обратной связи</a:t>
                      </a:r>
                      <a:endParaRPr/>
                    </a:p>
                  </a:txBody>
                  <a:tcPr marL="14549" marR="14549" marT="14549" marB="14549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8266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+mn-lt"/>
                        </a:rPr>
                        <a:t>Роли</a:t>
                      </a:r>
                      <a:endParaRPr/>
                    </a:p>
                  </a:txBody>
                  <a:tcPr marL="14549" marR="14549" marT="14549" marB="14549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+mn-lt"/>
                        </a:rPr>
                        <a:t>Владелец продукта, Scrum-мастер, команда разработчиков</a:t>
                      </a:r>
                      <a:endParaRPr/>
                    </a:p>
                  </a:txBody>
                  <a:tcPr marL="14549" marR="14549" marT="14549" marB="14549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+mn-lt"/>
                        </a:rPr>
                        <a:t>Нет обязательных ролей</a:t>
                      </a:r>
                      <a:endParaRPr/>
                    </a:p>
                  </a:txBody>
                  <a:tcPr marL="14549" marR="14549" marT="14549" marB="14549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Системы отслеживания  задач</a:t>
            </a:r>
            <a:endParaRPr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b="1"/>
              <a:t>Зачем нужны?</a:t>
            </a:r>
            <a:endParaRPr lang="en-US" b="1" i="0"/>
          </a:p>
          <a:p>
            <a:pPr marL="0" indent="0">
              <a:buNone/>
              <a:defRPr/>
            </a:pPr>
            <a:r>
              <a:rPr lang="ru-RU"/>
              <a:t>Используются для разработки в соответствии с жизненным циклом ПО.</a:t>
            </a:r>
            <a:endParaRPr/>
          </a:p>
          <a:p>
            <a:pPr marL="0" indent="0">
              <a:buNone/>
              <a:defRPr/>
            </a:pPr>
            <a:r>
              <a:rPr lang="ru-RU"/>
              <a:t>Каждый участник разработки видит статус задачи (Аналитика ➜Дизайн ➜</a:t>
            </a:r>
            <a:r>
              <a:rPr lang="en-US"/>
              <a:t> </a:t>
            </a:r>
            <a:r>
              <a:rPr lang="ru-RU"/>
              <a:t>Разработка ➜</a:t>
            </a:r>
            <a:r>
              <a:rPr lang="en-US"/>
              <a:t> </a:t>
            </a:r>
            <a:r>
              <a:rPr lang="ru-RU"/>
              <a:t>Тестирование ➜</a:t>
            </a:r>
            <a:r>
              <a:rPr lang="en-US"/>
              <a:t> </a:t>
            </a:r>
            <a:r>
              <a:rPr lang="ru-RU"/>
              <a:t>Завершение)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Системы отслеживания  задач</a:t>
            </a:r>
            <a:endParaRPr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Существует великое множество систем отслеживания задач</a:t>
            </a:r>
            <a:r>
              <a:rPr lang="en-US"/>
              <a:t> </a:t>
            </a:r>
            <a:endParaRPr/>
          </a:p>
          <a:p>
            <a:pPr marL="0" indent="0">
              <a:buNone/>
              <a:defRPr/>
            </a:pPr>
            <a:r>
              <a:rPr lang="ru-RU"/>
              <a:t>Наиболее популярные из них</a:t>
            </a:r>
            <a:r>
              <a:rPr lang="en-US"/>
              <a:t> </a:t>
            </a:r>
            <a:r>
              <a:rPr lang="ru-RU"/>
              <a:t>в коммерческой работе</a:t>
            </a:r>
            <a:r>
              <a:rPr lang="en-US"/>
              <a:t>:</a:t>
            </a:r>
            <a:endParaRPr lang="ru-RU"/>
          </a:p>
          <a:p>
            <a:pPr algn="l">
              <a:buFont typeface="Arial"/>
              <a:buChar char="•"/>
              <a:defRPr/>
            </a:pPr>
            <a:r>
              <a:rPr lang="en-US" i="0"/>
              <a:t>Jira;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en-US" i="0" u="none" strike="noStrike"/>
              <a:t>Azure DevOps Server</a:t>
            </a:r>
            <a:r>
              <a:rPr lang="en-US" u="none" strike="noStrike"/>
              <a:t>;</a:t>
            </a:r>
            <a:endParaRPr lang="en-US" i="0"/>
          </a:p>
          <a:p>
            <a:pPr algn="l">
              <a:buFont typeface="Arial"/>
              <a:buChar char="•"/>
              <a:defRPr/>
            </a:pPr>
            <a:r>
              <a:rPr lang="en-US" i="0" u="none" strike="noStrike"/>
              <a:t>YouTrack</a:t>
            </a:r>
            <a:r>
              <a:rPr lang="en-US" u="none" strike="noStrike"/>
              <a:t>.</a:t>
            </a:r>
            <a:endParaRPr/>
          </a:p>
          <a:p>
            <a:pPr algn="l">
              <a:buFont typeface="Arial"/>
              <a:buChar char="•"/>
              <a:defRPr/>
            </a:pPr>
            <a:endParaRPr lang="en-US" i="0"/>
          </a:p>
          <a:p>
            <a:pPr marL="0" indent="0" algn="l">
              <a:buNone/>
              <a:defRPr/>
            </a:pPr>
            <a:r>
              <a:rPr lang="ru-RU"/>
              <a:t>Все из них содержат </a:t>
            </a:r>
            <a:r>
              <a:rPr lang="en-US"/>
              <a:t>Scrum/Kanban </a:t>
            </a:r>
            <a:r>
              <a:rPr lang="ru-RU"/>
              <a:t>доски.</a:t>
            </a:r>
            <a:endParaRPr lang="en-US" i="0"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Базы знаний</a:t>
            </a:r>
            <a:endParaRPr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ru-RU" b="1"/>
              <a:t>Зачем нужны?</a:t>
            </a:r>
            <a:endParaRPr/>
          </a:p>
          <a:p>
            <a:pPr marL="0" indent="0">
              <a:buNone/>
              <a:defRPr/>
            </a:pPr>
            <a:r>
              <a:rPr lang="ru-RU"/>
              <a:t>Различные команды разрабатывают один большой продукт.</a:t>
            </a:r>
            <a:endParaRPr/>
          </a:p>
          <a:p>
            <a:pPr marL="0" indent="0">
              <a:buNone/>
              <a:defRPr/>
            </a:pPr>
            <a:r>
              <a:rPr lang="ru-RU"/>
              <a:t>Вопросы: 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ru-RU"/>
              <a:t>Как оформлять файлы сборки?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ru-RU"/>
              <a:t>Как стыковаться с соседними модулями? (протокол обмена, частота выдачи и т.п.)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ru-RU"/>
              <a:t>Какой стек технологий у команд?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/>
              <a:t>Решение: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ru-RU"/>
              <a:t>Традиционное: бегать по руководителям команд и узнавать у них, проводить дополнительные встречи, что приводит к дополнительным тратам рабочего времени у участников обоих команд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ru-RU"/>
              <a:t>Быстрое: найти информацию в базе знаний и ознакомиться. 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Базы знаний</a:t>
            </a:r>
            <a:endParaRPr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Существует великое множество баз знаний</a:t>
            </a:r>
            <a:endParaRPr lang="en-US"/>
          </a:p>
          <a:p>
            <a:pPr marL="0" indent="0">
              <a:buNone/>
              <a:defRPr/>
            </a:pPr>
            <a:r>
              <a:rPr lang="ru-RU"/>
              <a:t>Наиболее популярные из них</a:t>
            </a:r>
            <a:r>
              <a:rPr lang="en-US"/>
              <a:t> </a:t>
            </a:r>
            <a:r>
              <a:rPr lang="ru-RU"/>
              <a:t>в коммерческой работе</a:t>
            </a:r>
            <a:r>
              <a:rPr lang="en-US"/>
              <a:t>:</a:t>
            </a:r>
            <a:endParaRPr lang="ru-RU"/>
          </a:p>
          <a:p>
            <a:pPr algn="l">
              <a:buFont typeface="Arial"/>
              <a:buChar char="•"/>
              <a:defRPr/>
            </a:pPr>
            <a:r>
              <a:rPr lang="en-US"/>
              <a:t>Confluence</a:t>
            </a:r>
            <a:r>
              <a:rPr lang="en-US" i="0"/>
              <a:t>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en-US" i="0" u="none" strike="noStrike"/>
              <a:t>YouTrack</a:t>
            </a:r>
            <a:r>
              <a:rPr lang="en-US" u="none" strike="noStrike"/>
              <a:t>.</a:t>
            </a:r>
            <a:endParaRPr/>
          </a:p>
          <a:p>
            <a:pPr algn="l">
              <a:buFont typeface="Arial"/>
              <a:buChar char="•"/>
              <a:defRPr/>
            </a:pPr>
            <a:endParaRPr lang="en-US" i="0"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CI</a:t>
            </a:r>
            <a:endParaRPr lang="ru-RU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 bwMode="auto">
          <a:xfrm>
            <a:off x="5118447" y="803185"/>
            <a:ext cx="6281873" cy="5803023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/>
              <a:t>Непрерывная интеграция (CI, англ. </a:t>
            </a:r>
            <a:r>
              <a:rPr lang="ru-RU"/>
              <a:t>Continuous</a:t>
            </a:r>
            <a:r>
              <a:rPr lang="ru-RU"/>
              <a:t> </a:t>
            </a:r>
            <a:r>
              <a:rPr lang="ru-RU"/>
              <a:t>Integration</a:t>
            </a:r>
            <a:r>
              <a:rPr lang="ru-RU"/>
              <a:t>) — практика разработки программного обеспечения, которая заключается в постоянном слиянии рабочих копий в общую основную ветвь разработки (до нескольких раз в день) и выполнении частых автоматизированных сборок проекта для скорейшего выявления потенциальных дефектов и решения интеграционных проблем. </a:t>
            </a:r>
            <a:endParaRPr lang="en-US"/>
          </a:p>
          <a:p>
            <a:pPr marL="0" indent="0" algn="l">
              <a:buNone/>
              <a:defRPr/>
            </a:pPr>
            <a:r>
              <a:rPr lang="ru-RU" b="0" i="0">
                <a:solidFill>
                  <a:srgbClr val="202122"/>
                </a:solidFill>
              </a:rPr>
              <a:t>Для организации процесса непрерывной интеграции на выделенном сервере запускается служба, в задачи которой входят: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b="0" i="0">
                <a:solidFill>
                  <a:srgbClr val="202122"/>
                </a:solidFill>
              </a:rPr>
              <a:t>получение исходного кода из </a:t>
            </a:r>
            <a:r>
              <a:rPr lang="ru-RU" b="0" i="0" u="none" strike="noStrike"/>
              <a:t>репозитория</a:t>
            </a:r>
            <a:r>
              <a:rPr lang="ru-RU" b="0" i="0">
                <a:solidFill>
                  <a:srgbClr val="202122"/>
                </a:solidFill>
              </a:rPr>
              <a:t>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b="0" i="0">
                <a:solidFill>
                  <a:srgbClr val="202122"/>
                </a:solidFill>
              </a:rPr>
              <a:t>сборка проекта;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b="0" i="0">
                <a:solidFill>
                  <a:srgbClr val="202122"/>
                </a:solidFill>
              </a:rPr>
              <a:t>выполнение тестов;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b="0" i="0">
                <a:solidFill>
                  <a:srgbClr val="202122"/>
                </a:solidFill>
              </a:rPr>
              <a:t>развёртывание готового проекта;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b="0" i="0">
                <a:solidFill>
                  <a:srgbClr val="202122"/>
                </a:solidFill>
              </a:rPr>
              <a:t>отправка отчетов.</a:t>
            </a:r>
            <a:endParaRPr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CD</a:t>
            </a:r>
            <a:endParaRPr lang="ru-RU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 bwMode="auto">
          <a:xfrm>
            <a:off x="5118447" y="803185"/>
            <a:ext cx="6281873" cy="580302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/>
              <a:t>За CI следует непрерывная доставка (C</a:t>
            </a:r>
            <a:r>
              <a:rPr lang="en-US"/>
              <a:t>D</a:t>
            </a:r>
            <a:r>
              <a:rPr lang="ru-RU"/>
              <a:t>, англ. </a:t>
            </a:r>
            <a:r>
              <a:rPr lang="ru-RU"/>
              <a:t>Continuous</a:t>
            </a:r>
            <a:r>
              <a:rPr lang="ru-RU"/>
              <a:t> </a:t>
            </a:r>
            <a:r>
              <a:rPr lang="en-US"/>
              <a:t>Delivery</a:t>
            </a:r>
            <a:r>
              <a:rPr lang="ru-RU"/>
              <a:t>)—контрольный этап в процессе разработки перед выпуском и развертыванием итогового продукта для пользователей. После подтверждения изменения кода автоматически доставляются в репозиторий. </a:t>
            </a:r>
            <a:endParaRPr lang="en-US"/>
          </a:p>
          <a:p>
            <a:pPr marL="0" indent="0">
              <a:buNone/>
              <a:defRPr/>
            </a:pPr>
            <a:r>
              <a:rPr lang="ru-RU"/>
              <a:t>Цель непрерывной доставки заключается в том, чтобы доставлять наборы изменений в главную сборку маленькими порциями, которые не нарушат статус «готово к коммерческому использованию» итогового продукта, не готового к выпуску. Готовый продукт может содержать небольшие ошибки, которые, тем не менее, не смогут поставить под угрозу удобство использования.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CI/CD</a:t>
            </a:r>
            <a:endParaRPr lang="ru-RU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CI/CD  —</a:t>
            </a:r>
            <a:r>
              <a:rPr lang="ru-RU"/>
              <a:t>комбинация непрерывной интеграции (</a:t>
            </a:r>
            <a:r>
              <a:rPr lang="en-US"/>
              <a:t>continuous integration) </a:t>
            </a:r>
            <a:r>
              <a:rPr lang="ru-RU"/>
              <a:t>и непрерывного развертывания (</a:t>
            </a:r>
            <a:r>
              <a:rPr lang="en-US"/>
              <a:t>continuous delivery </a:t>
            </a:r>
            <a:r>
              <a:rPr lang="ru-RU"/>
              <a:t>или </a:t>
            </a:r>
            <a:r>
              <a:rPr lang="en-US"/>
              <a:t>continuous deployment) </a:t>
            </a:r>
            <a:r>
              <a:rPr lang="ru-RU"/>
              <a:t>программного обеспечения в процессе разработки.</a:t>
            </a:r>
            <a:endParaRPr lang="en-US"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Полезные ссылки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591222" y="1025812"/>
            <a:ext cx="2711776" cy="685800"/>
          </a:xfrm>
        </p:spPr>
        <p:txBody>
          <a:bodyPr/>
          <a:lstStyle/>
          <a:p>
            <a:pPr algn="ctr">
              <a:defRPr/>
            </a:pPr>
            <a:r>
              <a:rPr lang="en-US"/>
              <a:t>Telegram-</a:t>
            </a:r>
            <a:r>
              <a:rPr lang="ru-RU"/>
              <a:t>чат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4823323" y="812119"/>
            <a:ext cx="3143794" cy="922687"/>
          </a:xfrm>
        </p:spPr>
        <p:txBody>
          <a:bodyPr/>
          <a:lstStyle/>
          <a:p>
            <a:pPr algn="ctr">
              <a:defRPr/>
            </a:pPr>
            <a:r>
              <a:rPr lang="ru-RU"/>
              <a:t>Яндекс-диск с материалами </a:t>
            </a:r>
            <a:r>
              <a:rPr lang="ru-RU"/>
              <a:t>курса</a:t>
            </a:r>
            <a:endParaRPr lang="ru-RU"/>
          </a:p>
        </p:txBody>
      </p:sp>
      <p:pic>
        <p:nvPicPr>
          <p:cNvPr id="13151699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952182" y="1938337"/>
            <a:ext cx="2981324" cy="2981324"/>
          </a:xfrm>
          <a:prstGeom prst="rect">
            <a:avLst/>
          </a:prstGeom>
        </p:spPr>
      </p:pic>
      <p:pic>
        <p:nvPicPr>
          <p:cNvPr id="1845926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96237" y="1471612"/>
            <a:ext cx="3914775" cy="3914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Атлас">
  <a:themeElements>
    <a:clrScheme name="Атлас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Атлас">
      <a:majorFont>
        <a:latin typeface="Calibri Light"/>
        <a:ea typeface="Arial"/>
        <a:cs typeface="Arial"/>
      </a:majorFont>
      <a:minorFont>
        <a:latin typeface="Rockwell"/>
        <a:ea typeface="Arial"/>
        <a:cs typeface="Arial"/>
      </a:minorFont>
    </a:fontScheme>
    <a:fmtScheme name="Атлас">
      <a:fillStyleLst>
        <a:solidFill>
          <a:schemeClr val="phClr"/>
        </a:solidFill>
        <a:gradFill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TM16401371[[fn=Атлас]]</Template>
  <TotalTime>0</TotalTime>
  <Words>0</Words>
  <Application>R7-Office/2024.1.1.375</Application>
  <DocSecurity>0</DocSecurity>
  <PresentationFormat>Широкоэкранный</PresentationFormat>
  <Paragraphs>0</Paragraphs>
  <Slides>31</Slides>
  <Notes>31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0. Введение.</dc:title>
  <dc:subject/>
  <dc:creator>Василий Бугаев</dc:creator>
  <cp:keywords/>
  <dc:description/>
  <dc:identifier/>
  <dc:language/>
  <cp:lastModifiedBy>Кирилл Чубанов</cp:lastModifiedBy>
  <cp:revision>47</cp:revision>
  <dcterms:created xsi:type="dcterms:W3CDTF">2023-01-29T12:06:08Z</dcterms:created>
  <dcterms:modified xsi:type="dcterms:W3CDTF">2026-02-13T05:05:01Z</dcterms:modified>
  <cp:category/>
  <cp:contentStatus/>
  <cp:version/>
</cp:coreProperties>
</file>