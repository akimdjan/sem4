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37.xml" ContentType="application/vnd.openxmlformats-officedocument.presentationml.slide+xml"/>
  <Override PartName="/ppt/slides/slide36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9.xml" ContentType="application/vnd.openxmlformats-officedocument.presentationml.slide+xml"/>
  <Override PartName="/ppt/slides/slide25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2.xml" ContentType="application/vnd.openxmlformats-officedocument.presentationml.slide+xml"/>
  <Override PartName="/ppt/slides/slide33.xml" ContentType="application/vnd.openxmlformats-officedocument.presentationml.slide+xml"/>
  <Override PartName="/ppt/slides/slide8.xml" ContentType="application/vnd.openxmlformats-officedocument.presentationml.slide+xml"/>
  <Override PartName="/ppt/slides/slide35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27.xml" ContentType="application/vnd.openxmlformats-officedocument.presentationml.slide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slide26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40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4.xml" ContentType="application/vnd.openxmlformats-officedocument.presentationml.slide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slides/slide28.xml" ContentType="application/vnd.openxmlformats-officedocument.presentationml.slide+xml"/>
  <Override PartName="/ppt/theme/theme1.xml" ContentType="application/vnd.openxmlformats-officedocument.theme+xml"/>
  <Override PartName="/ppt/slides/slide41.xml" ContentType="application/vnd.openxmlformats-officedocument.presentationml.slid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slides/slide39.xml" ContentType="application/vnd.openxmlformats-officedocument.presentationml.slide+xml"/>
  <Override PartName="/ppt/viewProps.xml" ContentType="application/vnd.openxmlformats-officedocument.presentationml.viewProps+xml"/>
  <Override PartName="/ppt/slides/slide38.xml" ContentType="application/vnd.openxmlformats-officedocument.presentationml.slide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slides/slide34.xml" ContentType="application/vnd.openxmlformats-officedocument.presentationml.slide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</p:sldIdLst>
  <p:sldSz cx="12192000" cy="6858000"/>
  <p:notesSz cx="12192000" cy="6858000"/>
  <p:defaultTextStyle>
    <a:defPPr>
      <a:defRPr lang="en-US"/>
    </a:defPPr>
    <a:lvl1pPr marL="0" algn="l" defTabSz="4572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6" d="100"/>
          <a:sy n="106" d="100"/>
        </p:scale>
        <p:origin x="654" y="96"/>
      </p:cViewPr>
      <p:guideLst>
        <p:guide pos="2160" orient="horz"/>
        <p:guide pos="3840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presProps" Target="presProps.xml" /><Relationship Id="rId45" Type="http://schemas.openxmlformats.org/officeDocument/2006/relationships/tableStyles" Target="tableStyles.xml" /><Relationship Id="rId46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 bwMode="auto"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 fill="norm" stroke="1" extrusionOk="0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5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 fill="norm" stroke="1" extrusionOk="0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2" name="Freeform 7"/>
            <p:cNvSpPr/>
            <p:nvPr/>
          </p:nvSpPr>
          <p:spPr bwMode="auto">
            <a:xfrm>
              <a:off x="251350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 fill="norm" stroke="1" extrusionOk="0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 fill="norm" stroke="1" extrusionOk="0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 fill="norm" stroke="1" extrusionOk="0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 fill="norm" stroke="1" extrusionOk="0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 fill="norm" stroke="1" extrusionOk="0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 fill="norm" stroke="1" extrusionOk="0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 fill="norm" stroke="1" extrusionOk="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 fill="norm" stroke="1" extrusionOk="0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 fill="norm" stroke="1" extrusionOk="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 fill="norm" stroke="1" extrusionOk="0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 fill="norm" stroke="1" extrusionOk="0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 fill="norm" stroke="1" extrusionOk="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49"/>
            </a:xfrm>
            <a:custGeom>
              <a:avLst/>
              <a:gdLst/>
              <a:ahLst/>
              <a:cxnLst/>
              <a:rect l="0" t="0" r="r" b="b"/>
              <a:pathLst>
                <a:path w="1058" h="1439" fill="norm" stroke="1" extrusionOk="0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 fill="norm" stroke="1" extrusionOk="0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 fill="norm" stroke="1" extrusionOk="0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 fill="norm" stroke="1" extrusionOk="0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 fill="norm" stroke="1" extrusionOk="0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9" name="Group 8"/>
          <p:cNvGrpSpPr/>
          <p:nvPr/>
        </p:nvGrpSpPr>
        <p:grpSpPr bwMode="auto"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 bwMode="auto">
            <a:xfrm>
              <a:off x="1674042" y="1186483"/>
              <a:ext cx="8843596" cy="71618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 bwMode="auto">
            <a:xfrm rot="10800000">
              <a:off x="5892384" y="5313353"/>
              <a:ext cx="407232" cy="35106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 bwMode="auto"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0469880" y="320040"/>
            <a:ext cx="914400" cy="320040"/>
          </a:xfrm>
        </p:spPr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 bwMode="auto"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 fill="norm" stroke="1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 fill="norm" stroke="1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 fill="norm" stroke="1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 fill="norm" stroke="1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 fill="norm" stroke="1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 fill="norm" stroke="1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 fill="norm" stroke="1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 fill="norm" stroke="1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 fill="norm" stroke="1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 fill="norm" stroke="1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 fill="norm" stroke="1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 fill="norm" stroke="1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 fill="norm" stroke="1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 fill="norm" stroke="1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2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 fill="norm" stroke="1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 fill="norm" stroke="1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 fill="norm" stroke="1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 fill="norm" stroke="1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 fill="norm" stroke="1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 fill="norm" stroke="1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 fill="norm" stroke="1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27" name="Group 26"/>
          <p:cNvGrpSpPr/>
          <p:nvPr/>
        </p:nvGrpSpPr>
        <p:grpSpPr bwMode="auto"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 bwMode="auto"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 bwMode="auto"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 bwMode="auto">
            <a:xfrm>
              <a:off x="704075" y="2392840"/>
              <a:ext cx="3668283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88631" y="2349925"/>
            <a:ext cx="3498978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5118447" y="803186"/>
            <a:ext cx="6281873" cy="5248622"/>
          </a:xfrm>
        </p:spPr>
        <p:txBody>
          <a:bodyPr anchor="ctr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 bwMode="auto"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 fill="norm" stroke="1" extrusionOk="0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5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 fill="norm" stroke="1" extrusionOk="0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0" name="Freeform 7"/>
            <p:cNvSpPr/>
            <p:nvPr/>
          </p:nvSpPr>
          <p:spPr bwMode="auto">
            <a:xfrm>
              <a:off x="251350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 fill="norm" stroke="1" extrusionOk="0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 fill="norm" stroke="1" extrusionOk="0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 fill="norm" stroke="1" extrusionOk="0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 fill="norm" stroke="1" extrusionOk="0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 fill="norm" stroke="1" extrusionOk="0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 fill="norm" stroke="1" extrusionOk="0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 fill="norm" stroke="1" extrusionOk="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 fill="norm" stroke="1" extrusionOk="0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 fill="norm" stroke="1" extrusionOk="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 fill="norm" stroke="1" extrusionOk="0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 fill="norm" stroke="1" extrusionOk="0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 fill="norm" stroke="1" extrusionOk="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49"/>
            </a:xfrm>
            <a:custGeom>
              <a:avLst/>
              <a:gdLst/>
              <a:ahLst/>
              <a:cxnLst/>
              <a:rect l="0" t="0" r="r" b="b"/>
              <a:pathLst>
                <a:path w="1058" h="1439" fill="norm" stroke="1" extrusionOk="0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 fill="norm" stroke="1" extrusionOk="0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 fill="norm" stroke="1" extrusionOk="0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 fill="norm" stroke="1" extrusionOk="0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 fill="norm" stroke="1" extrusionOk="0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9" name="Group 8"/>
          <p:cNvGrpSpPr/>
          <p:nvPr/>
        </p:nvGrpSpPr>
        <p:grpSpPr bwMode="auto"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 bwMode="auto">
            <a:xfrm>
              <a:off x="3259545" y="1186483"/>
              <a:ext cx="5657881" cy="71618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 bwMode="auto">
            <a:xfrm rot="10800000">
              <a:off x="5892384" y="5313353"/>
              <a:ext cx="407232" cy="35106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 bwMode="auto"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3344216" y="2074729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804672" y="320040"/>
            <a:ext cx="3657600" cy="320040"/>
          </a:xfrm>
        </p:spPr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0469880" y="320040"/>
            <a:ext cx="914400" cy="320040"/>
          </a:xfrm>
        </p:spPr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 bwMode="auto"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 fill="norm" stroke="1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 fill="norm" stroke="1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 fill="norm" stroke="1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 fill="norm" stroke="1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 fill="norm" stroke="1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 fill="norm" stroke="1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 fill="norm" stroke="1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 fill="norm" stroke="1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 fill="norm" stroke="1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 fill="norm" stroke="1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 fill="norm" stroke="1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 fill="norm" stroke="1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 fill="norm" stroke="1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 fill="norm" stroke="1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2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 fill="norm" stroke="1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 fill="norm" stroke="1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 fill="norm" stroke="1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 fill="norm" stroke="1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 fill="norm" stroke="1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 fill="norm" stroke="1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 fill="norm" stroke="1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59" name="Group 58"/>
          <p:cNvGrpSpPr/>
          <p:nvPr/>
        </p:nvGrpSpPr>
        <p:grpSpPr bwMode="auto"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 bwMode="auto"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 bwMode="auto"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 bwMode="auto">
            <a:xfrm>
              <a:off x="704075" y="2392840"/>
              <a:ext cx="3668283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5120878" y="803187"/>
            <a:ext cx="6269591" cy="2382651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5118447" y="3672161"/>
            <a:ext cx="6272022" cy="2383586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804672" y="320040"/>
            <a:ext cx="3657600" cy="320040"/>
          </a:xfrm>
        </p:spPr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804672" y="6227064"/>
            <a:ext cx="10588752" cy="320040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10469880" y="320040"/>
            <a:ext cx="914400" cy="320040"/>
          </a:xfrm>
        </p:spPr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 bwMode="auto"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 fill="norm" stroke="1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 fill="norm" stroke="1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 fill="norm" stroke="1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 fill="norm" stroke="1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 fill="norm" stroke="1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 fill="norm" stroke="1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 fill="norm" stroke="1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 fill="norm" stroke="1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 fill="norm" stroke="1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 fill="norm" stroke="1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 fill="norm" stroke="1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 fill="norm" stroke="1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 fill="norm" stroke="1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 fill="norm" stroke="1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2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 fill="norm" stroke="1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 fill="norm" stroke="1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 fill="norm" stroke="1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 fill="norm" stroke="1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 fill="norm" stroke="1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 fill="norm" stroke="1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 fill="norm" stroke="1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61" name="Group 60"/>
          <p:cNvGrpSpPr/>
          <p:nvPr/>
        </p:nvGrpSpPr>
        <p:grpSpPr bwMode="auto"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 bwMode="auto"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 bwMode="auto"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 bwMode="auto">
            <a:xfrm>
              <a:off x="704075" y="2392840"/>
              <a:ext cx="3668283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5125305" y="1488985"/>
            <a:ext cx="6264350" cy="1696853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5118447" y="4351687"/>
            <a:ext cx="6265588" cy="17040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>
          <a:xfrm>
            <a:off x="804672" y="320040"/>
            <a:ext cx="3657600" cy="320040"/>
          </a:xfrm>
        </p:spPr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>
          <a:xfrm>
            <a:off x="804672" y="6227064"/>
            <a:ext cx="10588752" cy="320040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>
          <a:xfrm>
            <a:off x="10469880" y="320040"/>
            <a:ext cx="914400" cy="320040"/>
          </a:xfrm>
        </p:spPr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 bwMode="auto"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 fill="norm" stroke="1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 fill="norm" stroke="1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 fill="norm" stroke="1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 fill="norm" stroke="1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 fill="norm" stroke="1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 fill="norm" stroke="1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 fill="norm" stroke="1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 fill="norm" stroke="1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 fill="norm" stroke="1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 fill="norm" stroke="1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 fill="norm" stroke="1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 fill="norm" stroke="1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 fill="norm" stroke="1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 fill="norm" stroke="1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2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 fill="norm" stroke="1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 fill="norm" stroke="1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 fill="norm" stroke="1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 fill="norm" stroke="1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 fill="norm" stroke="1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 fill="norm" stroke="1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 fill="norm" stroke="1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24" name="Group 23"/>
          <p:cNvGrpSpPr/>
          <p:nvPr/>
        </p:nvGrpSpPr>
        <p:grpSpPr bwMode="auto"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 bwMode="auto"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 bwMode="auto"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 bwMode="auto">
            <a:xfrm>
              <a:off x="704075" y="2392840"/>
              <a:ext cx="3668283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>
          <a:xfrm>
            <a:off x="804672" y="320040"/>
            <a:ext cx="3657600" cy="320040"/>
          </a:xfrm>
        </p:spPr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>
          <a:xfrm>
            <a:off x="804672" y="6227064"/>
            <a:ext cx="10588752" cy="320040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10469880" y="320040"/>
            <a:ext cx="914400" cy="320040"/>
          </a:xfrm>
        </p:spPr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 bwMode="auto"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 fill="norm" stroke="1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 fill="norm" stroke="1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 fill="norm" stroke="1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 fill="norm" stroke="1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 fill="norm" stroke="1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 fill="norm" stroke="1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 fill="norm" stroke="1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 fill="norm" stroke="1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 fill="norm" stroke="1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 fill="norm" stroke="1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 fill="norm" stroke="1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 fill="norm" stroke="1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 fill="norm" stroke="1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 fill="norm" stroke="1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2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 fill="norm" stroke="1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 fill="norm" stroke="1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 fill="norm" stroke="1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 fill="norm" stroke="1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 fill="norm" stroke="1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 fill="norm" stroke="1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 fill="norm" stroke="1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21" name="Group 20"/>
          <p:cNvGrpSpPr/>
          <p:nvPr/>
        </p:nvGrpSpPr>
        <p:grpSpPr bwMode="auto"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 bwMode="auto"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 bwMode="auto"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 bwMode="auto">
            <a:xfrm>
              <a:off x="704075" y="2392840"/>
              <a:ext cx="3668283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5109983" y="802808"/>
            <a:ext cx="6275035" cy="5249940"/>
          </a:xfrm>
        </p:spPr>
        <p:txBody>
          <a:bodyPr anchor="ctr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 bwMode="auto"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 fill="norm" stroke="1" extrusionOk="0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5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 fill="norm" stroke="1" extrusionOk="0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3" name="Freeform 7"/>
            <p:cNvSpPr/>
            <p:nvPr/>
          </p:nvSpPr>
          <p:spPr bwMode="auto">
            <a:xfrm>
              <a:off x="251350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 fill="norm" stroke="1" extrusionOk="0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 fill="norm" stroke="1" extrusionOk="0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 fill="norm" stroke="1" extrusionOk="0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 fill="norm" stroke="1" extrusionOk="0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 fill="norm" stroke="1" extrusionOk="0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 fill="norm" stroke="1" extrusionOk="0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 fill="norm" stroke="1" extrusionOk="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 fill="norm" stroke="1" extrusionOk="0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 fill="norm" stroke="1" extrusionOk="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 fill="norm" stroke="1" extrusionOk="0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 fill="norm" stroke="1" extrusionOk="0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 fill="norm" stroke="1" extrusionOk="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49"/>
            </a:xfrm>
            <a:custGeom>
              <a:avLst/>
              <a:gdLst/>
              <a:ahLst/>
              <a:cxnLst/>
              <a:rect l="0" t="0" r="r" b="b"/>
              <a:pathLst>
                <a:path w="1058" h="1439" fill="norm" stroke="1" extrusionOk="0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 fill="norm" stroke="1" extrusionOk="0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 fill="norm" stroke="1" extrusionOk="0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 fill="norm" stroke="1" extrusionOk="0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 fill="norm" stroke="1" extrusionOk="0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76" name="Group 75"/>
          <p:cNvGrpSpPr/>
          <p:nvPr/>
        </p:nvGrpSpPr>
        <p:grpSpPr bwMode="auto"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 bwMode="auto"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 bwMode="auto">
            <a:xfrm rot="10800000">
              <a:off x="3618113" y="4896349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 bwMode="auto"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7543510" y="0"/>
            <a:ext cx="4648490" cy="6858000"/>
          </a:xfrm>
          <a:prstGeom prst="rect">
            <a:avLst/>
          </a:prstGeo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Вставка рисунка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804672" y="320040"/>
            <a:ext cx="3657600" cy="320040"/>
          </a:xfrm>
        </p:spPr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804672" y="6227064"/>
            <a:ext cx="5942203" cy="320040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5828377" y="320040"/>
            <a:ext cx="914400" cy="320040"/>
          </a:xfrm>
        </p:spPr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 bwMode="auto"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 fill="norm" stroke="1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 fill="norm" stroke="1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 fill="norm" stroke="1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 fill="norm" stroke="1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 fill="norm" stroke="1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 fill="norm" stroke="1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 fill="norm" stroke="1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 fill="norm" stroke="1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 fill="norm" stroke="1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 fill="norm" stroke="1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 fill="norm" stroke="1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 fill="norm" stroke="1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 fill="norm" stroke="1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 fill="norm" stroke="1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2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 fill="norm" stroke="1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 fill="norm" stroke="1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 fill="norm" stroke="1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 fill="norm" stroke="1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 fill="norm" stroke="1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 fill="norm" stroke="1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 fill="norm" stroke="1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22" name="Group 21"/>
          <p:cNvGrpSpPr/>
          <p:nvPr/>
        </p:nvGrpSpPr>
        <p:grpSpPr bwMode="auto"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 bwMode="auto"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 bwMode="auto"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 bwMode="auto">
            <a:xfrm>
              <a:off x="704075" y="2392840"/>
              <a:ext cx="3668283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5109983" y="794719"/>
            <a:ext cx="6275035" cy="5257090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 bwMode="auto"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 fill="norm" stroke="1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 fill="norm" stroke="1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 fill="norm" stroke="1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 fill="norm" stroke="1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 fill="norm" stroke="1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 fill="norm" stroke="1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 fill="norm" stroke="1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 fill="norm" stroke="1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 fill="norm" stroke="1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 fill="norm" stroke="1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 fill="norm" stroke="1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 fill="norm" stroke="1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 fill="norm" stroke="1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 fill="norm" stroke="1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2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 fill="norm" stroke="1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 fill="norm" stroke="1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 fill="norm" stroke="1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 fill="norm" stroke="1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 fill="norm" stroke="1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 fill="norm" stroke="1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 fill="norm" stroke="1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22" name="Group 21"/>
          <p:cNvGrpSpPr/>
          <p:nvPr/>
        </p:nvGrpSpPr>
        <p:grpSpPr bwMode="auto"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 bwMode="auto"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 bwMode="auto"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 bwMode="auto">
            <a:xfrm>
              <a:off x="704075" y="2392840"/>
              <a:ext cx="3668283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02747" y="798444"/>
            <a:ext cx="6268622" cy="5257303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804672" y="320040"/>
            <a:ext cx="3657600" cy="320040"/>
          </a:xfrm>
        </p:spPr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804672" y="6227064"/>
            <a:ext cx="10588752" cy="320040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0469880" y="320040"/>
            <a:ext cx="914400" cy="320040"/>
          </a:xfrm>
        </p:spPr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>
        <a:lnSpc>
          <a:spcPct val="85000"/>
        </a:lnSpc>
        <a:spcBef>
          <a:spcPts val="0"/>
        </a:spcBef>
        <a:buNone/>
        <a:defRPr sz="4000" b="0" i="0" cap="none" spc="-1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/>
        <a:buChar char="§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6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@tilir" TargetMode="Externa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@tilir" TargetMode="Externa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youtube.com/@tili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Лекция 3. Шаблоны функций. Обобщенное программирование</a:t>
            </a:r>
            <a:endParaRPr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One Definition Rule. Overloading set. </a:t>
            </a:r>
            <a:r>
              <a:rPr lang="ru-RU"/>
              <a:t>Правила разрешения перегрузок</a:t>
            </a:r>
            <a:endParaRPr/>
          </a:p>
        </p:txBody>
      </p:sp>
      <p:sp>
        <p:nvSpPr>
          <p:cNvPr id="7" name="TextBox 6"/>
          <p:cNvSpPr txBox="1"/>
          <p:nvPr/>
        </p:nvSpPr>
        <p:spPr bwMode="auto">
          <a:xfrm>
            <a:off x="7106194" y="5819248"/>
            <a:ext cx="4976853" cy="640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/>
              <a:t>Чубанов Кирилл Константинович, МФТИ</a:t>
            </a:r>
            <a:br>
              <a:rPr lang="ru-RU"/>
            </a:br>
            <a:r>
              <a:rPr lang="ru-RU"/>
              <a:t>2026 г.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endParaRPr lang="ru-RU"/>
          </a:p>
          <a:p>
            <a:pPr>
              <a:defRPr/>
            </a:pPr>
            <a:r>
              <a:rPr lang="en-US"/>
              <a:t>“The first step is to get the algorithm right. The second step is to figure out which sort of things (types) it works for”  - Alex </a:t>
            </a:r>
            <a:r>
              <a:rPr lang="en-US"/>
              <a:t>Stepanov</a:t>
            </a:r>
            <a:r>
              <a:rPr lang="en-US"/>
              <a:t>, creator of STL.</a:t>
            </a: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Как писать алгоритмы?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Как написать функцию возведения в степень</a:t>
            </a:r>
            <a:r>
              <a:rPr lang="en-US"/>
              <a:t>?</a:t>
            </a:r>
            <a:br>
              <a:rPr lang="ru-RU"/>
            </a:br>
            <a:r>
              <a:rPr lang="en-US"/>
              <a:t>unsigned power (unsigned x, unsigned n);</a:t>
            </a: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Начнем с выбора алгоритма.</a:t>
            </a:r>
            <a:endParaRPr/>
          </a:p>
          <a:p>
            <a:pPr>
              <a:defRPr/>
            </a:pPr>
            <a:r>
              <a:rPr lang="ru-RU"/>
              <a:t>Как написать тело этой функции?</a:t>
            </a:r>
            <a:endParaRPr/>
          </a:p>
          <a:p>
            <a:pPr>
              <a:defRPr/>
            </a:pPr>
            <a:r>
              <a:rPr lang="ru-RU"/>
              <a:t>Разумеется, вариант перемножить </a:t>
            </a:r>
            <a:r>
              <a:rPr lang="en-US"/>
              <a:t>x </a:t>
            </a:r>
            <a:r>
              <a:rPr lang="ru-RU"/>
              <a:t>на себя </a:t>
            </a:r>
            <a:r>
              <a:rPr lang="en-US"/>
              <a:t>n </a:t>
            </a:r>
            <a:r>
              <a:rPr lang="ru-RU"/>
              <a:t>раз не рассматривается.</a:t>
            </a:r>
            <a:endParaRPr/>
          </a:p>
          <a:p>
            <a:pPr>
              <a:defRPr/>
            </a:pP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Возведение числа в степень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Умножение – достаточно затратная операция – поэтому постараемся свести к минимуму число умножений</a:t>
            </a:r>
            <a:endParaRPr/>
          </a:p>
          <a:p>
            <a:pPr>
              <a:defRPr/>
            </a:pPr>
            <a:r>
              <a:rPr lang="ru-RU"/>
              <a:t>Если показатель степени является степенью двойки </a:t>
            </a:r>
            <a:r>
              <a:rPr lang="en-US"/>
              <a:t>n=2^m – </a:t>
            </a:r>
            <a:r>
              <a:rPr lang="ru-RU"/>
              <a:t>то потребуется всего </a:t>
            </a:r>
            <a:r>
              <a:rPr lang="en-US"/>
              <a:t>m </a:t>
            </a:r>
            <a:r>
              <a:rPr lang="ru-RU"/>
              <a:t>умножений, а точнее возведений в квадрат</a:t>
            </a:r>
            <a:endParaRPr/>
          </a:p>
          <a:p>
            <a:pPr>
              <a:defRPr/>
            </a:pPr>
            <a:endParaRPr lang="ru-RU" b="1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В общем случае </a:t>
            </a:r>
            <a:br>
              <a:rPr lang="ru-RU"/>
            </a:br>
            <a:endParaRPr lang="ru-RU"/>
          </a:p>
          <a:p>
            <a:pPr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116712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Алгоритм быстрого возведения в степень</a:t>
            </a:r>
            <a:endParaRPr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29244" y="3038472"/>
            <a:ext cx="2186003" cy="781056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29244" y="4794781"/>
            <a:ext cx="3128985" cy="10382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Алгоритм реализовали! И он даже работает </a:t>
            </a:r>
            <a:r>
              <a:rPr lang="ru-RU"/>
              <a:t>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Теперь займемся второй частью – распространим его на все типы.</a:t>
            </a: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116712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Алгоритм быстрого возведения в степень</a:t>
            </a:r>
            <a:endParaRPr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57200" y="2023310"/>
            <a:ext cx="7178643" cy="31566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Все ли тут хорошо?</a:t>
            </a: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116712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Алгоритм быстрого возведения в степень</a:t>
            </a:r>
            <a:endParaRPr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29244" y="1187725"/>
            <a:ext cx="7818419" cy="34235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Присвоение единице – сомнительно! (вдруг Т - матрица)</a:t>
            </a:r>
            <a:br>
              <a:rPr lang="ru-RU"/>
            </a:br>
            <a:endParaRPr lang="ru-RU"/>
          </a:p>
          <a:p>
            <a:pPr>
              <a:defRPr/>
            </a:pPr>
            <a:r>
              <a:rPr lang="ru-RU"/>
              <a:t>Сравнение с двойкой – неверно (вдруг число отрицательное)</a:t>
            </a: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116712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Алгоритм быстрого возведения в степень</a:t>
            </a:r>
            <a:endParaRPr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29244" y="1182114"/>
            <a:ext cx="7189863" cy="31483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ru-RU"/>
              <a:t>Этот вариант предполагает, что есть функция </a:t>
            </a:r>
            <a:r>
              <a:rPr lang="en-US"/>
              <a:t>id&lt;T&gt; </a:t>
            </a:r>
            <a:r>
              <a:rPr lang="ru-RU"/>
              <a:t>и она правильно работает</a:t>
            </a:r>
            <a:endParaRPr/>
          </a:p>
          <a:p>
            <a:pPr>
              <a:defRPr/>
            </a:pPr>
            <a:r>
              <a:rPr lang="ru-RU"/>
              <a:t>Он возможен, но предъявляет много требований. Варианты?</a:t>
            </a:r>
            <a:endParaRPr/>
          </a:p>
          <a:p>
            <a:pPr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116712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Алгоритм быстрого возведения в степень</a:t>
            </a:r>
            <a:endParaRPr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50970" y="1226307"/>
            <a:ext cx="7870063" cy="35476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ru-RU"/>
              <a:t>Все еще не идеально, но приемлемо. 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116712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Алгоритм быстрого возведения в степень</a:t>
            </a:r>
            <a:endParaRPr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57200" y="1396439"/>
            <a:ext cx="6483026" cy="36119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Что сделает компилятор?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116712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Алгоритм быстрого возведения в степень</a:t>
            </a:r>
            <a:endParaRPr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442974" y="1157824"/>
            <a:ext cx="7586115" cy="58934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Внутри шаблонной функции можно вызвать шаблонную функцию</a:t>
            </a:r>
            <a:endParaRPr/>
          </a:p>
          <a:p>
            <a:pPr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04707"/>
            <a:ext cx="116712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Зависимые шаблоны</a:t>
            </a:r>
            <a:endParaRPr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76195" y="1881175"/>
            <a:ext cx="8481703" cy="45904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Внутри шаблонной функции можно вызвать шаблонную функцию</a:t>
            </a:r>
            <a:endParaRPr/>
          </a:p>
          <a:p>
            <a:pPr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04707"/>
            <a:ext cx="116712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Порождение зависимых функций</a:t>
            </a:r>
            <a:endParaRPr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48217" y="1988430"/>
            <a:ext cx="7628928" cy="45862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Поскольку экземпляр шаблонной функции – просто функция, ее можно предварительно объявить.</a:t>
            </a:r>
            <a:endParaRPr/>
          </a:p>
          <a:p>
            <a:pPr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04707"/>
            <a:ext cx="116712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Предварительное объявление</a:t>
            </a:r>
            <a:endParaRPr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009626" y="1982991"/>
            <a:ext cx="7465354" cy="46703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Увы, для многомодульных программ это работает со сложностями</a:t>
            </a:r>
            <a:endParaRPr/>
          </a:p>
          <a:p>
            <a:pPr lvl="1">
              <a:defRPr/>
            </a:pPr>
            <a:r>
              <a:rPr lang="en-US"/>
              <a:t>Header.h</a:t>
            </a:r>
            <a:endParaRPr lang="en-US"/>
          </a:p>
          <a:p>
            <a:pPr lvl="1">
              <a:defRPr/>
            </a:pPr>
            <a:endParaRPr lang="en-US"/>
          </a:p>
          <a:p>
            <a:pPr lvl="1">
              <a:defRPr/>
            </a:pPr>
            <a:endParaRPr lang="en-US"/>
          </a:p>
          <a:p>
            <a:pPr lvl="1">
              <a:defRPr/>
            </a:pPr>
            <a:r>
              <a:rPr lang="en-US"/>
              <a:t>Module1.cc</a:t>
            </a:r>
            <a:endParaRPr/>
          </a:p>
          <a:p>
            <a:pPr lvl="1">
              <a:defRPr/>
            </a:pPr>
            <a:endParaRPr lang="en-US"/>
          </a:p>
          <a:p>
            <a:pPr lvl="1">
              <a:defRPr/>
            </a:pPr>
            <a:endParaRPr lang="en-US"/>
          </a:p>
          <a:p>
            <a:pPr lvl="1">
              <a:defRPr/>
            </a:pPr>
            <a:endParaRPr lang="en-US"/>
          </a:p>
          <a:p>
            <a:pPr lvl="1">
              <a:defRPr/>
            </a:pPr>
            <a:r>
              <a:rPr lang="en-US"/>
              <a:t>Module2.cc </a:t>
            </a:r>
            <a:endParaRPr/>
          </a:p>
          <a:p>
            <a:pPr lvl="1">
              <a:defRPr/>
            </a:pPr>
            <a:endParaRPr lang="en-US"/>
          </a:p>
          <a:p>
            <a:pPr marL="457200" lvl="1" indent="0">
              <a:buNone/>
              <a:defRPr/>
            </a:pPr>
            <a:endParaRPr lang="en-US"/>
          </a:p>
          <a:p>
            <a:pPr lvl="1"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04707"/>
            <a:ext cx="116712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Многомодульные программы</a:t>
            </a:r>
            <a:endParaRPr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764423" y="2173686"/>
            <a:ext cx="5547366" cy="339511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64423" y="3270285"/>
            <a:ext cx="6262733" cy="990607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764423" y="4718990"/>
            <a:ext cx="5796005" cy="9429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Что вы знаете про </a:t>
            </a:r>
            <a:r>
              <a:rPr lang="en-US"/>
              <a:t>ODR?</a:t>
            </a:r>
            <a:endParaRPr/>
          </a:p>
          <a:p>
            <a:pPr>
              <a:defRPr/>
            </a:pPr>
            <a:r>
              <a:rPr lang="ru-RU"/>
              <a:t>А про </a:t>
            </a:r>
            <a:r>
              <a:rPr lang="en-US"/>
              <a:t>include guards?</a:t>
            </a:r>
            <a:endParaRPr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04707"/>
            <a:ext cx="116712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4000">
                <a:solidFill>
                  <a:srgbClr val="00B0F0"/>
                </a:solidFill>
              </a:rPr>
              <a:t>ODR – one definition rule</a:t>
            </a:r>
            <a:endParaRPr lang="ru-RU" sz="4000">
              <a:solidFill>
                <a:srgbClr val="00B0F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2706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У каждой сущности в С++ есть </a:t>
            </a:r>
            <a:r>
              <a:rPr lang="en-US"/>
              <a:t>declaration (</a:t>
            </a:r>
            <a:r>
              <a:rPr lang="ru-RU"/>
              <a:t>когда определяется ее тип</a:t>
            </a:r>
            <a:r>
              <a:rPr lang="en-US"/>
              <a:t>)</a:t>
            </a:r>
            <a:r>
              <a:rPr lang="ru-RU"/>
              <a:t> и </a:t>
            </a:r>
            <a:r>
              <a:rPr lang="en-US"/>
              <a:t>(</a:t>
            </a:r>
            <a:r>
              <a:rPr lang="ru-RU"/>
              <a:t>опционально) </a:t>
            </a:r>
            <a:r>
              <a:rPr lang="en-US"/>
              <a:t>definition </a:t>
            </a:r>
            <a:r>
              <a:rPr lang="ru-RU"/>
              <a:t>, когда определяется ее положение в памяти.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en-US"/>
              <a:t>ODR </a:t>
            </a:r>
            <a:r>
              <a:rPr lang="ru-RU"/>
              <a:t>гласит – сколько угодно </a:t>
            </a:r>
            <a:r>
              <a:rPr lang="en-US"/>
              <a:t>declarations, </a:t>
            </a:r>
            <a:r>
              <a:rPr lang="ru-RU"/>
              <a:t>не более чем один </a:t>
            </a:r>
            <a:r>
              <a:rPr lang="en-US"/>
              <a:t>definition.</a:t>
            </a:r>
            <a:endParaRPr/>
          </a:p>
          <a:p>
            <a:pPr>
              <a:defRPr/>
            </a:pPr>
            <a:r>
              <a:rPr lang="ru-RU"/>
              <a:t>Вроде бы шаблоны функций нарушают </a:t>
            </a:r>
            <a:r>
              <a:rPr lang="en-US"/>
              <a:t>ODR?</a:t>
            </a:r>
            <a:endParaRPr lang="ru-RU"/>
          </a:p>
          <a:p>
            <a:pPr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04707"/>
            <a:ext cx="116712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4000">
                <a:solidFill>
                  <a:srgbClr val="00B0F0"/>
                </a:solidFill>
              </a:rPr>
              <a:t>ODR – one definition rule</a:t>
            </a:r>
            <a:endParaRPr lang="ru-RU" sz="4000">
              <a:solidFill>
                <a:srgbClr val="00B0F0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76604" y="2343568"/>
            <a:ext cx="8696604" cy="18525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Для шаблонов исключения из </a:t>
            </a:r>
            <a:r>
              <a:rPr lang="en-US"/>
              <a:t>ODR </a:t>
            </a:r>
            <a:r>
              <a:rPr lang="ru-RU"/>
              <a:t>гарантируют что будет работать</a:t>
            </a:r>
            <a:endParaRPr lang="en-US"/>
          </a:p>
          <a:p>
            <a:pPr lvl="1">
              <a:defRPr/>
            </a:pPr>
            <a:r>
              <a:rPr lang="en-US"/>
              <a:t>Header.h</a:t>
            </a:r>
            <a:r>
              <a:rPr lang="en-US"/>
              <a:t> </a:t>
            </a:r>
            <a:endParaRPr/>
          </a:p>
          <a:p>
            <a:pPr lvl="1">
              <a:defRPr/>
            </a:pPr>
            <a:endParaRPr lang="en-US"/>
          </a:p>
          <a:p>
            <a:pPr lvl="1">
              <a:defRPr/>
            </a:pPr>
            <a:endParaRPr lang="en-US"/>
          </a:p>
          <a:p>
            <a:pPr lvl="1">
              <a:defRPr/>
            </a:pPr>
            <a:endParaRPr lang="en-US"/>
          </a:p>
          <a:p>
            <a:pPr lvl="1">
              <a:defRPr/>
            </a:pPr>
            <a:endParaRPr lang="en-US"/>
          </a:p>
          <a:p>
            <a:pPr lvl="1">
              <a:defRPr/>
            </a:pPr>
            <a:endParaRPr lang="en-US"/>
          </a:p>
          <a:p>
            <a:pPr lvl="1">
              <a:defRPr/>
            </a:pPr>
            <a:endParaRPr lang="en-US"/>
          </a:p>
          <a:p>
            <a:pPr lvl="1">
              <a:defRPr/>
            </a:pPr>
            <a:r>
              <a:rPr lang="en-US"/>
              <a:t>Module1.cc </a:t>
            </a:r>
            <a:endParaRPr/>
          </a:p>
          <a:p>
            <a:pPr marL="457200" lvl="1" indent="0">
              <a:buNone/>
              <a:defRPr/>
            </a:pPr>
            <a:r>
              <a:rPr lang="en-US"/>
              <a:t>// </a:t>
            </a:r>
            <a:r>
              <a:rPr lang="ru-RU"/>
              <a:t>использует </a:t>
            </a:r>
            <a:r>
              <a:rPr lang="en-US"/>
              <a:t>do_power</a:t>
            </a:r>
            <a:r>
              <a:rPr lang="en-US"/>
              <a:t>&lt;unsigned&gt;(x,1u,n)</a:t>
            </a:r>
            <a:endParaRPr/>
          </a:p>
          <a:p>
            <a:pPr lvl="1">
              <a:defRPr/>
            </a:pPr>
            <a:endParaRPr lang="en-US"/>
          </a:p>
          <a:p>
            <a:pPr lvl="1">
              <a:defRPr/>
            </a:pPr>
            <a:r>
              <a:rPr lang="en-US"/>
              <a:t>Module2.cc </a:t>
            </a:r>
            <a:endParaRPr/>
          </a:p>
          <a:p>
            <a:pPr marL="457200" lvl="1" indent="0">
              <a:buNone/>
              <a:defRPr/>
            </a:pPr>
            <a:r>
              <a:rPr lang="en-US"/>
              <a:t>// </a:t>
            </a:r>
            <a:r>
              <a:rPr lang="ru-RU"/>
              <a:t>использует </a:t>
            </a:r>
            <a:r>
              <a:rPr lang="en-US"/>
              <a:t>do_power</a:t>
            </a:r>
            <a:r>
              <a:rPr lang="en-US"/>
              <a:t>&lt;int&gt;(x,1,n)</a:t>
            </a:r>
            <a:endParaRPr/>
          </a:p>
          <a:p>
            <a:pPr marL="457200" lvl="1" indent="0">
              <a:buNone/>
              <a:defRPr/>
            </a:pPr>
            <a:endParaRPr lang="en-US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04707"/>
            <a:ext cx="116712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Многомодульные программы</a:t>
            </a:r>
            <a:endParaRPr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97499" y="2467066"/>
            <a:ext cx="4772059" cy="14811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 lvl="1">
              <a:defRPr/>
            </a:pPr>
            <a:r>
              <a:rPr lang="ru-RU" sz="1800"/>
              <a:t>Ранее мы всегда явно указывали тип.</a:t>
            </a:r>
            <a:endParaRPr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r>
              <a:rPr lang="ru-RU" sz="1800"/>
              <a:t> Но неужели компилятор не может догадаться?</a:t>
            </a:r>
            <a:endParaRPr lang="en-US" sz="1800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04707"/>
            <a:ext cx="116712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Нужно ли всегда указывать типы?</a:t>
            </a:r>
            <a:endParaRPr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rcRect l="0" t="0" r="0" b="54181"/>
          <a:stretch/>
        </p:blipFill>
        <p:spPr bwMode="auto">
          <a:xfrm>
            <a:off x="1095226" y="2022579"/>
            <a:ext cx="7465354" cy="21399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 lvl="1">
              <a:defRPr/>
            </a:pPr>
            <a:r>
              <a:rPr lang="ru-RU" sz="1800"/>
              <a:t>Для параметров являющихся типами работает вывод типов</a:t>
            </a:r>
            <a:endParaRPr lang="en-US" sz="1800"/>
          </a:p>
          <a:p>
            <a:pPr lvl="1">
              <a:defRPr/>
            </a:pPr>
            <a:endParaRPr lang="en-US" sz="1800"/>
          </a:p>
          <a:p>
            <a:pPr lvl="1">
              <a:defRPr/>
            </a:pPr>
            <a:endParaRPr lang="en-US" sz="1800"/>
          </a:p>
          <a:p>
            <a:pPr lvl="1">
              <a:defRPr/>
            </a:pPr>
            <a:r>
              <a:rPr lang="ru-RU" sz="1800"/>
              <a:t>При выводе типов режутся ссылки и внешние </a:t>
            </a:r>
            <a:r>
              <a:rPr lang="en-US" sz="1800"/>
              <a:t>cv-</a:t>
            </a:r>
            <a:r>
              <a:rPr lang="ru-RU" sz="1800"/>
              <a:t>квалификаторы</a:t>
            </a:r>
            <a:endParaRPr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r>
              <a:rPr lang="ru-RU" sz="1800"/>
              <a:t>Вывод не работает, если он не однозначен.</a:t>
            </a:r>
            <a:endParaRPr lang="en-US" sz="1800"/>
          </a:p>
          <a:p>
            <a:pPr lvl="1">
              <a:defRPr/>
            </a:pPr>
            <a:endParaRPr lang="ru-RU" sz="1800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04707"/>
            <a:ext cx="116712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Вывод типов</a:t>
            </a:r>
            <a:endParaRPr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975491" y="1817199"/>
            <a:ext cx="5843844" cy="376239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75489" y="2934106"/>
            <a:ext cx="6448510" cy="1054473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032549" y="4687902"/>
            <a:ext cx="2445537" cy="2016268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3478086" y="4872966"/>
            <a:ext cx="8637388" cy="4528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 lvl="1">
              <a:defRPr/>
            </a:pPr>
            <a:r>
              <a:rPr lang="ru-RU" sz="1800"/>
              <a:t>Шаблонный тип может быть уточнен ссылкой, указателем и </a:t>
            </a:r>
            <a:r>
              <a:rPr lang="en-US" sz="1800"/>
              <a:t>CV-</a:t>
            </a:r>
            <a:r>
              <a:rPr lang="ru-RU" sz="1800"/>
              <a:t>квалификатором.</a:t>
            </a:r>
            <a:endParaRPr lang="en-US" sz="1800"/>
          </a:p>
          <a:p>
            <a:pPr lvl="1">
              <a:defRPr/>
            </a:pPr>
            <a:r>
              <a:rPr lang="ru-RU" sz="1800"/>
              <a:t>В этом случае возвращаемый тип тоже будет уточнен.</a:t>
            </a:r>
            <a:endParaRPr lang="en-US" sz="1800"/>
          </a:p>
          <a:p>
            <a:pPr lvl="1">
              <a:defRPr/>
            </a:pPr>
            <a:endParaRPr lang="en-US" sz="1800"/>
          </a:p>
          <a:p>
            <a:pPr lvl="1">
              <a:defRPr/>
            </a:pPr>
            <a:endParaRPr lang="en-US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r>
              <a:rPr lang="ru-RU" sz="1800"/>
              <a:t>Уточненный вывод иначе работает с ссылками: он сохраняет </a:t>
            </a:r>
            <a:r>
              <a:rPr lang="en-US" sz="1800"/>
              <a:t>cv</a:t>
            </a:r>
            <a:r>
              <a:rPr lang="ru-RU" sz="1800"/>
              <a:t>-квалификаторы</a:t>
            </a:r>
            <a:endParaRPr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04707"/>
            <a:ext cx="116712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Вывод</a:t>
            </a:r>
            <a:r>
              <a:rPr lang="en-US" sz="4000">
                <a:solidFill>
                  <a:srgbClr val="00B0F0"/>
                </a:solidFill>
              </a:rPr>
              <a:t> </a:t>
            </a:r>
            <a:r>
              <a:rPr lang="ru-RU" sz="4000">
                <a:solidFill>
                  <a:srgbClr val="00B0F0"/>
                </a:solidFill>
              </a:rPr>
              <a:t>уточненных типов</a:t>
            </a:r>
            <a:endParaRPr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864839" y="2155787"/>
            <a:ext cx="9664075" cy="1058638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48232" y="4337407"/>
            <a:ext cx="6104284" cy="11346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 lvl="1">
              <a:defRPr/>
            </a:pPr>
            <a:r>
              <a:rPr lang="ru-RU" sz="1800"/>
              <a:t>Возвращаемое значение из функции не создает контекст вывода.</a:t>
            </a:r>
            <a:endParaRPr lang="en-US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marL="457200" lvl="1" indent="0">
              <a:buNone/>
              <a:defRPr/>
            </a:pPr>
            <a:endParaRPr lang="en-US" sz="1800"/>
          </a:p>
          <a:p>
            <a:pPr lvl="1">
              <a:defRPr/>
            </a:pPr>
            <a:r>
              <a:rPr lang="ru-RU" sz="1800"/>
              <a:t>Но при этом возможен частичный вывод</a:t>
            </a:r>
            <a:endParaRPr lang="en-US" sz="1800"/>
          </a:p>
          <a:p>
            <a:pPr lvl="1">
              <a:defRPr/>
            </a:pPr>
            <a:endParaRPr lang="en-US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r>
              <a:rPr lang="ru-RU" sz="1800"/>
              <a:t>Уточненный вывод иначе работает с ссылками: он сохраняет </a:t>
            </a:r>
            <a:r>
              <a:rPr lang="en-US" sz="1800"/>
              <a:t>cv</a:t>
            </a:r>
            <a:r>
              <a:rPr lang="ru-RU" sz="1800"/>
              <a:t>-квалификаторы</a:t>
            </a:r>
            <a:endParaRPr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04707"/>
            <a:ext cx="116712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Частичный вывод типов</a:t>
            </a:r>
            <a:endParaRPr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850718" y="1726168"/>
            <a:ext cx="5658017" cy="1702832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979171" y="2739546"/>
            <a:ext cx="6980159" cy="5304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 lvl="1">
              <a:defRPr/>
            </a:pPr>
            <a:r>
              <a:rPr lang="ru-RU" sz="1800"/>
              <a:t>Допустим у вас есть функция, берущая по умолчанию плавающее число</a:t>
            </a:r>
            <a:endParaRPr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r>
              <a:rPr lang="ru-RU" sz="1800"/>
              <a:t>Такой вывод типов работать не будет</a:t>
            </a:r>
            <a:endParaRPr lang="en-US" sz="1800"/>
          </a:p>
          <a:p>
            <a:pPr lvl="1">
              <a:defRPr/>
            </a:pPr>
            <a:endParaRPr lang="en-US" sz="1800"/>
          </a:p>
          <a:p>
            <a:pPr lvl="1">
              <a:defRPr/>
            </a:pPr>
            <a:endParaRPr lang="en-US" sz="1800"/>
          </a:p>
          <a:p>
            <a:pPr lvl="1">
              <a:defRPr/>
            </a:pPr>
            <a:endParaRPr lang="en-US" sz="1800"/>
          </a:p>
          <a:p>
            <a:pPr lvl="1">
              <a:defRPr/>
            </a:pPr>
            <a:r>
              <a:rPr lang="ru-RU" sz="1800"/>
              <a:t>Как вы думаете, как это можно исправить?</a:t>
            </a:r>
            <a:endParaRPr/>
          </a:p>
          <a:p>
            <a:pPr lvl="1">
              <a:defRPr/>
            </a:pPr>
            <a:endParaRPr lang="ru-RU" sz="1800"/>
          </a:p>
          <a:p>
            <a:pPr marL="457200" lvl="1" indent="0">
              <a:buNone/>
              <a:defRPr/>
            </a:pPr>
            <a:endParaRPr lang="ru-RU" sz="1800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04707"/>
            <a:ext cx="116712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Параметры по умолчанию</a:t>
            </a:r>
            <a:endParaRPr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935205" y="1828840"/>
            <a:ext cx="4178117" cy="828902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35205" y="3442452"/>
            <a:ext cx="4529631" cy="7108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 lvl="1">
              <a:defRPr/>
            </a:pPr>
            <a:r>
              <a:rPr lang="ru-RU" sz="1800"/>
              <a:t>Допустим у вас есть функция, берущая по умолчанию плавающее число</a:t>
            </a:r>
            <a:endParaRPr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en-US" sz="1800"/>
          </a:p>
          <a:p>
            <a:pPr lvl="1">
              <a:defRPr/>
            </a:pPr>
            <a:endParaRPr lang="en-US" sz="1800"/>
          </a:p>
          <a:p>
            <a:pPr lvl="1">
              <a:defRPr/>
            </a:pPr>
            <a:endParaRPr lang="en-US" sz="1800"/>
          </a:p>
          <a:p>
            <a:pPr lvl="1">
              <a:defRPr/>
            </a:pPr>
            <a:r>
              <a:rPr lang="ru-RU" sz="1800"/>
              <a:t>Параметр по умолчанию шаблона в данном случае подсказывает компилятору нужный тип</a:t>
            </a:r>
            <a:endParaRPr/>
          </a:p>
          <a:p>
            <a:pPr lvl="1">
              <a:defRPr/>
            </a:pPr>
            <a:r>
              <a:rPr lang="ru-RU" sz="1800"/>
              <a:t>Главный вывод – параметры по умолчанию функций не используются в выводе типов</a:t>
            </a:r>
            <a:endParaRPr/>
          </a:p>
          <a:p>
            <a:pPr lvl="1">
              <a:defRPr/>
            </a:pPr>
            <a:endParaRPr lang="ru-RU" sz="1800"/>
          </a:p>
          <a:p>
            <a:pPr marL="457200" lvl="1" indent="0">
              <a:buNone/>
              <a:defRPr/>
            </a:pPr>
            <a:endParaRPr lang="ru-RU" sz="1800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04707"/>
            <a:ext cx="116712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Параметры по умолчанию</a:t>
            </a:r>
            <a:endParaRPr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935205" y="1775923"/>
            <a:ext cx="5144272" cy="924547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35205" y="2838100"/>
            <a:ext cx="5183364" cy="8793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 lvl="1">
              <a:defRPr/>
            </a:pPr>
            <a:endParaRPr lang="en-US" sz="1800"/>
          </a:p>
          <a:p>
            <a:pPr lvl="1">
              <a:defRPr/>
            </a:pPr>
            <a:endParaRPr lang="en-US" sz="1800"/>
          </a:p>
          <a:p>
            <a:pPr lvl="1">
              <a:defRPr/>
            </a:pPr>
            <a:endParaRPr lang="en-US" sz="1800"/>
          </a:p>
          <a:p>
            <a:pPr lvl="1">
              <a:defRPr/>
            </a:pPr>
            <a:r>
              <a:rPr lang="ru-RU" sz="1800"/>
              <a:t>Какой тип должна вернуть эта функция (до С++11, до С++14, сейчас)?  Ваши идеи?</a:t>
            </a:r>
            <a:endParaRPr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r>
              <a:rPr lang="ru-RU" sz="1800"/>
              <a:t>Подумайте об этом на досуге, решение рассмотрим позже. </a:t>
            </a:r>
            <a:endParaRPr/>
          </a:p>
          <a:p>
            <a:pPr lvl="1">
              <a:defRPr/>
            </a:pPr>
            <a:endParaRPr lang="ru-RU" sz="1800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04707"/>
            <a:ext cx="116712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Проблема гетерогенного максимума</a:t>
            </a:r>
            <a:endParaRPr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939972" y="1409254"/>
            <a:ext cx="5196686" cy="8041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 lvl="1">
              <a:defRPr/>
            </a:pPr>
            <a:r>
              <a:rPr lang="ru-RU" sz="1800"/>
              <a:t>Одно и тоже имя может соответствовать многим сигнатурам (Пример из </a:t>
            </a:r>
            <a:r>
              <a:rPr lang="en-US" sz="1800">
                <a:solidFill>
                  <a:schemeClr val="accent1"/>
                </a:solidFill>
              </a:rPr>
              <a:t>cmath</a:t>
            </a:r>
            <a:r>
              <a:rPr lang="en-US" sz="1800"/>
              <a:t>)</a:t>
            </a:r>
            <a:endParaRPr/>
          </a:p>
          <a:p>
            <a:pPr lvl="1">
              <a:defRPr/>
            </a:pPr>
            <a:endParaRPr lang="en-US" sz="1800"/>
          </a:p>
          <a:p>
            <a:pPr lvl="1">
              <a:defRPr/>
            </a:pPr>
            <a:endParaRPr lang="en-US" sz="1800"/>
          </a:p>
          <a:p>
            <a:pPr lvl="1">
              <a:defRPr/>
            </a:pPr>
            <a:endParaRPr lang="en-US" sz="1800"/>
          </a:p>
          <a:p>
            <a:pPr lvl="1">
              <a:defRPr/>
            </a:pPr>
            <a:r>
              <a:rPr lang="ru-RU" sz="1800"/>
              <a:t>Как это выглядит в языке С (</a:t>
            </a:r>
            <a:r>
              <a:rPr lang="en-US" sz="1800">
                <a:solidFill>
                  <a:schemeClr val="accent1"/>
                </a:solidFill>
              </a:rPr>
              <a:t>math.h</a:t>
            </a:r>
            <a:r>
              <a:rPr lang="ru-RU" sz="1800"/>
              <a:t>)?</a:t>
            </a:r>
            <a:endParaRPr/>
          </a:p>
          <a:p>
            <a:pPr lvl="1">
              <a:defRPr/>
            </a:pPr>
            <a:endParaRPr lang="en-US" sz="1800"/>
          </a:p>
          <a:p>
            <a:pPr lvl="1">
              <a:defRPr/>
            </a:pPr>
            <a:r>
              <a:rPr lang="ru-RU" sz="1800"/>
              <a:t>Перегрузка может создавать неоднозначности и требовать разрешения</a:t>
            </a:r>
            <a:endParaRPr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04707"/>
            <a:ext cx="116712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Перегрузка функций</a:t>
            </a:r>
            <a:endParaRPr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841619" y="1722367"/>
            <a:ext cx="4584959" cy="1086609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841619" y="4206953"/>
            <a:ext cx="4752371" cy="14161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 lvl="1">
              <a:defRPr/>
            </a:pPr>
            <a:r>
              <a:rPr lang="ru-RU" sz="1800"/>
              <a:t>Функция не может перегружена по </a:t>
            </a:r>
            <a:r>
              <a:rPr lang="en-US" sz="1800"/>
              <a:t>cv-</a:t>
            </a:r>
            <a:r>
              <a:rPr lang="ru-RU" sz="1800"/>
              <a:t>квалификаторам</a:t>
            </a:r>
            <a:endParaRPr lang="en-US" sz="1800"/>
          </a:p>
          <a:p>
            <a:pPr lvl="1">
              <a:defRPr/>
            </a:pPr>
            <a:endParaRPr lang="en-US" sz="1800"/>
          </a:p>
          <a:p>
            <a:pPr lvl="1">
              <a:defRPr/>
            </a:pPr>
            <a:endParaRPr lang="en-US" sz="1800"/>
          </a:p>
          <a:p>
            <a:pPr lvl="1">
              <a:defRPr/>
            </a:pPr>
            <a:endParaRPr lang="en-US" sz="1800"/>
          </a:p>
          <a:p>
            <a:pPr lvl="1">
              <a:defRPr/>
            </a:pPr>
            <a:endParaRPr lang="en-US" sz="1800"/>
          </a:p>
          <a:p>
            <a:pPr lvl="1">
              <a:defRPr/>
            </a:pPr>
            <a:r>
              <a:rPr lang="ru-RU" sz="1800"/>
              <a:t>Это не относится к </a:t>
            </a:r>
            <a:r>
              <a:rPr lang="en-US" sz="1800"/>
              <a:t>cv-</a:t>
            </a:r>
            <a:r>
              <a:rPr lang="ru-RU" sz="1800"/>
              <a:t>квалификаторам внешнего типа</a:t>
            </a:r>
            <a:endParaRPr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04707"/>
            <a:ext cx="116712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Ограничения перегрузки</a:t>
            </a:r>
            <a:endParaRPr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026406" y="1714666"/>
            <a:ext cx="3964337" cy="1607163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26406" y="3948214"/>
            <a:ext cx="3443044" cy="17285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 lvl="1">
              <a:defRPr/>
            </a:pPr>
            <a:r>
              <a:rPr lang="ru-RU" sz="1800"/>
              <a:t>«Для разрешения перегрузки есть набор простых мнемонических правил» (</a:t>
            </a:r>
            <a:r>
              <a:rPr lang="en-US" sz="1800"/>
              <a:t>@ </a:t>
            </a:r>
            <a:r>
              <a:rPr lang="ru-RU" sz="1800"/>
              <a:t>Константин Владимиров </a:t>
            </a:r>
            <a:r>
              <a:rPr lang="en-US" sz="1800"/>
              <a:t>aka </a:t>
            </a:r>
            <a:r>
              <a:rPr lang="en-US" sz="1800" u="sng">
                <a:hlinkClick r:id="rId2" tooltip="https://www.youtube.com/@tilir"/>
              </a:rPr>
              <a:t>https://www.youtube.com/@tilir</a:t>
            </a:r>
            <a:r>
              <a:rPr lang="ru-RU" sz="1800"/>
              <a:t>)</a:t>
            </a:r>
            <a:endParaRPr/>
          </a:p>
          <a:p>
            <a:pPr lvl="1">
              <a:defRPr/>
            </a:pPr>
            <a:endParaRPr lang="en-US" sz="1800"/>
          </a:p>
          <a:p>
            <a:pPr lvl="1">
              <a:defRPr/>
            </a:pPr>
            <a:r>
              <a:rPr lang="ru-RU" sz="1800"/>
              <a:t>Для обычных функций:</a:t>
            </a:r>
            <a:endParaRPr/>
          </a:p>
          <a:p>
            <a:pPr lvl="2">
              <a:defRPr/>
            </a:pPr>
            <a:r>
              <a:rPr lang="ru-RU" sz="1600">
                <a:solidFill>
                  <a:schemeClr val="accent1"/>
                </a:solidFill>
              </a:rPr>
              <a:t>Идеальное совпадение выигрывает</a:t>
            </a:r>
            <a:endParaRPr/>
          </a:p>
          <a:p>
            <a:pPr lvl="2">
              <a:defRPr/>
            </a:pPr>
            <a:r>
              <a:rPr lang="ru-RU" sz="1600">
                <a:solidFill>
                  <a:schemeClr val="accent1"/>
                </a:solidFill>
              </a:rPr>
              <a:t>Все стандартные преобразования равны</a:t>
            </a:r>
            <a:endParaRPr/>
          </a:p>
          <a:p>
            <a:pPr lvl="2">
              <a:defRPr/>
            </a:pPr>
            <a:r>
              <a:rPr lang="ru-RU" sz="1600">
                <a:solidFill>
                  <a:schemeClr val="accent1"/>
                </a:solidFill>
              </a:rPr>
              <a:t>Троеточия проигрывают почти всему</a:t>
            </a:r>
            <a:r>
              <a:rPr lang="en-US" sz="1600">
                <a:solidFill>
                  <a:schemeClr val="accent1"/>
                </a:solidFill>
              </a:rPr>
              <a:t> </a:t>
            </a:r>
            <a:endParaRPr/>
          </a:p>
          <a:p>
            <a:pPr lvl="1">
              <a:defRPr/>
            </a:pPr>
            <a:r>
              <a:rPr lang="ru-RU" sz="1800"/>
              <a:t>Для шаблонных функций</a:t>
            </a:r>
            <a:endParaRPr/>
          </a:p>
          <a:p>
            <a:pPr lvl="2">
              <a:defRPr/>
            </a:pPr>
            <a:r>
              <a:rPr lang="ru-RU" sz="1600"/>
              <a:t>Точно подходящая функция выигрывает у шаблона</a:t>
            </a:r>
            <a:endParaRPr/>
          </a:p>
          <a:p>
            <a:pPr lvl="2">
              <a:defRPr/>
            </a:pPr>
            <a:r>
              <a:rPr lang="ru-RU" sz="1600"/>
              <a:t>Более специальный шаблон выигрывает у менее специального</a:t>
            </a:r>
            <a:endParaRPr/>
          </a:p>
          <a:p>
            <a:pPr lvl="2">
              <a:defRPr/>
            </a:pPr>
            <a:r>
              <a:rPr lang="ru-RU" sz="1600"/>
              <a:t>Меньшее количество аргументов выигрывает против большего</a:t>
            </a:r>
            <a:endParaRPr lang="en-US" sz="1600"/>
          </a:p>
          <a:p>
            <a:pPr lvl="1">
              <a:defRPr/>
            </a:pPr>
            <a:endParaRPr lang="en-US" sz="1800"/>
          </a:p>
          <a:p>
            <a:pPr marL="457200" lvl="1" indent="0">
              <a:buNone/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04707"/>
            <a:ext cx="116712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Разрешение перегрузки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 lvl="1">
              <a:defRPr/>
            </a:pPr>
            <a:r>
              <a:rPr lang="ru-RU" sz="1800"/>
              <a:t>Правильный тип</a:t>
            </a:r>
            <a:endParaRPr lang="en-US" sz="1800"/>
          </a:p>
          <a:p>
            <a:pPr lvl="1">
              <a:defRPr/>
            </a:pPr>
            <a:r>
              <a:rPr lang="ru-RU" sz="1800"/>
              <a:t>Ссылки правильного типа, в том числе и обычная левая ссылка</a:t>
            </a:r>
            <a:endParaRPr lang="en-US" sz="1800"/>
          </a:p>
          <a:p>
            <a:pPr lvl="1">
              <a:defRPr/>
            </a:pPr>
            <a:endParaRPr lang="en-US" sz="1800"/>
          </a:p>
          <a:p>
            <a:pPr lvl="1">
              <a:defRPr/>
            </a:pPr>
            <a:endParaRPr lang="en-US" sz="1800"/>
          </a:p>
          <a:p>
            <a:pPr lvl="1">
              <a:defRPr/>
            </a:pPr>
            <a:endParaRPr lang="en-US" sz="1800"/>
          </a:p>
          <a:p>
            <a:pPr lvl="1">
              <a:defRPr/>
            </a:pPr>
            <a:endParaRPr lang="en-US" sz="1800"/>
          </a:p>
          <a:p>
            <a:pPr lvl="1">
              <a:defRPr/>
            </a:pPr>
            <a:endParaRPr lang="en-US" sz="1800"/>
          </a:p>
          <a:p>
            <a:pPr lvl="1">
              <a:defRPr/>
            </a:pPr>
            <a:r>
              <a:rPr lang="ru-RU" sz="1800"/>
              <a:t>Два идеальных совпадения – конфликт</a:t>
            </a:r>
            <a:endParaRPr/>
          </a:p>
          <a:p>
            <a:pPr lvl="1">
              <a:defRPr/>
            </a:pPr>
            <a:endParaRPr lang="ru-RU" sz="1800"/>
          </a:p>
          <a:p>
            <a:pPr marL="457200" lvl="1" indent="0">
              <a:buNone/>
              <a:defRPr/>
            </a:pPr>
            <a:endParaRPr lang="en-US" sz="1800"/>
          </a:p>
          <a:p>
            <a:pPr marL="457200" lvl="1" indent="0">
              <a:buNone/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04707"/>
            <a:ext cx="116712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Идеальное совпадение</a:t>
            </a:r>
            <a:endParaRPr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883781" y="2243382"/>
            <a:ext cx="3278019" cy="1260776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751524" y="2149759"/>
            <a:ext cx="2777321" cy="162490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883781" y="4637186"/>
            <a:ext cx="3532170" cy="12679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 lvl="1">
              <a:defRPr/>
            </a:pPr>
            <a:r>
              <a:rPr lang="ru-RU" sz="1800"/>
              <a:t>Все стандартные преобразования </a:t>
            </a:r>
            <a:r>
              <a:rPr lang="ru-RU" sz="1800"/>
              <a:t>одноранговые</a:t>
            </a:r>
            <a:endParaRPr lang="en-US" sz="1800"/>
          </a:p>
          <a:p>
            <a:pPr lvl="1">
              <a:defRPr/>
            </a:pPr>
            <a:endParaRPr lang="en-US" sz="1800"/>
          </a:p>
          <a:p>
            <a:pPr lvl="1">
              <a:defRPr/>
            </a:pPr>
            <a:endParaRPr lang="en-US" sz="1800"/>
          </a:p>
          <a:p>
            <a:pPr lvl="1">
              <a:defRPr/>
            </a:pPr>
            <a:endParaRPr lang="en-US" sz="1800"/>
          </a:p>
          <a:p>
            <a:pPr lvl="1">
              <a:defRPr/>
            </a:pPr>
            <a:endParaRPr lang="en-US" sz="1800"/>
          </a:p>
          <a:p>
            <a:pPr lvl="1">
              <a:defRPr/>
            </a:pPr>
            <a:endParaRPr lang="en-US" sz="1800"/>
          </a:p>
          <a:p>
            <a:pPr lvl="1">
              <a:defRPr/>
            </a:pPr>
            <a:r>
              <a:rPr lang="ru-RU" sz="1800"/>
              <a:t>Любые стандартные преобразования выигрывают у пользовательских</a:t>
            </a:r>
            <a:endParaRPr/>
          </a:p>
          <a:p>
            <a:pPr lvl="1">
              <a:defRPr/>
            </a:pPr>
            <a:endParaRPr lang="ru-RU" sz="1800"/>
          </a:p>
          <a:p>
            <a:pPr marL="457200" lvl="1" indent="0">
              <a:buNone/>
              <a:defRPr/>
            </a:pPr>
            <a:endParaRPr lang="en-US" sz="1800"/>
          </a:p>
          <a:p>
            <a:pPr marL="457200" lvl="1" indent="0">
              <a:buNone/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04707"/>
            <a:ext cx="116712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Все стандартные преобразования равны</a:t>
            </a:r>
            <a:endParaRPr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14517" y="1729514"/>
            <a:ext cx="3901150" cy="1552071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14516" y="4232721"/>
            <a:ext cx="4303301" cy="16980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 lvl="1">
              <a:defRPr/>
            </a:pPr>
            <a:r>
              <a:rPr lang="ru-RU" sz="1800"/>
              <a:t>Троеточия проигрывают и стандартным и пользовательским преобразованиям</a:t>
            </a:r>
            <a:endParaRPr lang="en-US" sz="1800"/>
          </a:p>
          <a:p>
            <a:pPr lvl="1">
              <a:defRPr/>
            </a:pPr>
            <a:endParaRPr lang="en-US" sz="1800"/>
          </a:p>
          <a:p>
            <a:pPr lvl="1">
              <a:defRPr/>
            </a:pPr>
            <a:endParaRPr lang="en-US" sz="1800"/>
          </a:p>
          <a:p>
            <a:pPr lvl="1">
              <a:defRPr/>
            </a:pPr>
            <a:endParaRPr lang="en-US" sz="1800"/>
          </a:p>
          <a:p>
            <a:pPr lvl="1">
              <a:defRPr/>
            </a:pPr>
            <a:endParaRPr lang="en-US" sz="1800"/>
          </a:p>
          <a:p>
            <a:pPr lvl="1">
              <a:defRPr/>
            </a:pPr>
            <a:endParaRPr lang="en-US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r>
              <a:rPr lang="ru-RU" sz="1800"/>
              <a:t>Они выигрывают только у неправильных ссылок</a:t>
            </a:r>
            <a:endParaRPr/>
          </a:p>
          <a:p>
            <a:pPr lvl="1">
              <a:defRPr/>
            </a:pPr>
            <a:endParaRPr lang="ru-RU" sz="1800"/>
          </a:p>
          <a:p>
            <a:pPr marL="457200" lvl="1" indent="0">
              <a:buNone/>
              <a:defRPr/>
            </a:pPr>
            <a:endParaRPr lang="en-US" sz="1800"/>
          </a:p>
          <a:p>
            <a:pPr marL="457200" lvl="1" indent="0">
              <a:buNone/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04707"/>
            <a:ext cx="116712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Троеточия проигрывают почти всему</a:t>
            </a:r>
            <a:endParaRPr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985329" y="1770416"/>
            <a:ext cx="5167425" cy="1818381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85329" y="4745339"/>
            <a:ext cx="3702851" cy="15101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 lvl="1">
              <a:defRPr/>
            </a:pPr>
            <a:r>
              <a:rPr lang="ru-RU" sz="1800"/>
              <a:t>Начиная с С++11 перегрузки можно явно запрещать для конкретных аргументов</a:t>
            </a:r>
            <a:endParaRPr lang="en-US" sz="1800"/>
          </a:p>
          <a:p>
            <a:pPr lvl="1">
              <a:defRPr/>
            </a:pPr>
            <a:endParaRPr lang="en-US" sz="1800"/>
          </a:p>
          <a:p>
            <a:pPr lvl="1">
              <a:defRPr/>
            </a:pPr>
            <a:endParaRPr lang="en-US" sz="1800"/>
          </a:p>
          <a:p>
            <a:pPr lvl="1">
              <a:defRPr/>
            </a:pPr>
            <a:endParaRPr lang="en-US" sz="1800"/>
          </a:p>
          <a:p>
            <a:pPr lvl="1">
              <a:defRPr/>
            </a:pPr>
            <a:endParaRPr lang="en-US" sz="1800"/>
          </a:p>
          <a:p>
            <a:pPr lvl="1">
              <a:defRPr/>
            </a:pPr>
            <a:endParaRPr lang="en-US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marL="457200" lvl="1" indent="0">
              <a:buNone/>
              <a:defRPr/>
            </a:pPr>
            <a:endParaRPr lang="en-US" sz="1800"/>
          </a:p>
          <a:p>
            <a:pPr marL="457200" lvl="1" indent="0">
              <a:buNone/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04707"/>
            <a:ext cx="116712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Запрет перегрузок</a:t>
            </a:r>
            <a:endParaRPr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859420" y="1903934"/>
            <a:ext cx="7738067" cy="207840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 lvl="1">
              <a:defRPr/>
            </a:pPr>
            <a:r>
              <a:rPr lang="ru-RU" sz="1800"/>
              <a:t>«Для разрешения перегрузки есть набор простых мнемонических правил» (</a:t>
            </a:r>
            <a:r>
              <a:rPr lang="en-US" sz="1800"/>
              <a:t>@ </a:t>
            </a:r>
            <a:r>
              <a:rPr lang="ru-RU" sz="1800"/>
              <a:t>Константин Владимиров </a:t>
            </a:r>
            <a:r>
              <a:rPr lang="en-US" sz="1800"/>
              <a:t>aka </a:t>
            </a:r>
            <a:r>
              <a:rPr lang="en-US" sz="1800" u="sng">
                <a:hlinkClick r:id="rId2" tooltip="https://www.youtube.com/@tilir"/>
              </a:rPr>
              <a:t>https://www.youtube.com/@tilir</a:t>
            </a:r>
            <a:r>
              <a:rPr lang="ru-RU" sz="1800"/>
              <a:t>)</a:t>
            </a:r>
            <a:endParaRPr/>
          </a:p>
          <a:p>
            <a:pPr lvl="1">
              <a:defRPr/>
            </a:pPr>
            <a:endParaRPr lang="en-US" sz="1800"/>
          </a:p>
          <a:p>
            <a:pPr lvl="1">
              <a:defRPr/>
            </a:pPr>
            <a:r>
              <a:rPr lang="ru-RU" sz="1800"/>
              <a:t>Для обычных функций:</a:t>
            </a:r>
            <a:endParaRPr/>
          </a:p>
          <a:p>
            <a:pPr lvl="2">
              <a:defRPr/>
            </a:pPr>
            <a:r>
              <a:rPr lang="ru-RU" sz="1600"/>
              <a:t>Идеальное совпадение выигрывает</a:t>
            </a:r>
            <a:endParaRPr/>
          </a:p>
          <a:p>
            <a:pPr lvl="2">
              <a:defRPr/>
            </a:pPr>
            <a:r>
              <a:rPr lang="ru-RU" sz="1600"/>
              <a:t>Все стандартные преобразования равны</a:t>
            </a:r>
            <a:endParaRPr/>
          </a:p>
          <a:p>
            <a:pPr lvl="2">
              <a:defRPr/>
            </a:pPr>
            <a:r>
              <a:rPr lang="ru-RU" sz="1600"/>
              <a:t>Троеточия проигрывают почти всему</a:t>
            </a:r>
            <a:r>
              <a:rPr lang="en-US" sz="1600"/>
              <a:t> </a:t>
            </a:r>
            <a:endParaRPr/>
          </a:p>
          <a:p>
            <a:pPr lvl="1">
              <a:defRPr/>
            </a:pPr>
            <a:r>
              <a:rPr lang="ru-RU" sz="1800"/>
              <a:t>Для шаблонных функций</a:t>
            </a:r>
            <a:endParaRPr/>
          </a:p>
          <a:p>
            <a:pPr lvl="2">
              <a:defRPr/>
            </a:pPr>
            <a:r>
              <a:rPr lang="ru-RU" sz="1600">
                <a:solidFill>
                  <a:schemeClr val="accent1"/>
                </a:solidFill>
              </a:rPr>
              <a:t>Точно подходящая функция выигрывает у шаблона</a:t>
            </a:r>
            <a:endParaRPr/>
          </a:p>
          <a:p>
            <a:pPr lvl="2">
              <a:defRPr/>
            </a:pPr>
            <a:r>
              <a:rPr lang="ru-RU" sz="1600">
                <a:solidFill>
                  <a:schemeClr val="accent1"/>
                </a:solidFill>
              </a:rPr>
              <a:t>Более специальный шаблон выигрывает у менее специального</a:t>
            </a:r>
            <a:endParaRPr/>
          </a:p>
          <a:p>
            <a:pPr lvl="2">
              <a:defRPr/>
            </a:pPr>
            <a:r>
              <a:rPr lang="ru-RU" sz="1600">
                <a:solidFill>
                  <a:schemeClr val="accent1"/>
                </a:solidFill>
              </a:rPr>
              <a:t>Меньшее количество аргументов выигрывает против большего</a:t>
            </a:r>
            <a:endParaRPr lang="en-US" sz="1600">
              <a:solidFill>
                <a:schemeClr val="accent1"/>
              </a:solidFill>
            </a:endParaRPr>
          </a:p>
          <a:p>
            <a:pPr lvl="1">
              <a:defRPr/>
            </a:pPr>
            <a:endParaRPr lang="en-US" sz="1800"/>
          </a:p>
          <a:p>
            <a:pPr marL="457200" lvl="1" indent="0">
              <a:buNone/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04707"/>
            <a:ext cx="116712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Разрешение перегрузки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 lvl="1">
              <a:defRPr/>
            </a:pPr>
            <a:r>
              <a:rPr lang="ru-RU" sz="1800"/>
              <a:t>Это так, даже если шаблон подходит точно</a:t>
            </a:r>
            <a:endParaRPr lang="en-US" sz="1800"/>
          </a:p>
          <a:p>
            <a:pPr lvl="1">
              <a:defRPr/>
            </a:pPr>
            <a:endParaRPr lang="en-US" sz="1800"/>
          </a:p>
          <a:p>
            <a:pPr lvl="1">
              <a:defRPr/>
            </a:pPr>
            <a:endParaRPr lang="en-US" sz="1800"/>
          </a:p>
          <a:p>
            <a:pPr lvl="1">
              <a:defRPr/>
            </a:pPr>
            <a:endParaRPr lang="en-US" sz="1800"/>
          </a:p>
          <a:p>
            <a:pPr lvl="1">
              <a:defRPr/>
            </a:pPr>
            <a:r>
              <a:rPr lang="ru-RU" sz="1800"/>
              <a:t>Можно явно указать, что хотим вызвать шаблонную функцию</a:t>
            </a:r>
            <a:endParaRPr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r>
              <a:rPr lang="ru-RU" sz="1800"/>
              <a:t>Стандартные преобразования проигрывают шаблону</a:t>
            </a:r>
            <a:endParaRPr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marL="457200" lvl="1" indent="0">
              <a:buNone/>
              <a:defRPr/>
            </a:pPr>
            <a:endParaRPr lang="ru-RU" sz="1800"/>
          </a:p>
          <a:p>
            <a:pPr marL="457200" lvl="1" indent="0">
              <a:buNone/>
              <a:defRPr/>
            </a:pPr>
            <a:endParaRPr lang="en-US" sz="1800"/>
          </a:p>
          <a:p>
            <a:pPr marL="457200" lvl="1" indent="0">
              <a:buNone/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04707"/>
            <a:ext cx="116712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Точная функция выигрывает у шаблона</a:t>
            </a:r>
            <a:endParaRPr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949346" y="1743386"/>
            <a:ext cx="2212598" cy="1162259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49346" y="3314776"/>
            <a:ext cx="2545884" cy="1966334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949346" y="5878985"/>
            <a:ext cx="2705478" cy="4667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 lvl="1">
              <a:defRPr/>
            </a:pPr>
            <a:r>
              <a:rPr lang="ru-RU" sz="1800"/>
              <a:t>Как вы относитесь к такому коду? Как думаете, работает ли он?</a:t>
            </a:r>
            <a:endParaRPr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marL="457200" lvl="1" indent="0">
              <a:buNone/>
              <a:defRPr/>
            </a:pPr>
            <a:endParaRPr lang="ru-RU" sz="1800"/>
          </a:p>
          <a:p>
            <a:pPr marL="457200" lvl="1" indent="0">
              <a:buNone/>
              <a:defRPr/>
            </a:pPr>
            <a:endParaRPr lang="en-US" sz="1800"/>
          </a:p>
          <a:p>
            <a:pPr marL="457200" lvl="1" indent="0">
              <a:buNone/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04707"/>
            <a:ext cx="116712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Точная функция выигрывает у шаблона</a:t>
            </a:r>
            <a:endParaRPr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870179" y="2097279"/>
            <a:ext cx="5077534" cy="32103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 lvl="1">
              <a:defRPr/>
            </a:pPr>
            <a:r>
              <a:rPr lang="en-US" sz="1800"/>
              <a:t>OOPS :c</a:t>
            </a: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marL="457200" lvl="1" indent="0">
              <a:buNone/>
              <a:defRPr/>
            </a:pPr>
            <a:endParaRPr lang="ru-RU" sz="1800"/>
          </a:p>
          <a:p>
            <a:pPr marL="457200" lvl="1" indent="0">
              <a:buNone/>
              <a:defRPr/>
            </a:pPr>
            <a:endParaRPr lang="en-US" sz="1800"/>
          </a:p>
          <a:p>
            <a:pPr marL="457200" lvl="1" indent="0">
              <a:buNone/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04707"/>
            <a:ext cx="116712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Точная функция выигрывает у шаблона</a:t>
            </a:r>
            <a:endParaRPr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800449" y="1980703"/>
            <a:ext cx="6472022" cy="8235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 lvl="1">
              <a:defRPr/>
            </a:pPr>
            <a:r>
              <a:rPr lang="ru-RU" sz="1800"/>
              <a:t>Как вы относитесь к такому коду? Как думаете, работает ли он?</a:t>
            </a:r>
            <a:endParaRPr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marL="457200" lvl="1" indent="0">
              <a:buNone/>
              <a:defRPr/>
            </a:pPr>
            <a:endParaRPr lang="ru-RU" sz="1800"/>
          </a:p>
          <a:p>
            <a:pPr marL="457200" lvl="1" indent="0">
              <a:buNone/>
              <a:defRPr/>
            </a:pPr>
            <a:endParaRPr lang="en-US" sz="1800"/>
          </a:p>
          <a:p>
            <a:pPr marL="457200" lvl="1" indent="0">
              <a:buNone/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04707"/>
            <a:ext cx="116712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Точная функция выигрывает у шаблона</a:t>
            </a:r>
            <a:endParaRPr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870179" y="2097279"/>
            <a:ext cx="5077534" cy="32103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58307" y="1528146"/>
            <a:ext cx="11430086" cy="5252980"/>
          </a:xfrm>
        </p:spPr>
        <p:txBody>
          <a:bodyPr>
            <a:normAutofit/>
          </a:bodyPr>
          <a:lstStyle/>
          <a:p>
            <a:pPr lvl="1">
              <a:defRPr/>
            </a:pPr>
            <a:r>
              <a:rPr lang="ru-RU" sz="1800"/>
              <a:t>Кто скажет, почему для</a:t>
            </a:r>
            <a:r>
              <a:rPr lang="en-US" sz="1800"/>
              <a:t> </a:t>
            </a:r>
            <a:r>
              <a:rPr lang="ru-RU" sz="1800"/>
              <a:t>инициализации </a:t>
            </a:r>
            <a:r>
              <a:rPr lang="en-US" sz="1800"/>
              <a:t>x –</a:t>
            </a:r>
            <a:r>
              <a:rPr lang="ru-RU" sz="1800"/>
              <a:t> вызывается функция 4, а для</a:t>
            </a:r>
            <a:r>
              <a:rPr lang="en-US" sz="1800"/>
              <a:t> </a:t>
            </a:r>
            <a:r>
              <a:rPr lang="ru-RU" sz="1800"/>
              <a:t>инициализации у</a:t>
            </a:r>
            <a:r>
              <a:rPr lang="en-US" sz="1800"/>
              <a:t> –</a:t>
            </a:r>
            <a:r>
              <a:rPr lang="ru-RU" sz="1800"/>
              <a:t> вызывается функция 2? </a:t>
            </a:r>
            <a:endParaRPr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04707"/>
            <a:ext cx="1167122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Более специальный шаблон выигрывает у менее специального</a:t>
            </a:r>
            <a:endParaRPr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733614" y="2731997"/>
            <a:ext cx="6256846" cy="28452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58307" y="1528146"/>
            <a:ext cx="11430086" cy="5252980"/>
          </a:xfrm>
        </p:spPr>
        <p:txBody>
          <a:bodyPr>
            <a:normAutofit/>
          </a:bodyPr>
          <a:lstStyle/>
          <a:p>
            <a:pPr lvl="1">
              <a:defRPr/>
            </a:pPr>
            <a:endParaRPr lang="ru-RU" sz="1800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04707"/>
            <a:ext cx="1167122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Меньшее количество параметров выигрывает против большего</a:t>
            </a:r>
            <a:endParaRPr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69590" y="1869712"/>
            <a:ext cx="6083871" cy="16511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58307" y="1528146"/>
            <a:ext cx="11430086" cy="5252980"/>
          </a:xfrm>
        </p:spPr>
        <p:txBody>
          <a:bodyPr>
            <a:normAutofit/>
          </a:bodyPr>
          <a:lstStyle/>
          <a:p>
            <a:pPr lvl="1">
              <a:defRPr/>
            </a:pPr>
            <a:r>
              <a:rPr lang="ru-RU" sz="1800"/>
              <a:t>Представьте, что в комитете по стандартизации С++</a:t>
            </a:r>
            <a:endParaRPr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r>
              <a:rPr lang="ru-RU" sz="1800"/>
              <a:t>Как считаете: должна быть ошибка или вызов </a:t>
            </a:r>
            <a:r>
              <a:rPr lang="en-US" sz="1800"/>
              <a:t>public – </a:t>
            </a:r>
            <a:r>
              <a:rPr lang="ru-RU" sz="1800"/>
              <a:t>функции?</a:t>
            </a:r>
            <a:endParaRPr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04707"/>
            <a:ext cx="116712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Контроль доступа</a:t>
            </a:r>
            <a:endParaRPr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814993" y="1930973"/>
            <a:ext cx="3380991" cy="24235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58307" y="1528146"/>
            <a:ext cx="11430086" cy="5252980"/>
          </a:xfrm>
        </p:spPr>
        <p:txBody>
          <a:bodyPr>
            <a:normAutofit/>
          </a:bodyPr>
          <a:lstStyle/>
          <a:p>
            <a:pPr lvl="1">
              <a:defRPr/>
            </a:pPr>
            <a:r>
              <a:rPr lang="ru-RU" sz="1800"/>
              <a:t>Представьте, что в комитете по стандартизации С++</a:t>
            </a:r>
            <a:endParaRPr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endParaRPr lang="ru-RU" sz="1800"/>
          </a:p>
          <a:p>
            <a:pPr lvl="1">
              <a:defRPr/>
            </a:pPr>
            <a:r>
              <a:rPr lang="ru-RU" sz="1800"/>
              <a:t>Представьте, что метод </a:t>
            </a:r>
            <a:r>
              <a:rPr lang="en-US" sz="1800"/>
              <a:t>foo </a:t>
            </a:r>
            <a:r>
              <a:rPr lang="ru-RU" sz="1800"/>
              <a:t>будет в какой-то момент перенесен в публичную часть. Тогда все алгоритмы, завязанные на старом </a:t>
            </a:r>
            <a:r>
              <a:rPr lang="en-US" sz="1800"/>
              <a:t>overloading set, </a:t>
            </a:r>
            <a:r>
              <a:rPr lang="ru-RU" sz="1800"/>
              <a:t>начнут работать по-другому, а пользователь класса об этом даже не узнает.</a:t>
            </a:r>
            <a:endParaRPr/>
          </a:p>
          <a:p>
            <a:pPr lvl="1">
              <a:defRPr/>
            </a:pPr>
            <a:r>
              <a:rPr lang="ru-RU" sz="1800"/>
              <a:t>В стандарте – это ошибка. </a:t>
            </a:r>
            <a:endParaRPr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04707"/>
            <a:ext cx="116712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Контроль доступа</a:t>
            </a:r>
            <a:endParaRPr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814993" y="1930973"/>
            <a:ext cx="3380991" cy="24235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Для тех кто хочет почитать что-то еще</a:t>
            </a:r>
            <a:endParaRPr/>
          </a:p>
        </p:txBody>
      </p:sp>
      <p:sp>
        <p:nvSpPr>
          <p:cNvPr id="11" name="Объект 10"/>
          <p:cNvSpPr>
            <a:spLocks noGrp="1"/>
          </p:cNvSpPr>
          <p:nvPr>
            <p:ph idx="1"/>
          </p:nvPr>
        </p:nvSpPr>
        <p:spPr bwMode="auto">
          <a:xfrm>
            <a:off x="5301327" y="953835"/>
            <a:ext cx="6281873" cy="5248622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/>
              <a:t>Лекция разработана на базе открытых лекций </a:t>
            </a:r>
            <a:r>
              <a:rPr lang="ru-RU" u="sng"/>
              <a:t>Константина Владимирова </a:t>
            </a:r>
            <a:r>
              <a:rPr lang="ru-RU"/>
              <a:t>(МФТИ, </a:t>
            </a:r>
            <a:r>
              <a:rPr lang="en-US"/>
              <a:t>iLAB</a:t>
            </a:r>
            <a:r>
              <a:rPr lang="ru-RU"/>
              <a:t>) (Базовый курс, Лекции: 5, 6)   </a:t>
            </a:r>
            <a:r>
              <a:rPr lang="en-US" u="sng">
                <a:hlinkClick r:id="rId2" tooltip="https://www.youtube.com/@tilir"/>
              </a:rPr>
              <a:t>https://www.youtube.com/@tilir</a:t>
            </a: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 marL="0" indent="0">
              <a:buNone/>
              <a:defRPr/>
            </a:pPr>
            <a:r>
              <a:rPr lang="ru-RU"/>
              <a:t>Также полезно изучить:</a:t>
            </a:r>
            <a:endParaRPr/>
          </a:p>
          <a:p>
            <a:pPr>
              <a:defRPr/>
            </a:pPr>
            <a:r>
              <a:rPr lang="ru-RU"/>
              <a:t>Идиомы и паттерны проектирования в современном С++ // Ф.Г. </a:t>
            </a:r>
            <a:r>
              <a:rPr lang="ru-RU"/>
              <a:t>Пикус</a:t>
            </a:r>
            <a:r>
              <a:rPr lang="ru-RU"/>
              <a:t> </a:t>
            </a:r>
            <a:endParaRPr/>
          </a:p>
          <a:p>
            <a:pPr>
              <a:defRPr/>
            </a:pPr>
            <a:r>
              <a:rPr lang="ru-RU"/>
              <a:t>Эффективный и современный С++ // </a:t>
            </a:r>
            <a:r>
              <a:rPr lang="ru-RU"/>
              <a:t>С.Майерс</a:t>
            </a: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 marL="0" indent="0">
              <a:buNone/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Атлас">
  <a:themeElements>
    <a:clrScheme name="Атлас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10B6F4"/>
      </a:accent1>
      <a:accent2>
        <a:srgbClr val="3C78C3"/>
      </a:accent2>
      <a:accent3>
        <a:srgbClr val="9F52D0"/>
      </a:accent3>
      <a:accent4>
        <a:srgbClr val="D64198"/>
      </a:accent4>
      <a:accent5>
        <a:srgbClr val="DA2228"/>
      </a:accent5>
      <a:accent6>
        <a:srgbClr val="F18318"/>
      </a:accent6>
      <a:hlink>
        <a:srgbClr val="38DDEC"/>
      </a:hlink>
      <a:folHlink>
        <a:srgbClr val="A8DEE8"/>
      </a:folHlink>
    </a:clrScheme>
    <a:fontScheme name="Атлас">
      <a:majorFont>
        <a:latin typeface="Calibri Light"/>
        <a:ea typeface="Arial"/>
        <a:cs typeface="Arial"/>
      </a:majorFont>
      <a:minorFont>
        <a:latin typeface="Rockwell"/>
        <a:ea typeface="Arial"/>
        <a:cs typeface="Arial"/>
      </a:minorFont>
    </a:fontScheme>
    <a:fmtScheme name="Атлас">
      <a:fillStyleLst>
        <a:solidFill>
          <a:schemeClr val="phClr"/>
        </a:solidFill>
        <a:gradFill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TM16401371[[fn=Атлас]]</Template>
  <TotalTime>0</TotalTime>
  <Words>0</Words>
  <Application>R7-Office/2024.1.1.375</Application>
  <DocSecurity>0</DocSecurity>
  <PresentationFormat>Широкоэкранный</PresentationFormat>
  <Paragraphs>0</Paragraphs>
  <Slides>41</Slides>
  <Notes>41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0. Введение.</dc:title>
  <dc:subject/>
  <dc:creator>Василий Бугаев</dc:creator>
  <cp:keywords/>
  <dc:description/>
  <dc:identifier/>
  <dc:language/>
  <cp:lastModifiedBy>Кирилл Чубанов</cp:lastModifiedBy>
  <cp:revision>117</cp:revision>
  <dcterms:created xsi:type="dcterms:W3CDTF">2023-01-29T12:06:08Z</dcterms:created>
  <dcterms:modified xsi:type="dcterms:W3CDTF">2026-03-20T07:35:50Z</dcterms:modified>
  <cp:category/>
  <cp:contentStatus/>
  <cp:version/>
</cp:coreProperties>
</file>