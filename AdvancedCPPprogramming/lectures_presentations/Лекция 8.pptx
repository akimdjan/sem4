
<file path=[Content_Types].xml><?xml version="1.0" encoding="utf-8"?>
<Types xmlns="http://schemas.openxmlformats.org/package/2006/content-types">
  <Default Extension="wmf" ContentType="image/x-wmf"/>
  <Default Extension="png" ContentType="image/png"/>
  <Default Extension="jpeg" ContentType="image/jpeg"/>
  <Default Extension="xml" ContentType="application/xml"/>
  <Default Extension="rels" ContentType="application/vnd.openxmlformats-package.relationships+xml"/>
  <Default Extension="bin" ContentType="application/vnd.openxmlformats-officedocument.oleObject"/>
  <Override PartName="/ppt/slides/slide25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19.xml" ContentType="application/vnd.openxmlformats-officedocument.presentationml.slide+xml"/>
  <Override PartName="/ppt/slides/slide18.xml" ContentType="application/vnd.openxmlformats-officedocument.presentationml.slide+xml"/>
  <Override PartName="/ppt/slides/slide17.xml" ContentType="application/vnd.openxmlformats-officedocument.presentationml.slide+xml"/>
  <Override PartName="/ppt/slides/slide13.xml" ContentType="application/vnd.openxmlformats-officedocument.presentationml.slide+xml"/>
  <Override PartName="/ppt/slides/slide20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12.xml" ContentType="application/vnd.openxmlformats-officedocument.presentationml.slide+xml"/>
  <Override PartName="/ppt/slides/slide8.xml" ContentType="application/vnd.openxmlformats-officedocument.presentationml.slide+xml"/>
  <Override PartName="/ppt/slideLayouts/slideLayout9.xml" ContentType="application/vnd.openxmlformats-officedocument.presentationml.slideLayout+xml"/>
  <Override PartName="/ppt/slides/slide27.xml" ContentType="application/vnd.openxmlformats-officedocument.presentationml.slide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1.xml" ContentType="application/vnd.openxmlformats-officedocument.presentationml.slide+xml"/>
  <Override PartName="/ppt/slides/slide26.xml" ContentType="application/vnd.openxmlformats-officedocument.presentationml.slide+xml"/>
  <Override PartName="/ppt/slideLayouts/slideLayout8.xml" ContentType="application/vnd.openxmlformats-officedocument.presentationml.slideLayout+xml"/>
  <Override PartName="/ppt/slides/slide9.xml" ContentType="application/vnd.openxmlformats-officedocument.presentationml.slide+xml"/>
  <Override PartName="/ppt/slideLayouts/slideLayout2.xml" ContentType="application/vnd.openxmlformats-officedocument.presentationml.slideLayout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14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4.xml" ContentType="application/vnd.openxmlformats-officedocument.presentationml.slide+xml"/>
  <Override PartName="/ppt/slideLayouts/slideLayout11.xml" ContentType="application/vnd.openxmlformats-officedocument.presentationml.slideLayout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slides/slide16.xml" ContentType="application/vnd.openxmlformats-officedocument.presentationml.slide+xml"/>
  <Override PartName="/ppt/slideLayouts/slideLayout1.xml" ContentType="application/vnd.openxmlformats-officedocument.presentationml.slideLayout+xml"/>
  <Override PartName="/ppt/slides/slide2.xml" ContentType="application/vnd.openxmlformats-officedocument.presentationml.slide+xml"/>
  <Override PartName="/ppt/viewProps.xml" ContentType="application/vnd.openxmlformats-officedocument.presentationml.viewProps+xml"/>
  <Override PartName="/ppt/slideLayouts/slideLayout6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</p:sldIdLst>
  <p:sldSz cx="12192000" cy="6858000"/>
  <p:notesSz cx="12192000" cy="6858000"/>
  <p:defaultTextStyle>
    <a:defPPr>
      <a:defRPr lang="en-US"/>
    </a:defPPr>
    <a:lvl1pPr marL="0" algn="l" defTabSz="4572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10" d="100"/>
          <a:sy n="110" d="100"/>
        </p:scale>
        <p:origin x="492" y="96"/>
      </p:cViewPr>
      <p:guideLst>
        <p:guide pos="2160" orient="horz"/>
        <p:guide pos="3840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presProps" Target="presProps.xml" /><Relationship Id="rId31" Type="http://schemas.openxmlformats.org/officeDocument/2006/relationships/tableStyles" Target="tableStyles.xml" /><Relationship Id="rId32" Type="http://schemas.openxmlformats.org/officeDocument/2006/relationships/viewProps" Target="viewProps.xml" 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itle" userDrawn="1">
  <p:cSld name="Титульны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89" name="Group 88"/>
          <p:cNvGrpSpPr/>
          <p:nvPr/>
        </p:nvGrpSpPr>
        <p:grpSpPr bwMode="auto"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90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 fill="norm" stroke="1" extrusionOk="0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1" name="Freeform 6"/>
            <p:cNvSpPr/>
            <p:nvPr/>
          </p:nvSpPr>
          <p:spPr bwMode="auto">
            <a:xfrm>
              <a:off x="670451" y="2018235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 fill="norm" stroke="1" extrusionOk="0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2" name="Freeform 7"/>
            <p:cNvSpPr/>
            <p:nvPr/>
          </p:nvSpPr>
          <p:spPr bwMode="auto">
            <a:xfrm>
              <a:off x="251350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 fill="norm" stroke="1" extrusionOk="0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93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 fill="norm" stroke="1" extrusionOk="0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4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 fill="norm" stroke="1" extrusionOk="0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5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 fill="norm" stroke="1" extrusionOk="0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6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 fill="norm" stroke="1" extrusionOk="0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7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 fill="norm" stroke="1" extrusionOk="0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8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 fill="norm" stroke="1" extrusionOk="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99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 fill="norm" stroke="1" extrusionOk="0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100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 fill="norm" stroke="1" extrusionOk="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</p:spPr>
        </p:sp>
        <p:sp>
          <p:nvSpPr>
            <p:cNvPr id="101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 fill="norm" stroke="1" extrusionOk="0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</p:spPr>
        </p:sp>
        <p:sp>
          <p:nvSpPr>
            <p:cNvPr id="102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 fill="norm" stroke="1" extrusionOk="0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103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 fill="norm" stroke="1" extrusionOk="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104" name="Freeform 19"/>
            <p:cNvSpPr/>
            <p:nvPr/>
          </p:nvSpPr>
          <p:spPr bwMode="auto">
            <a:xfrm>
              <a:off x="6877576" y="5579"/>
              <a:ext cx="5037138" cy="6861549"/>
            </a:xfrm>
            <a:custGeom>
              <a:avLst/>
              <a:gdLst/>
              <a:ahLst/>
              <a:cxnLst/>
              <a:rect l="0" t="0" r="r" b="b"/>
              <a:pathLst>
                <a:path w="1058" h="1439" fill="norm" stroke="1" extrusionOk="0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105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 fill="norm" stroke="1" extrusionOk="0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106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 fill="norm" stroke="1" extrusionOk="0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107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 fill="norm" stroke="1" extrusionOk="0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108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 fill="norm" stroke="1" extrusionOk="0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</p:grpSp>
      <p:grpSp>
        <p:nvGrpSpPr>
          <p:cNvPr id="9" name="Group 8"/>
          <p:cNvGrpSpPr/>
          <p:nvPr/>
        </p:nvGrpSpPr>
        <p:grpSpPr bwMode="auto">
          <a:xfrm>
            <a:off x="1669293" y="1186483"/>
            <a:ext cx="8848345" cy="4477933"/>
            <a:chOff x="1669293" y="1186483"/>
            <a:chExt cx="8848345" cy="4477933"/>
          </a:xfrm>
        </p:grpSpPr>
        <p:sp>
          <p:nvSpPr>
            <p:cNvPr id="39" name="Rectangle 38"/>
            <p:cNvSpPr/>
            <p:nvPr/>
          </p:nvSpPr>
          <p:spPr bwMode="auto">
            <a:xfrm>
              <a:off x="1674042" y="1186483"/>
              <a:ext cx="8843596" cy="71618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0" name="Isosceles Triangle 39"/>
            <p:cNvSpPr/>
            <p:nvPr/>
          </p:nvSpPr>
          <p:spPr bwMode="auto">
            <a:xfrm rot="10800000">
              <a:off x="5892384" y="5313353"/>
              <a:ext cx="407232" cy="351063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1" name="Rectangle 40"/>
            <p:cNvSpPr/>
            <p:nvPr/>
          </p:nvSpPr>
          <p:spPr bwMode="auto">
            <a:xfrm>
              <a:off x="1669293" y="1991156"/>
              <a:ext cx="8845667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 bwMode="auto">
          <a:xfrm>
            <a:off x="1759236" y="2075504"/>
            <a:ext cx="8679915" cy="1748729"/>
          </a:xfrm>
        </p:spPr>
        <p:txBody>
          <a:bodyPr bIns="0" anchor="b">
            <a:normAutofit/>
          </a:bodyPr>
          <a:lstStyle>
            <a:lvl1pPr algn="ctr">
              <a:lnSpc>
                <a:spcPct val="80000"/>
              </a:lnSpc>
              <a:defRPr sz="5400" spc="-150">
                <a:solidFill>
                  <a:srgbClr val="FFFEFF"/>
                </a:solidFill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auto">
          <a:xfrm>
            <a:off x="1759237" y="3906266"/>
            <a:ext cx="8673427" cy="1322587"/>
          </a:xfrm>
        </p:spPr>
        <p:txBody>
          <a:bodyPr t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0">
                <a:solidFill>
                  <a:srgbClr val="FFFEFF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ru-RU"/>
              <a:t>Образец подзаголовка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>
          <a:xfrm>
            <a:off x="804672" y="320040"/>
            <a:ext cx="3657600" cy="320040"/>
          </a:xfrm>
        </p:spPr>
        <p:txBody>
          <a:bodyPr vert="horz" lIns="91440" tIns="45720" rIns="91440" bIns="45720" rtlCol="0" anchor="ctr"/>
          <a:lstStyle>
            <a:lvl1pPr>
              <a:defRPr lang="en-US"/>
            </a:lvl1pPr>
          </a:lstStyle>
          <a:p>
            <a:pPr>
              <a:defRPr/>
            </a:pPr>
            <a:fld id="{5B80BED0-FAE8-41EC-8396-63CD87AA7042}" type="datetimeFigureOut">
              <a:rPr lang="ru-RU"/>
              <a:t/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804672" y="6227064"/>
            <a:ext cx="10588752" cy="320040"/>
          </a:xfrm>
        </p:spPr>
        <p:txBody>
          <a:bodyPr/>
          <a:lstStyle>
            <a:lvl1pPr algn="ctr"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0469880" y="320040"/>
            <a:ext cx="914400" cy="320040"/>
          </a:xfrm>
        </p:spPr>
        <p:txBody>
          <a:bodyPr/>
          <a:lstStyle/>
          <a:p>
            <a:pPr>
              <a:defRPr/>
            </a:pPr>
            <a:fld id="{B6F2AEF6-EDA8-41E7-B101-D236B087DA86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obj" userDrawn="1">
  <p:cSld name="Заголовок и объек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80" name="Group 79"/>
          <p:cNvGrpSpPr/>
          <p:nvPr/>
        </p:nvGrpSpPr>
        <p:grpSpPr bwMode="auto"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81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 fill="norm" stroke="1" extrusionOk="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2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 fill="norm" stroke="1" extrusionOk="0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3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 fill="norm" stroke="1" extrusionOk="0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4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 fill="norm" stroke="1" extrusionOk="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85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 fill="norm" stroke="1" extrusionOk="0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86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 fill="norm" stroke="1" extrusionOk="0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87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 fill="norm" stroke="1" extrusionOk="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8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 fill="norm" stroke="1" extrusionOk="0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9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 fill="norm" stroke="1" extrusionOk="0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0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 fill="norm" stroke="1" extrusionOk="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1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 fill="norm" stroke="1" extrusionOk="0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2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 fill="norm" stroke="1" extrusionOk="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3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 fill="norm" stroke="1" extrusionOk="0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4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 fill="norm" stroke="1" extrusionOk="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5" name="Freeform 19"/>
            <p:cNvSpPr/>
            <p:nvPr/>
          </p:nvSpPr>
          <p:spPr bwMode="auto">
            <a:xfrm>
              <a:off x="11287125" y="6049962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 fill="norm" stroke="1" extrusionOk="0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6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 fill="norm" stroke="1" extrusionOk="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</p:spPr>
        </p:sp>
        <p:sp>
          <p:nvSpPr>
            <p:cNvPr id="97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 fill="norm" stroke="1" extrusionOk="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</p:spPr>
        </p:sp>
        <p:sp>
          <p:nvSpPr>
            <p:cNvPr id="98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 fill="norm" stroke="1" extrusionOk="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9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 fill="norm" stroke="1" extrusionOk="0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100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 fill="norm" stroke="1" extrusionOk="0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101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 fill="norm" stroke="1" extrusionOk="0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</p:grpSp>
      <p:grpSp>
        <p:nvGrpSpPr>
          <p:cNvPr id="27" name="Group 26"/>
          <p:cNvGrpSpPr/>
          <p:nvPr/>
        </p:nvGrpSpPr>
        <p:grpSpPr bwMode="auto"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8" name="Rectangle 27"/>
            <p:cNvSpPr/>
            <p:nvPr/>
          </p:nvSpPr>
          <p:spPr bwMode="auto"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2"/>
            <p:cNvSpPr/>
            <p:nvPr/>
          </p:nvSpPr>
          <p:spPr bwMode="auto">
            <a:xfrm rot="10800000">
              <a:off x="2380224" y="5014786"/>
              <a:ext cx="315988" cy="272403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 bwMode="auto">
            <a:xfrm>
              <a:off x="704075" y="2392840"/>
              <a:ext cx="3668283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888631" y="2349925"/>
            <a:ext cx="3498978" cy="245644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auto">
          <a:xfrm>
            <a:off x="5118447" y="803186"/>
            <a:ext cx="6281873" cy="5248622"/>
          </a:xfrm>
        </p:spPr>
        <p:txBody>
          <a:bodyPr anchor="ctr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80BED0-FAE8-41EC-8396-63CD87AA7042}" type="datetimeFigureOut">
              <a:rPr lang="ru-RU"/>
              <a:t/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2AEF6-EDA8-41E7-B101-D236B087DA86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secHead" userDrawn="1">
  <p:cSld name="Заголовок раздел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77" name="Group 76"/>
          <p:cNvGrpSpPr/>
          <p:nvPr/>
        </p:nvGrpSpPr>
        <p:grpSpPr bwMode="auto"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78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 fill="norm" stroke="1" extrusionOk="0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79" name="Freeform 6"/>
            <p:cNvSpPr/>
            <p:nvPr/>
          </p:nvSpPr>
          <p:spPr bwMode="auto">
            <a:xfrm>
              <a:off x="670451" y="2018235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 fill="norm" stroke="1" extrusionOk="0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0" name="Freeform 7"/>
            <p:cNvSpPr/>
            <p:nvPr/>
          </p:nvSpPr>
          <p:spPr bwMode="auto">
            <a:xfrm>
              <a:off x="251350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 fill="norm" stroke="1" extrusionOk="0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81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 fill="norm" stroke="1" extrusionOk="0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2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 fill="norm" stroke="1" extrusionOk="0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3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 fill="norm" stroke="1" extrusionOk="0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4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 fill="norm" stroke="1" extrusionOk="0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5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 fill="norm" stroke="1" extrusionOk="0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6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 fill="norm" stroke="1" extrusionOk="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87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 fill="norm" stroke="1" extrusionOk="0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88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 fill="norm" stroke="1" extrusionOk="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</p:spPr>
        </p:sp>
        <p:sp>
          <p:nvSpPr>
            <p:cNvPr id="89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 fill="norm" stroke="1" extrusionOk="0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</p:spPr>
        </p:sp>
        <p:sp>
          <p:nvSpPr>
            <p:cNvPr id="90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 fill="norm" stroke="1" extrusionOk="0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1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 fill="norm" stroke="1" extrusionOk="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2" name="Freeform 19"/>
            <p:cNvSpPr/>
            <p:nvPr/>
          </p:nvSpPr>
          <p:spPr bwMode="auto">
            <a:xfrm>
              <a:off x="6877576" y="5579"/>
              <a:ext cx="5037138" cy="6861549"/>
            </a:xfrm>
            <a:custGeom>
              <a:avLst/>
              <a:gdLst/>
              <a:ahLst/>
              <a:cxnLst/>
              <a:rect l="0" t="0" r="r" b="b"/>
              <a:pathLst>
                <a:path w="1058" h="1439" fill="norm" stroke="1" extrusionOk="0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3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 fill="norm" stroke="1" extrusionOk="0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4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 fill="norm" stroke="1" extrusionOk="0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5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 fill="norm" stroke="1" extrusionOk="0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96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 fill="norm" stroke="1" extrusionOk="0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</p:grpSp>
      <p:grpSp>
        <p:nvGrpSpPr>
          <p:cNvPr id="9" name="Group 8"/>
          <p:cNvGrpSpPr/>
          <p:nvPr/>
        </p:nvGrpSpPr>
        <p:grpSpPr bwMode="auto">
          <a:xfrm>
            <a:off x="3259545" y="1186483"/>
            <a:ext cx="5666145" cy="4477933"/>
            <a:chOff x="3259545" y="1186483"/>
            <a:chExt cx="5666145" cy="4477933"/>
          </a:xfrm>
        </p:grpSpPr>
        <p:sp>
          <p:nvSpPr>
            <p:cNvPr id="99" name="Rectangle 98"/>
            <p:cNvSpPr/>
            <p:nvPr/>
          </p:nvSpPr>
          <p:spPr bwMode="auto">
            <a:xfrm>
              <a:off x="3259545" y="1186483"/>
              <a:ext cx="5657881" cy="71618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0" name="Isosceles Triangle 39"/>
            <p:cNvSpPr/>
            <p:nvPr/>
          </p:nvSpPr>
          <p:spPr bwMode="auto">
            <a:xfrm rot="10800000">
              <a:off x="5892384" y="5313353"/>
              <a:ext cx="407232" cy="351063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1" name="Rectangle 100"/>
            <p:cNvSpPr/>
            <p:nvPr/>
          </p:nvSpPr>
          <p:spPr bwMode="auto">
            <a:xfrm>
              <a:off x="3259545" y="1991156"/>
              <a:ext cx="5666145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3344216" y="2074729"/>
            <a:ext cx="5490224" cy="1689390"/>
          </a:xfrm>
        </p:spPr>
        <p:txBody>
          <a:bodyPr bIns="0" anchor="b">
            <a:normAutofit/>
          </a:bodyPr>
          <a:lstStyle>
            <a:lvl1pPr algn="ctr">
              <a:defRPr sz="4400">
                <a:solidFill>
                  <a:srgbClr val="FFFEFF"/>
                </a:solidFill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3344215" y="3846851"/>
            <a:ext cx="5490223" cy="1383770"/>
          </a:xfrm>
        </p:spPr>
        <p:txBody>
          <a:bodyPr tIns="0">
            <a:normAutofit/>
          </a:bodyPr>
          <a:lstStyle>
            <a:lvl1pPr marL="0" indent="0" algn="ctr">
              <a:buNone/>
              <a:defRPr sz="1800">
                <a:solidFill>
                  <a:srgbClr val="FFFE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>
          <a:xfrm>
            <a:off x="804672" y="320040"/>
            <a:ext cx="3657600" cy="320040"/>
          </a:xfrm>
        </p:spPr>
        <p:txBody>
          <a:bodyPr/>
          <a:lstStyle/>
          <a:p>
            <a:pPr>
              <a:defRPr/>
            </a:pPr>
            <a:fld id="{5B80BED0-FAE8-41EC-8396-63CD87AA7042}" type="datetimeFigureOut">
              <a:rPr lang="ru-RU"/>
              <a:t/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804672" y="6227064"/>
            <a:ext cx="10588752" cy="320040"/>
          </a:xfrm>
        </p:spPr>
        <p:txBody>
          <a:bodyPr/>
          <a:lstStyle>
            <a:lvl1pPr algn="ctr"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0469880" y="320040"/>
            <a:ext cx="914400" cy="320040"/>
          </a:xfrm>
        </p:spPr>
        <p:txBody>
          <a:bodyPr/>
          <a:lstStyle/>
          <a:p>
            <a:pPr>
              <a:defRPr/>
            </a:pPr>
            <a:fld id="{B6F2AEF6-EDA8-41E7-B101-D236B087DA86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woObj" userDrawn="1">
  <p:cSld name="Два объект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37" name="Group 36"/>
          <p:cNvGrpSpPr/>
          <p:nvPr/>
        </p:nvGrpSpPr>
        <p:grpSpPr bwMode="auto"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38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 fill="norm" stroke="1" extrusionOk="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39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 fill="norm" stroke="1" extrusionOk="0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40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 fill="norm" stroke="1" extrusionOk="0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41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 fill="norm" stroke="1" extrusionOk="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42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 fill="norm" stroke="1" extrusionOk="0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43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 fill="norm" stroke="1" extrusionOk="0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44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 fill="norm" stroke="1" extrusionOk="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45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 fill="norm" stroke="1" extrusionOk="0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46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 fill="norm" stroke="1" extrusionOk="0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47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 fill="norm" stroke="1" extrusionOk="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48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 fill="norm" stroke="1" extrusionOk="0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49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 fill="norm" stroke="1" extrusionOk="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50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 fill="norm" stroke="1" extrusionOk="0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51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 fill="norm" stroke="1" extrusionOk="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52" name="Freeform 19"/>
            <p:cNvSpPr/>
            <p:nvPr/>
          </p:nvSpPr>
          <p:spPr bwMode="auto">
            <a:xfrm>
              <a:off x="11287125" y="6049962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 fill="norm" stroke="1" extrusionOk="0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53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 fill="norm" stroke="1" extrusionOk="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</p:spPr>
        </p:sp>
        <p:sp>
          <p:nvSpPr>
            <p:cNvPr id="54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 fill="norm" stroke="1" extrusionOk="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</p:spPr>
        </p:sp>
        <p:sp>
          <p:nvSpPr>
            <p:cNvPr id="55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 fill="norm" stroke="1" extrusionOk="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56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 fill="norm" stroke="1" extrusionOk="0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57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 fill="norm" stroke="1" extrusionOk="0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58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 fill="norm" stroke="1" extrusionOk="0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</p:grpSp>
      <p:grpSp>
        <p:nvGrpSpPr>
          <p:cNvPr id="59" name="Group 58"/>
          <p:cNvGrpSpPr/>
          <p:nvPr/>
        </p:nvGrpSpPr>
        <p:grpSpPr bwMode="auto"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60" name="Rectangle 59"/>
            <p:cNvSpPr/>
            <p:nvPr/>
          </p:nvSpPr>
          <p:spPr bwMode="auto"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1" name="Isosceles Triangle 22"/>
            <p:cNvSpPr/>
            <p:nvPr/>
          </p:nvSpPr>
          <p:spPr bwMode="auto">
            <a:xfrm rot="10800000">
              <a:off x="2380224" y="5014786"/>
              <a:ext cx="315988" cy="272403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2" name="Rectangle 61"/>
            <p:cNvSpPr/>
            <p:nvPr/>
          </p:nvSpPr>
          <p:spPr bwMode="auto">
            <a:xfrm>
              <a:off x="704075" y="2392840"/>
              <a:ext cx="3668283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889000" y="2339669"/>
            <a:ext cx="3500828" cy="2470065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5120878" y="803187"/>
            <a:ext cx="6269591" cy="2382651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5118447" y="3672161"/>
            <a:ext cx="6272022" cy="2383586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auto">
          <a:xfrm>
            <a:off x="804672" y="320040"/>
            <a:ext cx="3657600" cy="320040"/>
          </a:xfrm>
        </p:spPr>
        <p:txBody>
          <a:bodyPr/>
          <a:lstStyle/>
          <a:p>
            <a:pPr>
              <a:defRPr/>
            </a:pPr>
            <a:fld id="{5B80BED0-FAE8-41EC-8396-63CD87AA7042}" type="datetimeFigureOut">
              <a:rPr lang="ru-RU"/>
              <a:t/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auto">
          <a:xfrm>
            <a:off x="804672" y="6227064"/>
            <a:ext cx="10588752" cy="320040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auto">
          <a:xfrm>
            <a:off x="10469880" y="320040"/>
            <a:ext cx="914400" cy="320040"/>
          </a:xfrm>
        </p:spPr>
        <p:txBody>
          <a:bodyPr/>
          <a:lstStyle/>
          <a:p>
            <a:pPr>
              <a:defRPr/>
            </a:pPr>
            <a:fld id="{B6F2AEF6-EDA8-41E7-B101-D236B087DA86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woTxTwoObj" userDrawn="1">
  <p:cSld name="Сравн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39" name="Group 38"/>
          <p:cNvGrpSpPr/>
          <p:nvPr/>
        </p:nvGrpSpPr>
        <p:grpSpPr bwMode="auto"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40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 fill="norm" stroke="1" extrusionOk="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41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 fill="norm" stroke="1" extrusionOk="0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42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 fill="norm" stroke="1" extrusionOk="0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43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 fill="norm" stroke="1" extrusionOk="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44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 fill="norm" stroke="1" extrusionOk="0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45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 fill="norm" stroke="1" extrusionOk="0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46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 fill="norm" stroke="1" extrusionOk="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47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 fill="norm" stroke="1" extrusionOk="0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48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 fill="norm" stroke="1" extrusionOk="0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49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 fill="norm" stroke="1" extrusionOk="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50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 fill="norm" stroke="1" extrusionOk="0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51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 fill="norm" stroke="1" extrusionOk="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52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 fill="norm" stroke="1" extrusionOk="0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53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 fill="norm" stroke="1" extrusionOk="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54" name="Freeform 19"/>
            <p:cNvSpPr/>
            <p:nvPr/>
          </p:nvSpPr>
          <p:spPr bwMode="auto">
            <a:xfrm>
              <a:off x="11287125" y="6049962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 fill="norm" stroke="1" extrusionOk="0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55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 fill="norm" stroke="1" extrusionOk="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</p:spPr>
        </p:sp>
        <p:sp>
          <p:nvSpPr>
            <p:cNvPr id="56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 fill="norm" stroke="1" extrusionOk="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</p:spPr>
        </p:sp>
        <p:sp>
          <p:nvSpPr>
            <p:cNvPr id="57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 fill="norm" stroke="1" extrusionOk="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58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 fill="norm" stroke="1" extrusionOk="0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59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 fill="norm" stroke="1" extrusionOk="0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60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 fill="norm" stroke="1" extrusionOk="0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</p:grpSp>
      <p:grpSp>
        <p:nvGrpSpPr>
          <p:cNvPr id="61" name="Group 60"/>
          <p:cNvGrpSpPr/>
          <p:nvPr/>
        </p:nvGrpSpPr>
        <p:grpSpPr bwMode="auto"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62" name="Rectangle 61"/>
            <p:cNvSpPr/>
            <p:nvPr/>
          </p:nvSpPr>
          <p:spPr bwMode="auto"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3" name="Isosceles Triangle 22"/>
            <p:cNvSpPr/>
            <p:nvPr/>
          </p:nvSpPr>
          <p:spPr bwMode="auto">
            <a:xfrm rot="10800000">
              <a:off x="2380224" y="5014786"/>
              <a:ext cx="315988" cy="272403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4" name="Rectangle 63"/>
            <p:cNvSpPr/>
            <p:nvPr/>
          </p:nvSpPr>
          <p:spPr bwMode="auto">
            <a:xfrm>
              <a:off x="704075" y="2392840"/>
              <a:ext cx="3668283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889001" y="2363915"/>
            <a:ext cx="3500828" cy="2460497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5125137" y="803185"/>
            <a:ext cx="6265088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all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5125305" y="1488985"/>
            <a:ext cx="6264350" cy="1696853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5118653" y="3665887"/>
            <a:ext cx="6264414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all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5118447" y="4351687"/>
            <a:ext cx="6265588" cy="170406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 bwMode="auto">
          <a:xfrm>
            <a:off x="804672" y="320040"/>
            <a:ext cx="3657600" cy="320040"/>
          </a:xfrm>
        </p:spPr>
        <p:txBody>
          <a:bodyPr/>
          <a:lstStyle/>
          <a:p>
            <a:pPr>
              <a:defRPr/>
            </a:pPr>
            <a:fld id="{5B80BED0-FAE8-41EC-8396-63CD87AA7042}" type="datetimeFigureOut">
              <a:rPr lang="ru-RU"/>
              <a:t/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 bwMode="auto">
          <a:xfrm>
            <a:off x="804672" y="6227064"/>
            <a:ext cx="10588752" cy="320040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 bwMode="auto">
          <a:xfrm>
            <a:off x="10469880" y="320040"/>
            <a:ext cx="914400" cy="320040"/>
          </a:xfrm>
        </p:spPr>
        <p:txBody>
          <a:bodyPr/>
          <a:lstStyle/>
          <a:p>
            <a:pPr>
              <a:defRPr/>
            </a:pPr>
            <a:fld id="{B6F2AEF6-EDA8-41E7-B101-D236B087DA86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itleOnly" userDrawn="1">
  <p:cSld name="Только заголовок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77" name="Group 76"/>
          <p:cNvGrpSpPr/>
          <p:nvPr/>
        </p:nvGrpSpPr>
        <p:grpSpPr bwMode="auto"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8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 fill="norm" stroke="1" extrusionOk="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79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 fill="norm" stroke="1" extrusionOk="0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0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 fill="norm" stroke="1" extrusionOk="0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1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 fill="norm" stroke="1" extrusionOk="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82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 fill="norm" stroke="1" extrusionOk="0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83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 fill="norm" stroke="1" extrusionOk="0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84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 fill="norm" stroke="1" extrusionOk="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5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 fill="norm" stroke="1" extrusionOk="0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6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 fill="norm" stroke="1" extrusionOk="0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7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 fill="norm" stroke="1" extrusionOk="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8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 fill="norm" stroke="1" extrusionOk="0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9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 fill="norm" stroke="1" extrusionOk="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0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 fill="norm" stroke="1" extrusionOk="0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1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 fill="norm" stroke="1" extrusionOk="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2" name="Freeform 19"/>
            <p:cNvSpPr/>
            <p:nvPr/>
          </p:nvSpPr>
          <p:spPr bwMode="auto">
            <a:xfrm>
              <a:off x="11287125" y="6049962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 fill="norm" stroke="1" extrusionOk="0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3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 fill="norm" stroke="1" extrusionOk="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</p:spPr>
        </p:sp>
        <p:sp>
          <p:nvSpPr>
            <p:cNvPr id="94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 fill="norm" stroke="1" extrusionOk="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</p:spPr>
        </p:sp>
        <p:sp>
          <p:nvSpPr>
            <p:cNvPr id="95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 fill="norm" stroke="1" extrusionOk="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6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 fill="norm" stroke="1" extrusionOk="0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7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 fill="norm" stroke="1" extrusionOk="0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8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 fill="norm" stroke="1" extrusionOk="0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</p:grpSp>
      <p:grpSp>
        <p:nvGrpSpPr>
          <p:cNvPr id="24" name="Group 23"/>
          <p:cNvGrpSpPr/>
          <p:nvPr/>
        </p:nvGrpSpPr>
        <p:grpSpPr bwMode="auto"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5" name="Rectangle 24"/>
            <p:cNvSpPr/>
            <p:nvPr/>
          </p:nvSpPr>
          <p:spPr bwMode="auto"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Isosceles Triangle 22"/>
            <p:cNvSpPr/>
            <p:nvPr/>
          </p:nvSpPr>
          <p:spPr bwMode="auto">
            <a:xfrm rot="10800000">
              <a:off x="2380224" y="5014786"/>
              <a:ext cx="315988" cy="272403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6"/>
            <p:cNvSpPr/>
            <p:nvPr/>
          </p:nvSpPr>
          <p:spPr bwMode="auto">
            <a:xfrm>
              <a:off x="704075" y="2392840"/>
              <a:ext cx="3668283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888632" y="2349925"/>
            <a:ext cx="3501196" cy="245644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80BED0-FAE8-41EC-8396-63CD87AA7042}" type="datetimeFigureOut">
              <a:rPr lang="ru-RU"/>
              <a:t/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2AEF6-EDA8-41E7-B101-D236B087DA86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blank" userDrawn="1">
  <p:cSld name="Пусто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 bwMode="auto">
          <a:xfrm>
            <a:off x="804672" y="320040"/>
            <a:ext cx="3657600" cy="320040"/>
          </a:xfrm>
        </p:spPr>
        <p:txBody>
          <a:bodyPr/>
          <a:lstStyle/>
          <a:p>
            <a:pPr>
              <a:defRPr/>
            </a:pPr>
            <a:fld id="{5B80BED0-FAE8-41EC-8396-63CD87AA7042}" type="datetimeFigureOut">
              <a:rPr lang="ru-RU"/>
              <a:t/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 bwMode="auto">
          <a:xfrm>
            <a:off x="804672" y="6227064"/>
            <a:ext cx="10588752" cy="320040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 bwMode="auto">
          <a:xfrm>
            <a:off x="10469880" y="320040"/>
            <a:ext cx="914400" cy="320040"/>
          </a:xfrm>
        </p:spPr>
        <p:txBody>
          <a:bodyPr/>
          <a:lstStyle/>
          <a:p>
            <a:pPr>
              <a:defRPr/>
            </a:pPr>
            <a:fld id="{B6F2AEF6-EDA8-41E7-B101-D236B087DA86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objTx" userDrawn="1">
  <p:cSld name="Объект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74" name="Group 73"/>
          <p:cNvGrpSpPr/>
          <p:nvPr/>
        </p:nvGrpSpPr>
        <p:grpSpPr bwMode="auto"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5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 fill="norm" stroke="1" extrusionOk="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76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 fill="norm" stroke="1" extrusionOk="0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77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 fill="norm" stroke="1" extrusionOk="0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78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 fill="norm" stroke="1" extrusionOk="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79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 fill="norm" stroke="1" extrusionOk="0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80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 fill="norm" stroke="1" extrusionOk="0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81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 fill="norm" stroke="1" extrusionOk="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2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 fill="norm" stroke="1" extrusionOk="0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3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 fill="norm" stroke="1" extrusionOk="0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4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 fill="norm" stroke="1" extrusionOk="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5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 fill="norm" stroke="1" extrusionOk="0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6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 fill="norm" stroke="1" extrusionOk="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7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 fill="norm" stroke="1" extrusionOk="0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8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 fill="norm" stroke="1" extrusionOk="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9" name="Freeform 19"/>
            <p:cNvSpPr/>
            <p:nvPr/>
          </p:nvSpPr>
          <p:spPr bwMode="auto">
            <a:xfrm>
              <a:off x="11287125" y="6049962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 fill="norm" stroke="1" extrusionOk="0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0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 fill="norm" stroke="1" extrusionOk="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</p:spPr>
        </p:sp>
        <p:sp>
          <p:nvSpPr>
            <p:cNvPr id="91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 fill="norm" stroke="1" extrusionOk="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</p:spPr>
        </p:sp>
        <p:sp>
          <p:nvSpPr>
            <p:cNvPr id="92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 fill="norm" stroke="1" extrusionOk="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3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 fill="norm" stroke="1" extrusionOk="0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4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 fill="norm" stroke="1" extrusionOk="0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5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 fill="norm" stroke="1" extrusionOk="0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</p:grpSp>
      <p:grpSp>
        <p:nvGrpSpPr>
          <p:cNvPr id="21" name="Group 20"/>
          <p:cNvGrpSpPr/>
          <p:nvPr/>
        </p:nvGrpSpPr>
        <p:grpSpPr bwMode="auto"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2" name="Rectangle 21"/>
            <p:cNvSpPr/>
            <p:nvPr/>
          </p:nvSpPr>
          <p:spPr bwMode="auto"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Isosceles Triangle 22"/>
            <p:cNvSpPr/>
            <p:nvPr/>
          </p:nvSpPr>
          <p:spPr bwMode="auto">
            <a:xfrm rot="10800000">
              <a:off x="2380224" y="5014786"/>
              <a:ext cx="315988" cy="272403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Rectangle 32"/>
            <p:cNvSpPr/>
            <p:nvPr/>
          </p:nvSpPr>
          <p:spPr bwMode="auto">
            <a:xfrm>
              <a:off x="704075" y="2392840"/>
              <a:ext cx="3668283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888631" y="2352026"/>
            <a:ext cx="3501197" cy="1223298"/>
          </a:xfrm>
        </p:spPr>
        <p:txBody>
          <a:bodyPr bIns="0" anchor="b">
            <a:noAutofit/>
          </a:bodyPr>
          <a:lstStyle>
            <a:lvl1pPr algn="ctr">
              <a:defRPr sz="3200">
                <a:solidFill>
                  <a:srgbClr val="FFFEFF"/>
                </a:solidFill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auto">
          <a:xfrm>
            <a:off x="5109983" y="802808"/>
            <a:ext cx="6275035" cy="5249940"/>
          </a:xfrm>
        </p:spPr>
        <p:txBody>
          <a:bodyPr anchor="ctr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88631" y="3580186"/>
            <a:ext cx="3501197" cy="1221164"/>
          </a:xfrm>
        </p:spPr>
        <p:txBody>
          <a:bodyPr/>
          <a:lstStyle>
            <a:lvl1pPr marL="0" indent="0" algn="ctr">
              <a:buNone/>
              <a:defRPr sz="1600">
                <a:solidFill>
                  <a:srgbClr val="FFFE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80BED0-FAE8-41EC-8396-63CD87AA7042}" type="datetimeFigureOut">
              <a:rPr lang="ru-RU"/>
              <a:t/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2AEF6-EDA8-41E7-B101-D236B087DA86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picTx" userDrawn="1">
  <p:cSld name="Рисунок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73" name="Group 72"/>
          <p:cNvGrpSpPr/>
          <p:nvPr/>
        </p:nvGrpSpPr>
        <p:grpSpPr bwMode="auto"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81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 fill="norm" stroke="1" extrusionOk="0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2" name="Freeform 6"/>
            <p:cNvSpPr/>
            <p:nvPr/>
          </p:nvSpPr>
          <p:spPr bwMode="auto">
            <a:xfrm>
              <a:off x="670451" y="2018235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 fill="norm" stroke="1" extrusionOk="0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3" name="Freeform 7"/>
            <p:cNvSpPr/>
            <p:nvPr/>
          </p:nvSpPr>
          <p:spPr bwMode="auto">
            <a:xfrm>
              <a:off x="251350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 fill="norm" stroke="1" extrusionOk="0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84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 fill="norm" stroke="1" extrusionOk="0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5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 fill="norm" stroke="1" extrusionOk="0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6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 fill="norm" stroke="1" extrusionOk="0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7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 fill="norm" stroke="1" extrusionOk="0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8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 fill="norm" stroke="1" extrusionOk="0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9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 fill="norm" stroke="1" extrusionOk="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90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 fill="norm" stroke="1" extrusionOk="0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91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 fill="norm" stroke="1" extrusionOk="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</p:spPr>
        </p:sp>
        <p:sp>
          <p:nvSpPr>
            <p:cNvPr id="92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 fill="norm" stroke="1" extrusionOk="0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</p:spPr>
        </p:sp>
        <p:sp>
          <p:nvSpPr>
            <p:cNvPr id="93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 fill="norm" stroke="1" extrusionOk="0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4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 fill="norm" stroke="1" extrusionOk="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5" name="Freeform 19"/>
            <p:cNvSpPr/>
            <p:nvPr/>
          </p:nvSpPr>
          <p:spPr bwMode="auto">
            <a:xfrm>
              <a:off x="6877576" y="5579"/>
              <a:ext cx="5037138" cy="6861549"/>
            </a:xfrm>
            <a:custGeom>
              <a:avLst/>
              <a:gdLst/>
              <a:ahLst/>
              <a:cxnLst/>
              <a:rect l="0" t="0" r="r" b="b"/>
              <a:pathLst>
                <a:path w="1058" h="1439" fill="norm" stroke="1" extrusionOk="0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6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 fill="norm" stroke="1" extrusionOk="0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7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 fill="norm" stroke="1" extrusionOk="0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8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 fill="norm" stroke="1" extrusionOk="0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99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 fill="norm" stroke="1" extrusionOk="0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</p:grpSp>
      <p:grpSp>
        <p:nvGrpSpPr>
          <p:cNvPr id="76" name="Group 75"/>
          <p:cNvGrpSpPr/>
          <p:nvPr/>
        </p:nvGrpSpPr>
        <p:grpSpPr bwMode="auto">
          <a:xfrm>
            <a:off x="805336" y="1698331"/>
            <a:ext cx="5941540" cy="3470421"/>
            <a:chOff x="805336" y="1698331"/>
            <a:chExt cx="5941540" cy="3470421"/>
          </a:xfrm>
        </p:grpSpPr>
        <p:sp>
          <p:nvSpPr>
            <p:cNvPr id="77" name="Rectangle 76"/>
            <p:cNvSpPr/>
            <p:nvPr/>
          </p:nvSpPr>
          <p:spPr bwMode="auto">
            <a:xfrm>
              <a:off x="805336" y="1698331"/>
              <a:ext cx="5941540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8" name="Isosceles Triangle 9"/>
            <p:cNvSpPr/>
            <p:nvPr/>
          </p:nvSpPr>
          <p:spPr bwMode="auto">
            <a:xfrm rot="10800000">
              <a:off x="3618113" y="4896349"/>
              <a:ext cx="315988" cy="272403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9" name="Rectangle 78"/>
            <p:cNvSpPr/>
            <p:nvPr/>
          </p:nvSpPr>
          <p:spPr bwMode="auto">
            <a:xfrm>
              <a:off x="805336" y="2274403"/>
              <a:ext cx="5941540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3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7543510" y="0"/>
            <a:ext cx="4648490" cy="6858000"/>
          </a:xfrm>
          <a:prstGeom prst="rect">
            <a:avLst/>
          </a:prstGeom>
          <a:solidFill>
            <a:schemeClr val="bg1">
              <a:lumMod val="65000"/>
              <a:lumOff val="3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ru-RU"/>
              <a:t>Вставка рисунка</a:t>
            </a: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885443" y="2360255"/>
            <a:ext cx="5776646" cy="1178032"/>
          </a:xfrm>
        </p:spPr>
        <p:txBody>
          <a:bodyPr bIns="0" anchor="b">
            <a:normAutofit/>
          </a:bodyPr>
          <a:lstStyle>
            <a:lvl1pPr>
              <a:defRPr sz="3600">
                <a:solidFill>
                  <a:srgbClr val="FFFEFF"/>
                </a:solidFill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85443" y="3545012"/>
            <a:ext cx="5776646" cy="1274198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rgbClr val="FFFE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auto">
          <a:xfrm>
            <a:off x="804672" y="320040"/>
            <a:ext cx="3657600" cy="320040"/>
          </a:xfrm>
        </p:spPr>
        <p:txBody>
          <a:bodyPr/>
          <a:lstStyle/>
          <a:p>
            <a:pPr>
              <a:defRPr/>
            </a:pPr>
            <a:fld id="{5B80BED0-FAE8-41EC-8396-63CD87AA7042}" type="datetimeFigureOut">
              <a:rPr lang="ru-RU"/>
              <a:t/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auto">
          <a:xfrm>
            <a:off x="804672" y="6227064"/>
            <a:ext cx="5942203" cy="320040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auto">
          <a:xfrm>
            <a:off x="5828377" y="320040"/>
            <a:ext cx="914400" cy="320040"/>
          </a:xfrm>
        </p:spPr>
        <p:txBody>
          <a:bodyPr/>
          <a:lstStyle/>
          <a:p>
            <a:pPr>
              <a:defRPr/>
            </a:pPr>
            <a:fld id="{B6F2AEF6-EDA8-41E7-B101-D236B087DA86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vertTx" userDrawn="1">
  <p:cSld name="Заголовок и вертикальный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75" name="Group 74"/>
          <p:cNvGrpSpPr/>
          <p:nvPr/>
        </p:nvGrpSpPr>
        <p:grpSpPr bwMode="auto"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6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 fill="norm" stroke="1" extrusionOk="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77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 fill="norm" stroke="1" extrusionOk="0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78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 fill="norm" stroke="1" extrusionOk="0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79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 fill="norm" stroke="1" extrusionOk="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80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 fill="norm" stroke="1" extrusionOk="0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81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 fill="norm" stroke="1" extrusionOk="0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82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 fill="norm" stroke="1" extrusionOk="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3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 fill="norm" stroke="1" extrusionOk="0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4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 fill="norm" stroke="1" extrusionOk="0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5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 fill="norm" stroke="1" extrusionOk="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6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 fill="norm" stroke="1" extrusionOk="0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7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 fill="norm" stroke="1" extrusionOk="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8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 fill="norm" stroke="1" extrusionOk="0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9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 fill="norm" stroke="1" extrusionOk="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0" name="Freeform 19"/>
            <p:cNvSpPr/>
            <p:nvPr/>
          </p:nvSpPr>
          <p:spPr bwMode="auto">
            <a:xfrm>
              <a:off x="11287125" y="6049962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 fill="norm" stroke="1" extrusionOk="0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1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 fill="norm" stroke="1" extrusionOk="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</p:spPr>
        </p:sp>
        <p:sp>
          <p:nvSpPr>
            <p:cNvPr id="92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 fill="norm" stroke="1" extrusionOk="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</p:spPr>
        </p:sp>
        <p:sp>
          <p:nvSpPr>
            <p:cNvPr id="93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 fill="norm" stroke="1" extrusionOk="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4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 fill="norm" stroke="1" extrusionOk="0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5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 fill="norm" stroke="1" extrusionOk="0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6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 fill="norm" stroke="1" extrusionOk="0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</p:grpSp>
      <p:grpSp>
        <p:nvGrpSpPr>
          <p:cNvPr id="22" name="Group 21"/>
          <p:cNvGrpSpPr/>
          <p:nvPr/>
        </p:nvGrpSpPr>
        <p:grpSpPr bwMode="auto"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3" name="Rectangle 22"/>
            <p:cNvSpPr/>
            <p:nvPr/>
          </p:nvSpPr>
          <p:spPr bwMode="auto"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2"/>
            <p:cNvSpPr/>
            <p:nvPr/>
          </p:nvSpPr>
          <p:spPr bwMode="auto">
            <a:xfrm rot="10800000">
              <a:off x="2380224" y="5014786"/>
              <a:ext cx="315988" cy="272403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 bwMode="auto">
            <a:xfrm>
              <a:off x="704075" y="2392840"/>
              <a:ext cx="3668283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888632" y="2349925"/>
            <a:ext cx="3501196" cy="2456441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5109983" y="794719"/>
            <a:ext cx="6275035" cy="5257090"/>
          </a:xfrm>
        </p:spPr>
        <p:txBody>
          <a:bodyPr vert="eaVert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80BED0-FAE8-41EC-8396-63CD87AA7042}" type="datetimeFigureOut">
              <a:rPr lang="ru-RU"/>
              <a:t/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2AEF6-EDA8-41E7-B101-D236B087DA86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vertTitleAndTx" userDrawn="1">
  <p:cSld name="Вертикальный заголовок и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75" name="Group 74"/>
          <p:cNvGrpSpPr/>
          <p:nvPr/>
        </p:nvGrpSpPr>
        <p:grpSpPr bwMode="auto">
          <a:xfrm flipH="1">
            <a:off x="0" y="0"/>
            <a:ext cx="12584114" cy="6853238"/>
            <a:chOff x="-417513" y="0"/>
            <a:chExt cx="12584114" cy="6853238"/>
          </a:xfrm>
        </p:grpSpPr>
        <p:sp>
          <p:nvSpPr>
            <p:cNvPr id="76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 fill="norm" stroke="1" extrusionOk="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77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 fill="norm" stroke="1" extrusionOk="0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78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 fill="norm" stroke="1" extrusionOk="0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79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 fill="norm" stroke="1" extrusionOk="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80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 fill="norm" stroke="1" extrusionOk="0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81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 fill="norm" stroke="1" extrusionOk="0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82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 fill="norm" stroke="1" extrusionOk="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3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 fill="norm" stroke="1" extrusionOk="0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4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 fill="norm" stroke="1" extrusionOk="0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5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 fill="norm" stroke="1" extrusionOk="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6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 fill="norm" stroke="1" extrusionOk="0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7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 fill="norm" stroke="1" extrusionOk="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8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 fill="norm" stroke="1" extrusionOk="0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9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 fill="norm" stroke="1" extrusionOk="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0" name="Freeform 19"/>
            <p:cNvSpPr/>
            <p:nvPr/>
          </p:nvSpPr>
          <p:spPr bwMode="auto">
            <a:xfrm>
              <a:off x="11287125" y="6049962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 fill="norm" stroke="1" extrusionOk="0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1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 fill="norm" stroke="1" extrusionOk="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</p:spPr>
        </p:sp>
        <p:sp>
          <p:nvSpPr>
            <p:cNvPr id="92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 fill="norm" stroke="1" extrusionOk="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</p:spPr>
        </p:sp>
        <p:sp>
          <p:nvSpPr>
            <p:cNvPr id="93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 fill="norm" stroke="1" extrusionOk="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4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 fill="norm" stroke="1" extrusionOk="0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5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 fill="norm" stroke="1" extrusionOk="0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6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 fill="norm" stroke="1" extrusionOk="0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</p:grpSp>
      <p:grpSp>
        <p:nvGrpSpPr>
          <p:cNvPr id="22" name="Group 21"/>
          <p:cNvGrpSpPr/>
          <p:nvPr/>
        </p:nvGrpSpPr>
        <p:grpSpPr bwMode="auto">
          <a:xfrm>
            <a:off x="7718948" y="1699589"/>
            <a:ext cx="3674476" cy="3470421"/>
            <a:chOff x="697883" y="1816768"/>
            <a:chExt cx="3674476" cy="3470421"/>
          </a:xfrm>
        </p:grpSpPr>
        <p:sp>
          <p:nvSpPr>
            <p:cNvPr id="23" name="Rectangle 22"/>
            <p:cNvSpPr/>
            <p:nvPr/>
          </p:nvSpPr>
          <p:spPr bwMode="auto"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2"/>
            <p:cNvSpPr/>
            <p:nvPr/>
          </p:nvSpPr>
          <p:spPr bwMode="auto">
            <a:xfrm rot="10800000">
              <a:off x="2380224" y="5014786"/>
              <a:ext cx="315988" cy="272403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 bwMode="auto">
            <a:xfrm>
              <a:off x="704075" y="2392840"/>
              <a:ext cx="3668283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7807437" y="2349925"/>
            <a:ext cx="3501195" cy="2456442"/>
          </a:xfrm>
        </p:spPr>
        <p:txBody>
          <a:bodyPr vert="eaVert"/>
          <a:lstStyle>
            <a:lvl1pPr algn="l">
              <a:lnSpc>
                <a:spcPct val="80000"/>
              </a:lnSpc>
              <a:defRPr>
                <a:solidFill>
                  <a:srgbClr val="FFFEFF"/>
                </a:solidFill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02747" y="798444"/>
            <a:ext cx="6268622" cy="5257303"/>
          </a:xfrm>
        </p:spPr>
        <p:txBody>
          <a:bodyPr vert="eaVert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>
          <a:xfrm>
            <a:off x="804672" y="320040"/>
            <a:ext cx="3657600" cy="320040"/>
          </a:xfrm>
        </p:spPr>
        <p:txBody>
          <a:bodyPr/>
          <a:lstStyle/>
          <a:p>
            <a:pPr>
              <a:defRPr/>
            </a:pPr>
            <a:fld id="{5B80BED0-FAE8-41EC-8396-63CD87AA7042}" type="datetimeFigureOut">
              <a:rPr lang="ru-RU"/>
              <a:t/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804672" y="6227064"/>
            <a:ext cx="10588752" cy="320040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0469880" y="320040"/>
            <a:ext cx="914400" cy="320040"/>
          </a:xfrm>
        </p:spPr>
        <p:txBody>
          <a:bodyPr/>
          <a:lstStyle/>
          <a:p>
            <a:pPr>
              <a:defRPr/>
            </a:pPr>
            <a:fld id="{B6F2AEF6-EDA8-41E7-B101-D236B087DA86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891161" y="2358391"/>
            <a:ext cx="3498667" cy="2456485"/>
          </a:xfrm>
          <a:prstGeom prst="rect">
            <a:avLst/>
          </a:prstGeom>
        </p:spPr>
        <p:txBody>
          <a:bodyPr vert="horz" lIns="228600" tIns="228600" rIns="228600" bIns="228600" rtlCol="0" anchor="ctr">
            <a:norm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5434982" y="794719"/>
            <a:ext cx="5950036" cy="52570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04672" y="320040"/>
            <a:ext cx="36576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B80BED0-FAE8-41EC-8396-63CD87AA7042}" type="datetimeFigureOut">
              <a:rPr lang="ru-RU"/>
              <a:t/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804672" y="6227064"/>
            <a:ext cx="10588752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10469880" y="320040"/>
            <a:ext cx="9144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2AEF6-EDA8-41E7-B101-D236B087DA86}" type="slidenum">
              <a:rPr lang="ru-RU"/>
              <a:t/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>
        <a:lnSpc>
          <a:spcPct val="85000"/>
        </a:lnSpc>
        <a:spcBef>
          <a:spcPts val="0"/>
        </a:spcBef>
        <a:buNone/>
        <a:defRPr sz="4000" b="0" i="0" cap="none" spc="-15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120000"/>
        </a:lnSpc>
        <a:spcBef>
          <a:spcPts val="1000"/>
        </a:spcBef>
        <a:buClr>
          <a:schemeClr val="accent1"/>
        </a:buClr>
        <a:buSzPct val="110000"/>
        <a:buFont typeface="Wingdings"/>
        <a:buChar char="§"/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/>
        <a:buChar char="§"/>
        <a:defRPr sz="16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/>
        <a:buChar char="§"/>
        <a:defRPr sz="1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/>
        <a:buChar char="§"/>
        <a:defRPr sz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/>
        <a:buChar char="§"/>
        <a:defRPr sz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/>
        <a:buChar char="§"/>
        <a:defRPr sz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/>
        <a:buChar char="§"/>
        <a:defRPr sz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/>
        <a:buChar char="§"/>
        <a:defRPr sz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/>
        <a:buChar char="§"/>
        <a:defRPr sz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7.png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2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www.youtube.com/@tilir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r>
              <a:rPr lang="ru-RU"/>
              <a:t>Лекция 8. Концепты.</a:t>
            </a:r>
            <a:br>
              <a:rPr lang="ru-RU"/>
            </a:br>
            <a:endParaRPr lang="ru-RU"/>
          </a:p>
        </p:txBody>
      </p:sp>
      <p:sp>
        <p:nvSpPr>
          <p:cNvPr id="3" name="TextBox 2"/>
          <p:cNvSpPr txBox="1"/>
          <p:nvPr/>
        </p:nvSpPr>
        <p:spPr bwMode="auto">
          <a:xfrm>
            <a:off x="7106194" y="5819248"/>
            <a:ext cx="4960653" cy="11890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1800" b="0" i="0" u="none" strike="noStrike" cap="none" spc="0">
                <a:solidFill>
                  <a:schemeClr val="tx1"/>
                </a:solidFill>
                <a:latin typeface="Rockwell"/>
                <a:ea typeface="Arial"/>
                <a:cs typeface="Arial"/>
              </a:rPr>
              <a:t>Чубанов Кирилл Константинович МФТИ, 2026 г.</a:t>
            </a:r>
            <a:br>
              <a:rPr lang="ru-RU" sz="1800" b="0" i="0" u="none" strike="noStrike" cap="none" spc="0">
                <a:solidFill>
                  <a:schemeClr val="tx1"/>
                </a:solidFill>
                <a:latin typeface="Rockwell"/>
                <a:ea typeface="Arial"/>
                <a:cs typeface="Arial"/>
              </a:rPr>
            </a:br>
            <a:endParaRPr sz="1800"/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 bwMode="auto">
          <a:xfrm>
            <a:off x="457200" y="283296"/>
            <a:ext cx="91273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Обобщенный код</a:t>
            </a:r>
            <a:endParaRPr/>
          </a:p>
        </p:txBody>
      </p:sp>
      <p:sp>
        <p:nvSpPr>
          <p:cNvPr id="2" name="Объект 2"/>
          <p:cNvSpPr txBox="1"/>
          <p:nvPr/>
        </p:nvSpPr>
        <p:spPr bwMode="auto">
          <a:xfrm>
            <a:off x="232670" y="1321724"/>
            <a:ext cx="11430086" cy="52529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/>
              <a:buChar char="§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ru-RU"/>
              <a:t>Типичный пример достаточно общего алгоритма.</a:t>
            </a:r>
            <a:endParaRPr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r>
              <a:rPr lang="ru-RU"/>
              <a:t>Какие требования этот код накладывает на шаблонные параметры </a:t>
            </a:r>
            <a:r>
              <a:rPr lang="en-US"/>
              <a:t>R </a:t>
            </a:r>
            <a:r>
              <a:rPr lang="ru-RU"/>
              <a:t>и </a:t>
            </a:r>
            <a:r>
              <a:rPr lang="en-US"/>
              <a:t>T</a:t>
            </a:r>
            <a:r>
              <a:rPr lang="ru-RU"/>
              <a:t>. </a:t>
            </a:r>
            <a:endParaRPr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 marL="0" indent="0">
              <a:buFont typeface="Wingdings"/>
              <a:buNone/>
              <a:defRPr/>
            </a:pPr>
            <a:endParaRPr lang="en-US"/>
          </a:p>
          <a:p>
            <a:pPr marL="0" indent="0">
              <a:buFont typeface="Wingdings"/>
              <a:buNone/>
              <a:defRPr/>
            </a:pPr>
            <a:endParaRPr lang="en-US"/>
          </a:p>
          <a:p>
            <a:pPr marL="0" indent="0">
              <a:buFont typeface="Wingdings"/>
              <a:buNone/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693710" y="1981982"/>
            <a:ext cx="7390612" cy="326373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 bwMode="auto">
          <a:xfrm>
            <a:off x="457200" y="283296"/>
            <a:ext cx="91273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Обобщенный код</a:t>
            </a:r>
            <a:endParaRPr/>
          </a:p>
        </p:txBody>
      </p:sp>
      <p:sp>
        <p:nvSpPr>
          <p:cNvPr id="2" name="Объект 2"/>
          <p:cNvSpPr txBox="1"/>
          <p:nvPr/>
        </p:nvSpPr>
        <p:spPr bwMode="auto">
          <a:xfrm>
            <a:off x="232670" y="1321724"/>
            <a:ext cx="11430086" cy="525298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/>
              <a:buChar char="§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ru-RU"/>
              <a:t>Типичный пример достаточно общего алгоритма.</a:t>
            </a:r>
            <a:endParaRPr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r>
              <a:rPr lang="ru-RU"/>
              <a:t>Какие требования этот код накладывает на шаблонные параметры </a:t>
            </a:r>
            <a:r>
              <a:rPr lang="en-US"/>
              <a:t>R </a:t>
            </a:r>
            <a:r>
              <a:rPr lang="ru-RU"/>
              <a:t>и </a:t>
            </a:r>
            <a:r>
              <a:rPr lang="en-US"/>
              <a:t>T</a:t>
            </a:r>
            <a:r>
              <a:rPr lang="ru-RU"/>
              <a:t>.</a:t>
            </a:r>
            <a:endParaRPr/>
          </a:p>
          <a:p>
            <a:pPr>
              <a:defRPr/>
            </a:pPr>
            <a:r>
              <a:rPr lang="en-US"/>
              <a:t>R::iterator </a:t>
            </a:r>
            <a:r>
              <a:rPr lang="ru-RU"/>
              <a:t>как минимум </a:t>
            </a:r>
            <a:r>
              <a:rPr lang="en-US"/>
              <a:t>InputIterator</a:t>
            </a:r>
            <a:r>
              <a:rPr lang="en-US"/>
              <a:t>.</a:t>
            </a:r>
            <a:endParaRPr/>
          </a:p>
          <a:p>
            <a:pPr>
              <a:defRPr/>
            </a:pPr>
            <a:r>
              <a:rPr lang="en-US"/>
              <a:t>R::value_type </a:t>
            </a:r>
            <a:r>
              <a:rPr lang="ru-RU"/>
              <a:t>сравним с </a:t>
            </a:r>
            <a:r>
              <a:rPr lang="en-US"/>
              <a:t>T </a:t>
            </a:r>
            <a:r>
              <a:rPr lang="ru-RU"/>
              <a:t>на равенство. </a:t>
            </a:r>
            <a:endParaRPr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 marL="0" indent="0">
              <a:buFont typeface="Wingdings"/>
              <a:buNone/>
              <a:defRPr/>
            </a:pPr>
            <a:endParaRPr lang="en-US"/>
          </a:p>
          <a:p>
            <a:pPr marL="0" indent="0">
              <a:buFont typeface="Wingdings"/>
              <a:buNone/>
              <a:defRPr/>
            </a:pPr>
            <a:endParaRPr lang="en-US"/>
          </a:p>
          <a:p>
            <a:pPr marL="0" indent="0">
              <a:buFont typeface="Wingdings"/>
              <a:buNone/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693710" y="1981982"/>
            <a:ext cx="7390612" cy="326373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 bwMode="auto">
          <a:xfrm>
            <a:off x="457200" y="283296"/>
            <a:ext cx="91273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Обобщенный код</a:t>
            </a:r>
            <a:endParaRPr/>
          </a:p>
        </p:txBody>
      </p:sp>
      <p:sp>
        <p:nvSpPr>
          <p:cNvPr id="2" name="Объект 2"/>
          <p:cNvSpPr txBox="1"/>
          <p:nvPr/>
        </p:nvSpPr>
        <p:spPr bwMode="auto">
          <a:xfrm>
            <a:off x="232670" y="1321724"/>
            <a:ext cx="11430086" cy="52529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/>
              <a:buChar char="§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ru-RU"/>
              <a:t>Попробуем запустить</a:t>
            </a:r>
            <a:endParaRPr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 marL="0" indent="0">
              <a:buFont typeface="Wingdings"/>
              <a:buNone/>
              <a:defRPr/>
            </a:pPr>
            <a:endParaRPr lang="en-US"/>
          </a:p>
          <a:p>
            <a:pPr marL="0" indent="0">
              <a:buFont typeface="Wingdings"/>
              <a:buNone/>
              <a:defRPr/>
            </a:pPr>
            <a:endParaRPr lang="en-US"/>
          </a:p>
          <a:p>
            <a:pPr marL="0" indent="0">
              <a:buFont typeface="Wingdings"/>
              <a:buNone/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ru-RU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232669" y="1939814"/>
            <a:ext cx="5877573" cy="40869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 bwMode="auto">
          <a:xfrm>
            <a:off x="457200" y="283296"/>
            <a:ext cx="91273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Обобщенный код</a:t>
            </a:r>
            <a:endParaRPr/>
          </a:p>
        </p:txBody>
      </p:sp>
      <p:sp>
        <p:nvSpPr>
          <p:cNvPr id="2" name="Объект 2"/>
          <p:cNvSpPr txBox="1"/>
          <p:nvPr/>
        </p:nvSpPr>
        <p:spPr bwMode="auto">
          <a:xfrm>
            <a:off x="232670" y="1321724"/>
            <a:ext cx="11430086" cy="52529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/>
              <a:buChar char="§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ru-RU"/>
              <a:t>Наказание не заставит себя ждать</a:t>
            </a:r>
            <a:endParaRPr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 marL="0" indent="0">
              <a:buFont typeface="Wingdings"/>
              <a:buNone/>
              <a:defRPr/>
            </a:pPr>
            <a:endParaRPr lang="en-US"/>
          </a:p>
          <a:p>
            <a:pPr marL="0" indent="0">
              <a:buFont typeface="Wingdings"/>
              <a:buNone/>
              <a:defRPr/>
            </a:pPr>
            <a:endParaRPr lang="en-US"/>
          </a:p>
          <a:p>
            <a:pPr marL="0" indent="0">
              <a:buFont typeface="Wingdings"/>
              <a:buNone/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232670" y="1948200"/>
            <a:ext cx="8541236" cy="462650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 bwMode="auto">
          <a:xfrm>
            <a:off x="457200" y="283296"/>
            <a:ext cx="91273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Обобщенный код</a:t>
            </a:r>
            <a:endParaRPr/>
          </a:p>
        </p:txBody>
      </p:sp>
      <p:sp>
        <p:nvSpPr>
          <p:cNvPr id="2" name="Объект 2"/>
          <p:cNvSpPr txBox="1"/>
          <p:nvPr/>
        </p:nvSpPr>
        <p:spPr bwMode="auto">
          <a:xfrm>
            <a:off x="232670" y="1321724"/>
            <a:ext cx="11430086" cy="52529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/>
              <a:buChar char="§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ru-RU"/>
              <a:t>Заметим, что для динамически полиморфных функций таких проблем нет.</a:t>
            </a:r>
            <a:endParaRPr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r>
              <a:rPr lang="ru-RU"/>
              <a:t>Здесь легко додумать интерфейсные классы с соответствующими виртуальными функциями.</a:t>
            </a:r>
            <a:endParaRPr/>
          </a:p>
          <a:p>
            <a:pPr>
              <a:defRPr/>
            </a:pPr>
            <a:r>
              <a:rPr lang="en-US"/>
              <a:t>P.S. </a:t>
            </a:r>
            <a:r>
              <a:rPr lang="ru-RU"/>
              <a:t>Какие интерфейсы должны предоставлять </a:t>
            </a:r>
            <a:r>
              <a:rPr lang="en-US"/>
              <a:t>IRange</a:t>
            </a:r>
            <a:r>
              <a:rPr lang="en-US"/>
              <a:t>, </a:t>
            </a:r>
            <a:r>
              <a:rPr lang="en-US"/>
              <a:t>IVal</a:t>
            </a:r>
            <a:r>
              <a:rPr lang="en-US"/>
              <a:t>, </a:t>
            </a:r>
            <a:r>
              <a:rPr lang="en-US"/>
              <a:t>IEnumerator</a:t>
            </a:r>
            <a:r>
              <a:rPr lang="en-US"/>
              <a:t>? </a:t>
            </a: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 marL="0" indent="0">
              <a:buFont typeface="Wingdings"/>
              <a:buNone/>
              <a:defRPr/>
            </a:pPr>
            <a:endParaRPr lang="en-US"/>
          </a:p>
          <a:p>
            <a:pPr marL="0" indent="0">
              <a:buFont typeface="Wingdings"/>
              <a:buNone/>
              <a:defRPr/>
            </a:pPr>
            <a:endParaRPr lang="en-US"/>
          </a:p>
          <a:p>
            <a:pPr marL="0" indent="0">
              <a:buFont typeface="Wingdings"/>
              <a:buNone/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630602" y="2161815"/>
            <a:ext cx="6639702" cy="27875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 bwMode="auto">
          <a:xfrm>
            <a:off x="457200" y="283296"/>
            <a:ext cx="91273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Динамический полиморфизм</a:t>
            </a:r>
            <a:endParaRPr/>
          </a:p>
        </p:txBody>
      </p:sp>
      <p:sp>
        <p:nvSpPr>
          <p:cNvPr id="2" name="Объект 2"/>
          <p:cNvSpPr txBox="1"/>
          <p:nvPr/>
        </p:nvSpPr>
        <p:spPr bwMode="auto">
          <a:xfrm>
            <a:off x="232670" y="1321724"/>
            <a:ext cx="11430086" cy="52529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/>
              <a:buChar char="§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ru-RU"/>
              <a:t>Собственно каждый интерфейс здесь задает все способы использовать себя правильно (явным перечислением методов)..</a:t>
            </a:r>
            <a:endParaRPr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 marL="0" indent="0">
              <a:buFont typeface="Wingdings"/>
              <a:buNone/>
              <a:defRPr/>
            </a:pPr>
            <a:endParaRPr lang="en-US"/>
          </a:p>
          <a:p>
            <a:pPr marL="0" indent="0">
              <a:buFont typeface="Wingdings"/>
              <a:buNone/>
              <a:defRPr/>
            </a:pPr>
            <a:endParaRPr lang="en-US"/>
          </a:p>
          <a:p>
            <a:pPr marL="0" indent="0">
              <a:buFont typeface="Wingdings"/>
              <a:buNone/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ru-RU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457200" y="2140105"/>
            <a:ext cx="7401728" cy="471789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 bwMode="auto">
          <a:xfrm>
            <a:off x="457200" y="283296"/>
            <a:ext cx="91273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Статический полиморфизм</a:t>
            </a:r>
            <a:endParaRPr/>
          </a:p>
        </p:txBody>
      </p:sp>
      <p:sp>
        <p:nvSpPr>
          <p:cNvPr id="2" name="Объект 2"/>
          <p:cNvSpPr txBox="1"/>
          <p:nvPr/>
        </p:nvSpPr>
        <p:spPr bwMode="auto">
          <a:xfrm>
            <a:off x="232670" y="1321724"/>
            <a:ext cx="11430086" cy="52529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/>
              <a:buChar char="§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ru-RU"/>
              <a:t>В статическом полиморфизме интерфейсы считаются неявными.</a:t>
            </a:r>
            <a:endParaRPr/>
          </a:p>
          <a:p>
            <a:pPr>
              <a:defRPr/>
            </a:pPr>
            <a:r>
              <a:rPr lang="ru-RU"/>
              <a:t>Хорошо ли, что они неявные?</a:t>
            </a:r>
            <a:endParaRPr/>
          </a:p>
          <a:p>
            <a:pPr>
              <a:defRPr/>
            </a:pPr>
            <a:r>
              <a:rPr lang="ru-RU"/>
              <a:t>Должны ли они быть неявными?</a:t>
            </a:r>
            <a:endParaRPr/>
          </a:p>
          <a:p>
            <a:pPr>
              <a:defRPr/>
            </a:pPr>
            <a:r>
              <a:rPr lang="ru-RU"/>
              <a:t>Что если взять пример попроще и, находясь в реалиях С++17, сформулировать явный интерфейс в терминах типов?</a:t>
            </a:r>
            <a:endParaRPr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 marL="0" indent="0">
              <a:buFont typeface="Wingdings"/>
              <a:buNone/>
              <a:defRPr/>
            </a:pPr>
            <a:endParaRPr lang="en-US"/>
          </a:p>
          <a:p>
            <a:pPr marL="0" indent="0">
              <a:buFont typeface="Wingdings"/>
              <a:buNone/>
              <a:defRPr/>
            </a:pPr>
            <a:endParaRPr lang="en-US"/>
          </a:p>
          <a:p>
            <a:pPr marL="0" indent="0">
              <a:buFont typeface="Wingdings"/>
              <a:buNone/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 bwMode="auto">
          <a:xfrm>
            <a:off x="457200" y="283296"/>
            <a:ext cx="91273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Пример попроще</a:t>
            </a:r>
            <a:endParaRPr/>
          </a:p>
        </p:txBody>
      </p:sp>
      <p:sp>
        <p:nvSpPr>
          <p:cNvPr id="2" name="Объект 2"/>
          <p:cNvSpPr txBox="1"/>
          <p:nvPr/>
        </p:nvSpPr>
        <p:spPr bwMode="auto">
          <a:xfrm>
            <a:off x="232670" y="1321724"/>
            <a:ext cx="11430086" cy="52529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/>
              <a:buChar char="§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ru-RU"/>
              <a:t>В следующей функции неявный контракт состоит из одного пункта: равенство.</a:t>
            </a:r>
            <a:endParaRPr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r>
              <a:rPr lang="ru-RU"/>
              <a:t>Разумеется, это требование можно сформулировать явно</a:t>
            </a:r>
            <a:endParaRPr lang="en-US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r>
              <a:rPr lang="ru-RU"/>
              <a:t>Вопрос в том, как его лучше проверить?</a:t>
            </a:r>
            <a:endParaRPr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 marL="0" indent="0">
              <a:buFont typeface="Wingdings"/>
              <a:buNone/>
              <a:defRPr/>
            </a:pPr>
            <a:endParaRPr lang="en-US"/>
          </a:p>
          <a:p>
            <a:pPr marL="0" indent="0">
              <a:buFont typeface="Wingdings"/>
              <a:buNone/>
              <a:defRPr/>
            </a:pPr>
            <a:endParaRPr lang="en-US"/>
          </a:p>
          <a:p>
            <a:pPr marL="0" indent="0">
              <a:buFont typeface="Wingdings"/>
              <a:buNone/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ru-RU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573314" y="1657539"/>
            <a:ext cx="9223829" cy="1081685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457199" y="3279285"/>
            <a:ext cx="11074424" cy="233774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 bwMode="auto">
          <a:xfrm>
            <a:off x="457200" y="283296"/>
            <a:ext cx="91273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Пример попроще</a:t>
            </a:r>
            <a:endParaRPr/>
          </a:p>
        </p:txBody>
      </p:sp>
      <p:sp>
        <p:nvSpPr>
          <p:cNvPr id="2" name="Объект 2"/>
          <p:cNvSpPr txBox="1"/>
          <p:nvPr/>
        </p:nvSpPr>
        <p:spPr bwMode="auto">
          <a:xfrm>
            <a:off x="232670" y="1321724"/>
            <a:ext cx="11430086" cy="52529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/>
              <a:buChar char="§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ru-RU"/>
              <a:t>Изменение возвращаемого значения</a:t>
            </a:r>
            <a:endParaRPr lang="en-US"/>
          </a:p>
          <a:p>
            <a:pPr>
              <a:defRPr/>
            </a:pPr>
            <a:endParaRPr lang="en-US"/>
          </a:p>
          <a:p>
            <a:pPr marL="0" indent="0">
              <a:buNone/>
              <a:defRPr/>
            </a:pPr>
            <a:endParaRPr lang="en-US"/>
          </a:p>
          <a:p>
            <a:pPr>
              <a:defRPr/>
            </a:pPr>
            <a:r>
              <a:rPr lang="ru-RU"/>
              <a:t>Добавление  шаблонного параметра</a:t>
            </a:r>
            <a:endParaRPr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r>
              <a:rPr lang="ru-RU"/>
              <a:t>В обоих случаях получим ошибку при вызове</a:t>
            </a:r>
            <a:r>
              <a:rPr lang="en-US"/>
              <a:t> </a:t>
            </a:r>
            <a:r>
              <a:rPr lang="en-US"/>
              <a:t>check_eq</a:t>
            </a:r>
            <a:r>
              <a:rPr lang="en-US"/>
              <a:t>(std::string{“1”}, 1)</a:t>
            </a:r>
            <a:r>
              <a:rPr lang="ru-RU"/>
              <a:t> </a:t>
            </a:r>
            <a:endParaRPr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 marL="0" indent="0">
              <a:buFont typeface="Wingdings"/>
              <a:buNone/>
              <a:defRPr/>
            </a:pPr>
            <a:endParaRPr lang="en-US"/>
          </a:p>
          <a:p>
            <a:pPr marL="0" indent="0">
              <a:buFont typeface="Wingdings"/>
              <a:buNone/>
              <a:defRPr/>
            </a:pPr>
            <a:endParaRPr lang="en-US"/>
          </a:p>
          <a:p>
            <a:pPr marL="0" indent="0">
              <a:buFont typeface="Wingdings"/>
              <a:buNone/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630808" y="1765620"/>
            <a:ext cx="7286308" cy="1064666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630807" y="3167359"/>
            <a:ext cx="8168003" cy="986630"/>
          </a:xfrm>
          <a:prstGeom prst="rect">
            <a:avLst/>
          </a:prstGeom>
        </p:spPr>
      </p:pic>
      <p:pic>
        <p:nvPicPr>
          <p:cNvPr id="11" name="Рисунок 10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529244" y="4566367"/>
            <a:ext cx="6358909" cy="26688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 bwMode="auto">
          <a:xfrm>
            <a:off x="457200" y="283296"/>
            <a:ext cx="91273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Пример попроще</a:t>
            </a:r>
            <a:endParaRPr/>
          </a:p>
        </p:txBody>
      </p:sp>
      <p:sp>
        <p:nvSpPr>
          <p:cNvPr id="2" name="Объект 2"/>
          <p:cNvSpPr txBox="1"/>
          <p:nvPr/>
        </p:nvSpPr>
        <p:spPr bwMode="auto">
          <a:xfrm>
            <a:off x="232670" y="1321724"/>
            <a:ext cx="11430086" cy="52529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/>
              <a:buChar char="§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ru-RU"/>
              <a:t>Можно воспользоваться </a:t>
            </a:r>
            <a:r>
              <a:rPr lang="en-US"/>
              <a:t>if </a:t>
            </a:r>
            <a:r>
              <a:rPr lang="en-US"/>
              <a:t>contexpr</a:t>
            </a: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ru-RU"/>
              <a:t>Получим ошибку</a:t>
            </a:r>
            <a:r>
              <a:rPr lang="en-US"/>
              <a:t> error: static assertion failed</a:t>
            </a:r>
            <a:endParaRPr/>
          </a:p>
          <a:p>
            <a:pPr marL="0" indent="0">
              <a:buNone/>
              <a:defRPr/>
            </a:pPr>
            <a:r>
              <a:rPr lang="en-US"/>
              <a:t>	</a:t>
            </a:r>
            <a:r>
              <a:rPr lang="en-US"/>
              <a:t>static_assert</a:t>
            </a:r>
            <a:r>
              <a:rPr lang="en-US"/>
              <a:t>(0 &amp;&amp; "values are not equality comparable");</a:t>
            </a:r>
            <a:endParaRPr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 marL="0" indent="0">
              <a:buFont typeface="Wingdings"/>
              <a:buNone/>
              <a:defRPr/>
            </a:pPr>
            <a:endParaRPr lang="en-US"/>
          </a:p>
          <a:p>
            <a:pPr marL="0" indent="0">
              <a:buFont typeface="Wingdings"/>
              <a:buNone/>
              <a:defRPr/>
            </a:pPr>
            <a:endParaRPr lang="en-US"/>
          </a:p>
          <a:p>
            <a:pPr marL="0" indent="0">
              <a:buFont typeface="Wingdings"/>
              <a:buNone/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ru-RU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581617" y="1757644"/>
            <a:ext cx="6872920" cy="280226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 bwMode="auto">
          <a:xfrm>
            <a:off x="457200" y="283296"/>
            <a:ext cx="91273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Ограничения</a:t>
            </a:r>
            <a:endParaRPr/>
          </a:p>
        </p:txBody>
      </p:sp>
      <p:sp>
        <p:nvSpPr>
          <p:cNvPr id="2" name="Объект 2"/>
          <p:cNvSpPr txBox="1"/>
          <p:nvPr/>
        </p:nvSpPr>
        <p:spPr bwMode="auto">
          <a:xfrm>
            <a:off x="232670" y="1321724"/>
            <a:ext cx="11430086" cy="52529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/>
              <a:buChar char="§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ru-RU"/>
              <a:t>Ключевое слово </a:t>
            </a:r>
            <a:r>
              <a:rPr lang="en-US"/>
              <a:t>requires</a:t>
            </a:r>
            <a:endParaRPr/>
          </a:p>
          <a:p>
            <a:pPr>
              <a:defRPr/>
            </a:pPr>
            <a:endParaRPr lang="en-US"/>
          </a:p>
          <a:p>
            <a:pPr marL="0" indent="0">
              <a:buNone/>
              <a:defRPr/>
            </a:pPr>
            <a:endParaRPr lang="en-US"/>
          </a:p>
          <a:p>
            <a:pPr>
              <a:defRPr/>
            </a:pPr>
            <a:r>
              <a:rPr lang="ru-RU"/>
              <a:t>Получим ошибку</a:t>
            </a:r>
            <a:r>
              <a:rPr lang="en-US"/>
              <a:t> error: cannot call function…</a:t>
            </a:r>
            <a:endParaRPr/>
          </a:p>
          <a:p>
            <a:pPr marL="0" indent="0">
              <a:buNone/>
              <a:defRPr/>
            </a:pPr>
            <a:r>
              <a:rPr lang="en-US"/>
              <a:t>	note:   constraints not satisfied</a:t>
            </a:r>
            <a:endParaRPr/>
          </a:p>
          <a:p>
            <a:pPr marL="0" indent="0">
              <a:buNone/>
              <a:defRPr/>
            </a:pPr>
            <a:r>
              <a:rPr lang="en-US"/>
              <a:t>	bool </a:t>
            </a:r>
            <a:r>
              <a:rPr lang="en-US"/>
              <a:t>check_eq</a:t>
            </a:r>
            <a:r>
              <a:rPr lang="en-US"/>
              <a:t>(T &amp;&amp;</a:t>
            </a:r>
            <a:r>
              <a:rPr lang="en-US"/>
              <a:t>lhs</a:t>
            </a:r>
            <a:r>
              <a:rPr lang="en-US"/>
              <a:t>, U &amp;&amp;</a:t>
            </a:r>
            <a:r>
              <a:rPr lang="en-US"/>
              <a:t>rhs</a:t>
            </a:r>
            <a:r>
              <a:rPr lang="en-US"/>
              <a:t>) requires </a:t>
            </a:r>
            <a:r>
              <a:rPr lang="en-US"/>
              <a:t>is_equality_comparable</a:t>
            </a:r>
            <a:r>
              <a:rPr lang="en-US"/>
              <a:t>&lt;T, U&gt;::value</a:t>
            </a: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 marL="0" indent="0">
              <a:buFont typeface="Wingdings"/>
              <a:buNone/>
              <a:defRPr/>
            </a:pPr>
            <a:endParaRPr lang="en-US"/>
          </a:p>
          <a:p>
            <a:pPr marL="0" indent="0">
              <a:buFont typeface="Wingdings"/>
              <a:buNone/>
              <a:defRPr/>
            </a:pPr>
            <a:endParaRPr lang="en-US"/>
          </a:p>
          <a:p>
            <a:pPr marL="0" indent="0">
              <a:buFont typeface="Wingdings"/>
              <a:buNone/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457200" y="1735548"/>
            <a:ext cx="8952138" cy="104248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 bwMode="auto">
          <a:xfrm>
            <a:off x="457200" y="283296"/>
            <a:ext cx="91273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Перегрузка ограничений</a:t>
            </a:r>
            <a:endParaRPr/>
          </a:p>
        </p:txBody>
      </p:sp>
      <p:sp>
        <p:nvSpPr>
          <p:cNvPr id="2" name="Объект 2"/>
          <p:cNvSpPr txBox="1"/>
          <p:nvPr/>
        </p:nvSpPr>
        <p:spPr bwMode="auto">
          <a:xfrm>
            <a:off x="232670" y="1321724"/>
            <a:ext cx="11430086" cy="52529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/>
              <a:buChar char="§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ru-RU"/>
              <a:t>Ограничения можно перегружать</a:t>
            </a:r>
            <a:endParaRPr/>
          </a:p>
          <a:p>
            <a:pPr marL="0" indent="0">
              <a:buNone/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r>
              <a:rPr lang="ru-RU"/>
              <a:t>Функции с разными ограничениями являются разными функциями, а не перегрузками</a:t>
            </a:r>
            <a:endParaRPr/>
          </a:p>
          <a:p>
            <a:pPr>
              <a:defRPr/>
            </a:pPr>
            <a:r>
              <a:rPr lang="ru-RU"/>
              <a:t>Ограничения могут быть только у шаблонных функций</a:t>
            </a:r>
            <a:endParaRPr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 marL="0" indent="0">
              <a:buFont typeface="Wingdings"/>
              <a:buNone/>
              <a:defRPr/>
            </a:pPr>
            <a:endParaRPr lang="en-US"/>
          </a:p>
          <a:p>
            <a:pPr marL="0" indent="0">
              <a:buFont typeface="Wingdings"/>
              <a:buNone/>
              <a:defRPr/>
            </a:pPr>
            <a:endParaRPr lang="en-US"/>
          </a:p>
          <a:p>
            <a:pPr marL="0" indent="0">
              <a:buFont typeface="Wingdings"/>
              <a:buNone/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ru-RU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457200" y="1694560"/>
            <a:ext cx="5638800" cy="171819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 bwMode="auto">
          <a:xfrm>
            <a:off x="457200" y="283296"/>
            <a:ext cx="91273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Перегрузка ограничений</a:t>
            </a:r>
            <a:endParaRPr/>
          </a:p>
        </p:txBody>
      </p:sp>
      <p:sp>
        <p:nvSpPr>
          <p:cNvPr id="2" name="Объект 2"/>
          <p:cNvSpPr txBox="1"/>
          <p:nvPr/>
        </p:nvSpPr>
        <p:spPr bwMode="auto">
          <a:xfrm>
            <a:off x="232670" y="1321724"/>
            <a:ext cx="11430086" cy="52529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/>
              <a:buChar char="§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ru-RU"/>
              <a:t>Можно даже сделать так</a:t>
            </a:r>
            <a:endParaRPr/>
          </a:p>
          <a:p>
            <a:pPr marL="0" indent="0">
              <a:buNone/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r>
              <a:rPr lang="ru-RU"/>
              <a:t>Но при попытку вызова </a:t>
            </a:r>
            <a:r>
              <a:rPr lang="en-US"/>
              <a:t>A&lt;int&gt;.f() </a:t>
            </a:r>
            <a:r>
              <a:rPr lang="ru-RU"/>
              <a:t>получим ошибку </a:t>
            </a:r>
            <a:r>
              <a:rPr lang="en-US"/>
              <a:t>error: call of overloaded 'f()' is ambiguous</a:t>
            </a: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 marL="0" indent="0">
              <a:buFont typeface="Wingdings"/>
              <a:buNone/>
              <a:defRPr/>
            </a:pPr>
            <a:endParaRPr lang="en-US"/>
          </a:p>
          <a:p>
            <a:pPr marL="0" indent="0">
              <a:buFont typeface="Wingdings"/>
              <a:buNone/>
              <a:defRPr/>
            </a:pPr>
            <a:endParaRPr lang="en-US"/>
          </a:p>
          <a:p>
            <a:pPr marL="0" indent="0">
              <a:buFont typeface="Wingdings"/>
              <a:buNone/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457200" y="1691821"/>
            <a:ext cx="4706983" cy="193322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 bwMode="auto">
          <a:xfrm>
            <a:off x="457200" y="283296"/>
            <a:ext cx="91273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Недостатки </a:t>
            </a:r>
            <a:r>
              <a:rPr lang="en-US" sz="4000">
                <a:solidFill>
                  <a:srgbClr val="00B0F0"/>
                </a:solidFill>
              </a:rPr>
              <a:t>SFINAE </a:t>
            </a:r>
            <a:r>
              <a:rPr lang="ru-RU" sz="4000">
                <a:solidFill>
                  <a:srgbClr val="00B0F0"/>
                </a:solidFill>
              </a:rPr>
              <a:t>ограничений</a:t>
            </a:r>
            <a:endParaRPr/>
          </a:p>
        </p:txBody>
      </p:sp>
      <p:sp>
        <p:nvSpPr>
          <p:cNvPr id="2" name="Объект 2"/>
          <p:cNvSpPr txBox="1"/>
          <p:nvPr/>
        </p:nvSpPr>
        <p:spPr bwMode="auto">
          <a:xfrm>
            <a:off x="232670" y="1321724"/>
            <a:ext cx="11430086" cy="52529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/>
              <a:buChar char="§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/>
              <a:t>SFINAE </a:t>
            </a:r>
            <a:r>
              <a:rPr lang="ru-RU"/>
              <a:t>ограничения не упорядочены в отношении ограниченности</a:t>
            </a:r>
            <a:endParaRPr/>
          </a:p>
          <a:p>
            <a:pPr marL="0" indent="0">
              <a:buNone/>
              <a:defRPr/>
            </a:pPr>
            <a:endParaRPr lang="ru-RU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ru-RU"/>
              <a:t>Это просто две разных шаблонных структуры.  Между ними нет никакой иерархии, что может приводить к проблемам</a:t>
            </a:r>
            <a:endParaRPr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 marL="0" indent="0">
              <a:buFont typeface="Wingdings"/>
              <a:buNone/>
              <a:defRPr/>
            </a:pPr>
            <a:endParaRPr lang="en-US"/>
          </a:p>
          <a:p>
            <a:pPr marL="0" indent="0">
              <a:buFont typeface="Wingdings"/>
              <a:buNone/>
              <a:defRPr/>
            </a:pPr>
            <a:endParaRPr lang="en-US"/>
          </a:p>
          <a:p>
            <a:pPr marL="0" indent="0">
              <a:buFont typeface="Wingdings"/>
              <a:buNone/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ru-RU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529244" y="1711077"/>
            <a:ext cx="6205664" cy="25115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 bwMode="auto">
          <a:xfrm>
            <a:off x="457200" y="283296"/>
            <a:ext cx="91273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Недостатки </a:t>
            </a:r>
            <a:r>
              <a:rPr lang="en-US" sz="4000">
                <a:solidFill>
                  <a:srgbClr val="00B0F0"/>
                </a:solidFill>
              </a:rPr>
              <a:t>SFINAE </a:t>
            </a:r>
            <a:r>
              <a:rPr lang="ru-RU" sz="4000">
                <a:solidFill>
                  <a:srgbClr val="00B0F0"/>
                </a:solidFill>
              </a:rPr>
              <a:t>ограничений</a:t>
            </a:r>
            <a:endParaRPr/>
          </a:p>
        </p:txBody>
      </p:sp>
      <p:sp>
        <p:nvSpPr>
          <p:cNvPr id="2" name="Объект 2"/>
          <p:cNvSpPr txBox="1"/>
          <p:nvPr/>
        </p:nvSpPr>
        <p:spPr bwMode="auto">
          <a:xfrm>
            <a:off x="232670" y="1321724"/>
            <a:ext cx="11430086" cy="52529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/>
              <a:buChar char="§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/>
              <a:t>SFINAE </a:t>
            </a:r>
            <a:r>
              <a:rPr lang="ru-RU"/>
              <a:t>ограничения не упорядочены в отношении ограниченности</a:t>
            </a:r>
            <a:endParaRPr/>
          </a:p>
          <a:p>
            <a:pPr marL="0" indent="0">
              <a:buNone/>
              <a:defRPr/>
            </a:pPr>
            <a:endParaRPr lang="ru-RU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ru-RU"/>
              <a:t>Что будет если попытаться вызвать </a:t>
            </a:r>
            <a:r>
              <a:rPr lang="en-US"/>
              <a:t>my_distance</a:t>
            </a:r>
            <a:r>
              <a:rPr lang="en-US"/>
              <a:t> </a:t>
            </a:r>
            <a:r>
              <a:rPr lang="ru-RU"/>
              <a:t>с </a:t>
            </a:r>
            <a:r>
              <a:rPr lang="en-US"/>
              <a:t>std::vector&lt;…&gt;::iterator</a:t>
            </a:r>
            <a:r>
              <a:rPr lang="ru-RU"/>
              <a:t>?</a:t>
            </a:r>
            <a:endParaRPr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 marL="0" indent="0">
              <a:buFont typeface="Wingdings"/>
              <a:buNone/>
              <a:defRPr/>
            </a:pPr>
            <a:endParaRPr lang="en-US"/>
          </a:p>
          <a:p>
            <a:pPr marL="0" indent="0">
              <a:buFont typeface="Wingdings"/>
              <a:buNone/>
              <a:defRPr/>
            </a:pPr>
            <a:endParaRPr lang="en-US"/>
          </a:p>
          <a:p>
            <a:pPr marL="0" indent="0">
              <a:buFont typeface="Wingdings"/>
              <a:buNone/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457200" y="1794548"/>
            <a:ext cx="6988179" cy="366175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 bwMode="auto">
          <a:xfrm>
            <a:off x="457200" y="283296"/>
            <a:ext cx="91273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4000">
                <a:solidFill>
                  <a:srgbClr val="00B0F0"/>
                </a:solidFill>
              </a:rPr>
              <a:t>requires-expression</a:t>
            </a:r>
            <a:endParaRPr lang="ru-RU" sz="4000">
              <a:solidFill>
                <a:srgbClr val="00B0F0"/>
              </a:solidFill>
            </a:endParaRPr>
          </a:p>
        </p:txBody>
      </p:sp>
      <p:sp>
        <p:nvSpPr>
          <p:cNvPr id="2" name="Объект 2"/>
          <p:cNvSpPr txBox="1"/>
          <p:nvPr/>
        </p:nvSpPr>
        <p:spPr bwMode="auto">
          <a:xfrm>
            <a:off x="232670" y="1321724"/>
            <a:ext cx="11430086" cy="52529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/>
              <a:buChar char="§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ru-RU"/>
              <a:t>Вернемся к примеру</a:t>
            </a:r>
            <a:endParaRPr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r>
              <a:rPr lang="ru-RU"/>
              <a:t>Его модно переписать через </a:t>
            </a:r>
            <a:r>
              <a:rPr lang="en-US"/>
              <a:t>requires-expression</a:t>
            </a:r>
            <a:r>
              <a:rPr lang="ru-RU"/>
              <a:t> </a:t>
            </a:r>
            <a:endParaRPr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 marL="0" indent="0">
              <a:buFont typeface="Wingdings"/>
              <a:buNone/>
              <a:defRPr/>
            </a:pPr>
            <a:endParaRPr lang="en-US"/>
          </a:p>
          <a:p>
            <a:pPr marL="0" indent="0">
              <a:buFont typeface="Wingdings"/>
              <a:buNone/>
              <a:defRPr/>
            </a:pPr>
            <a:endParaRPr lang="en-US"/>
          </a:p>
          <a:p>
            <a:pPr marL="0" indent="0">
              <a:buFont typeface="Wingdings"/>
              <a:buNone/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ru-RU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457200" y="1735548"/>
            <a:ext cx="8952138" cy="1042486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457200" y="3108576"/>
            <a:ext cx="4710971" cy="140147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 bwMode="auto">
          <a:xfrm>
            <a:off x="457200" y="283296"/>
            <a:ext cx="912737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Отличия </a:t>
            </a:r>
            <a:r>
              <a:rPr lang="en-US" sz="4000">
                <a:solidFill>
                  <a:srgbClr val="00B0F0"/>
                </a:solidFill>
              </a:rPr>
              <a:t>requires-expression</a:t>
            </a:r>
            <a:r>
              <a:rPr lang="ru-RU" sz="4000">
                <a:solidFill>
                  <a:srgbClr val="00B0F0"/>
                </a:solidFill>
              </a:rPr>
              <a:t> и </a:t>
            </a:r>
            <a:r>
              <a:rPr lang="en-US" sz="4000">
                <a:solidFill>
                  <a:srgbClr val="00B0F0"/>
                </a:solidFill>
              </a:rPr>
              <a:t>requires-clause</a:t>
            </a:r>
            <a:endParaRPr lang="ru-RU" sz="4000">
              <a:solidFill>
                <a:srgbClr val="00B0F0"/>
              </a:solidFill>
            </a:endParaRPr>
          </a:p>
        </p:txBody>
      </p:sp>
      <p:sp>
        <p:nvSpPr>
          <p:cNvPr id="2" name="Объект 2"/>
          <p:cNvSpPr txBox="1"/>
          <p:nvPr/>
        </p:nvSpPr>
        <p:spPr bwMode="auto">
          <a:xfrm>
            <a:off x="232670" y="1605020"/>
            <a:ext cx="11430086" cy="52529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/>
              <a:buChar char="§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/>
              <a:t>requires-clause </a:t>
            </a:r>
            <a:r>
              <a:rPr lang="ru-RU"/>
              <a:t>вычисляются на этапе компиляции</a:t>
            </a:r>
            <a:endParaRPr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r>
              <a:rPr lang="en-US"/>
              <a:t>requires-expression</a:t>
            </a:r>
            <a:r>
              <a:rPr lang="ru-RU"/>
              <a:t> проверяют валидность кода</a:t>
            </a:r>
            <a:endParaRPr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 marL="0" indent="0">
              <a:buFont typeface="Wingdings"/>
              <a:buNone/>
              <a:defRPr/>
            </a:pPr>
            <a:endParaRPr lang="en-US"/>
          </a:p>
          <a:p>
            <a:pPr marL="0" indent="0">
              <a:buFont typeface="Wingdings"/>
              <a:buNone/>
              <a:defRPr/>
            </a:pPr>
            <a:endParaRPr lang="en-US"/>
          </a:p>
          <a:p>
            <a:pPr marL="0" indent="0">
              <a:buFont typeface="Wingdings"/>
              <a:buNone/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ru-RU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529244" y="2008986"/>
            <a:ext cx="6506906" cy="1323439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529244" y="3857047"/>
            <a:ext cx="8249083" cy="79710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 bwMode="auto">
          <a:xfrm>
            <a:off x="457200" y="283296"/>
            <a:ext cx="91273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Виды </a:t>
            </a:r>
            <a:r>
              <a:rPr lang="en-US" sz="4000">
                <a:solidFill>
                  <a:srgbClr val="00B0F0"/>
                </a:solidFill>
              </a:rPr>
              <a:t>requires-expression</a:t>
            </a:r>
            <a:endParaRPr lang="ru-RU" sz="4000">
              <a:solidFill>
                <a:srgbClr val="00B0F0"/>
              </a:solidFill>
            </a:endParaRPr>
          </a:p>
        </p:txBody>
      </p:sp>
      <p:sp>
        <p:nvSpPr>
          <p:cNvPr id="2" name="Объект 2"/>
          <p:cNvSpPr txBox="1"/>
          <p:nvPr/>
        </p:nvSpPr>
        <p:spPr bwMode="auto">
          <a:xfrm>
            <a:off x="232670" y="1321724"/>
            <a:ext cx="11430086" cy="52529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/>
              <a:buChar char="§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ru-RU"/>
              <a:t>Простые (</a:t>
            </a:r>
            <a:r>
              <a:rPr lang="en-US"/>
              <a:t>simple)</a:t>
            </a:r>
            <a:r>
              <a:rPr lang="ru-RU"/>
              <a:t> ограничения – являются истинным, если выражение валидно</a:t>
            </a:r>
            <a:endParaRPr/>
          </a:p>
          <a:p>
            <a:pPr>
              <a:defRPr/>
            </a:pPr>
            <a:r>
              <a:rPr lang="ru-RU"/>
              <a:t>Ограничения типа</a:t>
            </a:r>
            <a:r>
              <a:rPr lang="en-US"/>
              <a:t> (type)</a:t>
            </a:r>
            <a:r>
              <a:rPr lang="ru-RU"/>
              <a:t> – являются истинными, если  выражение – существующий тип </a:t>
            </a:r>
            <a:endParaRPr/>
          </a:p>
          <a:p>
            <a:pPr>
              <a:defRPr/>
            </a:pPr>
            <a:r>
              <a:rPr lang="ru-RU"/>
              <a:t>Составные</a:t>
            </a:r>
            <a:r>
              <a:rPr lang="en-US"/>
              <a:t> (compound)</a:t>
            </a:r>
            <a:r>
              <a:rPr lang="ru-RU"/>
              <a:t> ограничения– являются комбинацией простого ограничения и ограничения типа, проверяют совместимость типа с выражением</a:t>
            </a:r>
            <a:endParaRPr/>
          </a:p>
          <a:p>
            <a:pPr>
              <a:defRPr/>
            </a:pPr>
            <a:r>
              <a:rPr lang="ru-RU"/>
              <a:t>Вложенные</a:t>
            </a:r>
            <a:r>
              <a:rPr lang="en-US"/>
              <a:t> (nested)</a:t>
            </a:r>
            <a:r>
              <a:rPr lang="ru-RU"/>
              <a:t> ограничения – содержат </a:t>
            </a:r>
            <a:r>
              <a:rPr lang="en-US"/>
              <a:t>requires-clause</a:t>
            </a:r>
            <a:endParaRPr lang="ru-RU"/>
          </a:p>
          <a:p>
            <a:pPr marL="0" indent="0">
              <a:buNone/>
              <a:defRPr/>
            </a:pPr>
            <a:endParaRPr lang="en-US"/>
          </a:p>
          <a:p>
            <a:pPr marL="457200" lvl="1" indent="0">
              <a:buNone/>
              <a:defRPr/>
            </a:pPr>
            <a:r>
              <a:rPr lang="en-US"/>
              <a:t>requires(T </a:t>
            </a:r>
            <a:r>
              <a:rPr lang="en-US"/>
              <a:t>t</a:t>
            </a:r>
            <a:r>
              <a:rPr lang="en-US"/>
              <a:t>, U u) {</a:t>
            </a:r>
            <a:endParaRPr/>
          </a:p>
          <a:p>
            <a:pPr marL="457200" lvl="1" indent="0">
              <a:buNone/>
              <a:defRPr/>
            </a:pPr>
            <a:r>
              <a:rPr lang="en-US"/>
              <a:t>	u + t; // </a:t>
            </a:r>
            <a:r>
              <a:rPr lang="ru-RU"/>
              <a:t>простое ограничение</a:t>
            </a:r>
            <a:endParaRPr lang="en-US"/>
          </a:p>
          <a:p>
            <a:pPr marL="457200" lvl="1" indent="0">
              <a:buNone/>
              <a:defRPr/>
            </a:pPr>
            <a:r>
              <a:rPr lang="en-US"/>
              <a:t>	</a:t>
            </a:r>
            <a:r>
              <a:rPr lang="en-US"/>
              <a:t>typename</a:t>
            </a:r>
            <a:r>
              <a:rPr lang="en-US"/>
              <a:t> T::inner; // </a:t>
            </a:r>
            <a:r>
              <a:rPr lang="ru-RU"/>
              <a:t>ограничение типа</a:t>
            </a:r>
            <a:endParaRPr lang="en-US"/>
          </a:p>
          <a:p>
            <a:pPr marL="457200" lvl="1" indent="0">
              <a:buNone/>
              <a:defRPr/>
            </a:pPr>
            <a:r>
              <a:rPr lang="en-US"/>
              <a:t>}</a:t>
            </a:r>
            <a:endParaRPr lang="ru-RU"/>
          </a:p>
          <a:p>
            <a:pPr>
              <a:defRPr/>
            </a:pPr>
            <a:endParaRPr lang="ru-RU"/>
          </a:p>
          <a:p>
            <a:pPr marL="0" indent="0">
              <a:buFont typeface="Wingdings"/>
              <a:buNone/>
              <a:defRPr/>
            </a:pPr>
            <a:endParaRPr lang="en-US"/>
          </a:p>
          <a:p>
            <a:pPr marL="0" indent="0">
              <a:buFont typeface="Wingdings"/>
              <a:buNone/>
              <a:defRPr/>
            </a:pPr>
            <a:endParaRPr lang="en-US"/>
          </a:p>
          <a:p>
            <a:pPr marL="0" indent="0">
              <a:buFont typeface="Wingdings"/>
              <a:buNone/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 bwMode="auto">
          <a:xfrm>
            <a:off x="457200" y="283296"/>
            <a:ext cx="91273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Концепты</a:t>
            </a:r>
            <a:endParaRPr/>
          </a:p>
        </p:txBody>
      </p:sp>
      <p:sp>
        <p:nvSpPr>
          <p:cNvPr id="2" name="Объект 2"/>
          <p:cNvSpPr txBox="1"/>
          <p:nvPr/>
        </p:nvSpPr>
        <p:spPr bwMode="auto">
          <a:xfrm>
            <a:off x="232670" y="1321724"/>
            <a:ext cx="11430086" cy="52529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/>
              <a:buChar char="§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ru-RU"/>
              <a:t>Концепты позволяют создать аббревиатуру для </a:t>
            </a:r>
            <a:r>
              <a:rPr lang="en-US"/>
              <a:t>requires-expression</a:t>
            </a:r>
            <a:endParaRPr/>
          </a:p>
          <a:p>
            <a:pPr>
              <a:defRPr/>
            </a:pPr>
            <a:r>
              <a:rPr lang="ru-RU"/>
              <a:t>По своей сути очень походи на </a:t>
            </a:r>
            <a:r>
              <a:rPr lang="en-US"/>
              <a:t> </a:t>
            </a:r>
            <a:r>
              <a:rPr lang="en-US"/>
              <a:t>constexpr</a:t>
            </a:r>
            <a:r>
              <a:rPr lang="en-US"/>
              <a:t> bool</a:t>
            </a:r>
            <a:endParaRPr/>
          </a:p>
          <a:p>
            <a:pPr marL="0" indent="0">
              <a:buNone/>
              <a:defRPr/>
            </a:pPr>
            <a:r>
              <a:rPr lang="ru-RU"/>
              <a:t> </a:t>
            </a:r>
            <a:endParaRPr/>
          </a:p>
          <a:p>
            <a:pPr marL="0" indent="0">
              <a:buFont typeface="Wingdings"/>
              <a:buNone/>
              <a:defRPr/>
            </a:pPr>
            <a:endParaRPr lang="en-US"/>
          </a:p>
          <a:p>
            <a:pPr marL="0" indent="0">
              <a:buFont typeface="Wingdings"/>
              <a:buNone/>
              <a:defRPr/>
            </a:pPr>
            <a:endParaRPr lang="en-US"/>
          </a:p>
          <a:p>
            <a:pPr marL="0" indent="0">
              <a:buFont typeface="Wingdings"/>
              <a:buNone/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457200" y="2217097"/>
            <a:ext cx="11547414" cy="66677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 bwMode="auto">
          <a:xfrm>
            <a:off x="457200" y="283296"/>
            <a:ext cx="91273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Составные ограничения</a:t>
            </a:r>
            <a:endParaRPr/>
          </a:p>
        </p:txBody>
      </p:sp>
      <p:sp>
        <p:nvSpPr>
          <p:cNvPr id="2" name="Объект 2"/>
          <p:cNvSpPr txBox="1"/>
          <p:nvPr/>
        </p:nvSpPr>
        <p:spPr bwMode="auto">
          <a:xfrm>
            <a:off x="232670" y="1321724"/>
            <a:ext cx="11430086" cy="52529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/>
              <a:buChar char="§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ru-RU"/>
              <a:t>Составные ограничения проверяют совместимость типа с выражением</a:t>
            </a:r>
            <a:endParaRPr/>
          </a:p>
          <a:p>
            <a:pPr marL="0" indent="0">
              <a:buNone/>
              <a:defRPr/>
            </a:pPr>
            <a:r>
              <a:rPr lang="en-US"/>
              <a:t>requires requires(T x) { {*x} -&gt; </a:t>
            </a:r>
            <a:r>
              <a:rPr lang="en-US"/>
              <a:t>typename</a:t>
            </a:r>
            <a:r>
              <a:rPr lang="en-US"/>
              <a:t> T::inner; }</a:t>
            </a:r>
            <a:endParaRPr/>
          </a:p>
          <a:p>
            <a:pPr>
              <a:defRPr/>
            </a:pPr>
            <a:r>
              <a:rPr lang="ru-RU"/>
              <a:t>В составных ограничениях могут быть использованы концепты</a:t>
            </a:r>
            <a:endParaRPr/>
          </a:p>
          <a:p>
            <a:pPr marL="0" indent="0">
              <a:buNone/>
              <a:defRPr/>
            </a:pPr>
            <a:r>
              <a:rPr lang="en-US"/>
              <a:t>requires requires(T x) { {*x} -&gt; </a:t>
            </a:r>
            <a:r>
              <a:rPr lang="en-US"/>
              <a:t>convertible_to</a:t>
            </a:r>
            <a:r>
              <a:rPr lang="en-US"/>
              <a:t>&lt;</a:t>
            </a:r>
            <a:r>
              <a:rPr lang="en-US"/>
              <a:t>typename</a:t>
            </a:r>
            <a:r>
              <a:rPr lang="en-US"/>
              <a:t> T::inner&gt;; }</a:t>
            </a:r>
            <a:endParaRPr/>
          </a:p>
          <a:p>
            <a:pPr marL="0" indent="0">
              <a:buNone/>
              <a:defRPr/>
            </a:pPr>
            <a:endParaRPr lang="ru-RU"/>
          </a:p>
          <a:p>
            <a:pPr marL="0" indent="0">
              <a:buFont typeface="Wingdings"/>
              <a:buNone/>
              <a:defRPr/>
            </a:pPr>
            <a:endParaRPr lang="en-US"/>
          </a:p>
          <a:p>
            <a:pPr marL="0" indent="0">
              <a:buFont typeface="Wingdings"/>
              <a:buNone/>
              <a:defRPr/>
            </a:pPr>
            <a:endParaRPr lang="en-US"/>
          </a:p>
          <a:p>
            <a:pPr marL="0" indent="0">
              <a:buFont typeface="Wingdings"/>
              <a:buNone/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 bwMode="auto">
          <a:xfrm>
            <a:off x="457200" y="283296"/>
            <a:ext cx="91273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Вложенные ограничения</a:t>
            </a:r>
            <a:endParaRPr/>
          </a:p>
        </p:txBody>
      </p:sp>
      <p:sp>
        <p:nvSpPr>
          <p:cNvPr id="2" name="Объект 2"/>
          <p:cNvSpPr txBox="1"/>
          <p:nvPr/>
        </p:nvSpPr>
        <p:spPr bwMode="auto">
          <a:xfrm>
            <a:off x="232670" y="1321724"/>
            <a:ext cx="11430086" cy="52529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/>
              <a:buChar char="§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ru-RU"/>
              <a:t>Внутри </a:t>
            </a:r>
            <a:r>
              <a:rPr lang="en-US"/>
              <a:t>requires-expression </a:t>
            </a:r>
            <a:r>
              <a:rPr lang="ru-RU"/>
              <a:t>могут быть </a:t>
            </a:r>
            <a:r>
              <a:rPr lang="en-US"/>
              <a:t>requires-clause</a:t>
            </a:r>
            <a:endParaRPr/>
          </a:p>
          <a:p>
            <a:pPr marL="0" indent="0">
              <a:buNone/>
              <a:defRPr/>
            </a:pPr>
            <a:r>
              <a:rPr lang="en-US"/>
              <a:t>requires(T t) {</a:t>
            </a:r>
            <a:endParaRPr/>
          </a:p>
          <a:p>
            <a:pPr marL="0" indent="0">
              <a:buNone/>
              <a:defRPr/>
            </a:pPr>
            <a:r>
              <a:rPr lang="en-US"/>
              <a:t>	requires </a:t>
            </a:r>
            <a:r>
              <a:rPr lang="en-US"/>
              <a:t>sizeof</a:t>
            </a:r>
            <a:r>
              <a:rPr lang="en-US"/>
              <a:t>(T) == 4;</a:t>
            </a:r>
            <a:endParaRPr/>
          </a:p>
          <a:p>
            <a:pPr marL="0" indent="0">
              <a:buNone/>
              <a:defRPr/>
            </a:pPr>
            <a:r>
              <a:rPr lang="en-US"/>
              <a:t>	requires </a:t>
            </a:r>
            <a:r>
              <a:rPr lang="en-US"/>
              <a:t>somepred</a:t>
            </a:r>
            <a:r>
              <a:rPr lang="en-US"/>
              <a:t>&lt;T&gt;() == 42;</a:t>
            </a:r>
            <a:endParaRPr/>
          </a:p>
          <a:p>
            <a:pPr marL="0" indent="0">
              <a:buNone/>
              <a:defRPr/>
            </a:pPr>
            <a:r>
              <a:rPr lang="en-US"/>
              <a:t>	requires </a:t>
            </a:r>
            <a:r>
              <a:rPr lang="en-US"/>
              <a:t>noexept</a:t>
            </a:r>
            <a:r>
              <a:rPr lang="en-US"/>
              <a:t>(++t);</a:t>
            </a:r>
            <a:endParaRPr/>
          </a:p>
          <a:p>
            <a:pPr marL="0" indent="0">
              <a:buNone/>
              <a:defRPr/>
            </a:pPr>
            <a:r>
              <a:rPr lang="en-US"/>
              <a:t>}</a:t>
            </a:r>
            <a:endParaRPr/>
          </a:p>
          <a:p>
            <a:pPr marL="0" indent="0">
              <a:buNone/>
              <a:defRPr/>
            </a:pPr>
            <a:endParaRPr lang="ru-RU"/>
          </a:p>
          <a:p>
            <a:pPr marL="0" indent="0">
              <a:buFont typeface="Wingdings"/>
              <a:buNone/>
              <a:defRPr/>
            </a:pPr>
            <a:endParaRPr lang="en-US"/>
          </a:p>
          <a:p>
            <a:pPr marL="0" indent="0">
              <a:buFont typeface="Wingdings"/>
              <a:buNone/>
              <a:defRPr/>
            </a:pPr>
            <a:endParaRPr lang="en-US"/>
          </a:p>
          <a:p>
            <a:pPr marL="0" indent="0">
              <a:buFont typeface="Wingdings"/>
              <a:buNone/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 bwMode="auto">
          <a:xfrm>
            <a:off x="457200" y="283296"/>
            <a:ext cx="91273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Концепты из концептов</a:t>
            </a:r>
            <a:endParaRPr/>
          </a:p>
        </p:txBody>
      </p:sp>
      <p:sp>
        <p:nvSpPr>
          <p:cNvPr id="2" name="Объект 2"/>
          <p:cNvSpPr txBox="1"/>
          <p:nvPr/>
        </p:nvSpPr>
        <p:spPr bwMode="auto">
          <a:xfrm>
            <a:off x="232670" y="1321724"/>
            <a:ext cx="11430086" cy="52529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/>
              <a:buChar char="§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ru-RU"/>
              <a:t>Концепты могут содержать еще концепты</a:t>
            </a:r>
            <a:endParaRPr/>
          </a:p>
          <a:p>
            <a:pPr>
              <a:defRPr/>
            </a:pPr>
            <a:endParaRPr lang="en-US"/>
          </a:p>
          <a:p>
            <a:pPr marL="0" indent="0">
              <a:buNone/>
              <a:defRPr/>
            </a:pPr>
            <a:endParaRPr lang="ru-RU"/>
          </a:p>
          <a:p>
            <a:pPr marL="0" indent="0">
              <a:buFont typeface="Wingdings"/>
              <a:buNone/>
              <a:defRPr/>
            </a:pPr>
            <a:endParaRPr lang="en-US"/>
          </a:p>
          <a:p>
            <a:pPr marL="0" indent="0">
              <a:buFont typeface="Wingdings"/>
              <a:buNone/>
              <a:defRPr/>
            </a:pPr>
            <a:endParaRPr lang="en-US"/>
          </a:p>
          <a:p>
            <a:pPr marL="0" indent="0">
              <a:buFont typeface="Wingdings"/>
              <a:buNone/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457200" y="1726492"/>
            <a:ext cx="6356838" cy="248525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 bwMode="auto">
          <a:xfrm>
            <a:off x="457200" y="283296"/>
            <a:ext cx="91273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Ограничение функций концептами</a:t>
            </a:r>
            <a:endParaRPr/>
          </a:p>
        </p:txBody>
      </p:sp>
      <p:sp>
        <p:nvSpPr>
          <p:cNvPr id="2" name="Объект 2"/>
          <p:cNvSpPr txBox="1"/>
          <p:nvPr/>
        </p:nvSpPr>
        <p:spPr bwMode="auto">
          <a:xfrm>
            <a:off x="232670" y="1321724"/>
            <a:ext cx="11430086" cy="52529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/>
              <a:buChar char="§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ru-RU"/>
              <a:t>Концепты можно использовать напрямую в объявлении функции</a:t>
            </a: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ru-RU"/>
              <a:t>Для концептов существует отдельный синтаксис</a:t>
            </a:r>
            <a:endParaRPr lang="en-US"/>
          </a:p>
          <a:p>
            <a:pPr marL="0" indent="0">
              <a:buFont typeface="Wingdings"/>
              <a:buNone/>
              <a:defRPr/>
            </a:pPr>
            <a:endParaRPr lang="en-US"/>
          </a:p>
          <a:p>
            <a:pPr marL="0" indent="0">
              <a:buFont typeface="Wingdings"/>
              <a:buNone/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ru-RU"/>
              <a:t>Можно даже так</a:t>
            </a: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ru-RU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457200" y="1753666"/>
            <a:ext cx="7447358" cy="919195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457200" y="3143538"/>
            <a:ext cx="4264269" cy="1705708"/>
          </a:xfrm>
          <a:prstGeom prst="rect">
            <a:avLst/>
          </a:prstGeom>
        </p:spPr>
      </p:pic>
      <p:pic>
        <p:nvPicPr>
          <p:cNvPr id="11" name="Рисунок 10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457200" y="5319923"/>
            <a:ext cx="7192812" cy="42145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 bwMode="auto">
          <a:xfrm>
            <a:off x="457200" y="283296"/>
            <a:ext cx="91273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Отношение концептов</a:t>
            </a:r>
            <a:endParaRPr/>
          </a:p>
        </p:txBody>
      </p:sp>
      <p:sp>
        <p:nvSpPr>
          <p:cNvPr id="2" name="Объект 2"/>
          <p:cNvSpPr txBox="1"/>
          <p:nvPr/>
        </p:nvSpPr>
        <p:spPr bwMode="auto">
          <a:xfrm>
            <a:off x="232670" y="1321724"/>
            <a:ext cx="11430086" cy="52529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/>
              <a:buChar char="§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ru-RU"/>
              <a:t>Концепты могут участвовать в отношения большей или меньшей ограниченности</a:t>
            </a: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RandomIterator</a:t>
            </a:r>
            <a:r>
              <a:rPr lang="en-US"/>
              <a:t> </a:t>
            </a:r>
            <a:r>
              <a:rPr lang="ru-RU"/>
              <a:t>более ограничивающий чем </a:t>
            </a:r>
            <a:r>
              <a:rPr lang="en-US"/>
              <a:t>InputIterator</a:t>
            </a: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457200" y="1749932"/>
            <a:ext cx="10596222" cy="20659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 bwMode="auto">
          <a:xfrm>
            <a:off x="457200" y="283296"/>
            <a:ext cx="91273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Отношение концептов</a:t>
            </a:r>
            <a:endParaRPr/>
          </a:p>
        </p:txBody>
      </p:sp>
      <p:sp>
        <p:nvSpPr>
          <p:cNvPr id="2" name="Объект 2"/>
          <p:cNvSpPr txBox="1"/>
          <p:nvPr/>
        </p:nvSpPr>
        <p:spPr bwMode="auto">
          <a:xfrm>
            <a:off x="232670" y="1321724"/>
            <a:ext cx="11430086" cy="52529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/>
              <a:buChar char="§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ru-RU"/>
              <a:t>Теперь </a:t>
            </a:r>
            <a:r>
              <a:rPr lang="en-US"/>
              <a:t>my_distance</a:t>
            </a:r>
            <a:r>
              <a:rPr lang="en-US"/>
              <a:t> </a:t>
            </a:r>
            <a:r>
              <a:rPr lang="ru-RU"/>
              <a:t>будет работать</a:t>
            </a: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ru-RU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457200" y="1832279"/>
            <a:ext cx="4403241" cy="396149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Для тех кто хочет почитать что-то еще</a:t>
            </a:r>
            <a:endParaRPr/>
          </a:p>
        </p:txBody>
      </p:sp>
      <p:sp>
        <p:nvSpPr>
          <p:cNvPr id="11" name="Объект 10"/>
          <p:cNvSpPr>
            <a:spLocks noGrp="1"/>
          </p:cNvSpPr>
          <p:nvPr>
            <p:ph idx="1"/>
          </p:nvPr>
        </p:nvSpPr>
        <p:spPr bwMode="auto">
          <a:xfrm>
            <a:off x="5301327" y="953835"/>
            <a:ext cx="6281873" cy="5248622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/>
              <a:t>Лекция разработана на базе открытых лекций </a:t>
            </a:r>
            <a:r>
              <a:rPr lang="ru-RU" u="sng"/>
              <a:t>Константина Владимирова </a:t>
            </a:r>
            <a:r>
              <a:rPr lang="ru-RU"/>
              <a:t>(МФТИ, </a:t>
            </a:r>
            <a:r>
              <a:rPr lang="en-US"/>
              <a:t>iLAB</a:t>
            </a:r>
            <a:r>
              <a:rPr lang="ru-RU"/>
              <a:t>) (Базовый курс, Лекция:</a:t>
            </a:r>
            <a:r>
              <a:rPr lang="en-US"/>
              <a:t> 5, 6</a:t>
            </a:r>
            <a:r>
              <a:rPr lang="ru-RU"/>
              <a:t>)   </a:t>
            </a:r>
            <a:r>
              <a:rPr lang="en-US" u="sng">
                <a:hlinkClick r:id="rId2" tooltip="https://www.youtube.com/@tilir"/>
              </a:rPr>
              <a:t>https://www.youtube.com/@tilir</a:t>
            </a:r>
            <a:endParaRPr lang="ru-RU"/>
          </a:p>
          <a:p>
            <a:pPr marL="0" indent="0">
              <a:buNone/>
              <a:defRPr/>
            </a:pPr>
            <a:endParaRPr lang="ru-RU"/>
          </a:p>
          <a:p>
            <a:pPr marL="0" indent="0">
              <a:buNone/>
              <a:defRPr/>
            </a:pPr>
            <a:r>
              <a:rPr lang="ru-RU"/>
              <a:t>Также полезно изучить:</a:t>
            </a:r>
            <a:endParaRPr/>
          </a:p>
          <a:p>
            <a:pPr>
              <a:defRPr/>
            </a:pPr>
            <a:r>
              <a:rPr lang="ru-RU"/>
              <a:t>Идиомы и паттерны проектирования в современном С++ // Ф.Г. </a:t>
            </a:r>
            <a:r>
              <a:rPr lang="ru-RU"/>
              <a:t>Пикус</a:t>
            </a:r>
            <a:r>
              <a:rPr lang="ru-RU"/>
              <a:t> </a:t>
            </a:r>
            <a:endParaRPr/>
          </a:p>
          <a:p>
            <a:pPr>
              <a:defRPr/>
            </a:pPr>
            <a:r>
              <a:rPr lang="ru-RU"/>
              <a:t>Эффективный и современный С++ // </a:t>
            </a:r>
            <a:r>
              <a:rPr lang="ru-RU"/>
              <a:t>С.Майерс</a:t>
            </a:r>
            <a:endParaRPr lang="ru-RU"/>
          </a:p>
          <a:p>
            <a:pPr marL="0" indent="0">
              <a:buNone/>
              <a:defRPr/>
            </a:pPr>
            <a:endParaRPr lang="ru-RU"/>
          </a:p>
          <a:p>
            <a:pPr marL="0" indent="0">
              <a:buNone/>
              <a:defRPr/>
            </a:pPr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Атлас">
  <a:themeElements>
    <a:clrScheme name="Атлас">
      <a:dk1>
        <a:sysClr val="windowText" lastClr="000000"/>
      </a:dk1>
      <a:lt1>
        <a:sysClr val="window" lastClr="FFFFFF"/>
      </a:lt1>
      <a:dk2>
        <a:srgbClr val="454545"/>
      </a:dk2>
      <a:lt2>
        <a:srgbClr val="E0E0E0"/>
      </a:lt2>
      <a:accent1>
        <a:srgbClr val="10B6F4"/>
      </a:accent1>
      <a:accent2>
        <a:srgbClr val="3C78C3"/>
      </a:accent2>
      <a:accent3>
        <a:srgbClr val="9F52D0"/>
      </a:accent3>
      <a:accent4>
        <a:srgbClr val="D64198"/>
      </a:accent4>
      <a:accent5>
        <a:srgbClr val="DA2228"/>
      </a:accent5>
      <a:accent6>
        <a:srgbClr val="F18318"/>
      </a:accent6>
      <a:hlink>
        <a:srgbClr val="38DDEC"/>
      </a:hlink>
      <a:folHlink>
        <a:srgbClr val="A8DEE8"/>
      </a:folHlink>
    </a:clrScheme>
    <a:fontScheme name="Атлас">
      <a:majorFont>
        <a:latin typeface="Calibri Light"/>
        <a:ea typeface="Arial"/>
        <a:cs typeface="Arial"/>
      </a:majorFont>
      <a:minorFont>
        <a:latin typeface="Rockwell"/>
        <a:ea typeface="Arial"/>
        <a:cs typeface="Arial"/>
      </a:minorFont>
    </a:fontScheme>
    <a:fmtScheme name="Атлас">
      <a:fillStyleLst>
        <a:solidFill>
          <a:schemeClr val="phClr"/>
        </a:solidFill>
        <a:gradFill>
          <a:gsLst>
            <a:gs pos="0">
              <a:schemeClr val="phClr">
                <a:tint val="62000"/>
                <a:alpha val="60000"/>
                <a:satMod val="109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0000"/>
            </a:schemeClr>
          </a:solidFill>
          <a:prstDash val="solid"/>
        </a:ln>
        <a:ln w="15875" cap="flat" cmpd="sng" algn="ctr">
          <a:solidFill>
            <a:schemeClr val="phClr">
              <a:shade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gradFill>
          <a:gsLst>
            <a:gs pos="10000">
              <a:schemeClr val="phClr">
                <a:tint val="94000"/>
                <a:lumMod val="116000"/>
              </a:schemeClr>
            </a:gs>
            <a:gs pos="100000">
              <a:schemeClr val="phClr">
                <a:tint val="98000"/>
                <a:shade val="86000"/>
                <a:satMod val="90000"/>
                <a:lumMod val="88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TM16401371[[fn=Атлас]]</Template>
  <TotalTime>0</TotalTime>
  <Words>0</Words>
  <Application>R7-Office/2024.1.1.375</Application>
  <DocSecurity>0</DocSecurity>
  <PresentationFormat>Широкоэкранный</PresentationFormat>
  <Paragraphs>0</Paragraphs>
  <Slides>27</Slides>
  <Notes>27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28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Лекция 0. Введение.</dc:title>
  <dc:subject/>
  <dc:creator>Василий Бугаев</dc:creator>
  <cp:keywords/>
  <dc:description/>
  <dc:identifier/>
  <dc:language/>
  <cp:lastModifiedBy>Кирилл Чубанов</cp:lastModifiedBy>
  <cp:revision>233</cp:revision>
  <dcterms:created xsi:type="dcterms:W3CDTF">2023-01-29T12:06:08Z</dcterms:created>
  <dcterms:modified xsi:type="dcterms:W3CDTF">2026-04-24T07:34:34Z</dcterms:modified>
  <cp:category/>
  <cp:contentStatus/>
  <cp:version/>
</cp:coreProperties>
</file>