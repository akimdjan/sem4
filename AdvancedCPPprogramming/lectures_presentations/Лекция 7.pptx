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492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presProps" Target="presProps.xml" /><Relationship Id="rId41" Type="http://schemas.openxmlformats.org/officeDocument/2006/relationships/tableStyles" Target="tableStyles.xml" /><Relationship Id="rId4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8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Лекция </a:t>
            </a:r>
            <a:r>
              <a:rPr lang="en-US"/>
              <a:t>7</a:t>
            </a:r>
            <a:r>
              <a:rPr lang="ru-RU"/>
              <a:t>. </a:t>
            </a:r>
            <a:r>
              <a:rPr lang="en-US"/>
              <a:t>CRTP</a:t>
            </a:r>
            <a:r>
              <a:rPr lang="ru-RU"/>
              <a:t>.</a:t>
            </a:r>
            <a:br>
              <a:rPr lang="ru-RU"/>
            </a:b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7371297" y="5514448"/>
            <a:ext cx="4713326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Чубанов Кирилл Константинович МФТИ, 2026 г.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Вернемся к виртуальным функциям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Вопрос: какие недостатки есть у виртуальных функций?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Вернемся к виртуальным функциям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ru-RU"/>
              <a:t>Сравним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очень простую виртуальную функцию, содержащую минимум кода, с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невиртуальной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функцией, делающей то же самое:</a:t>
            </a: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199" y="2186243"/>
            <a:ext cx="4473723" cy="37457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04400" y="2186243"/>
            <a:ext cx="4819324" cy="3043783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008404" y="6205372"/>
            <a:ext cx="222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00B0F0"/>
                </a:solidFill>
              </a:rPr>
              <a:t>BM_dynamic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7803109" y="6094545"/>
            <a:ext cx="222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00B0F0"/>
                </a:solidFill>
              </a:rPr>
              <a:t>BM_none</a:t>
            </a:r>
            <a:endParaRPr lang="ru-RU" sz="400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Вернемся к виртуальным функциям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ru-RU"/>
              <a:t>Замерим накладные расходы на вызов функции </a:t>
            </a:r>
            <a:r>
              <a:rPr lang="en-US"/>
              <a:t>f  </a:t>
            </a:r>
            <a:r>
              <a:rPr lang="ru-RU"/>
              <a:t>32 раза. В случае с виртуальной функцией, она будет вызываться от указателя на базовый класс, инициализированного производным классом.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r>
              <a:rPr lang="ru-RU"/>
              <a:t>Как мы видим накладные расходы на </a:t>
            </a:r>
            <a:br>
              <a:rPr lang="ru-RU"/>
            </a:br>
            <a:r>
              <a:rPr lang="ru-RU"/>
              <a:t>вызов виртуальной функции почти в 10 раз дороже </a:t>
            </a:r>
            <a:br>
              <a:rPr lang="ru-RU"/>
            </a:br>
            <a:r>
              <a:rPr lang="ru-RU"/>
              <a:t>вызова </a:t>
            </a:r>
            <a:r>
              <a:rPr lang="ru-RU"/>
              <a:t>невиртуальной</a:t>
            </a:r>
            <a:r>
              <a:rPr lang="ru-RU"/>
              <a:t>!!!!</a:t>
            </a:r>
            <a:endParaRPr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1648" y="2471456"/>
            <a:ext cx="7867370" cy="11519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58871" y="3948214"/>
            <a:ext cx="4000294" cy="2327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Вернемся к виртуальным функциям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Конечно, сравнение не совсем честное: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виртуальный вызов обладает дополнительной функциональностью. Однако часть этой функциональности можно реализовать другими способами, без накладных расходов, снижающих производительность.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  <a:p>
            <a:pPr lvl="0">
              <a:defRPr/>
            </a:pPr>
            <a:r>
              <a:rPr lang="ru-RU"/>
              <a:t> Например, с использованием статического полиморфизма.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11455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Ускорение программы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Попробуем реализовать решение прошлой задачи без использования виртуальных функций. </a:t>
            </a:r>
            <a:endParaRPr/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Производный класс по-прежнему наследует базовому, но только его вполне определенной конкретизации - самому себе! Класс В конкретизирован классом D, а класс D наследует классу В, конкретизированному классом D, который наследует классу В, и т.д.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</a:t>
            </a:r>
            <a:endParaRPr lang="ru-RU" sz="4400">
              <a:latin typeface="Arial"/>
            </a:endParaRPr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5789" y="1872413"/>
            <a:ext cx="3591830" cy="17587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11455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Ускорение программы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Вопрос: а в чем смысл данных махинаций?</a:t>
            </a:r>
            <a:endParaRPr/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11455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Ускорение программы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r>
              <a:rPr lang="ru-RU"/>
              <a:t>Базовый класс во время компиляции располагает информацией о производном. Следовательно, то, что раньше было виртуальной функцией, теперь можно связать с нужной функцией на этапе компиляции </a:t>
            </a:r>
            <a:endParaRPr/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11455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CRTP – curiously recursive template pattern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r>
              <a:rPr lang="ru-RU"/>
              <a:t>Базовый класс во время компиляции располагает информацией о производном. Следовательно, то, что раньше было виртуальной функцией, теперь можно связать с нужной функцией на этапе компиляции</a:t>
            </a:r>
            <a:endParaRPr/>
          </a:p>
          <a:p>
            <a:pPr lvl="0">
              <a:spcAft>
                <a:spcPts val="0"/>
              </a:spcAft>
              <a:defRPr/>
            </a:pPr>
            <a:r>
              <a:rPr lang="ru-RU"/>
              <a:t>Посмотрим как это выглядит по отношению к предыдущему примеру </a:t>
            </a:r>
            <a:endParaRPr/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Вернемся к виртуальным функциям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2604" y="2259166"/>
            <a:ext cx="3593506" cy="30087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l="0" t="0" r="20936" b="0"/>
          <a:stretch/>
        </p:blipFill>
        <p:spPr bwMode="auto">
          <a:xfrm>
            <a:off x="3821020" y="2259166"/>
            <a:ext cx="3810374" cy="3043783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606752" y="5267930"/>
            <a:ext cx="222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00B0F0"/>
                </a:solidFill>
              </a:rPr>
              <a:t>BM_dynamic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4709532" y="5302949"/>
            <a:ext cx="222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00B0F0"/>
                </a:solidFill>
              </a:rPr>
              <a:t>BM_none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734007" y="1899275"/>
            <a:ext cx="3962953" cy="35533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 bwMode="auto">
          <a:xfrm>
            <a:off x="8604530" y="5413806"/>
            <a:ext cx="222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00B0F0"/>
                </a:solidFill>
              </a:rPr>
              <a:t>BM_static</a:t>
            </a:r>
            <a:endParaRPr lang="ru-RU" sz="400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Вернемся к виртуальным функциям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ru-RU"/>
              <a:t>Замерим накладные расходы на вызов функции </a:t>
            </a:r>
            <a:r>
              <a:rPr lang="en-US"/>
              <a:t>f  </a:t>
            </a:r>
            <a:r>
              <a:rPr lang="ru-RU"/>
              <a:t>32 раза. 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>
              <a:spcAft>
                <a:spcPts val="0"/>
              </a:spcAft>
              <a:defRPr/>
            </a:pPr>
            <a:r>
              <a:rPr lang="ru-RU"/>
              <a:t>Как мы видим </a:t>
            </a:r>
            <a:r>
              <a:rPr lang="ru-RU"/>
              <a:t>вызов функции посредством CRTP занимает ровно столько времени, сколько вызов обычной функции </a:t>
            </a:r>
            <a:endParaRPr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40792" y="2202690"/>
            <a:ext cx="6803208" cy="1145206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52501" y="4448247"/>
            <a:ext cx="4089341" cy="2126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r>
              <a:rPr lang="ru-RU"/>
              <a:t>Основное ограничение CRTP заключается в том, что размер базового класса В не может зависеть от его параметра шаблона D. Вообще, шаблон класса В конкретизируется неполным типом D. Например, следующий код не компилируется: 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93931" y="2647840"/>
            <a:ext cx="4037889" cy="2489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Вопрос на засыпку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r>
              <a:rPr lang="ru-RU"/>
              <a:t>А почему вообще </a:t>
            </a:r>
            <a:r>
              <a:rPr lang="en-US"/>
              <a:t>CRTP </a:t>
            </a:r>
            <a:r>
              <a:rPr lang="ru-RU"/>
              <a:t>работает?</a:t>
            </a:r>
            <a:endParaRPr/>
          </a:p>
          <a:p>
            <a:pPr>
              <a:spcAft>
                <a:spcPts val="0"/>
              </a:spcAft>
              <a:defRPr/>
            </a:pPr>
            <a:r>
              <a:rPr lang="ru-RU"/>
              <a:t>Понятно, что в точке где тип B&lt;D&gt; должен быть известен, тип D еще не объявлен. Так не может быть - для объявления класса D необходимо точно знать, что представляет собой базовый класс B&lt;D&gt;. Но если класс D еще не объявлен, то как компилятор знает, что идентификатор D вообще относится к классу? Ведь не можем же мы конкретизировать шаблон совершенно неизвестным типом. </a:t>
            </a:r>
            <a:endParaRPr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112381"/>
            <a:ext cx="11797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Ленивый С++ (возвращение к предыдущей лекции)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При сокращенных вычислениях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ru-RU"/>
              <a:t>При </a:t>
            </a:r>
            <a:r>
              <a:rPr lang="ru-RU"/>
              <a:t>инстанцировании</a:t>
            </a:r>
            <a:r>
              <a:rPr lang="ru-RU"/>
              <a:t> шаблонов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782692"/>
            <a:ext cx="3444992" cy="54538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29244" y="2742839"/>
            <a:ext cx="8087433" cy="3668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Функции и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ru-RU"/>
              <a:t>Вопрос: А как написать функцию</a:t>
            </a:r>
            <a:r>
              <a:rPr lang="en-US"/>
              <a:t> (</a:t>
            </a:r>
            <a:r>
              <a:rPr lang="ru-RU"/>
              <a:t>не метод класса), которая должна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компилироваться с параметрами неизвестного типа?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Функции и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61156" y="1391202"/>
            <a:ext cx="4540684" cy="3949339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Функции и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9521" y="1664668"/>
            <a:ext cx="4540684" cy="3949339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6050422" y="1239139"/>
            <a:ext cx="5794049" cy="1723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Эта шаблонная функция может вызываться для любого указателя на базовый класс и автоматически выводит тип производного    класса D. Теперь мы можем написать нечто, выглядящее как обычный полиморфный код: 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438823" y="3113895"/>
            <a:ext cx="2967447" cy="1885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Новые проблемы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32670" y="1097961"/>
            <a:ext cx="11731803" cy="105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Размышляя об эквиваленте чисто виртуальной функции для статического полиморфизма, мы приходим к выводу, что наша реализация CRTP страдает серьезной уязвимостью. Что, если мы забудем переопределить виртуальную функцию времени компиляции f () в одном из производных классов?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4074" y="2380732"/>
            <a:ext cx="5984456" cy="38440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Новые проблемы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4731" y="1321724"/>
            <a:ext cx="6409458" cy="4117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6823929" y="2609591"/>
            <a:ext cx="53680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Этот код компилируется без ошибок и предупреждений - в строке 1 мы вызываем функцию В::f(), которая, в свою очередь, вызываете: :f(). В классе D не объявлена собственная версия члена f(), поэтому вызывается унаследованная от базового класса. Конечно, это та самая функция-член В: :f(), которую мы уже видели. Она снова вызываете: : f (), которая не что иное, как В: :f()..., и мы имеем бесконечный цикл. 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Чисто виртуальные функции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188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Проблема здесь в том, что нас никто не заставляет переопределять функцию- член f() в производном классе, но если этого не сделать, то получается некорректная программа. Корень зла - в смешении интерфейса и реализации; объявление открытой функции-члена в базовом классе говорит, что во всех производных классах должна быть функция void f (int), это часть их открытого интерфейса. </a:t>
            </a:r>
            <a:endParaRPr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Как реализовать аналог чисто виртуальным функциям с помощью </a:t>
            </a:r>
            <a:r>
              <a:rPr lang="en-US"/>
              <a:t>CRTP</a:t>
            </a:r>
            <a:r>
              <a:rPr lang="ru-RU"/>
              <a:t>?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Чисто виртуальные функции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4470" y="1321724"/>
            <a:ext cx="5223995" cy="3344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6281159" y="1239139"/>
            <a:ext cx="5554766" cy="236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Что случится, если мы забудем реализовать функцию D::f_i</a:t>
            </a:r>
            <a:r>
              <a:rPr lang="en-US"/>
              <a:t>m</a:t>
            </a:r>
            <a:r>
              <a:rPr lang="ru-RU"/>
              <a:t>pl</a:t>
            </a:r>
            <a:r>
              <a:rPr lang="ru-RU"/>
              <a:t>()? Код не откомпилируется, потому что в классе D нет такой функции-члена - ни своей, ни унаследованной. Таким образом, мы реализовали чисто виртуальную функцию времени компиляции! 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Чисто виртуальные функции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1217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Как написать обычную виртуальную функцию, реализация которой факультативно может быть переопределена?</a:t>
            </a:r>
            <a:endParaRPr lang="en-US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Можно также разделить реализацию и интерфейс.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Чисто виртуальные функции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Как написать обычную виртуальную функцию, реализация которой факультативно может быть переопределена?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4470" y="2178591"/>
            <a:ext cx="5029902" cy="4296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Как правило, полиморфное удаление - вообще не проблема. </a:t>
            </a:r>
            <a:endParaRPr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При создании любого объекта его фактический тип известен. </a:t>
            </a:r>
            <a:endParaRPr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Если код, конструирующий объект, владеет им и в конце концов удаляет, то вопрос «Каков тип удаленного объекта?» вообще никогда не встает. </a:t>
            </a:r>
            <a:endParaRPr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Но что если, нам действительно нужно удалить объект через указатель на базовый класс?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318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Первая попытка:</a:t>
            </a:r>
            <a:endParaRPr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Есть ли здесь проблемы?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4470" y="1944151"/>
            <a:ext cx="3226037" cy="152812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69942" y="3248226"/>
            <a:ext cx="4762500" cy="2524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5806697" y="2100309"/>
            <a:ext cx="5688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Студенты на зачете, которые не ходили на лекции</a:t>
            </a:r>
            <a:endParaRPr/>
          </a:p>
        </p:txBody>
      </p:sp>
      <p:cxnSp>
        <p:nvCxnSpPr>
          <p:cNvPr id="17" name="Прямая со стрелкой 16"/>
          <p:cNvCxnSpPr>
            <a:cxnSpLocks/>
            <a:stCxn id="15" idx="2"/>
            <a:endCxn id="14" idx="0"/>
          </p:cNvCxnSpPr>
          <p:nvPr/>
        </p:nvCxnSpPr>
        <p:spPr bwMode="auto">
          <a:xfrm>
            <a:off x="8651192" y="2469641"/>
            <a:ext cx="0" cy="77858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330010" y="1244812"/>
            <a:ext cx="11731803" cy="313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Между прочим,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этот код компилируется.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Хуже того, даже компиляторы, которые обычно предупреждают, что в классе имеется виртуальная функция, но отсутствует виртуальный деструктор, в этом случае не выдают никаких предупреждений, поскольку виртуальных функций нет, а CRTP-полиморфизм компилятор не считает потенциальным источником проблем.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Однако проблема существует и заключается в том, что вызывается только сам деструктор базового класса B&lt;D&gt;, а деструктор класса D так и не вызывается!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  <a:p>
            <a:pPr marL="22860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 Что делать??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75917" y="3603182"/>
            <a:ext cx="4068521" cy="3254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330010" y="1244812"/>
            <a:ext cx="11731803" cy="318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Можно попробовать сделать так как раньше: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Есть ли здесь проблемы?</a:t>
            </a:r>
            <a:endParaRPr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8511" y="2047251"/>
            <a:ext cx="5519391" cy="1482161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25242" y="3248226"/>
            <a:ext cx="4762500" cy="2524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 bwMode="auto">
          <a:xfrm>
            <a:off x="5806697" y="2100309"/>
            <a:ext cx="5688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Студенты на зачете, которые не ходили на лекции</a:t>
            </a:r>
            <a:endParaRPr/>
          </a:p>
        </p:txBody>
      </p:sp>
      <p:cxnSp>
        <p:nvCxnSpPr>
          <p:cNvPr id="19" name="Прямая со стрелкой 18"/>
          <p:cNvCxnSpPr>
            <a:cxnSpLocks/>
            <a:stCxn id="18" idx="2"/>
          </p:cNvCxnSpPr>
          <p:nvPr/>
        </p:nvCxnSpPr>
        <p:spPr bwMode="auto">
          <a:xfrm>
            <a:off x="8651192" y="2469641"/>
            <a:ext cx="0" cy="77858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155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 деструкторе базового класса фактический объект уже не принадлежит производному типу, и вызов функций-членов производного класса приводит к неопределенному поведению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Даже если это каким-то образом сработает, деструктор производного класса сделает свою работу, после чего вызовет деструктор базового класса - и мы получим бесконечный цикл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134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Какие могут быть решения:</a:t>
            </a:r>
            <a:endParaRPr/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Использовать сторонние методы для удаления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Сделать виртуальный деструктор</a:t>
            </a:r>
            <a:endParaRPr lang="ru-RU"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4109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Использовать сторонние методы для удаления</a:t>
            </a:r>
            <a:endParaRPr/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Плюсы:</a:t>
            </a:r>
            <a:endParaRPr/>
          </a:p>
          <a:p>
            <a:pPr marL="1200150" lvl="1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Соответствует паттерну </a:t>
            </a:r>
            <a:r>
              <a:rPr lang="en-US">
                <a:solidFill>
                  <a:srgbClr val="212529"/>
                </a:solidFill>
                <a:latin typeface="SFMono-Regular"/>
              </a:rPr>
              <a:t>CRTP</a:t>
            </a:r>
            <a:endParaRPr/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Минусы:</a:t>
            </a:r>
            <a:endParaRPr/>
          </a:p>
          <a:p>
            <a:pPr marL="1200150" lvl="1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Необходимо следить, чтоб объекты удалялись через </a:t>
            </a:r>
            <a:r>
              <a:rPr lang="en-US">
                <a:solidFill>
                  <a:srgbClr val="212529"/>
                </a:solidFill>
                <a:latin typeface="SFMono-Regular"/>
              </a:rPr>
              <a:t>destroy</a:t>
            </a:r>
            <a:r>
              <a:rPr lang="ru-RU">
                <a:solidFill>
                  <a:srgbClr val="212529"/>
                </a:solidFill>
                <a:latin typeface="SFMono-Regular"/>
              </a:rPr>
              <a:t>,</a:t>
            </a:r>
            <a:r>
              <a:rPr lang="en-US">
                <a:solidFill>
                  <a:srgbClr val="212529"/>
                </a:solidFill>
                <a:latin typeface="SFMono-Regular"/>
              </a:rPr>
              <a:t>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а не через </a:t>
            </a:r>
            <a:r>
              <a:rPr lang="en-US">
                <a:solidFill>
                  <a:srgbClr val="212529"/>
                </a:solidFill>
                <a:latin typeface="SFMono-Regular"/>
              </a:rPr>
              <a:t>delete</a:t>
            </a:r>
            <a:endParaRPr/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7299" y="2025048"/>
            <a:ext cx="8728134" cy="622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Деструкторы и полиморфное удаление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4109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Сделать виртуальный деструктор</a:t>
            </a:r>
            <a:endParaRPr lang="ru-RU">
              <a:latin typeface="Arial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Плюсы:</a:t>
            </a:r>
            <a:endParaRPr/>
          </a:p>
          <a:p>
            <a:pPr marL="1200150" lvl="1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Не надо следить за удалением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+mj-lt"/>
              <a:buAutoNum type="arabicPeriod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742950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Минусы:</a:t>
            </a:r>
            <a:endParaRPr/>
          </a:p>
          <a:p>
            <a:pPr marL="1200150" lvl="1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возвращаются накладные расходы на вызов виртуальной функции, но только для деструктора</a:t>
            </a:r>
            <a:endParaRPr/>
          </a:p>
          <a:p>
            <a:pPr marL="1200150" lvl="1" indent="-74295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размер объекта увеличивается на размер указателя </a:t>
            </a:r>
            <a:endParaRPr/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Применение </a:t>
            </a:r>
            <a:r>
              <a:rPr lang="en-US" sz="4000">
                <a:solidFill>
                  <a:srgbClr val="00B0F0"/>
                </a:solidFill>
              </a:rPr>
              <a:t>CRTP </a:t>
            </a:r>
            <a:r>
              <a:rPr lang="ru-RU" sz="4000">
                <a:solidFill>
                  <a:srgbClr val="00B0F0"/>
                </a:solidFill>
              </a:rPr>
              <a:t>для делегирования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430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На самом деле чаще функция вызывается напрямую от имени объекта производного класса. </a:t>
            </a:r>
            <a:endParaRPr/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Интерфейс и общий код находятся в базовом классе, а производные классы переопределяют конкретную реализацию. Это отношение сохраняется и тогда, когда обращение к CRTP-объекту производится через указатель или ссылку на базовый класс. </a:t>
            </a:r>
            <a:endParaRPr/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Такое использование CRTP иногда называют статическим интерфейсом.</a:t>
            </a:r>
            <a:endParaRPr/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Если производный объект используется напрямую, то ситуация кардинально меняется - базовый класс больше не определяет интерфейс, а производный является не только реализацией.</a:t>
            </a:r>
            <a:endParaRPr/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Производный класс расширяет интерфейс базового, а базовый делегирует часть своего поведения производному. </a:t>
            </a:r>
            <a:endParaRPr/>
          </a:p>
          <a:p>
            <a:pPr lvl="0" defTabSz="91440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 </a:t>
            </a:r>
            <a:endParaRPr lang="ru-RU" sz="4400">
              <a:latin typeface="Arial"/>
            </a:endParaRPr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Применение </a:t>
            </a:r>
            <a:r>
              <a:rPr lang="en-US" sz="4000">
                <a:solidFill>
                  <a:srgbClr val="00B0F0"/>
                </a:solidFill>
              </a:rPr>
              <a:t>CRTP </a:t>
            </a:r>
            <a:r>
              <a:rPr lang="ru-RU" sz="4000">
                <a:solidFill>
                  <a:srgbClr val="00B0F0"/>
                </a:solidFill>
              </a:rPr>
              <a:t>для делегирования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5972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Расширение интерфейса (Задача: для любого класса, предоставляющего оператор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operator</a:t>
            </a:r>
            <a:r>
              <a:rPr lang="ru-RU">
                <a:solidFill>
                  <a:srgbClr val="212529"/>
                </a:solidFill>
                <a:latin typeface="SFMono-Regular"/>
              </a:rPr>
              <a:t>==(), мы хотим автоматически реализовать оператор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орегаtor</a:t>
            </a:r>
            <a:r>
              <a:rPr lang="ru-RU">
                <a:solidFill>
                  <a:srgbClr val="212529"/>
                </a:solidFill>
                <a:latin typeface="SFMono-Regular"/>
              </a:rPr>
              <a:t>!=() как его инверсию):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Любой класс, наследующий таким образом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not_equal</a:t>
            </a:r>
            <a:r>
              <a:rPr lang="ru-RU">
                <a:solidFill>
                  <a:srgbClr val="212529"/>
                </a:solidFill>
                <a:latin typeface="SFMono-Regular"/>
              </a:rPr>
              <a:t>, автоматически приобретает оператор неравенства, который гарантированно согласован с предоставленным оператором равенства.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  <a:p>
            <a:pPr lvl="0" defTabSz="91440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</a:t>
            </a:r>
            <a:endParaRPr lang="ru-RU" sz="4400">
              <a:latin typeface="Arial"/>
            </a:endParaRPr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2300" y="2266574"/>
            <a:ext cx="6485553" cy="3152867"/>
          </a:xfrm>
          <a:prstGeom prst="rect">
            <a:avLst/>
          </a:prstGeom>
        </p:spPr>
      </p:pic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Применение </a:t>
            </a:r>
            <a:r>
              <a:rPr lang="en-US" sz="4000">
                <a:solidFill>
                  <a:srgbClr val="00B0F0"/>
                </a:solidFill>
              </a:rPr>
              <a:t>CRTP </a:t>
            </a:r>
            <a:r>
              <a:rPr lang="ru-RU" sz="4000">
                <a:solidFill>
                  <a:srgbClr val="00B0F0"/>
                </a:solidFill>
              </a:rPr>
              <a:t>для делегирования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321724"/>
            <a:ext cx="11731803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 чем проблема кода?</a:t>
            </a:r>
            <a:endParaRPr/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Код не симметричен, он допускает неявные преобразования с правой стороны, но не допускает с левой</a:t>
            </a:r>
            <a:endParaRPr/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Чтобы восстановить симметрию и разрешить неявные преобразования (если таковые определены) слева и справа от знака ==, мы должны объявить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operator</a:t>
            </a:r>
            <a:r>
              <a:rPr lang="ru-RU">
                <a:solidFill>
                  <a:srgbClr val="212529"/>
                </a:solidFill>
                <a:latin typeface="SFMono-Regular"/>
              </a:rPr>
              <a:t>== как свободную функцию. </a:t>
            </a:r>
            <a:endParaRPr/>
          </a:p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Обычно такой функции необходим доступ к закрытым данным-членам класса, поэтому она должна быть объявлена другом. </a:t>
            </a:r>
            <a:endParaRPr lang="ru-RU" sz="4400">
              <a:latin typeface="Arial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lvl="0" defTabSz="91440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</a:t>
            </a:r>
            <a:endParaRPr lang="ru-RU" sz="4400">
              <a:latin typeface="Arial"/>
            </a:endParaRPr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Применение </a:t>
            </a:r>
            <a:r>
              <a:rPr lang="en-US" sz="4000">
                <a:solidFill>
                  <a:srgbClr val="00B0F0"/>
                </a:solidFill>
              </a:rPr>
              <a:t>CRTP </a:t>
            </a:r>
            <a:r>
              <a:rPr lang="ru-RU" sz="4000">
                <a:solidFill>
                  <a:srgbClr val="00B0F0"/>
                </a:solidFill>
              </a:rPr>
              <a:t>для делегирования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100635"/>
            <a:ext cx="11731803" cy="3926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Итоговая реализация: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lvl="0" defTabSz="91440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</a:t>
            </a:r>
            <a:endParaRPr lang="ru-RU" sz="4400">
              <a:latin typeface="Arial"/>
            </a:endParaRPr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4470" y="1647167"/>
            <a:ext cx="7516746" cy="4993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14470" y="304723"/>
            <a:ext cx="1108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Другие способы применения </a:t>
            </a:r>
            <a:r>
              <a:rPr lang="en-US" sz="4000">
                <a:solidFill>
                  <a:srgbClr val="00B0F0"/>
                </a:solidFill>
              </a:rPr>
              <a:t>CRTP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spcAft>
                <a:spcPts val="0"/>
              </a:spcAft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en-US"/>
          </a:p>
          <a:p>
            <a:pPr lvl="0">
              <a:defRPr/>
            </a:pPr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4731" y="1100635"/>
            <a:ext cx="6812835" cy="8299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Реестр объектов.</a:t>
            </a:r>
            <a:endParaRPr/>
          </a:p>
          <a:p>
            <a:pPr marL="800100" lvl="1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Иногда желательно, зачастую для отладки, знать, сколько объектов определенного типа существует в данный момент, и, быть может, вести список таких объектов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800100" lvl="1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Для каждого производного класса D базовым классом является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registry</a:t>
            </a:r>
            <a:r>
              <a:rPr lang="ru-RU">
                <a:solidFill>
                  <a:srgbClr val="212529"/>
                </a:solidFill>
                <a:latin typeface="SFMono-Regular"/>
              </a:rPr>
              <a:t>&lt;D&gt; - отдельный тип со своими статическими данными-членами,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count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и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head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(последний - указатель на начало списка активных объектов). Любой тип, которому нужно вести реестр активных объектов во время выполнения, должен всего лишь унаследовать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registry</a:t>
            </a:r>
            <a:r>
              <a:rPr lang="ru-RU" sz="1600"/>
              <a:t> </a:t>
            </a:r>
            <a:endParaRPr lang="ru-RU" sz="4400">
              <a:latin typeface="Arial"/>
            </a:endParaRPr>
          </a:p>
          <a:p>
            <a:pPr marL="800100" lvl="1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342900" lvl="0" indent="-3429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/>
              <a:buChar char="•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lvl="0" defTabSz="914400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</a:t>
            </a:r>
            <a:endParaRPr lang="ru-RU" sz="4400">
              <a:latin typeface="Arial"/>
            </a:endParaRPr>
          </a:p>
          <a:p>
            <a:pPr lvl="1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72774" y="1090441"/>
            <a:ext cx="3889982" cy="5715545"/>
          </a:xfrm>
          <a:prstGeom prst="rect">
            <a:avLst/>
          </a:prstGeom>
        </p:spPr>
      </p:pic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Лекция:</a:t>
            </a:r>
            <a:r>
              <a:rPr lang="en-US"/>
              <a:t> 5, 6</a:t>
            </a:r>
            <a:r>
              <a:rPr lang="ru-RU"/>
              <a:t>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199</cp:revision>
  <dcterms:created xsi:type="dcterms:W3CDTF">2023-01-29T12:06:08Z</dcterms:created>
  <dcterms:modified xsi:type="dcterms:W3CDTF">2026-04-17T07:38:34Z</dcterms:modified>
  <cp:category/>
  <cp:contentStatus/>
  <cp:version/>
</cp:coreProperties>
</file>