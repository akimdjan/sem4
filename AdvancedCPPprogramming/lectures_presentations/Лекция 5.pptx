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27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6" d="100"/>
          <a:sy n="106" d="100"/>
        </p:scale>
        <p:origin x="654" y="96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presProps" Target="presProps.xml" /><Relationship Id="rId37" Type="http://schemas.openxmlformats.org/officeDocument/2006/relationships/tableStyles" Target="tableStyles.xml" /><Relationship Id="rId38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674042" y="1186483"/>
              <a:ext cx="8843596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 bwMode="auto"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7" name="Group 26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49925"/>
            <a:ext cx="3498978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18447" y="803186"/>
            <a:ext cx="6281873" cy="5248622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 bwMode="auto">
            <a:xfrm>
              <a:off x="3259545" y="1186483"/>
              <a:ext cx="5657881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 bwMode="auto"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344216" y="2074729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59" name="Group 58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120878" y="803187"/>
            <a:ext cx="6269591" cy="238265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18447" y="3672161"/>
            <a:ext cx="6272022" cy="2383586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61" name="Group 6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1696853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118447" y="4351687"/>
            <a:ext cx="6265588" cy="17040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4" name="Group 23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1" name="Group 2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09983" y="802808"/>
            <a:ext cx="6275035" cy="5249940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76" name="Group 75"/>
          <p:cNvGrpSpPr/>
          <p:nvPr/>
        </p:nvGrpSpPr>
        <p:grpSpPr bwMode="auto"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 bwMode="auto">
            <a:xfrm rot="10800000">
              <a:off x="3618113" y="4896349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 bwMode="auto"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43510" y="0"/>
            <a:ext cx="464849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5942203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828377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109983" y="794719"/>
            <a:ext cx="6275035" cy="5257090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02747" y="798444"/>
            <a:ext cx="6268622" cy="5257303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lnSpc>
          <a:spcPct val="85000"/>
        </a:lnSpc>
        <a:spcBef>
          <a:spcPts val="0"/>
        </a:spcBef>
        <a:buNone/>
        <a:defRPr sz="4000" b="0" i="0" cap="none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@tilir" TargetMode="Externa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/>
              <a:t>Лекция 5. Вывод типов.</a:t>
            </a:r>
            <a:br>
              <a:rPr lang="ru-RU"/>
            </a:br>
            <a:endParaRPr lang="ru-RU"/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TextBox 2"/>
          <p:cNvSpPr txBox="1"/>
          <p:nvPr/>
        </p:nvSpPr>
        <p:spPr bwMode="auto">
          <a:xfrm>
            <a:off x="7106194" y="5819248"/>
            <a:ext cx="4960653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Чубанов Кирилл Константинович, МФТИ</a:t>
            </a:r>
            <a:b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 г.</a:t>
            </a:r>
            <a:endParaRPr sz="1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Вывод неустойчивых типов</a:t>
            </a:r>
            <a:endParaRPr/>
          </a:p>
          <a:p>
            <a:pPr lvl="1">
              <a:defRPr/>
            </a:pPr>
            <a:r>
              <a:rPr lang="ru-RU"/>
              <a:t>Игнорируются ссылки и квалификаторы </a:t>
            </a:r>
            <a:r>
              <a:rPr lang="en-US"/>
              <a:t>const </a:t>
            </a:r>
            <a:r>
              <a:rPr lang="ru-RU"/>
              <a:t>и </a:t>
            </a:r>
            <a:r>
              <a:rPr lang="en-US"/>
              <a:t>volatile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Вывод устойчивых типов</a:t>
            </a:r>
            <a:endParaRPr/>
          </a:p>
          <a:p>
            <a:pPr lvl="1">
              <a:defRPr/>
            </a:pPr>
            <a:r>
              <a:rPr lang="ru-RU"/>
              <a:t>Ссылки и указатели игнорируются, но квалификаторы </a:t>
            </a:r>
            <a:r>
              <a:rPr lang="en-US"/>
              <a:t>const </a:t>
            </a:r>
            <a:r>
              <a:rPr lang="ru-RU"/>
              <a:t>и </a:t>
            </a:r>
            <a:r>
              <a:rPr lang="en-US"/>
              <a:t>volatile </a:t>
            </a:r>
            <a:r>
              <a:rPr lang="ru-RU"/>
              <a:t>сохраняются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типа шаблонами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29244" y="2146118"/>
            <a:ext cx="4164054" cy="42743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7200" y="3443473"/>
            <a:ext cx="4273718" cy="70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типа шаблонами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940641"/>
            <a:ext cx="6176865" cy="56562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типа шаблонами</a:t>
            </a:r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940641"/>
            <a:ext cx="5430416" cy="5656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Самопроверка</a:t>
            </a:r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199" y="940641"/>
            <a:ext cx="6867331" cy="5084183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 bwMode="auto">
          <a:xfrm>
            <a:off x="2181885" y="3892990"/>
            <a:ext cx="5142645" cy="133991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Самопроверка (Решение)</a:t>
            </a:r>
            <a:endParaRPr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199" y="940641"/>
            <a:ext cx="6867331" cy="50841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конструкторами класса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Начиная с </a:t>
            </a:r>
            <a:r>
              <a:rPr lang="en-US"/>
              <a:t>C++ </a:t>
            </a:r>
            <a:r>
              <a:rPr lang="ru-RU"/>
              <a:t>17 конструкторы классов могут быть использованы для вывода шаблонного типа </a:t>
            </a:r>
            <a:endParaRPr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834759"/>
            <a:ext cx="7365835" cy="44958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конструкторами класса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898653"/>
            <a:ext cx="5029200" cy="36972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конструкторами класса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Ошибка компиляции:</a:t>
            </a:r>
            <a:endParaRPr/>
          </a:p>
          <a:p>
            <a:pPr marL="0" indent="0">
              <a:buNone/>
              <a:defRPr/>
            </a:pPr>
            <a:r>
              <a:rPr lang="en-US"/>
              <a:t>note:   template argument deduction/substitution failed:</a:t>
            </a:r>
            <a:endParaRPr lang="ru-RU"/>
          </a:p>
          <a:p>
            <a:pPr marL="0" indent="0">
              <a:buNone/>
              <a:defRPr/>
            </a:pPr>
            <a:r>
              <a:rPr lang="en-US"/>
              <a:t>note:   couldn't deduce template parameter 'T'</a:t>
            </a: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898653"/>
            <a:ext cx="5029200" cy="369726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конструкторами класса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43008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Если добавить </a:t>
            </a:r>
            <a:r>
              <a:rPr lang="ru-RU"/>
              <a:t>хинт</a:t>
            </a:r>
            <a:r>
              <a:rPr lang="ru-RU"/>
              <a:t>, все </a:t>
            </a:r>
            <a:r>
              <a:rPr lang="ru-RU"/>
              <a:t>ок</a:t>
            </a:r>
            <a:r>
              <a:rPr lang="ru-RU"/>
              <a:t>:</a:t>
            </a:r>
            <a:endParaRPr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898653"/>
            <a:ext cx="5029200" cy="3697267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816199" y="5017988"/>
            <a:ext cx="7340402" cy="1036576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457200" y="2698212"/>
            <a:ext cx="5234473" cy="1938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без конструктора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443263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Вывод типа провалится:</a:t>
            </a:r>
            <a:endParaRPr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29244" y="1967010"/>
            <a:ext cx="3846813" cy="347761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096000" y="1808389"/>
            <a:ext cx="4214327" cy="4539433"/>
          </a:xfrm>
          <a:prstGeom prst="rect">
            <a:avLst/>
          </a:prstGeom>
        </p:spPr>
      </p:pic>
      <p:sp>
        <p:nvSpPr>
          <p:cNvPr id="11" name="Объект 2"/>
          <p:cNvSpPr txBox="1"/>
          <p:nvPr/>
        </p:nvSpPr>
        <p:spPr bwMode="auto">
          <a:xfrm>
            <a:off x="5628874" y="1253463"/>
            <a:ext cx="4432636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Если не добавить </a:t>
            </a:r>
            <a:r>
              <a:rPr lang="ru-RU"/>
              <a:t>хинт</a:t>
            </a:r>
            <a:r>
              <a:rPr lang="ru-RU"/>
              <a:t>:</a:t>
            </a:r>
            <a:endParaRPr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типа переменной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Выводить можно тип параметра параметров функций:</a:t>
            </a:r>
            <a:endParaRPr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Также можно выводить тип переменной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06016" y="1765650"/>
            <a:ext cx="3993283" cy="2367812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4090" y="4605038"/>
            <a:ext cx="4605616" cy="3775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Преимущества вывода типа переменой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Удобство поддержки и модификации кода:</a:t>
            </a:r>
            <a:endParaRPr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Пусть изменился тип аргумента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25780" y="1757461"/>
            <a:ext cx="3484963" cy="230293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25780" y="4573596"/>
            <a:ext cx="3484962" cy="2057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Преимущества вывода типа переменой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Удобство поддержки и модификации кода:</a:t>
            </a:r>
            <a:endParaRPr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Пусть изменился тип аргумента</a:t>
            </a: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25780" y="1757461"/>
            <a:ext cx="3484963" cy="230293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25780" y="4573596"/>
            <a:ext cx="3484962" cy="205761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930554" y="1682816"/>
            <a:ext cx="3717299" cy="2071936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930554" y="4425517"/>
            <a:ext cx="3484962" cy="19914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Правила вывода для </a:t>
            </a:r>
            <a:r>
              <a:rPr lang="en-US" sz="4000">
                <a:solidFill>
                  <a:srgbClr val="00B0F0"/>
                </a:solidFill>
              </a:rPr>
              <a:t>auto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auto </a:t>
            </a:r>
            <a:r>
              <a:rPr lang="ru-RU"/>
              <a:t>выводит типы так же как шаблоны функций с теми же правилами для уточненных типов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90" y="1780378"/>
            <a:ext cx="6907562" cy="30062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Правила вывода для </a:t>
            </a:r>
            <a:r>
              <a:rPr lang="en-US" sz="4000">
                <a:solidFill>
                  <a:srgbClr val="00B0F0"/>
                </a:solidFill>
              </a:rPr>
              <a:t>auto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Дополнительные правила: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89" y="1780713"/>
            <a:ext cx="9107153" cy="19515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36578" y="1761737"/>
            <a:ext cx="5003777" cy="34852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Возможная проблема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auto </a:t>
            </a:r>
            <a:r>
              <a:rPr lang="ru-RU"/>
              <a:t>деградирует типы: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Что может приводит к неприятным последствиям: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90" y="1731139"/>
            <a:ext cx="6129251" cy="32514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decltype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decltype</a:t>
            </a:r>
            <a:r>
              <a:rPr lang="en-US"/>
              <a:t>(name) – </a:t>
            </a:r>
            <a:r>
              <a:rPr lang="ru-RU"/>
              <a:t>вывод точного типа </a:t>
            </a:r>
            <a:r>
              <a:rPr lang="en-US"/>
              <a:t>name</a:t>
            </a:r>
            <a:r>
              <a:rPr lang="ru-RU"/>
              <a:t>: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Теперь все работает правильно: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decltype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decltype</a:t>
            </a:r>
            <a:r>
              <a:rPr lang="en-US"/>
              <a:t> </a:t>
            </a:r>
            <a:r>
              <a:rPr lang="ru-RU"/>
              <a:t>всегда выводит точный тип: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ru-RU"/>
          </a:p>
          <a:p>
            <a:pPr>
              <a:defRPr/>
            </a:pPr>
            <a:r>
              <a:rPr lang="ru-RU" b="1"/>
              <a:t>НО</a:t>
            </a:r>
            <a:r>
              <a:rPr lang="ru-RU"/>
              <a:t>: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90" y="1812999"/>
            <a:ext cx="5575488" cy="696936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54090" y="3124527"/>
            <a:ext cx="7332983" cy="17647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90" y="1229091"/>
            <a:ext cx="8465975" cy="338639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decltype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decltype</a:t>
            </a:r>
            <a:r>
              <a:rPr lang="en-US"/>
              <a:t>(id-expr) </a:t>
            </a:r>
            <a:r>
              <a:rPr lang="ru-RU"/>
              <a:t>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en-US"/>
              <a:t>decltype</a:t>
            </a:r>
            <a:r>
              <a:rPr lang="en-US"/>
              <a:t>(expr):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Если в </a:t>
            </a:r>
            <a:r>
              <a:rPr lang="en-US"/>
              <a:t>decltype</a:t>
            </a:r>
            <a:r>
              <a:rPr lang="en-US"/>
              <a:t>(expr</a:t>
            </a:r>
            <a:r>
              <a:rPr lang="ru-RU"/>
              <a:t>) </a:t>
            </a:r>
            <a:r>
              <a:rPr lang="en-US"/>
              <a:t>expr – </a:t>
            </a:r>
            <a:r>
              <a:rPr lang="en-US"/>
              <a:t>lvalue</a:t>
            </a:r>
            <a:r>
              <a:rPr lang="ru-RU"/>
              <a:t>, то к типу добавляется </a:t>
            </a:r>
            <a:r>
              <a:rPr lang="en-US"/>
              <a:t>lvalue</a:t>
            </a:r>
            <a:r>
              <a:rPr lang="en-US"/>
              <a:t> reference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90" y="1765378"/>
            <a:ext cx="7146580" cy="27692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decltype</a:t>
            </a:r>
            <a:r>
              <a:rPr lang="en-US" sz="4000">
                <a:solidFill>
                  <a:srgbClr val="00B0F0"/>
                </a:solidFill>
              </a:rPr>
              <a:t>(auto)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decltype</a:t>
            </a:r>
            <a:r>
              <a:rPr lang="en-US"/>
              <a:t>(auto) – </a:t>
            </a:r>
            <a:r>
              <a:rPr lang="ru-RU"/>
              <a:t>еще </a:t>
            </a:r>
            <a:r>
              <a:rPr lang="ru-RU"/>
              <a:t>линевее</a:t>
            </a:r>
            <a:r>
              <a:rPr lang="en-US"/>
              <a:t>:</a:t>
            </a: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 b="1"/>
              <a:t>НО</a:t>
            </a:r>
            <a:r>
              <a:rPr lang="ru-RU"/>
              <a:t>: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типа возвращаемого значения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Как написать функцию,  тип возвращаемого значения которой неизвестен?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77416" y="1823461"/>
            <a:ext cx="5618584" cy="23462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типа возвращаемого значения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Подобное решение работать не будет: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89" y="1774708"/>
            <a:ext cx="8463994" cy="23680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типа возвращаемого значения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Сработает, но выглядит не очень: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rcRect l="0" t="0" r="0" b="3245"/>
          <a:stretch/>
        </p:blipFill>
        <p:spPr bwMode="auto">
          <a:xfrm>
            <a:off x="454091" y="1733187"/>
            <a:ext cx="9809582" cy="23876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Вывод типа возвращаемого значения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Лучше использовать расширенный синтаксис объявления функции: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90" y="1723613"/>
            <a:ext cx="9763494" cy="2951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MIN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Используя данный синтаксис, можно написать такую реализацию </a:t>
            </a:r>
            <a:r>
              <a:rPr lang="en-US"/>
              <a:t>min</a:t>
            </a:r>
            <a:r>
              <a:rPr lang="ru-RU"/>
              <a:t>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В чем проблема?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90" y="1794392"/>
            <a:ext cx="8092751" cy="21411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MIN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Используя данный синтаксис, можно написать такую реализацию </a:t>
            </a:r>
            <a:r>
              <a:rPr lang="en-US"/>
              <a:t>min</a:t>
            </a:r>
            <a:r>
              <a:rPr lang="ru-RU"/>
              <a:t>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В чем проблема?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90" y="1806605"/>
            <a:ext cx="10206880" cy="19069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MIN</a:t>
            </a:r>
            <a:endParaRPr lang="ru-RU" sz="4000">
              <a:solidFill>
                <a:srgbClr val="00B0F0"/>
              </a:solidFill>
            </a:endParaRPr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Можно обойдитесь и без </a:t>
            </a:r>
            <a:r>
              <a:rPr lang="en-US"/>
              <a:t>decltype</a:t>
            </a:r>
            <a:r>
              <a:rPr lang="ru-RU"/>
              <a:t>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90" y="1859559"/>
            <a:ext cx="5794186" cy="21899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824334"/>
            <a:ext cx="7576457" cy="309713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Точный вывод типа возвращаемого значения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29560" y="1422996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auto </a:t>
            </a:r>
            <a:r>
              <a:rPr lang="ru-RU"/>
              <a:t>в возвращаемом значении функции также приводит к деградации типа: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Снова помогает </a:t>
            </a:r>
            <a:r>
              <a:rPr lang="en-US"/>
              <a:t>decltype</a:t>
            </a:r>
            <a:r>
              <a:rPr lang="en-US"/>
              <a:t>(auto):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4090" y="1797179"/>
            <a:ext cx="7890119" cy="27001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Принудительная деградация типа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/>
              <a:t>auto </a:t>
            </a:r>
            <a:r>
              <a:rPr lang="ru-RU"/>
              <a:t>деградирует тип по умолчанию: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Но если мы не хотим использовать значение </a:t>
            </a:r>
            <a:r>
              <a:rPr lang="en-US"/>
              <a:t>x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Помогает </a:t>
            </a:r>
            <a:r>
              <a:rPr lang="en-US"/>
              <a:t>std::</a:t>
            </a:r>
            <a:r>
              <a:rPr lang="en-US"/>
              <a:t>decay_t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 bwMode="auto">
          <a:xfrm>
            <a:off x="457200" y="214095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Принудительная деградация типа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 bwMode="auto">
          <a:xfrm>
            <a:off x="457200" y="232756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Принудительная деградация типа</a:t>
            </a:r>
            <a:endParaRPr/>
          </a:p>
        </p:txBody>
      </p:sp>
      <p:sp>
        <p:nvSpPr>
          <p:cNvPr id="2" name="Объект 2"/>
          <p:cNvSpPr txBox="1"/>
          <p:nvPr/>
        </p:nvSpPr>
        <p:spPr bwMode="auto">
          <a:xfrm>
            <a:off x="232670" y="1321724"/>
            <a:ext cx="11505240" cy="52529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Попытка реализовать  </a:t>
            </a:r>
            <a:r>
              <a:rPr lang="en-US"/>
              <a:t>std::</a:t>
            </a:r>
            <a:r>
              <a:rPr lang="en-US"/>
              <a:t>common_type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</p:txBody>
      </p:sp>
      <p:sp>
        <p:nvSpPr>
          <p:cNvPr id="6" name="TextBox 5"/>
          <p:cNvSpPr txBox="1"/>
          <p:nvPr/>
        </p:nvSpPr>
        <p:spPr bwMode="auto">
          <a:xfrm>
            <a:off x="457200" y="214095"/>
            <a:ext cx="1036631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Принудительная деградация типа. Пример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49622" y="1828997"/>
            <a:ext cx="9882002" cy="42921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Для тех кто хочет почитать что-то еще</a:t>
            </a:r>
            <a:endParaRPr/>
          </a:p>
        </p:txBody>
      </p:sp>
      <p:sp>
        <p:nvSpPr>
          <p:cNvPr id="11" name="Объект 10"/>
          <p:cNvSpPr>
            <a:spLocks noGrp="1"/>
          </p:cNvSpPr>
          <p:nvPr>
            <p:ph idx="1"/>
          </p:nvPr>
        </p:nvSpPr>
        <p:spPr bwMode="auto">
          <a:xfrm>
            <a:off x="5301327" y="953835"/>
            <a:ext cx="6281873" cy="524862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Лекция разработана на базе открытых лекций </a:t>
            </a:r>
            <a:r>
              <a:rPr lang="ru-RU" u="sng"/>
              <a:t>Константина Владимирова </a:t>
            </a:r>
            <a:r>
              <a:rPr lang="ru-RU"/>
              <a:t>(МФТИ, </a:t>
            </a:r>
            <a:r>
              <a:rPr lang="en-US"/>
              <a:t>iLAB</a:t>
            </a:r>
            <a:r>
              <a:rPr lang="ru-RU"/>
              <a:t>) (Базовый курс, Лекция:</a:t>
            </a:r>
            <a:r>
              <a:rPr lang="en-US"/>
              <a:t> 5, 6</a:t>
            </a:r>
            <a:r>
              <a:rPr lang="ru-RU"/>
              <a:t>)   </a:t>
            </a:r>
            <a:r>
              <a:rPr lang="en-US" u="sng">
                <a:hlinkClick r:id="rId2" tooltip="https://www.youtube.com/@tilir"/>
              </a:rPr>
              <a:t>https://www.youtube.com/@tilir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Также полезно изучить:</a:t>
            </a:r>
            <a:endParaRPr/>
          </a:p>
          <a:p>
            <a:pPr>
              <a:defRPr/>
            </a:pPr>
            <a:r>
              <a:rPr lang="ru-RU"/>
              <a:t>Идиомы и паттерны проектирования в современном С++ // Ф.Г. </a:t>
            </a:r>
            <a:r>
              <a:rPr lang="ru-RU"/>
              <a:t>Пикус</a:t>
            </a:r>
            <a:r>
              <a:rPr lang="ru-RU"/>
              <a:t> </a:t>
            </a:r>
            <a:endParaRPr/>
          </a:p>
          <a:p>
            <a:pPr>
              <a:defRPr/>
            </a:pPr>
            <a:r>
              <a:rPr lang="ru-RU"/>
              <a:t>Эффективный и современный С++ // </a:t>
            </a:r>
            <a:r>
              <a:rPr lang="ru-RU"/>
              <a:t>С.Майерс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Полезные ссылки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8591223" y="1835438"/>
            <a:ext cx="2711776" cy="685800"/>
          </a:xfrm>
        </p:spPr>
        <p:txBody>
          <a:bodyPr/>
          <a:lstStyle/>
          <a:p>
            <a:pPr algn="ctr">
              <a:defRPr/>
            </a:pPr>
            <a:r>
              <a:rPr lang="en-US"/>
              <a:t>Telegram-</a:t>
            </a:r>
            <a:r>
              <a:rPr lang="ru-RU"/>
              <a:t>чат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4789714" y="1716995"/>
            <a:ext cx="3143794" cy="922687"/>
          </a:xfrm>
        </p:spPr>
        <p:txBody>
          <a:bodyPr/>
          <a:lstStyle/>
          <a:p>
            <a:pPr algn="ctr">
              <a:defRPr/>
            </a:pPr>
            <a:r>
              <a:rPr lang="ru-RU"/>
              <a:t>Яндекс-диск с материалами курса</a:t>
            </a:r>
            <a:endParaRPr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267260" y="2635710"/>
            <a:ext cx="2188702" cy="2188702"/>
          </a:xfrm>
          <a:prstGeom prst="rect">
            <a:avLst/>
          </a:prstGeom>
        </p:spPr>
      </p:pic>
      <p:pic>
        <p:nvPicPr>
          <p:cNvPr id="18" name="Рисунок 17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852760" y="2635710"/>
            <a:ext cx="2188702" cy="21887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Атлас">
      <a:majorFont>
        <a:latin typeface="Calibri Light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Атлас">
      <a:fillStyleLst>
        <a:solidFill>
          <a:schemeClr val="phClr"/>
        </a:solidFill>
        <a:gradFill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0</TotalTime>
  <Words>0</Words>
  <Application>R7-Office/2024.1.1.375</Application>
  <DocSecurity>0</DocSecurity>
  <PresentationFormat>Широкоэкранный</PresentationFormat>
  <Paragraphs>0</Paragraphs>
  <Slides>33</Slides>
  <Notes>33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4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0. Введение.</dc:title>
  <dc:subject/>
  <dc:creator>Василий Бугаев</dc:creator>
  <cp:keywords/>
  <dc:description/>
  <dc:identifier/>
  <dc:language/>
  <cp:lastModifiedBy>Кирилл Чубанов</cp:lastModifiedBy>
  <cp:revision>164</cp:revision>
  <dcterms:created xsi:type="dcterms:W3CDTF">2023-01-29T12:06:08Z</dcterms:created>
  <dcterms:modified xsi:type="dcterms:W3CDTF">2026-04-10T05:38:51Z</dcterms:modified>
  <cp:category/>
  <cp:contentStatus/>
  <cp:version/>
</cp:coreProperties>
</file>