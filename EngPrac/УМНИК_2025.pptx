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Анонимный"/>
  <p:cmAuthor clrIdx="1" id="1" initials="" lastIdx="2" name="alexey lagunin"/>
  <p:cmAuthor clrIdx="2" id="2" initials="" lastIdx="4" name="Ольга Гвоздкова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9-12T17:56:21.364">
    <p:pos x="203" y="1075"/>
    <p:text>и диагностических
1 total reaction
Илья Рыбалкин reacted with 👍 at 2025-09-12 17:56 PM</p:text>
  </p:cm>
  <p:cm authorId="1" idx="1" dt="2025-09-12T09:27:17.290">
    <p:pos x="203" y="1075"/>
    <p:text>Добавить эти слова перед словом антител в последней строке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1" dt="2025-09-12T18:45:28.678">
    <p:pos x="239" y="1056"/>
    <p:text>Как предложение: написать здесь примерные сроки числами все же и сослаться на какую-то аналитику (возможно есть тут https://yakovpartners.ru/publications/ai-healthcare/ или тут https://www.vademec.ru/news/2025/09/03/eksperty-ii-v-ssha-v-techenie-pyati-let-pomozhet-farmkompaniyam-sokratit-kolichestvo-testov-na-zhivo/)
1 total reaction
Илья Рыбалкин reacted with 👍 at 2025-09-12 18:45 PM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5-09-12T17:56:29.088">
    <p:pos x="203" y="1056"/>
    <p:text>3D-представление. Корректно 2D-представление
1 total reaction
Илья Рыбалкин reacted with 👍 at 2025-09-12 17:56 PM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2" dt="2025-09-12T12:04:22.137">
    <p:pos x="203" y="1056"/>
    <p:text>Желательно указать, откуда эти данные. Можно ссылки внизу на источники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3" dt="2025-09-12T20:13:05.694">
    <p:pos x="230" y="1056"/>
    <p:text>Так как это умник, то юрлицо не обязательно создавать.
Я бы указала тут еще то, что они ожидают увидеть в результате (можно тут глянуть в ожидаемых результатах https://fasie.ru/programs/programma-umnik/#uslovia) - там бизнес-план, преакселерация, дорожная карта
и по защите инт.деятельности - тут бы я писала именно что будет (программа ЭВМ, к примеру)
1 total reaction
Илья Рыбалкин reacted with 👍 at 2025-09-12 20:13 PM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4" dt="2025-09-12T20:40:54.627">
    <p:pos x="203" y="1056"/>
    <p:text>Квалификация заявителя - это один из критериев оценки, я бы расписала поподробнее тут (можно глянуть тут на 14 странице критерии, 
https://fasie.ru/upload/docs/%D0%9F%D0%BE%D0%BB%D0%BE%D0%B6%D0%B5%D0%BD%D0%B8%D0%B5%20%D0%A3%D0%9C%D0%9D%D0%98%D0%9A-2025.pdf)
Я бы тут расписала, что будут делать эти 3 студента (front,back, базы данных, стек технологий)
1 total reaction
Илья Рыбалкин reacted with 👍 at 2025-09-12 20:40 PM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e15b9e2fc_2_75:notes"/>
          <p:cNvSpPr txBox="1"/>
          <p:nvPr>
            <p:ph idx="1" type="body"/>
          </p:nvPr>
        </p:nvSpPr>
        <p:spPr>
          <a:xfrm>
            <a:off x="685801" y="4343407"/>
            <a:ext cx="5486400" cy="411480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7e15b9e2fc_2_75:notes"/>
          <p:cNvSpPr/>
          <p:nvPr>
            <p:ph idx="2" type="sldImg"/>
          </p:nvPr>
        </p:nvSpPr>
        <p:spPr>
          <a:xfrm>
            <a:off x="91291" y="685838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e15b9e2fc_2_87:notes"/>
          <p:cNvSpPr/>
          <p:nvPr>
            <p:ph idx="2" type="sldImg"/>
          </p:nvPr>
        </p:nvSpPr>
        <p:spPr>
          <a:xfrm>
            <a:off x="91291" y="685838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7e15b9e2fc_2_87:notes"/>
          <p:cNvSpPr txBox="1"/>
          <p:nvPr>
            <p:ph idx="1" type="body"/>
          </p:nvPr>
        </p:nvSpPr>
        <p:spPr>
          <a:xfrm>
            <a:off x="685801" y="4343407"/>
            <a:ext cx="5486400" cy="4114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7e15b9e2fc_2_87:notes"/>
          <p:cNvSpPr txBox="1"/>
          <p:nvPr>
            <p:ph idx="12" type="sldNum"/>
          </p:nvPr>
        </p:nvSpPr>
        <p:spPr>
          <a:xfrm>
            <a:off x="3884614" y="8685225"/>
            <a:ext cx="29718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e15b9e2fc_2_99:notes"/>
          <p:cNvSpPr/>
          <p:nvPr>
            <p:ph idx="2" type="sldImg"/>
          </p:nvPr>
        </p:nvSpPr>
        <p:spPr>
          <a:xfrm>
            <a:off x="91291" y="685838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7e15b9e2fc_2_99:notes"/>
          <p:cNvSpPr txBox="1"/>
          <p:nvPr>
            <p:ph idx="1" type="body"/>
          </p:nvPr>
        </p:nvSpPr>
        <p:spPr>
          <a:xfrm>
            <a:off x="685801" y="4343407"/>
            <a:ext cx="5486400" cy="4114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7e15b9e2fc_2_99:notes"/>
          <p:cNvSpPr txBox="1"/>
          <p:nvPr>
            <p:ph idx="12" type="sldNum"/>
          </p:nvPr>
        </p:nvSpPr>
        <p:spPr>
          <a:xfrm>
            <a:off x="3884614" y="8685225"/>
            <a:ext cx="29718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e15b9e2fc_2_111:notes"/>
          <p:cNvSpPr/>
          <p:nvPr>
            <p:ph idx="2" type="sldImg"/>
          </p:nvPr>
        </p:nvSpPr>
        <p:spPr>
          <a:xfrm>
            <a:off x="91291" y="685838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7e15b9e2fc_2_111:notes"/>
          <p:cNvSpPr txBox="1"/>
          <p:nvPr>
            <p:ph idx="1" type="body"/>
          </p:nvPr>
        </p:nvSpPr>
        <p:spPr>
          <a:xfrm>
            <a:off x="685801" y="4343407"/>
            <a:ext cx="5486400" cy="4114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7e15b9e2fc_2_111:notes"/>
          <p:cNvSpPr txBox="1"/>
          <p:nvPr>
            <p:ph idx="12" type="sldNum"/>
          </p:nvPr>
        </p:nvSpPr>
        <p:spPr>
          <a:xfrm>
            <a:off x="3884614" y="8685225"/>
            <a:ext cx="29718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e15b9e2fc_2_123:notes"/>
          <p:cNvSpPr/>
          <p:nvPr>
            <p:ph idx="2" type="sldImg"/>
          </p:nvPr>
        </p:nvSpPr>
        <p:spPr>
          <a:xfrm>
            <a:off x="91291" y="685838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7e15b9e2fc_2_123:notes"/>
          <p:cNvSpPr txBox="1"/>
          <p:nvPr>
            <p:ph idx="1" type="body"/>
          </p:nvPr>
        </p:nvSpPr>
        <p:spPr>
          <a:xfrm>
            <a:off x="685801" y="4343407"/>
            <a:ext cx="5486400" cy="4114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7e15b9e2fc_2_123:notes"/>
          <p:cNvSpPr txBox="1"/>
          <p:nvPr>
            <p:ph idx="12" type="sldNum"/>
          </p:nvPr>
        </p:nvSpPr>
        <p:spPr>
          <a:xfrm>
            <a:off x="3884614" y="8685225"/>
            <a:ext cx="29718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e15b9e2fc_2_135:notes"/>
          <p:cNvSpPr/>
          <p:nvPr>
            <p:ph idx="2" type="sldImg"/>
          </p:nvPr>
        </p:nvSpPr>
        <p:spPr>
          <a:xfrm>
            <a:off x="91291" y="685838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7e15b9e2fc_2_135:notes"/>
          <p:cNvSpPr txBox="1"/>
          <p:nvPr>
            <p:ph idx="1" type="body"/>
          </p:nvPr>
        </p:nvSpPr>
        <p:spPr>
          <a:xfrm>
            <a:off x="685801" y="4343407"/>
            <a:ext cx="5486400" cy="4114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7e15b9e2fc_2_135:notes"/>
          <p:cNvSpPr txBox="1"/>
          <p:nvPr>
            <p:ph idx="12" type="sldNum"/>
          </p:nvPr>
        </p:nvSpPr>
        <p:spPr>
          <a:xfrm>
            <a:off x="3884614" y="8685225"/>
            <a:ext cx="29718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e15b9e2fc_2_147:notes"/>
          <p:cNvSpPr/>
          <p:nvPr>
            <p:ph idx="2" type="sldImg"/>
          </p:nvPr>
        </p:nvSpPr>
        <p:spPr>
          <a:xfrm>
            <a:off x="91291" y="685838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7e15b9e2fc_2_147:notes"/>
          <p:cNvSpPr txBox="1"/>
          <p:nvPr>
            <p:ph idx="1" type="body"/>
          </p:nvPr>
        </p:nvSpPr>
        <p:spPr>
          <a:xfrm>
            <a:off x="685801" y="4343407"/>
            <a:ext cx="5486400" cy="4114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7e15b9e2fc_2_147:notes"/>
          <p:cNvSpPr txBox="1"/>
          <p:nvPr>
            <p:ph idx="12" type="sldNum"/>
          </p:nvPr>
        </p:nvSpPr>
        <p:spPr>
          <a:xfrm>
            <a:off x="3884614" y="8685225"/>
            <a:ext cx="29718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e15b9e2fc_2_159:notes"/>
          <p:cNvSpPr/>
          <p:nvPr>
            <p:ph idx="2" type="sldImg"/>
          </p:nvPr>
        </p:nvSpPr>
        <p:spPr>
          <a:xfrm>
            <a:off x="91291" y="685838"/>
            <a:ext cx="6675419" cy="34291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7e15b9e2fc_2_159:notes"/>
          <p:cNvSpPr txBox="1"/>
          <p:nvPr>
            <p:ph idx="1" type="body"/>
          </p:nvPr>
        </p:nvSpPr>
        <p:spPr>
          <a:xfrm>
            <a:off x="685801" y="4343407"/>
            <a:ext cx="5486400" cy="4114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7e15b9e2fc_2_159:notes"/>
          <p:cNvSpPr txBox="1"/>
          <p:nvPr>
            <p:ph idx="12" type="sldNum"/>
          </p:nvPr>
        </p:nvSpPr>
        <p:spPr>
          <a:xfrm>
            <a:off x="3884614" y="8685225"/>
            <a:ext cx="2971800" cy="4572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e97282122_0_4:notes"/>
          <p:cNvSpPr/>
          <p:nvPr>
            <p:ph idx="2" type="sldImg"/>
          </p:nvPr>
        </p:nvSpPr>
        <p:spPr>
          <a:xfrm>
            <a:off x="91291" y="685838"/>
            <a:ext cx="6675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7e97282122_0_4:notes"/>
          <p:cNvSpPr txBox="1"/>
          <p:nvPr>
            <p:ph idx="1" type="body"/>
          </p:nvPr>
        </p:nvSpPr>
        <p:spPr>
          <a:xfrm>
            <a:off x="685801" y="4343407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7e97282122_0_4:notes"/>
          <p:cNvSpPr txBox="1"/>
          <p:nvPr>
            <p:ph idx="12" type="sldNum"/>
          </p:nvPr>
        </p:nvSpPr>
        <p:spPr>
          <a:xfrm>
            <a:off x="3884614" y="8685225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hyperlink" Target="https://www.vademec.ru/news/2025/09/03/eksperty-ii-v-ssha-v-techenie-pyati-let-pomozhet-farmkompaniyam-sokratit-kolichestvo-testov-na-zhivo/" TargetMode="External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3.xml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4.xml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5.xml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6.xml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2360" y="123478"/>
            <a:ext cx="1222644" cy="6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/>
          <p:nvPr/>
        </p:nvSpPr>
        <p:spPr>
          <a:xfrm>
            <a:off x="5436096" y="1275606"/>
            <a:ext cx="3384376" cy="29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873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Заявка №У-533769</a:t>
            </a:r>
            <a:endParaRPr/>
          </a:p>
          <a:p>
            <a:pPr indent="0" lvl="0" marL="873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3846A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731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3846A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731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Разработка компьютерных инструментов для конструирования антител</a:t>
            </a:r>
            <a:endParaRPr/>
          </a:p>
          <a:p>
            <a:pPr indent="0" lvl="0" marL="873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3846A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73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Рыбалкин Илья Дионисович</a:t>
            </a:r>
            <a:endParaRPr b="1" i="0" sz="1700" u="none" cap="none" strike="noStrike">
              <a:solidFill>
                <a:srgbClr val="3846A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73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3846A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73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7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Н1</a:t>
            </a:r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448993">
            <a:off x="3855600" y="1698524"/>
            <a:ext cx="1116349" cy="167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18" y="0"/>
            <a:ext cx="424451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328039">
            <a:off x="5070508" y="1279356"/>
            <a:ext cx="497757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328039">
            <a:off x="5070506" y="2172008"/>
            <a:ext cx="497757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328039">
            <a:off x="5068278" y="3078739"/>
            <a:ext cx="497757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328039">
            <a:off x="5068279" y="3799636"/>
            <a:ext cx="497757" cy="4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2093" y="360492"/>
            <a:ext cx="2346226" cy="47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/>
          <p:nvPr/>
        </p:nvSpPr>
        <p:spPr>
          <a:xfrm>
            <a:off x="0" y="0"/>
            <a:ext cx="9144000" cy="618789"/>
          </a:xfrm>
          <a:custGeom>
            <a:rect b="b" l="l" r="r" t="t"/>
            <a:pathLst>
              <a:path extrusionOk="0" h="1341120" w="2010410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5206" y="5572"/>
            <a:ext cx="1196760" cy="68079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320045" y="195675"/>
            <a:ext cx="64121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 u="none">
                <a:solidFill>
                  <a:srgbClr val="DAE5F1"/>
                </a:solidFill>
                <a:latin typeface="Arial"/>
                <a:ea typeface="Arial"/>
                <a:cs typeface="Arial"/>
                <a:sym typeface="Arial"/>
              </a:rPr>
              <a:t>ПРОБЛЕМАТИКА</a:t>
            </a:r>
            <a:endParaRPr/>
          </a:p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6974904" y="489019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7" name="Google Shape;147;p26"/>
          <p:cNvSpPr/>
          <p:nvPr/>
        </p:nvSpPr>
        <p:spPr>
          <a:xfrm>
            <a:off x="323528" y="1707654"/>
            <a:ext cx="5832648" cy="2831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Отсутствие отечественных решений для компьютерного дизайна антител, полная зависимость от зарубежного ПО (AlphaFold, Rosetta).</a:t>
            </a:r>
            <a:br>
              <a:rPr lang="ru" sz="16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6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Длительные сроки (3–5 лет) и высокая стоимость разработки (до $200 млн на препарат) при использовании экспериментальных методов.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Значимость решения: </a:t>
            </a:r>
            <a:br>
              <a:rPr lang="ru" sz="16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6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Собственная платформа снизит зависимость от санкционных рисков, сократит время и стоимость создания новых терапевтических и д</a:t>
            </a:r>
            <a:r>
              <a:rPr lang="ru" sz="1600">
                <a:solidFill>
                  <a:srgbClr val="3846AF"/>
                </a:solidFill>
              </a:rPr>
              <a:t>иагностических </a:t>
            </a:r>
            <a:r>
              <a:rPr lang="ru" sz="16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антител.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846A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504" y="847278"/>
            <a:ext cx="3816424" cy="644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/>
          <p:nvPr/>
        </p:nvSpPr>
        <p:spPr>
          <a:xfrm>
            <a:off x="614118" y="987574"/>
            <a:ext cx="2806795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Проблематика проекта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2093" y="360492"/>
            <a:ext cx="2346226" cy="47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/>
          <p:nvPr/>
        </p:nvSpPr>
        <p:spPr>
          <a:xfrm>
            <a:off x="0" y="0"/>
            <a:ext cx="9144000" cy="618789"/>
          </a:xfrm>
          <a:custGeom>
            <a:rect b="b" l="l" r="r" t="t"/>
            <a:pathLst>
              <a:path extrusionOk="0" h="1341120" w="2010410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5206" y="5572"/>
            <a:ext cx="1196760" cy="68079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320045" y="195675"/>
            <a:ext cx="64121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DAE5F1"/>
                </a:solidFill>
                <a:latin typeface="Arial"/>
                <a:ea typeface="Arial"/>
                <a:cs typeface="Arial"/>
                <a:sym typeface="Arial"/>
              </a:rPr>
              <a:t>ПРЕДЛАГАЕМОЕ РЕШЕНИЕ</a:t>
            </a:r>
            <a:endParaRPr/>
          </a:p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6974904" y="489019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60" name="Google Shape;160;p27"/>
          <p:cNvSpPr/>
          <p:nvPr/>
        </p:nvSpPr>
        <p:spPr>
          <a:xfrm>
            <a:off x="380091" y="1677111"/>
            <a:ext cx="620813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800"/>
              <a:buFont typeface="Calibri"/>
              <a:buAutoNum type="arabicPeriod"/>
            </a:pPr>
            <a:r>
              <a:rPr lang="ru" sz="18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По итогам проекта будет разработан коммерциализируемый программный продукт – платформа для компьютерного дизайна антител. Инновационность решения заключается в уникальной комбинации методов глубокого обучения и структурной биоинформатики, что позволяет сократить сроки разработки терапевтических </a:t>
            </a:r>
            <a:r>
              <a:rPr lang="ru" sz="18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антител с лет до месяцев.</a:t>
            </a:r>
            <a:r>
              <a:rPr lang="ru" sz="1800">
                <a:solidFill>
                  <a:srgbClr val="3846AF"/>
                </a:solidFill>
              </a:rPr>
              <a:t>(источник: </a:t>
            </a:r>
            <a:r>
              <a:rPr lang="ru" sz="1800" u="sng">
                <a:solidFill>
                  <a:schemeClr val="hlink"/>
                </a:solidFill>
                <a:hlinkClick r:id="rId6"/>
              </a:rPr>
              <a:t>VADEMECUM</a:t>
            </a:r>
            <a:r>
              <a:rPr lang="ru" sz="1800">
                <a:solidFill>
                  <a:srgbClr val="3846AF"/>
                </a:solidFill>
              </a:rPr>
              <a:t>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800"/>
              <a:buFont typeface="Calibri"/>
              <a:buAutoNum type="arabicPeriod"/>
            </a:pPr>
            <a:r>
              <a:rPr lang="ru" sz="18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Научно-техническая новизна заключается в комбинации антитело-специфичных языковых моделей с MNA-дескрипторами для точного прогнозирования взаимодействий антитело-антиген.</a:t>
            </a:r>
            <a:endParaRPr/>
          </a:p>
        </p:txBody>
      </p:sp>
      <p:pic>
        <p:nvPicPr>
          <p:cNvPr id="161" name="Google Shape;16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504" y="847278"/>
            <a:ext cx="3816424" cy="644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7"/>
          <p:cNvSpPr/>
          <p:nvPr/>
        </p:nvSpPr>
        <p:spPr>
          <a:xfrm>
            <a:off x="385021" y="987574"/>
            <a:ext cx="3264996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Техническое решение проекта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2093" y="360492"/>
            <a:ext cx="2346226" cy="47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/>
          <p:nvPr/>
        </p:nvSpPr>
        <p:spPr>
          <a:xfrm>
            <a:off x="0" y="0"/>
            <a:ext cx="9144000" cy="618789"/>
          </a:xfrm>
          <a:custGeom>
            <a:rect b="b" l="l" r="r" t="t"/>
            <a:pathLst>
              <a:path extrusionOk="0" h="1341120" w="2010410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5206" y="5572"/>
            <a:ext cx="1196760" cy="68079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/>
          <p:nvPr/>
        </p:nvSpPr>
        <p:spPr>
          <a:xfrm>
            <a:off x="320045" y="195675"/>
            <a:ext cx="64121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DAE5F1"/>
                </a:solidFill>
                <a:latin typeface="Arial"/>
                <a:ea typeface="Arial"/>
                <a:cs typeface="Arial"/>
                <a:sym typeface="Arial"/>
              </a:rPr>
              <a:t>ОБОСНОВАНИЕ ДОСТИЖИМОСТИ РЕЗУЛЬТАТА</a:t>
            </a:r>
            <a:endParaRPr/>
          </a:p>
        </p:txBody>
      </p: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6974904" y="489019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380091" y="1677111"/>
            <a:ext cx="6208133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Разработанное веб-приложение seQtrum обеспечивает: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Парное сравнение аминокислотных последовательностей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Поиск аналогов в ведущих базах данных (UniProt, PDB, NCBI Protein)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Подтвержденная эффективность MNA-дескрипторов: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Успешное применение для прогнозирования взаимодействий TCR-эпитоп (опубликовано в Immunology, 2023)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18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Доказанная точность в предсказании вторичных структур белков (Int.J.Mol.Sci., 2024)</a:t>
            </a:r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504" y="847278"/>
            <a:ext cx="3816424" cy="644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/>
          <p:nvPr/>
        </p:nvSpPr>
        <p:spPr>
          <a:xfrm>
            <a:off x="859094" y="987574"/>
            <a:ext cx="2316853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Имеющийся задел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2093" y="360492"/>
            <a:ext cx="2346226" cy="47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9"/>
          <p:cNvSpPr/>
          <p:nvPr/>
        </p:nvSpPr>
        <p:spPr>
          <a:xfrm>
            <a:off x="0" y="0"/>
            <a:ext cx="9144000" cy="618789"/>
          </a:xfrm>
          <a:custGeom>
            <a:rect b="b" l="l" r="r" t="t"/>
            <a:pathLst>
              <a:path extrusionOk="0" h="1341120" w="2010410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5206" y="5572"/>
            <a:ext cx="1196760" cy="68079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9"/>
          <p:cNvSpPr txBox="1"/>
          <p:nvPr/>
        </p:nvSpPr>
        <p:spPr>
          <a:xfrm>
            <a:off x="320045" y="195675"/>
            <a:ext cx="64121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DAE5F1"/>
                </a:solidFill>
                <a:latin typeface="Arial"/>
                <a:ea typeface="Arial"/>
                <a:cs typeface="Arial"/>
                <a:sym typeface="Arial"/>
              </a:rPr>
              <a:t>СРАВНЕНИЕ С АНАЛОГАМИ</a:t>
            </a:r>
            <a:endParaRPr/>
          </a:p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6974904" y="489019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86" name="Google Shape;186;p29"/>
          <p:cNvSpPr/>
          <p:nvPr/>
        </p:nvSpPr>
        <p:spPr>
          <a:xfrm>
            <a:off x="323528" y="1677111"/>
            <a:ext cx="6208133" cy="3093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500"/>
              <a:buFont typeface="Calibri"/>
              <a:buAutoNum type="arabicPeriod"/>
            </a:pP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RosettaAntibody – точные 3D-структуры, но нет генерации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500"/>
              <a:buFont typeface="Calibri"/>
              <a:buAutoNum type="arabicPeriod"/>
            </a:pP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AbLang – human-like антитела, но без структурного анализа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500"/>
              <a:buFont typeface="Calibri"/>
              <a:buAutoNum type="arabicPeriod"/>
            </a:pP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AlphaFold – лидер в предсказании структур, но не для дизайна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500"/>
              <a:buFont typeface="Calibri"/>
              <a:buAutoNum type="arabicPeriod"/>
            </a:pP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NanoNet – генерация белков, но дорого и нет 3D-оптимизации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	Конкурентные преимущества продукта:</a:t>
            </a:r>
            <a:endParaRPr sz="1500">
              <a:solidFill>
                <a:srgbClr val="3846A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500"/>
              <a:buFont typeface="Arial"/>
              <a:buChar char="•"/>
            </a:pP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MNA-дескрипторы – уникальное </a:t>
            </a:r>
            <a:r>
              <a:rPr lang="ru" sz="1500">
                <a:solidFill>
                  <a:srgbClr val="3846AF"/>
                </a:solidFill>
              </a:rPr>
              <a:t>2</a:t>
            </a: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D-представление для точного предсказания связывания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500"/>
              <a:buFont typeface="Arial"/>
              <a:buChar char="•"/>
            </a:pP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Полный пайплайн – генерация + оценка в одной системе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500"/>
              <a:buFont typeface="Arial"/>
              <a:buChar char="•"/>
            </a:pP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Экономия времени/ресурсов – в 5-10x быстрее экспериментальных методов</a:t>
            </a:r>
            <a:endParaRPr/>
          </a:p>
        </p:txBody>
      </p:sp>
      <p:pic>
        <p:nvPicPr>
          <p:cNvPr id="187" name="Google Shape;18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504" y="847278"/>
            <a:ext cx="3816424" cy="644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9"/>
          <p:cNvSpPr/>
          <p:nvPr/>
        </p:nvSpPr>
        <p:spPr>
          <a:xfrm>
            <a:off x="540479" y="987574"/>
            <a:ext cx="2954078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Существующие аналоги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2093" y="360492"/>
            <a:ext cx="2346226" cy="47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/>
          <p:nvPr/>
        </p:nvSpPr>
        <p:spPr>
          <a:xfrm>
            <a:off x="0" y="0"/>
            <a:ext cx="9144000" cy="618789"/>
          </a:xfrm>
          <a:custGeom>
            <a:rect b="b" l="l" r="r" t="t"/>
            <a:pathLst>
              <a:path extrusionOk="0" h="1341120" w="2010410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5206" y="5572"/>
            <a:ext cx="1196760" cy="68079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 txBox="1"/>
          <p:nvPr/>
        </p:nvSpPr>
        <p:spPr>
          <a:xfrm>
            <a:off x="320045" y="195675"/>
            <a:ext cx="64121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DAE5F1"/>
                </a:solidFill>
                <a:latin typeface="Arial"/>
                <a:ea typeface="Arial"/>
                <a:cs typeface="Arial"/>
                <a:sym typeface="Arial"/>
              </a:rPr>
              <a:t>ПЕРСПЕКТИВЫ КОММЕРЦИАЛИЗАЦИИ</a:t>
            </a:r>
            <a:endParaRPr/>
          </a:p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6974904" y="489019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99" name="Google Shape;199;p30"/>
          <p:cNvSpPr/>
          <p:nvPr/>
        </p:nvSpPr>
        <p:spPr>
          <a:xfrm>
            <a:off x="323528" y="1677111"/>
            <a:ext cx="5976664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Потребители: фармкомпании, биотех-стартапы, научные центры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Себестоимость: $500-1,000/расчет + $50-200к/год на поддержку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Цена: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500"/>
              <a:buFont typeface="Arial"/>
              <a:buChar char="•"/>
            </a:pP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Подписка: $20-100к/год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500"/>
              <a:buFont typeface="Arial"/>
              <a:buChar char="•"/>
            </a:pP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Разовый расчет: $1,5-5к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500"/>
              <a:buFont typeface="Arial"/>
              <a:buChar char="•"/>
            </a:pP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Лицензия: $250к-1млн+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Рынок: $11+ млрд (потенциальная доля 5-10% = $550млн-1,1млрд)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Планируемый доход:</a:t>
            </a:r>
            <a:endParaRPr sz="1500">
              <a:solidFill>
                <a:srgbClr val="3846A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500"/>
              <a:buFont typeface="Arial"/>
              <a:buChar char="•"/>
            </a:pP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Лицензирование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500"/>
              <a:buFont typeface="Arial"/>
              <a:buChar char="•"/>
            </a:pP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Партнерства с фармкомпаниями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500"/>
              <a:buFont typeface="Arial"/>
              <a:buChar char="•"/>
            </a:pPr>
            <a:r>
              <a:rPr b="0" i="0" lang="ru" sz="1500" u="none" cap="none" strike="noStrike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Роялти от препаратов</a:t>
            </a:r>
            <a:endParaRPr/>
          </a:p>
        </p:txBody>
      </p:sp>
      <p:pic>
        <p:nvPicPr>
          <p:cNvPr id="200" name="Google Shape;20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504" y="847278"/>
            <a:ext cx="3816424" cy="644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0"/>
          <p:cNvSpPr/>
          <p:nvPr/>
        </p:nvSpPr>
        <p:spPr>
          <a:xfrm>
            <a:off x="1073282" y="987574"/>
            <a:ext cx="1888466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Оценка спроса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2093" y="360492"/>
            <a:ext cx="2346226" cy="47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1"/>
          <p:cNvSpPr/>
          <p:nvPr/>
        </p:nvSpPr>
        <p:spPr>
          <a:xfrm>
            <a:off x="0" y="0"/>
            <a:ext cx="9144000" cy="618789"/>
          </a:xfrm>
          <a:custGeom>
            <a:rect b="b" l="l" r="r" t="t"/>
            <a:pathLst>
              <a:path extrusionOk="0" h="1341120" w="2010410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5206" y="5572"/>
            <a:ext cx="1196760" cy="68079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1"/>
          <p:cNvSpPr txBox="1"/>
          <p:nvPr/>
        </p:nvSpPr>
        <p:spPr>
          <a:xfrm>
            <a:off x="320045" y="195675"/>
            <a:ext cx="64121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DAE5F1"/>
                </a:solidFill>
                <a:latin typeface="Arial"/>
                <a:ea typeface="Arial"/>
                <a:cs typeface="Arial"/>
                <a:sym typeface="Arial"/>
              </a:rPr>
              <a:t>ПЛАН РЕАЛИЗАЦИИ ПРОЕКТА</a:t>
            </a:r>
            <a:endParaRPr/>
          </a:p>
        </p:txBody>
      </p:sp>
      <p:sp>
        <p:nvSpPr>
          <p:cNvPr id="211" name="Google Shape;211;p31"/>
          <p:cNvSpPr txBox="1"/>
          <p:nvPr>
            <p:ph idx="12" type="sldNum"/>
          </p:nvPr>
        </p:nvSpPr>
        <p:spPr>
          <a:xfrm>
            <a:off x="6974904" y="489019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12" name="Google Shape;212;p31"/>
          <p:cNvSpPr/>
          <p:nvPr/>
        </p:nvSpPr>
        <p:spPr>
          <a:xfrm>
            <a:off x="366700" y="1677099"/>
            <a:ext cx="62214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1-2 квартал: </a:t>
            </a:r>
            <a:r>
              <a:rPr lang="ru" sz="1200">
                <a:solidFill>
                  <a:srgbClr val="3846AF"/>
                </a:solidFill>
              </a:rPr>
              <a:t>Создание бизнес-плана и дорожной карты проекта, со</a:t>
            </a:r>
            <a:r>
              <a:rPr lang="ru" sz="12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здание обучающих и тестовых выборок, тестирование данных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3-4 квартал: </a:t>
            </a:r>
            <a:r>
              <a:rPr lang="ru" sz="1200">
                <a:solidFill>
                  <a:srgbClr val="3846AF"/>
                </a:solidFill>
              </a:rPr>
              <a:t>П</a:t>
            </a:r>
            <a:r>
              <a:rPr lang="ru" sz="1200">
                <a:solidFill>
                  <a:srgbClr val="3846AF"/>
                </a:solidFill>
              </a:rPr>
              <a:t>одача заявки на участие в конкурсах программ Фонда, р</a:t>
            </a:r>
            <a:r>
              <a:rPr lang="ru" sz="12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азработка прототипа пайплайна, проведение тестирования, создание финального инструмента</a:t>
            </a:r>
            <a:endParaRPr sz="1200">
              <a:solidFill>
                <a:srgbClr val="3846A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Затраты: </a:t>
            </a:r>
            <a:r>
              <a:rPr lang="ru" sz="16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500 тыс. рублей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Планы на защиту интеллектуальной собственности: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400"/>
              <a:buFont typeface="Arial"/>
              <a:buChar char="•"/>
            </a:pPr>
            <a:r>
              <a:rPr lang="ru" sz="14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До конца 2025 года планируется подача заявки на регистрацию компьютерного инструмента по предсказанию антигенных участков белков.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846AF"/>
              </a:buClr>
              <a:buSzPts val="1400"/>
              <a:buFont typeface="Arial"/>
              <a:buChar char="•"/>
            </a:pPr>
            <a:r>
              <a:rPr lang="ru" sz="14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До июня 2026 года планируется подача заявки на регистрацию компьютерного инструмента по предсказанию взаимодействия антигенных участков белков и гипервариабельных участков антител.</a:t>
            </a:r>
            <a:endParaRPr/>
          </a:p>
        </p:txBody>
      </p:sp>
      <p:pic>
        <p:nvPicPr>
          <p:cNvPr id="213" name="Google Shape;21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504" y="847278"/>
            <a:ext cx="3816424" cy="644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1"/>
          <p:cNvSpPr/>
          <p:nvPr/>
        </p:nvSpPr>
        <p:spPr>
          <a:xfrm>
            <a:off x="342316" y="987574"/>
            <a:ext cx="3350405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Календарный план проекта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2093" y="360492"/>
            <a:ext cx="2346226" cy="47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2"/>
          <p:cNvSpPr/>
          <p:nvPr/>
        </p:nvSpPr>
        <p:spPr>
          <a:xfrm>
            <a:off x="0" y="0"/>
            <a:ext cx="9144000" cy="618789"/>
          </a:xfrm>
          <a:custGeom>
            <a:rect b="b" l="l" r="r" t="t"/>
            <a:pathLst>
              <a:path extrusionOk="0" h="1341120" w="2010410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5206" y="5572"/>
            <a:ext cx="1196760" cy="68079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2"/>
          <p:cNvSpPr txBox="1"/>
          <p:nvPr/>
        </p:nvSpPr>
        <p:spPr>
          <a:xfrm>
            <a:off x="320045" y="195675"/>
            <a:ext cx="64121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DAE5F1"/>
                </a:solidFill>
                <a:latin typeface="Arial"/>
                <a:ea typeface="Arial"/>
                <a:cs typeface="Arial"/>
                <a:sym typeface="Arial"/>
              </a:rPr>
              <a:t>КВАЛИФИКАЦИЯ ЗАЯВИТЕЛЯ</a:t>
            </a:r>
            <a:endParaRPr/>
          </a:p>
        </p:txBody>
      </p:sp>
      <p:sp>
        <p:nvSpPr>
          <p:cNvPr id="224" name="Google Shape;224;p32"/>
          <p:cNvSpPr txBox="1"/>
          <p:nvPr>
            <p:ph idx="12" type="sldNum"/>
          </p:nvPr>
        </p:nvSpPr>
        <p:spPr>
          <a:xfrm>
            <a:off x="6974904" y="489019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323525" y="1677100"/>
            <a:ext cx="63366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Команда: 3 студента 3-го курса МФТИ </a:t>
            </a:r>
            <a:r>
              <a:rPr lang="ru" sz="1800">
                <a:solidFill>
                  <a:srgbClr val="3846AF"/>
                </a:solidFill>
              </a:rPr>
              <a:t>(frontend, backend разработка, инфраструктура проекта)</a:t>
            </a:r>
            <a:r>
              <a:rPr lang="ru" sz="1800"/>
              <a:t>, </a:t>
            </a:r>
            <a:r>
              <a:rPr lang="ru" sz="1800">
                <a:solidFill>
                  <a:srgbClr val="3846AF"/>
                </a:solidFill>
              </a:rPr>
              <a:t>ка</a:t>
            </a:r>
            <a:r>
              <a:rPr lang="ru" sz="18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ждый участник имеет опыт в реализации</a:t>
            </a:r>
            <a:r>
              <a:rPr lang="ru" sz="1800">
                <a:solidFill>
                  <a:srgbClr val="3846AF"/>
                </a:solidFill>
              </a:rPr>
              <a:t> </a:t>
            </a:r>
            <a:r>
              <a:rPr lang="ru" sz="18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некоммерческих проектов</a:t>
            </a:r>
            <a:endParaRPr sz="1800">
              <a:solidFill>
                <a:srgbClr val="3846A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846A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846AF"/>
                </a:solidFill>
              </a:rPr>
              <a:t>Стек технологий: Flutter(Dart), userver(C++), K8s, nginx,</a:t>
            </a:r>
            <a:endParaRPr sz="1800">
              <a:solidFill>
                <a:srgbClr val="3846A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846AF"/>
                </a:solidFill>
              </a:rPr>
              <a:t>PostgreSQL </a:t>
            </a:r>
            <a:endParaRPr sz="1800">
              <a:solidFill>
                <a:srgbClr val="3846A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846A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3846AF"/>
                </a:solidFill>
                <a:latin typeface="Arial"/>
                <a:ea typeface="Arial"/>
                <a:cs typeface="Arial"/>
                <a:sym typeface="Arial"/>
              </a:rPr>
              <a:t>Заинтересованные организации: РНИМУ им. Пирогова</a:t>
            </a:r>
            <a:endParaRPr sz="1800">
              <a:solidFill>
                <a:srgbClr val="3846A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846AF"/>
              </a:solidFill>
            </a:endParaRPr>
          </a:p>
        </p:txBody>
      </p:sp>
      <p:pic>
        <p:nvPicPr>
          <p:cNvPr id="226" name="Google Shape;22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504" y="847278"/>
            <a:ext cx="3816424" cy="644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/>
          <p:nvPr/>
        </p:nvSpPr>
        <p:spPr>
          <a:xfrm>
            <a:off x="745055" y="987574"/>
            <a:ext cx="254492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Команда разработки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2093" y="360492"/>
            <a:ext cx="2346226" cy="47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3"/>
          <p:cNvSpPr/>
          <p:nvPr/>
        </p:nvSpPr>
        <p:spPr>
          <a:xfrm>
            <a:off x="0" y="0"/>
            <a:ext cx="9147366" cy="620268"/>
          </a:xfrm>
          <a:custGeom>
            <a:rect b="b" l="l" r="r" t="t"/>
            <a:pathLst>
              <a:path extrusionOk="0" h="1341120" w="20104100">
                <a:moveTo>
                  <a:pt x="20104099" y="0"/>
                </a:moveTo>
                <a:lnTo>
                  <a:pt x="0" y="0"/>
                </a:lnTo>
                <a:lnTo>
                  <a:pt x="0" y="1340608"/>
                </a:lnTo>
                <a:lnTo>
                  <a:pt x="20104099" y="1340608"/>
                </a:lnTo>
                <a:lnTo>
                  <a:pt x="20104099" y="0"/>
                </a:lnTo>
                <a:close/>
              </a:path>
            </a:pathLst>
          </a:custGeom>
          <a:solidFill>
            <a:srgbClr val="3846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5206" y="5572"/>
            <a:ext cx="1196760" cy="68079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3"/>
          <p:cNvSpPr txBox="1"/>
          <p:nvPr/>
        </p:nvSpPr>
        <p:spPr>
          <a:xfrm>
            <a:off x="320045" y="195675"/>
            <a:ext cx="641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DAE5F1"/>
                </a:solidFill>
                <a:latin typeface="Arial"/>
                <a:ea typeface="Arial"/>
                <a:cs typeface="Arial"/>
                <a:sym typeface="Arial"/>
              </a:rPr>
              <a:t>КВАЛИФИКАЦИЯ ЗАЯВИТЕЛЯ</a:t>
            </a:r>
            <a:endParaRPr/>
          </a:p>
        </p:txBody>
      </p:sp>
      <p:sp>
        <p:nvSpPr>
          <p:cNvPr id="237" name="Google Shape;237;p33"/>
          <p:cNvSpPr txBox="1"/>
          <p:nvPr>
            <p:ph idx="12" type="sldNum"/>
          </p:nvPr>
        </p:nvSpPr>
        <p:spPr>
          <a:xfrm>
            <a:off x="6974904" y="489019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38" name="Google Shape;23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504" y="847278"/>
            <a:ext cx="3816424" cy="644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/>
          <p:nvPr/>
        </p:nvSpPr>
        <p:spPr>
          <a:xfrm>
            <a:off x="745055" y="987574"/>
            <a:ext cx="2544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</a:t>
            </a:r>
            <a:r>
              <a:rPr b="1" lang="ru" sz="1800">
                <a:solidFill>
                  <a:schemeClr val="lt1"/>
                </a:solidFill>
              </a:rPr>
              <a:t>нсультанты</a:t>
            </a:r>
            <a:endParaRPr/>
          </a:p>
        </p:txBody>
      </p:sp>
      <p:sp>
        <p:nvSpPr>
          <p:cNvPr id="240" name="Google Shape;240;p33"/>
          <p:cNvSpPr txBox="1"/>
          <p:nvPr/>
        </p:nvSpPr>
        <p:spPr>
          <a:xfrm>
            <a:off x="1636705" y="1796046"/>
            <a:ext cx="3235500" cy="1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85450" lIns="85450" spcFirstLastPara="1" rIns="85450" wrap="square" tIns="85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82">
                <a:solidFill>
                  <a:srgbClr val="3846AF"/>
                </a:solidFill>
              </a:rPr>
              <a:t>Лагунин А.А.</a:t>
            </a:r>
            <a:endParaRPr sz="1682">
              <a:solidFill>
                <a:srgbClr val="3846A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21">
                <a:solidFill>
                  <a:srgbClr val="3846AF"/>
                </a:solidFill>
              </a:rPr>
              <a:t>Зав. кафедрой биоинформатики МБФ, РНИМУ им. Н.И. Пирогова, Г.н.с. лаборатории структурно-функционального конструирования лекарств Института биомедицинской химии им. В.Н. Ореховича.</a:t>
            </a:r>
            <a:endParaRPr sz="29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049" y="1621075"/>
            <a:ext cx="1190013" cy="1585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3" title="photo_2025-09-13_14-39-52.jpg"/>
          <p:cNvPicPr preferRelativeResize="0"/>
          <p:nvPr/>
        </p:nvPicPr>
        <p:blipFill rotWithShape="1">
          <a:blip r:embed="rId7">
            <a:alphaModFix/>
          </a:blip>
          <a:srcRect b="0" l="19675" r="19675" t="0"/>
          <a:stretch/>
        </p:blipFill>
        <p:spPr>
          <a:xfrm>
            <a:off x="320049" y="3411700"/>
            <a:ext cx="1190010" cy="1585669"/>
          </a:xfrm>
          <a:prstGeom prst="rect">
            <a:avLst/>
          </a:prstGeom>
          <a:noFill/>
          <a:ln>
            <a:noFill/>
          </a:ln>
        </p:spPr>
      </p:pic>
      <p:sp>
        <p:nvSpPr>
          <p:cNvPr descr="Зав. кафедрой биоинформатики МБФ, РНИМУ им. Н.И. Пирогова, Г.н.с. лаборатории структурно-функционального конструирования лекарств Института биомедицинской химии им. В.Н. Ореховича." id="243" name="Google Shape;243;p33"/>
          <p:cNvSpPr txBox="1"/>
          <p:nvPr/>
        </p:nvSpPr>
        <p:spPr>
          <a:xfrm>
            <a:off x="1723050" y="3557311"/>
            <a:ext cx="3235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85450" lIns="85450" spcFirstLastPara="1" rIns="85450" wrap="square" tIns="85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82">
                <a:solidFill>
                  <a:srgbClr val="3846AF"/>
                </a:solidFill>
              </a:rPr>
              <a:t>Деев Б.Ю.</a:t>
            </a:r>
            <a:endParaRPr sz="1682">
              <a:solidFill>
                <a:srgbClr val="3846A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21">
                <a:solidFill>
                  <a:srgbClr val="3846AF"/>
                </a:solidFill>
              </a:rPr>
              <a:t>Основатель лаборатории программной инженерии МФТИ, физтех; руководитель группы разработчиков международной консалтинговой компании QForm</a:t>
            </a:r>
            <a:endParaRPr sz="1682">
              <a:solidFill>
                <a:srgbClr val="3846A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