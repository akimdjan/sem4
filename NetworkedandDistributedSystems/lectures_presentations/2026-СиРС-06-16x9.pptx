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1"/>
    <p:sldMasterId id="2147483666" r:id="rId2"/>
    <p:sldMasterId id="2147483672" r:id="rId3"/>
    <p:sldMasterId id="2147483678" r:id="rId4"/>
  </p:sldMasterIdLst>
  <p:notesMasterIdLst>
    <p:notesMasterId r:id="rId15"/>
  </p:notesMasterIdLst>
  <p:sldIdLst>
    <p:sldId id="257" r:id="rId5"/>
    <p:sldId id="262" r:id="rId6"/>
    <p:sldId id="477" r:id="rId7"/>
    <p:sldId id="434" r:id="rId8"/>
    <p:sldId id="435" r:id="rId9"/>
    <p:sldId id="436" r:id="rId10"/>
    <p:sldId id="437" r:id="rId11"/>
    <p:sldId id="438" r:id="rId12"/>
    <p:sldId id="439" r:id="rId13"/>
    <p:sldId id="271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Раздел по умолчанию" id="{453404F6-AF45-403F-8B0B-E58FD8E18ED2}">
          <p14:sldIdLst>
            <p14:sldId id="257"/>
            <p14:sldId id="262"/>
            <p14:sldId id="477"/>
            <p14:sldId id="434"/>
            <p14:sldId id="435"/>
            <p14:sldId id="436"/>
            <p14:sldId id="437"/>
            <p14:sldId id="438"/>
            <p14:sldId id="439"/>
            <p14:sldId id="271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6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60606"/>
    <a:srgbClr val="345AF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1514" autoAdjust="0"/>
    <p:restoredTop sz="91335" autoAdjust="0"/>
  </p:normalViewPr>
  <p:slideViewPr>
    <p:cSldViewPr>
      <p:cViewPr varScale="1">
        <p:scale>
          <a:sx n="69" d="100"/>
          <a:sy n="69" d="100"/>
        </p:scale>
        <p:origin x="-456" y="-96"/>
      </p:cViewPr>
      <p:guideLst>
        <p:guide orient="horz" pos="36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pPr/>
              <a:t>07.04.2026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823CC4-FED0-46D8-B338-6A49B477DF90}" type="slidenum">
              <a:rPr lang="ru-RU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47556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6687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6341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7918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5914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2846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29751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58937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0A90FD3-1104-4C0E-BD19-C04AAB04E560}" type="slidenum">
              <a:rPr lang="de-DE" altLang="ru-RU" smtClean="0">
                <a:solidFill>
                  <a:prstClr val="black"/>
                </a:solidFill>
              </a:rPr>
              <a:pPr/>
              <a:t>10</a:t>
            </a:fld>
            <a:endParaRPr lang="de-DE" altLang="ru-RU">
              <a:solidFill>
                <a:prstClr val="black"/>
              </a:solidFill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xmlns="" val="4123936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418203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43663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8070437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26430130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034337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805643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5611339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664407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23260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429234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793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3627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6318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МФТИ-2020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782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esentationload.d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 descr="Neutral Abstract 7 V1 F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7384"/>
            <a:ext cx="1221668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hteck 19">
            <a:hlinkClick r:id="rId4"/>
          </p:cNvPr>
          <p:cNvSpPr/>
          <p:nvPr/>
        </p:nvSpPr>
        <p:spPr>
          <a:xfrm>
            <a:off x="9949730" y="6201967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794993" y="2128442"/>
            <a:ext cx="7518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Сетевые и Распределенные Системы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540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540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endParaRPr lang="ru-RU" sz="54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21759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3359696" y="238125"/>
            <a:ext cx="8496300" cy="617538"/>
          </a:xfrm>
        </p:spPr>
        <p:txBody>
          <a:bodyPr/>
          <a:lstStyle/>
          <a:p>
            <a:pPr algn="l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600" b="1" dirty="0" smtClean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6</a:t>
            </a:r>
            <a:endParaRPr kumimoji="0" lang="ru-RU" sz="3600" b="1" dirty="0">
              <a:solidFill>
                <a:srgbClr val="003794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61360" y="1069975"/>
            <a:ext cx="813422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4000" dirty="0">
              <a:solidFill>
                <a:srgbClr val="003794"/>
              </a:solidFill>
              <a:latin typeface="Lucida Grande CY" pitchFamily="2" charset="-52"/>
              <a:cs typeface="Arial" pitchFamily="34" charset="0"/>
            </a:endParaRPr>
          </a:p>
          <a:p>
            <a:pPr marL="1440000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000" dirty="0" smtClean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Эквивалентные выполнения</a:t>
            </a:r>
            <a:endParaRPr lang="ru-RU" sz="4000" dirty="0">
              <a:solidFill>
                <a:srgbClr val="40404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2487524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Эквивалентные выполнения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2024548"/>
            <a:ext cx="8424614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Рассмотрим выполнение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(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 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Назовем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конечным выполнением, если в последовательности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содержится конечное количество членов.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→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«произошло раньше», чем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то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&lt;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 выполнением связана последовательность глобальных состояний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,…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такая что для любого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≥ 0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допустимое событие в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а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начальное глобальное состояние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Рассмотрим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(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 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перестановку событий в выполнении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такую, что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l-GR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σ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где </a:t>
            </a:r>
            <a:r>
              <a:rPr kumimoji="0" lang="el-GR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σ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перестановка на множестве натуральных чисел или на множестве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{0, …,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-1}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если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конечное выполнение из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событий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4930075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4644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Эквивалентные выполнения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977221"/>
            <a:ext cx="842461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Перестановка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выполнения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сохраняет причинно-следственный порядок, если из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→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следует </a:t>
            </a:r>
            <a:r>
              <a:rPr kumimoji="0" lang="ru-RU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 </a:t>
            </a:r>
            <a:r>
              <a:rPr kumimoji="0" lang="ru-RU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т.е. ни одно событие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не появляется в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перед событием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от которого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зависит.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Утверждение: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Пусть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(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x+1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… 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перестановка событий в выполнении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сохраняющая причинно-следственный порядок. Тогда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является выполнением распределенной программы с начальным состоянием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 этом, если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конечное выполнение из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событий, то последнее глобальное состояние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последовательности (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ru-RU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=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0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S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,… S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ru-RU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соответствующей выполнению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совпадает с последним глобальным состоянием </a:t>
            </a: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</a:t>
            </a:r>
            <a:r>
              <a:rPr kumimoji="0" lang="en-US" sz="2000" b="0" i="1" u="none" strike="noStrike" kern="1200" cap="none" spc="0" normalizeH="0" baseline="30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в выполнении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42897697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2420888"/>
            <a:ext cx="8712646" cy="216024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Эквивалентные выполнения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2697301"/>
            <a:ext cx="84246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Если в выполнениях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происходит одна и та же совокупность событий, и причинно-следственный порядок этих событий одинаков для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то говорят, что выполнения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эквивалентны: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~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xmlns="" val="409920262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306896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7890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430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14908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86916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589240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475832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5447928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6852096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83587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569996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276032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123904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7248128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928056" y="3476184"/>
            <a:ext cx="535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368216" y="3476184"/>
            <a:ext cx="499696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492000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196184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9876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95800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91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72064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8383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023992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94387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04112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94116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5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89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7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55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5754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33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6906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7302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2958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5584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1588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039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59194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09600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720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1041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4758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83587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12390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54479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569996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27603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685209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724812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hteck 36">
            <a:extLst>
              <a:ext uri="{FF2B5EF4-FFF2-40B4-BE49-F238E27FC236}">
                <a16:creationId xmlns:a16="http://schemas.microsoft.com/office/drawing/2014/main" xmlns="" id="{2B4E21F2-8CED-464E-9DA8-8EE8F74086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Эквивалентные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498742665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844825"/>
            <a:ext cx="8424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Пространственно-временные диаграммы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75720" y="306896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75720" y="378904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5720" y="45091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75720" y="5219908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4" name="Прямая со стрелкой 3"/>
          <p:cNvCxnSpPr>
            <a:cxnSpLocks/>
          </p:cNvCxnSpPr>
          <p:nvPr/>
        </p:nvCxnSpPr>
        <p:spPr>
          <a:xfrm>
            <a:off x="4007768" y="343080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</p:cNvCxnSpPr>
          <p:nvPr/>
        </p:nvCxnSpPr>
        <p:spPr>
          <a:xfrm>
            <a:off x="4007768" y="414908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cxnSpLocks/>
          </p:cNvCxnSpPr>
          <p:nvPr/>
        </p:nvCxnSpPr>
        <p:spPr>
          <a:xfrm>
            <a:off x="4007768" y="4869160"/>
            <a:ext cx="6840760" cy="0"/>
          </a:xfrm>
          <a:prstGeom prst="straightConnector1">
            <a:avLst/>
          </a:prstGeom>
          <a:ln w="12700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cxnSpLocks/>
          </p:cNvCxnSpPr>
          <p:nvPr/>
        </p:nvCxnSpPr>
        <p:spPr>
          <a:xfrm>
            <a:off x="4007768" y="5589240"/>
            <a:ext cx="6840760" cy="0"/>
          </a:xfrm>
          <a:prstGeom prst="straightConnector1">
            <a:avLst/>
          </a:prstGeom>
          <a:ln w="15875"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Овал 11"/>
          <p:cNvSpPr/>
          <p:nvPr/>
        </p:nvSpPr>
        <p:spPr>
          <a:xfrm>
            <a:off x="4691856" y="3364255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Овал 17"/>
          <p:cNvSpPr/>
          <p:nvPr/>
        </p:nvSpPr>
        <p:spPr>
          <a:xfrm>
            <a:off x="6023992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Овал 18"/>
          <p:cNvSpPr/>
          <p:nvPr/>
        </p:nvSpPr>
        <p:spPr>
          <a:xfrm>
            <a:off x="728414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Овал 20"/>
          <p:cNvSpPr/>
          <p:nvPr/>
        </p:nvSpPr>
        <p:spPr>
          <a:xfrm>
            <a:off x="7644184" y="338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Овал 21"/>
          <p:cNvSpPr/>
          <p:nvPr/>
        </p:nvSpPr>
        <p:spPr>
          <a:xfrm>
            <a:off x="415178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Овал 22"/>
          <p:cNvSpPr/>
          <p:nvPr/>
        </p:nvSpPr>
        <p:spPr>
          <a:xfrm>
            <a:off x="642004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Овал 23"/>
          <p:cNvSpPr/>
          <p:nvPr/>
        </p:nvSpPr>
        <p:spPr>
          <a:xfrm>
            <a:off x="6780088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Овал 24"/>
          <p:cNvSpPr/>
          <p:nvPr/>
        </p:nvSpPr>
        <p:spPr>
          <a:xfrm>
            <a:off x="9264376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10164464" y="410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5051896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5519936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Овал 28"/>
          <p:cNvSpPr/>
          <p:nvPr/>
        </p:nvSpPr>
        <p:spPr>
          <a:xfrm>
            <a:off x="825624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Овал 29"/>
          <p:cNvSpPr/>
          <p:nvPr/>
        </p:nvSpPr>
        <p:spPr>
          <a:xfrm>
            <a:off x="8616280" y="482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7" name="Прямая со стрелкой 16"/>
          <p:cNvCxnSpPr>
            <a:stCxn id="22" idx="7"/>
            <a:endCxn id="18" idx="3"/>
          </p:cNvCxnSpPr>
          <p:nvPr/>
        </p:nvCxnSpPr>
        <p:spPr>
          <a:xfrm flipV="1">
            <a:off x="4243968" y="3476184"/>
            <a:ext cx="1795840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>
            <a:stCxn id="24" idx="7"/>
            <a:endCxn id="19" idx="3"/>
          </p:cNvCxnSpPr>
          <p:nvPr/>
        </p:nvCxnSpPr>
        <p:spPr>
          <a:xfrm flipV="1">
            <a:off x="6872272" y="3476184"/>
            <a:ext cx="42768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>
            <a:cxnSpLocks/>
            <a:stCxn id="21" idx="4"/>
            <a:endCxn id="29" idx="1"/>
          </p:cNvCxnSpPr>
          <p:nvPr/>
        </p:nvCxnSpPr>
        <p:spPr>
          <a:xfrm>
            <a:off x="7698184" y="3492000"/>
            <a:ext cx="573872" cy="1347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>
            <a:stCxn id="30" idx="7"/>
            <a:endCxn id="25" idx="3"/>
          </p:cNvCxnSpPr>
          <p:nvPr/>
        </p:nvCxnSpPr>
        <p:spPr>
          <a:xfrm flipV="1">
            <a:off x="8708464" y="4196184"/>
            <a:ext cx="571728" cy="643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632504" y="298766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время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5800" y="285293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11824" y="3049216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9976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10411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464152" y="306896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00776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4001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00056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8328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912424" y="3789041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71864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75920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40216" y="492142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544272" y="494116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57" name="Прямая соединительная линия 56"/>
          <p:cNvCxnSpPr/>
          <p:nvPr/>
        </p:nvCxnSpPr>
        <p:spPr>
          <a:xfrm flipV="1">
            <a:off x="4746184" y="3292255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/>
          <p:cNvCxnSpPr/>
          <p:nvPr/>
        </p:nvCxnSpPr>
        <p:spPr>
          <a:xfrm flipV="1">
            <a:off x="4206072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V="1">
            <a:off x="5106152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 flipV="1">
            <a:off x="6078224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V="1">
            <a:off x="647424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 flipV="1">
            <a:off x="6834216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 flipV="1">
            <a:off x="733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/>
          <p:nvPr/>
        </p:nvCxnSpPr>
        <p:spPr>
          <a:xfrm flipV="1">
            <a:off x="5573968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/>
          <p:nvPr/>
        </p:nvCxnSpPr>
        <p:spPr>
          <a:xfrm flipV="1">
            <a:off x="769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/>
          <p:nvPr/>
        </p:nvCxnSpPr>
        <p:spPr>
          <a:xfrm flipV="1">
            <a:off x="831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 flipV="1">
            <a:off x="8670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V="1">
            <a:off x="93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/>
          <p:nvPr/>
        </p:nvCxnSpPr>
        <p:spPr>
          <a:xfrm flipV="1">
            <a:off x="10218160" y="3312000"/>
            <a:ext cx="0" cy="237600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511824" y="5641504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1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07768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4387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ru-RU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7997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31202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60005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10411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37592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536160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4021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472264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120336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9984432" y="5661249"/>
            <a:ext cx="4320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  <a:endParaRPr kumimoji="0" lang="ru-RU" sz="14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3" name="Овал 82"/>
          <p:cNvSpPr/>
          <p:nvPr/>
        </p:nvSpPr>
        <p:spPr>
          <a:xfrm>
            <a:off x="4691856" y="5524255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Овал 83"/>
          <p:cNvSpPr/>
          <p:nvPr/>
        </p:nvSpPr>
        <p:spPr>
          <a:xfrm>
            <a:off x="41517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5" name="Овал 84"/>
          <p:cNvSpPr/>
          <p:nvPr/>
        </p:nvSpPr>
        <p:spPr>
          <a:xfrm>
            <a:off x="505189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602399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642004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6780088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Овал 88"/>
          <p:cNvSpPr/>
          <p:nvPr/>
        </p:nvSpPr>
        <p:spPr>
          <a:xfrm>
            <a:off x="728414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Овал 89"/>
          <p:cNvSpPr/>
          <p:nvPr/>
        </p:nvSpPr>
        <p:spPr>
          <a:xfrm>
            <a:off x="5519936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1" name="Овал 90"/>
          <p:cNvSpPr/>
          <p:nvPr/>
        </p:nvSpPr>
        <p:spPr>
          <a:xfrm>
            <a:off x="764418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Овал 91"/>
          <p:cNvSpPr/>
          <p:nvPr/>
        </p:nvSpPr>
        <p:spPr>
          <a:xfrm>
            <a:off x="825624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3" name="Овал 92"/>
          <p:cNvSpPr/>
          <p:nvPr/>
        </p:nvSpPr>
        <p:spPr>
          <a:xfrm>
            <a:off x="8616280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4" name="Овал 93"/>
          <p:cNvSpPr/>
          <p:nvPr/>
        </p:nvSpPr>
        <p:spPr>
          <a:xfrm>
            <a:off x="9264352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Овал 94"/>
          <p:cNvSpPr/>
          <p:nvPr/>
        </p:nvSpPr>
        <p:spPr>
          <a:xfrm>
            <a:off x="10164464" y="5544000"/>
            <a:ext cx="108000" cy="108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hteck 36">
            <a:extLst>
              <a:ext uri="{FF2B5EF4-FFF2-40B4-BE49-F238E27FC236}">
                <a16:creationId xmlns:a16="http://schemas.microsoft.com/office/drawing/2014/main" xmlns="" id="{AA1826A1-C9B7-41AE-A265-C788F48E48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Эквивалентные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xmlns="" val="822415670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388843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Эквивалентные выполнения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977222"/>
            <a:ext cx="842461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Эквивалентные выполнения порождают различные множества глобальных состояний. Гарантировано для эквивалентных выполнений совпадают лишь начальные </a:t>
            </a:r>
            <a:r>
              <a: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ru-RU" sz="2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(для конечных выполнений) последние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глобальные состояния.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Сторонний наблюдатель, которому доступна глобальная картина выполнения распределенной программы, способен отличить одно эквивалентное выполнение от другого.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Процессы распределенной программы, способные наблюдать только локальную часть ее выполнения, не могут отличить одно эквивалентное выполнение от другого. </a:t>
            </a:r>
          </a:p>
        </p:txBody>
      </p:sp>
    </p:spTree>
    <p:extLst>
      <p:ext uri="{BB962C8B-B14F-4D97-AF65-F5344CB8AC3E}">
        <p14:creationId xmlns:p14="http://schemas.microsoft.com/office/powerpoint/2010/main" xmlns="" val="135871439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16002" y="1700808"/>
            <a:ext cx="8712646" cy="475252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anchor="ctr"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1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288010" y="1010692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Эквивалентные выполнения</a:t>
            </a:r>
          </a:p>
        </p:txBody>
      </p:sp>
      <p:sp>
        <p:nvSpPr>
          <p:cNvPr id="20" name="_h1"/>
          <p:cNvSpPr>
            <a:spLocks noGrp="1" noChangeArrowheads="1"/>
          </p:cNvSpPr>
          <p:nvPr>
            <p:ph type="title"/>
          </p:nvPr>
        </p:nvSpPr>
        <p:spPr>
          <a:xfrm>
            <a:off x="3216002" y="238125"/>
            <a:ext cx="8640638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Модель распределенной программы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9696" y="1977222"/>
            <a:ext cx="8424614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Класс эквивалентности выполнений по отношению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~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однозначно определяется множеством событий и действующим на нем причинно-следственным порядком. Такое частично упорядоченное множество событий называют распределенным вычислением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₵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= (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→).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Выполнение </a:t>
            </a:r>
            <a:r>
              <a: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распределенной программы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это линеаризация частичного порядка распределенного вычисления, т.е. введение на множестве событий отношения линейного порядка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сохраняющего причинно-следственный порядок событий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когда для двух любых событий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из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→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следует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Утверждение: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для любых событий распределенного вычисления 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₵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таких, что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║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существует такое выполнение, при котором 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en-US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1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</a:t>
            </a:r>
            <a:r>
              <a:rPr kumimoji="0" lang="ru-RU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*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24271855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WordArt 3"/>
          <p:cNvSpPr>
            <a:spLocks noChangeArrowheads="1" noChangeShapeType="1" noTextEdit="1"/>
          </p:cNvSpPr>
          <p:nvPr/>
        </p:nvSpPr>
        <p:spPr bwMode="gray">
          <a:xfrm>
            <a:off x="8755185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2" name="WordArt 8"/>
          <p:cNvSpPr>
            <a:spLocks noChangeArrowheads="1" noChangeShapeType="1" noTextEdit="1"/>
          </p:cNvSpPr>
          <p:nvPr/>
        </p:nvSpPr>
        <p:spPr bwMode="gray">
          <a:xfrm>
            <a:off x="7937624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  <p:sp>
        <p:nvSpPr>
          <p:cNvPr id="143363" name="WordArt 9"/>
          <p:cNvSpPr>
            <a:spLocks noChangeArrowheads="1" noChangeShapeType="1" noTextEdit="1"/>
          </p:cNvSpPr>
          <p:nvPr/>
        </p:nvSpPr>
        <p:spPr bwMode="gray">
          <a:xfrm>
            <a:off x="9374311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  <a:cs typeface="Arial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xmlns="" val="1556595197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Произвольный</PresentationFormat>
  <Paragraphs>124</Paragraphs>
  <Slides>10</Slides>
  <Notes>10</Notes>
  <HiddenSlides>0</HiddenSlides>
  <MMClips>0</MMClips>
  <ScaleCrop>false</ScaleCrop>
  <HeadingPairs>
    <vt:vector size="4" baseType="variant">
      <vt:variant>
        <vt:lpstr>Тема</vt:lpstr>
      </vt:variant>
      <vt:variant>
        <vt:i4>4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1_Тема Office</vt:lpstr>
      <vt:lpstr>2_Тема Office</vt:lpstr>
      <vt:lpstr>Larissa-Design</vt:lpstr>
      <vt:lpstr>Тема Office</vt:lpstr>
      <vt:lpstr>Слайд 1</vt:lpstr>
      <vt:lpstr>Тема 6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Модель распределенной программы 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1</cp:revision>
  <dcterms:created xsi:type="dcterms:W3CDTF">2016-02-27T09:01:20Z</dcterms:created>
  <dcterms:modified xsi:type="dcterms:W3CDTF">2026-04-07T05:43:32Z</dcterms:modified>
</cp:coreProperties>
</file>