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theme/theme7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Masters/slideMaster6.xml" ContentType="application/vnd.openxmlformats-officedocument.presentationml.slideMaster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6" r:id="rId2"/>
    <p:sldMasterId id="2147483672" r:id="rId3"/>
    <p:sldMasterId id="2147483678" r:id="rId4"/>
    <p:sldMasterId id="2147483681" r:id="rId5"/>
    <p:sldMasterId id="2147483684" r:id="rId6"/>
  </p:sldMasterIdLst>
  <p:notesMasterIdLst>
    <p:notesMasterId r:id="rId57"/>
  </p:notesMasterIdLst>
  <p:sldIdLst>
    <p:sldId id="257" r:id="rId7"/>
    <p:sldId id="460" r:id="rId8"/>
    <p:sldId id="466" r:id="rId9"/>
    <p:sldId id="341" r:id="rId10"/>
    <p:sldId id="467" r:id="rId11"/>
    <p:sldId id="468" r:id="rId12"/>
    <p:sldId id="469" r:id="rId13"/>
    <p:sldId id="345" r:id="rId14"/>
    <p:sldId id="471" r:id="rId15"/>
    <p:sldId id="484" r:id="rId16"/>
    <p:sldId id="472" r:id="rId17"/>
    <p:sldId id="473" r:id="rId18"/>
    <p:sldId id="474" r:id="rId19"/>
    <p:sldId id="475" r:id="rId20"/>
    <p:sldId id="476" r:id="rId21"/>
    <p:sldId id="479" r:id="rId22"/>
    <p:sldId id="477" r:id="rId23"/>
    <p:sldId id="478" r:id="rId24"/>
    <p:sldId id="480" r:id="rId25"/>
    <p:sldId id="481" r:id="rId26"/>
    <p:sldId id="482" r:id="rId27"/>
    <p:sldId id="487" r:id="rId28"/>
    <p:sldId id="488" r:id="rId29"/>
    <p:sldId id="490" r:id="rId30"/>
    <p:sldId id="491" r:id="rId31"/>
    <p:sldId id="489" r:id="rId32"/>
    <p:sldId id="492" r:id="rId33"/>
    <p:sldId id="493" r:id="rId34"/>
    <p:sldId id="494" r:id="rId35"/>
    <p:sldId id="495" r:id="rId36"/>
    <p:sldId id="496" r:id="rId37"/>
    <p:sldId id="497" r:id="rId38"/>
    <p:sldId id="498" r:id="rId39"/>
    <p:sldId id="499" r:id="rId40"/>
    <p:sldId id="500" r:id="rId41"/>
    <p:sldId id="501" r:id="rId42"/>
    <p:sldId id="502" r:id="rId43"/>
    <p:sldId id="503" r:id="rId44"/>
    <p:sldId id="504" r:id="rId45"/>
    <p:sldId id="505" r:id="rId46"/>
    <p:sldId id="506" r:id="rId47"/>
    <p:sldId id="507" r:id="rId48"/>
    <p:sldId id="508" r:id="rId49"/>
    <p:sldId id="509" r:id="rId50"/>
    <p:sldId id="510" r:id="rId51"/>
    <p:sldId id="511" r:id="rId52"/>
    <p:sldId id="512" r:id="rId53"/>
    <p:sldId id="485" r:id="rId54"/>
    <p:sldId id="486" r:id="rId55"/>
    <p:sldId id="271" r:id="rId5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Раздел по умолчанию" id="{453404F6-AF45-403F-8B0B-E58FD8E18ED2}">
          <p14:sldIdLst>
            <p14:sldId id="257"/>
            <p14:sldId id="460"/>
            <p14:sldId id="466"/>
            <p14:sldId id="341"/>
            <p14:sldId id="467"/>
            <p14:sldId id="468"/>
            <p14:sldId id="469"/>
            <p14:sldId id="345"/>
            <p14:sldId id="471"/>
            <p14:sldId id="484"/>
            <p14:sldId id="472"/>
            <p14:sldId id="473"/>
            <p14:sldId id="474"/>
            <p14:sldId id="475"/>
            <p14:sldId id="476"/>
            <p14:sldId id="479"/>
            <p14:sldId id="477"/>
            <p14:sldId id="478"/>
            <p14:sldId id="480"/>
            <p14:sldId id="481"/>
            <p14:sldId id="482"/>
            <p14:sldId id="487"/>
            <p14:sldId id="488"/>
            <p14:sldId id="490"/>
            <p14:sldId id="491"/>
            <p14:sldId id="489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485"/>
            <p14:sldId id="486"/>
            <p14:sldId id="271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6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345AFA"/>
    <a:srgbClr val="33FD11"/>
    <a:srgbClr val="10CFFC"/>
    <a:srgbClr val="FEC1FF"/>
    <a:srgbClr val="FEBBA0"/>
    <a:srgbClr val="060606"/>
    <a:srgbClr val="008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1766" autoAdjust="0"/>
    <p:restoredTop sz="89088" autoAdjust="0"/>
  </p:normalViewPr>
  <p:slideViewPr>
    <p:cSldViewPr>
      <p:cViewPr varScale="1">
        <p:scale>
          <a:sx n="67" d="100"/>
          <a:sy n="67" d="100"/>
        </p:scale>
        <p:origin x="-540" y="-102"/>
      </p:cViewPr>
      <p:guideLst>
        <p:guide orient="horz" pos="361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042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823CC4-FED0-46D8-B338-6A49B477DF90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19290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1639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9913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23579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0782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69743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9913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57737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3011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12543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47752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7767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792373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59493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2051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6623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52005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70393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935582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081708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44043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97875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24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894918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25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58725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10128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085818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8921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936406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974297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10178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180443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305430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97362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837108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850276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42043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685725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838070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59227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63101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632291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52294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954871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909133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16647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9579281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284210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990936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0A90FD3-1104-4C0E-BD19-C04AAB04E560}" type="slidenum">
              <a:rPr lang="de-DE" altLang="ru-RU" smtClean="0">
                <a:solidFill>
                  <a:prstClr val="black"/>
                </a:solidFill>
              </a:rPr>
              <a:pPr/>
              <a:t>50</a:t>
            </a:fld>
            <a:endParaRPr lang="de-DE" altLang="ru-RU">
              <a:solidFill>
                <a:prstClr val="black"/>
              </a:solidFill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xmlns="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18203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3663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18070437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26430130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343371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0805643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95611339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664407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232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4292343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48545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6949483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64413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0528098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679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627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6318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782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МФТИ-1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0328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4616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presentationload.de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23.png"/><Relationship Id="rId5" Type="http://schemas.openxmlformats.org/officeDocument/2006/relationships/image" Target="../media/image10.png"/><Relationship Id="rId10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9.png"/><Relationship Id="rId5" Type="http://schemas.openxmlformats.org/officeDocument/2006/relationships/image" Target="../media/image10.png"/><Relationship Id="rId10" Type="http://schemas.openxmlformats.org/officeDocument/2006/relationships/image" Target="../media/image28.png"/><Relationship Id="rId4" Type="http://schemas.openxmlformats.org/officeDocument/2006/relationships/image" Target="../media/image9.png"/><Relationship Id="rId9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8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8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8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8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8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7" descr="Neutral Abstract 7 V1 F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216680" cy="690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hteck 19">
            <a:hlinkClick r:id="rId4"/>
          </p:cNvPr>
          <p:cNvSpPr/>
          <p:nvPr/>
        </p:nvSpPr>
        <p:spPr>
          <a:xfrm>
            <a:off x="9949730" y="6276976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794993" y="2203451"/>
            <a:ext cx="75184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Сетевые и Распределенные Системы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540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540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</a:br>
            <a:endParaRPr lang="ru-RU" sz="5400" dirty="0">
              <a:solidFill>
                <a:srgbClr val="8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8217594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3120751" y="238125"/>
            <a:ext cx="8496300" cy="617538"/>
          </a:xfrm>
        </p:spPr>
        <p:txBody>
          <a:bodyPr/>
          <a:lstStyle/>
          <a:p>
            <a:pPr algn="l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3600" b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600" b="1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8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722415" y="1069975"/>
            <a:ext cx="8134225" cy="2240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4000" dirty="0">
              <a:solidFill>
                <a:srgbClr val="003794"/>
              </a:solidFill>
              <a:latin typeface="Lucida Grande CY" pitchFamily="2" charset="-52"/>
              <a:cs typeface="Arial" pitchFamily="34" charset="0"/>
            </a:endParaRPr>
          </a:p>
          <a:p>
            <a:pPr marL="1440000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ru-RU" sz="4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  <a:endParaRPr lang="en-US" sz="4000" dirty="0">
              <a:solidFill>
                <a:srgbClr val="40404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69233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30" name="Rechteck 36">
            <a:extLst>
              <a:ext uri="{FF2B5EF4-FFF2-40B4-BE49-F238E27FC236}">
                <a16:creationId xmlns="" xmlns:a16="http://schemas.microsoft.com/office/drawing/2014/main" id="{1905BCDB-1046-4C0E-9EF9-C6CC39A0F44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0018" y="1010692"/>
            <a:ext cx="84242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Перемешивание операций (</a:t>
            </a:r>
            <a:r>
              <a:rPr lang="en-US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interleaving</a:t>
            </a:r>
            <a:r>
              <a:rPr lang="ru-RU" sz="3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31" name="Rechteck 39">
            <a:extLst>
              <a:ext uri="{FF2B5EF4-FFF2-40B4-BE49-F238E27FC236}">
                <a16:creationId xmlns="" xmlns:a16="http://schemas.microsoft.com/office/drawing/2014/main" id="{685BA7D9-B040-4A41-BEF1-E73303353D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0018" y="1844824"/>
            <a:ext cx="8496300" cy="453650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 Box 5">
            <a:extLst>
              <a:ext uri="{FF2B5EF4-FFF2-40B4-BE49-F238E27FC236}">
                <a16:creationId xmlns="" xmlns:a16="http://schemas.microsoft.com/office/drawing/2014/main" id="{70D2CB38-8612-461C-998A-5E962D1F7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38" y="1902420"/>
            <a:ext cx="3816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ru-RU" sz="2800">
                <a:latin typeface="Arial" pitchFamily="34" charset="0"/>
                <a:cs typeface="Arial" pitchFamily="34" charset="0"/>
              </a:rPr>
              <a:t>Активность </a:t>
            </a:r>
            <a:r>
              <a:rPr lang="en-US" sz="2800">
                <a:latin typeface="Arial" pitchFamily="34" charset="0"/>
                <a:cs typeface="Arial" pitchFamily="34" charset="0"/>
              </a:rPr>
              <a:t>P: 	a b c</a:t>
            </a:r>
            <a:endParaRPr lang="ru-RU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Text Box 11">
            <a:extLst>
              <a:ext uri="{FF2B5EF4-FFF2-40B4-BE49-F238E27FC236}">
                <a16:creationId xmlns="" xmlns:a16="http://schemas.microsoft.com/office/drawing/2014/main" id="{AE4A9563-086E-4E77-A567-7578F9FC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38" y="2370733"/>
            <a:ext cx="3816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ru-RU" sz="2800">
                <a:latin typeface="Arial" pitchFamily="34" charset="0"/>
                <a:cs typeface="Arial" pitchFamily="34" charset="0"/>
              </a:rPr>
              <a:t>Активность </a:t>
            </a:r>
            <a:r>
              <a:rPr lang="en-US" sz="2800">
                <a:latin typeface="Arial" pitchFamily="34" charset="0"/>
                <a:cs typeface="Arial" pitchFamily="34" charset="0"/>
              </a:rPr>
              <a:t>Q: 	d e f</a:t>
            </a:r>
            <a:endParaRPr lang="ru-RU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 Box 12">
            <a:extLst>
              <a:ext uri="{FF2B5EF4-FFF2-40B4-BE49-F238E27FC236}">
                <a16:creationId xmlns="" xmlns:a16="http://schemas.microsoft.com/office/drawing/2014/main" id="{F1A1FA03-26EB-4ED9-A652-BDCE66C9F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64" y="2997796"/>
            <a:ext cx="82438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ru-RU" sz="2000">
                <a:latin typeface="Arial" pitchFamily="34" charset="0"/>
                <a:cs typeface="Arial" pitchFamily="34" charset="0"/>
              </a:rPr>
              <a:t>Последовательное выполнение </a:t>
            </a:r>
            <a:r>
              <a:rPr lang="en-US" sz="2000">
                <a:latin typeface="Arial" pitchFamily="34" charset="0"/>
                <a:cs typeface="Arial" pitchFamily="34" charset="0"/>
              </a:rPr>
              <a:t>PQ</a:t>
            </a:r>
            <a:r>
              <a:rPr lang="ru-RU" sz="2000">
                <a:latin typeface="Arial" pitchFamily="34" charset="0"/>
                <a:cs typeface="Arial" pitchFamily="34" charset="0"/>
              </a:rPr>
              <a:t>:</a:t>
            </a:r>
            <a:r>
              <a:rPr lang="en-US" sz="2000">
                <a:latin typeface="Arial" pitchFamily="34" charset="0"/>
                <a:cs typeface="Arial" pitchFamily="34" charset="0"/>
              </a:rPr>
              <a:t>	</a:t>
            </a:r>
            <a:r>
              <a:rPr lang="ru-RU" sz="2000">
                <a:latin typeface="Arial" pitchFamily="34" charset="0"/>
                <a:cs typeface="Arial" pitchFamily="34" charset="0"/>
              </a:rPr>
              <a:t> </a:t>
            </a:r>
            <a:r>
              <a:rPr lang="en-US" sz="2000">
                <a:latin typeface="Arial" pitchFamily="34" charset="0"/>
                <a:cs typeface="Arial" pitchFamily="34" charset="0"/>
              </a:rPr>
              <a:t>a b c d e f</a:t>
            </a:r>
            <a:endParaRPr lang="ru-RU"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Text Box 13">
            <a:extLst>
              <a:ext uri="{FF2B5EF4-FFF2-40B4-BE49-F238E27FC236}">
                <a16:creationId xmlns="" xmlns:a16="http://schemas.microsoft.com/office/drawing/2014/main" id="{6A36578B-1E3B-4B05-A7A9-EFAD7C093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3000" y="3608983"/>
            <a:ext cx="82438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ru-RU" sz="2000">
                <a:latin typeface="Arial" pitchFamily="34" charset="0"/>
                <a:cs typeface="Arial" pitchFamily="34" charset="0"/>
              </a:rPr>
              <a:t>Псевдопараллельное выполнение</a:t>
            </a:r>
            <a:br>
              <a:rPr lang="ru-RU" sz="2000">
                <a:latin typeface="Arial" pitchFamily="34" charset="0"/>
                <a:cs typeface="Arial" pitchFamily="34" charset="0"/>
              </a:rPr>
            </a:br>
            <a:r>
              <a:rPr lang="ru-RU" sz="2000">
                <a:latin typeface="Arial" pitchFamily="34" charset="0"/>
                <a:cs typeface="Arial" pitchFamily="34" charset="0"/>
              </a:rPr>
              <a:t>(режим разделения времени)	        :	 </a:t>
            </a:r>
          </a:p>
        </p:txBody>
      </p:sp>
      <p:sp>
        <p:nvSpPr>
          <p:cNvPr id="37" name="Text Box 15">
            <a:extLst>
              <a:ext uri="{FF2B5EF4-FFF2-40B4-BE49-F238E27FC236}">
                <a16:creationId xmlns="" xmlns:a16="http://schemas.microsoft.com/office/drawing/2014/main" id="{16E6EB87-E931-4AAE-B5A3-8FF7AEC3D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951" y="3896222"/>
            <a:ext cx="1908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 b c d e f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ext Box 16">
            <a:extLst>
              <a:ext uri="{FF2B5EF4-FFF2-40B4-BE49-F238E27FC236}">
                <a16:creationId xmlns="" xmlns:a16="http://schemas.microsoft.com/office/drawing/2014/main" id="{DC997338-E6DC-4447-8414-7FDA742D2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951" y="4328121"/>
            <a:ext cx="1908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 b d c e f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Text Box 17">
            <a:extLst>
              <a:ext uri="{FF2B5EF4-FFF2-40B4-BE49-F238E27FC236}">
                <a16:creationId xmlns="" xmlns:a16="http://schemas.microsoft.com/office/drawing/2014/main" id="{61968FA8-7737-4315-858B-9A926AC91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951" y="4761508"/>
            <a:ext cx="1908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 b d e c f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Text Box 18">
            <a:extLst>
              <a:ext uri="{FF2B5EF4-FFF2-40B4-BE49-F238E27FC236}">
                <a16:creationId xmlns="" xmlns:a16="http://schemas.microsoft.com/office/drawing/2014/main" id="{ED099845-ECFF-46A3-BF64-227C3A580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951" y="5193308"/>
            <a:ext cx="1908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 b d e f c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Text Box 19">
            <a:extLst>
              <a:ext uri="{FF2B5EF4-FFF2-40B4-BE49-F238E27FC236}">
                <a16:creationId xmlns="" xmlns:a16="http://schemas.microsoft.com/office/drawing/2014/main" id="{7C119657-B7F1-4F60-AB4D-8379417DE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951" y="5552083"/>
            <a:ext cx="1908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itchFamily="34" charset="0"/>
                <a:cs typeface="Arial" pitchFamily="34" charset="0"/>
              </a:rPr>
              <a:t>. . .</a:t>
            </a:r>
            <a:endParaRPr lang="ru-RU"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Text Box 20">
            <a:extLst>
              <a:ext uri="{FF2B5EF4-FFF2-40B4-BE49-F238E27FC236}">
                <a16:creationId xmlns="" xmlns:a16="http://schemas.microsoft.com/office/drawing/2014/main" id="{5EC5422A-063D-4210-A2F0-B1BDF03E1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951" y="5912446"/>
            <a:ext cx="1908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 e f a b c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6628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7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9656" y="1010692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Детерминированность набора активностей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844823"/>
            <a:ext cx="8784976" cy="477505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216002" y="1916832"/>
            <a:ext cx="8496300" cy="4464496"/>
          </a:xfrm>
          <a:prstGeom prst="rect">
            <a:avLst/>
          </a:prstGeom>
        </p:spPr>
        <p:txBody>
          <a:bodyPr/>
          <a:lstStyle/>
          <a:p>
            <a:pPr marL="0" indent="0" algn="ctr" eaLnBrk="1" hangingPunct="1">
              <a:lnSpc>
                <a:spcPct val="110000"/>
              </a:lnSpc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Если при одинаковых начальных данных при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любых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возможных чередованиях атомарных операций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всегда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получается один и тот же результат, то набор активностей называется </a:t>
            </a:r>
            <a:r>
              <a:rPr lang="ru-RU" sz="24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детерминированным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 algn="ctr" eaLnBrk="1" hangingPunct="1">
              <a:lnSpc>
                <a:spcPct val="90000"/>
              </a:lnSpc>
              <a:buClr>
                <a:schemeClr val="tx1"/>
              </a:buClr>
              <a:buNone/>
              <a:defRPr/>
            </a:pPr>
            <a:endParaRPr lang="ru-RU" sz="2400" dirty="0">
              <a:latin typeface="Arial" pitchFamily="34" charset="0"/>
              <a:cs typeface="Arial" pitchFamily="34" charset="0"/>
            </a:endParaRPr>
          </a:p>
          <a:p>
            <a:pPr marL="0" indent="0" algn="ctr" eaLnBrk="1" hangingPunct="1">
              <a:lnSpc>
                <a:spcPct val="110000"/>
              </a:lnSpc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Если активности набора представляют собой процессы  распределенной программы с конечным выполнением, то детерминированность набора означает, что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любые конечные выполнения распределенной программы являются эквивалентными.</a:t>
            </a:r>
            <a:r>
              <a:rPr lang="ru-RU" sz="24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None/>
              <a:defRPr/>
            </a:pP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3085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9656" y="1010692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Детерминированность набора активностей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844823"/>
            <a:ext cx="8784976" cy="477505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216002" y="1916832"/>
            <a:ext cx="8496300" cy="3888432"/>
          </a:xfrm>
          <a:prstGeom prst="rect">
            <a:avLst/>
          </a:prstGeom>
        </p:spPr>
        <p:txBody>
          <a:bodyPr/>
          <a:lstStyle/>
          <a:p>
            <a:pPr marL="0" indent="0" algn="ctr" eaLnBrk="1" hangingPunct="1">
              <a:lnSpc>
                <a:spcPct val="110000"/>
              </a:lnSpc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Если при одинаковых начальных данных при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некоторых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возможных чередованиях атомарных операций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могут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получиться разные результаты, то набор активностей называется </a:t>
            </a:r>
            <a:r>
              <a:rPr lang="ru-RU" sz="24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недетерминированным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 algn="ctr" eaLnBrk="1" hangingPunct="1">
              <a:lnSpc>
                <a:spcPct val="90000"/>
              </a:lnSpc>
              <a:buClr>
                <a:schemeClr val="tx1"/>
              </a:buClr>
              <a:buNone/>
              <a:defRPr/>
            </a:pPr>
            <a:endParaRPr lang="ru-RU" sz="2400" dirty="0">
              <a:latin typeface="Arial" pitchFamily="34" charset="0"/>
              <a:cs typeface="Arial" pitchFamily="34" charset="0"/>
            </a:endParaRPr>
          </a:p>
          <a:p>
            <a:pPr marL="0" indent="0" algn="ctr" eaLnBrk="1" hangingPunct="1">
              <a:lnSpc>
                <a:spcPct val="110000"/>
              </a:lnSpc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Если активности набора представляют собой процессы  распределенной программы с конечным выполнением, то недетерминированность набора означает,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что существуют конечные выполнения распределенной программы, которые не являются эквивалентными.</a:t>
            </a:r>
            <a:r>
              <a:rPr lang="ru-RU" sz="24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None/>
              <a:defRPr/>
            </a:pP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94994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9656" y="1010692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Состояние гонки и взаимоисключение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844823"/>
            <a:ext cx="8784976" cy="477505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216002" y="1916832"/>
            <a:ext cx="8496300" cy="3888432"/>
          </a:xfrm>
          <a:prstGeom prst="rect">
            <a:avLst/>
          </a:prstGeom>
        </p:spPr>
        <p:txBody>
          <a:bodyPr/>
          <a:lstStyle/>
          <a:p>
            <a:pPr marL="0" indent="0" algn="ctr" eaLnBrk="1" hangingPunct="1">
              <a:lnSpc>
                <a:spcPct val="110000"/>
              </a:lnSpc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Недетерминированность набора активностей всегда связана с использованием активностями общих ресурсов. Это необходимое условие недетерминированности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 algn="ctr" eaLnBrk="1" hangingPunct="1">
              <a:lnSpc>
                <a:spcPct val="110000"/>
              </a:lnSpc>
              <a:buClr>
                <a:schemeClr val="tx1"/>
              </a:buClr>
              <a:buNone/>
              <a:defRPr/>
            </a:pPr>
            <a:endParaRPr lang="ru-RU" sz="2400" dirty="0">
              <a:latin typeface="Arial" pitchFamily="34" charset="0"/>
              <a:cs typeface="Arial" pitchFamily="34" charset="0"/>
            </a:endParaRPr>
          </a:p>
          <a:p>
            <a:pPr marL="0" indent="0" algn="ctr" eaLnBrk="1" hangingPunct="1">
              <a:lnSpc>
                <a:spcPct val="110000"/>
              </a:lnSpc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Недетерминированность набора определяется конкуренцией активностей за общий ресурс.</a:t>
            </a:r>
            <a:r>
              <a:rPr lang="ru-RU" sz="2400" i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Говорят, что в недетерминированных наборах встречается </a:t>
            </a:r>
            <a:r>
              <a:rPr lang="en-US" sz="24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race condition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(состояние гонки, состояние состязания).</a:t>
            </a:r>
          </a:p>
          <a:p>
            <a:pPr marL="0" indent="0" algn="ctr" eaLnBrk="1" hangingPunct="1">
              <a:lnSpc>
                <a:spcPct val="90000"/>
              </a:lnSpc>
              <a:buClr>
                <a:schemeClr val="tx1"/>
              </a:buClr>
              <a:buNone/>
              <a:defRPr/>
            </a:pPr>
            <a:endParaRPr lang="ru-RU" sz="2400" i="1" dirty="0">
              <a:latin typeface="Arial" pitchFamily="34" charset="0"/>
              <a:cs typeface="Arial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None/>
              <a:defRPr/>
            </a:pP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7604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9656" y="1010692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Критическая секция (участок)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844823"/>
            <a:ext cx="8784976" cy="477505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216002" y="2060848"/>
            <a:ext cx="8496300" cy="1152128"/>
          </a:xfrm>
          <a:prstGeom prst="rect">
            <a:avLst/>
          </a:prstGeom>
        </p:spPr>
        <p:txBody>
          <a:bodyPr/>
          <a:lstStyle/>
          <a:p>
            <a:pPr marL="0" indent="0" algn="ctr" eaLnBrk="1" hangingPunct="1">
              <a:lnSpc>
                <a:spcPct val="110000"/>
              </a:lnSpc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Избежать недетерминированного поведения набора активностей при неважности очередности доступа можно с помощью </a:t>
            </a:r>
            <a:r>
              <a:rPr lang="ru-RU" sz="24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взаимоисключения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mutual exclusion)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 algn="ctr" eaLnBrk="1" hangingPunct="1">
              <a:lnSpc>
                <a:spcPct val="90000"/>
              </a:lnSpc>
              <a:buClr>
                <a:schemeClr val="tx1"/>
              </a:buClr>
              <a:buNone/>
              <a:defRPr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 algn="ctr" eaLnBrk="1" hangingPunct="1">
              <a:lnSpc>
                <a:spcPct val="110000"/>
              </a:lnSpc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Участки активностей набора, выполнение которых приводит к существованию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race condition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и, как следствие, к недетерминированности результатов, называют </a:t>
            </a:r>
            <a:r>
              <a:rPr lang="ru-RU" sz="24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критическими секциями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или </a:t>
            </a:r>
            <a:r>
              <a:rPr lang="ru-RU" sz="24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критическими участками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. </a:t>
            </a: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None/>
              <a:defRPr/>
            </a:pPr>
            <a:endParaRPr lang="ru-RU" sz="2400" i="1" dirty="0">
              <a:latin typeface="Arial" pitchFamily="34" charset="0"/>
              <a:cs typeface="Arial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None/>
              <a:defRPr/>
            </a:pP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5686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0692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Структура взаимодействующего процесса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87688" y="2132856"/>
            <a:ext cx="8208912" cy="30243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 Box 91"/>
          <p:cNvSpPr txBox="1">
            <a:spLocks noChangeArrowheads="1"/>
          </p:cNvSpPr>
          <p:nvPr/>
        </p:nvSpPr>
        <p:spPr bwMode="auto">
          <a:xfrm>
            <a:off x="4331445" y="2384674"/>
            <a:ext cx="3673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while (some condition) {</a:t>
            </a: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 Box 92"/>
          <p:cNvSpPr txBox="1">
            <a:spLocks noChangeArrowheads="1"/>
          </p:cNvSpPr>
          <p:nvPr/>
        </p:nvSpPr>
        <p:spPr bwMode="auto">
          <a:xfrm>
            <a:off x="4834683" y="2745037"/>
            <a:ext cx="3673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entry section</a:t>
            </a:r>
            <a:endParaRPr lang="ru-RU" sz="24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 Box 93"/>
          <p:cNvSpPr txBox="1">
            <a:spLocks noChangeArrowheads="1"/>
          </p:cNvSpPr>
          <p:nvPr/>
        </p:nvSpPr>
        <p:spPr bwMode="auto">
          <a:xfrm>
            <a:off x="5302995" y="3176837"/>
            <a:ext cx="3673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critical section</a:t>
            </a:r>
            <a:endParaRPr lang="ru-RU" sz="24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 Box 94"/>
          <p:cNvSpPr txBox="1">
            <a:spLocks noChangeArrowheads="1"/>
          </p:cNvSpPr>
          <p:nvPr/>
        </p:nvSpPr>
        <p:spPr bwMode="auto">
          <a:xfrm>
            <a:off x="4834683" y="3608637"/>
            <a:ext cx="3673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exit section</a:t>
            </a:r>
            <a:endParaRPr lang="ru-RU" sz="24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 Box 95"/>
          <p:cNvSpPr txBox="1">
            <a:spLocks noChangeArrowheads="1"/>
          </p:cNvSpPr>
          <p:nvPr/>
        </p:nvSpPr>
        <p:spPr bwMode="auto">
          <a:xfrm>
            <a:off x="5339508" y="4016624"/>
            <a:ext cx="3673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remainder section</a:t>
            </a:r>
            <a:endParaRPr lang="ru-RU" sz="24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Text Box 96"/>
          <p:cNvSpPr txBox="1">
            <a:spLocks noChangeArrowheads="1"/>
          </p:cNvSpPr>
          <p:nvPr/>
        </p:nvSpPr>
        <p:spPr bwMode="auto">
          <a:xfrm>
            <a:off x="4366370" y="4365874"/>
            <a:ext cx="3673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}</a:t>
            </a:r>
            <a:endParaRPr lang="ru-RU" sz="24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_h1">
            <a:extLst>
              <a:ext uri="{FF2B5EF4-FFF2-40B4-BE49-F238E27FC236}">
                <a16:creationId xmlns="" xmlns:a16="http://schemas.microsoft.com/office/drawing/2014/main" id="{05967FDA-7FFE-4F92-A260-8D25249564C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3573645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/>
      <p:bldP spid="24" grpId="0"/>
      <p:bldP spid="26" grpId="0"/>
      <p:bldP spid="27" grpId="0"/>
      <p:bldP spid="28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Особенности распределенных алгоритмов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060848"/>
            <a:ext cx="8928992" cy="424847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EED6A67-4EF1-4736-B2EE-6AE0C25EE22B}"/>
              </a:ext>
            </a:extLst>
          </p:cNvPr>
          <p:cNvSpPr txBox="1"/>
          <p:nvPr/>
        </p:nvSpPr>
        <p:spPr>
          <a:xfrm>
            <a:off x="3216002" y="2708920"/>
            <a:ext cx="8496300" cy="2498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однопроцессорных системах для защиты критических областей используются специальные программные алгоритмы (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Деккера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Bakery)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или специальные механизмы: семафоры, мониторы, очереди сообщений и другие конструкции подобного рода. Все они основаны на использовании общей памяти.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588C6096-1568-4BA9-969B-AED236D4988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2255413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Особенности распределенных алгоритмов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1844824"/>
            <a:ext cx="8928992" cy="46805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C2CFCE9-E601-48C4-83E1-408DA1870319}"/>
              </a:ext>
            </a:extLst>
          </p:cNvPr>
          <p:cNvSpPr txBox="1"/>
          <p:nvPr/>
        </p:nvSpPr>
        <p:spPr>
          <a:xfrm>
            <a:off x="3240972" y="1916832"/>
            <a:ext cx="8496300" cy="2498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Отсутствие общей памяти в распределенных системах не позволяет использовать эти способы для решения рассматриваемой задачи: распределенные алгоритмы должны опираться исключительно на обмен сообщениями между процессами распределенной программы.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82FBF1F-90A0-4C10-9E81-2BF32045381C}"/>
              </a:ext>
            </a:extLst>
          </p:cNvPr>
          <p:cNvSpPr txBox="1"/>
          <p:nvPr/>
        </p:nvSpPr>
        <p:spPr>
          <a:xfrm>
            <a:off x="3215680" y="4551466"/>
            <a:ext cx="8496300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таких алгоритмов осложняется тем, что приходится иметь дело с произвольными задержками передачи сообщений и отсутствием полной информации о состоянии всей системы.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588C6096-1568-4BA9-969B-AED236D4988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2580536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Требования к алгоритмам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1713637"/>
            <a:ext cx="8928992" cy="43204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ts val="1200"/>
              </a:spcAft>
              <a:buAutoNum type="arabicPeriod"/>
              <a:defRPr/>
            </a:pP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Процессы выполняются и взаимодействуют асинхронно, ни один из процессов не выходит из строя, все каналы связи являются надежными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,</a:t>
            </a: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 и коммуникационная сеть не разбивается на несвязанные между собой части.</a:t>
            </a:r>
          </a:p>
          <a:p>
            <a:pPr marL="457200" indent="-457200" defTabSz="457200" fontAlgn="base">
              <a:spcBef>
                <a:spcPct val="0"/>
              </a:spcBef>
              <a:spcAft>
                <a:spcPts val="1200"/>
              </a:spcAft>
              <a:buAutoNum type="arabicPeriod"/>
              <a:defRPr/>
            </a:pP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Нет никаких предположений об относительной скорости выполнения процессов и их количестве.</a:t>
            </a:r>
          </a:p>
          <a:p>
            <a:pPr marL="457200" indent="-457200" defTabSz="457200" fontAlgn="base">
              <a:spcBef>
                <a:spcPct val="0"/>
              </a:spcBef>
              <a:spcAft>
                <a:spcPts val="1200"/>
              </a:spcAft>
              <a:buAutoNum type="arabicPeriod"/>
              <a:defRPr/>
            </a:pP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Выполняется условие безопасности (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safety)</a:t>
            </a: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.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Выполняется условие живости (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liveness).</a:t>
            </a:r>
            <a:endParaRPr lang="ru-RU" sz="24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" name="_h1">
            <a:extLst>
              <a:ext uri="{FF2B5EF4-FFF2-40B4-BE49-F238E27FC236}">
                <a16:creationId xmlns="" xmlns:a16="http://schemas.microsoft.com/office/drawing/2014/main" id="{8A1EF380-4E7E-4DCF-856E-70DC76F6EAD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3562845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Виды алгоритмов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143994" y="1772816"/>
            <a:ext cx="8496300" cy="453650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ts val="1200"/>
              </a:spcAft>
              <a:buAutoNum type="arabicPeriod"/>
              <a:defRPr/>
            </a:pP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Алгоритмы на </a:t>
            </a:r>
            <a:r>
              <a:rPr lang="ru-RU" sz="2200" dirty="0">
                <a:solidFill>
                  <a:srgbClr val="0070C0"/>
                </a:solidFill>
                <a:latin typeface="Arial" panose="020B0604020202020204" pitchFamily="34" charset="0"/>
                <a:cs typeface="Arial" pitchFamily="34" charset="0"/>
              </a:rPr>
              <a:t>основе получения разрешений </a:t>
            </a: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(</a:t>
            </a:r>
            <a:r>
              <a:rPr lang="en-US" sz="2200" i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permission-based algorithms</a:t>
            </a: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).</a:t>
            </a: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Для входа в критическую секцию процессу необходимо собрать «достаточное» количество разрешений от других процессов распределенной системы.</a:t>
            </a:r>
          </a:p>
          <a:p>
            <a:pPr marL="457200" indent="-457200" defTabSz="457200" fontAlgn="base">
              <a:spcBef>
                <a:spcPct val="0"/>
              </a:spcBef>
              <a:spcAft>
                <a:spcPts val="1200"/>
              </a:spcAft>
              <a:buAutoNum type="arabicPeriod"/>
              <a:defRPr/>
            </a:pP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Алгоритмы на </a:t>
            </a:r>
            <a:r>
              <a:rPr lang="ru-RU" sz="2200" dirty="0">
                <a:solidFill>
                  <a:srgbClr val="0070C0"/>
                </a:solidFill>
                <a:latin typeface="Arial" panose="020B0604020202020204" pitchFamily="34" charset="0"/>
                <a:cs typeface="Arial" pitchFamily="34" charset="0"/>
              </a:rPr>
              <a:t>основе передачи маркера </a:t>
            </a: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(</a:t>
            </a:r>
            <a:r>
              <a:rPr lang="en-US" sz="2200" i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token-based algorithms</a:t>
            </a:r>
            <a:r>
              <a:rPr lang="ru-RU" sz="2200" i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).</a:t>
            </a:r>
            <a:r>
              <a:rPr lang="en-US" sz="2200" i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Право на вход в критическую секцию материализуется в виде специального объекта  - маркера, который в каждый момент времени может принадлежать только одному процессу или находиться в канале передачи информации от одного процесса к другому. </a:t>
            </a:r>
          </a:p>
        </p:txBody>
      </p:sp>
      <p:sp>
        <p:nvSpPr>
          <p:cNvPr id="5" name="_h1">
            <a:extLst>
              <a:ext uri="{FF2B5EF4-FFF2-40B4-BE49-F238E27FC236}">
                <a16:creationId xmlns="" xmlns:a16="http://schemas.microsoft.com/office/drawing/2014/main" id="{3C5D87FE-5C78-4CD4-A38F-A9396E8DF76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2708269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143994" y="2264791"/>
            <a:ext cx="84963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Централизованный алгоритм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Есть процесс координатор и остальные процессы.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DE27249-3E85-4DB4-A823-DEF0B164551B}"/>
              </a:ext>
            </a:extLst>
          </p:cNvPr>
          <p:cNvSpPr txBox="1"/>
          <p:nvPr/>
        </p:nvSpPr>
        <p:spPr>
          <a:xfrm>
            <a:off x="3287688" y="2852937"/>
            <a:ext cx="8136904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Остальные процессы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Процесс, готовый ко входу в критическую секцию, посылает сообщение 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координатору и ждет сообщения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Получив сообщение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процесс входит в критическую секцию и выполняет ее.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После окончания критической секции процесс посылает координатору сообщение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 продолжает работу в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remainder section.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Переходит на шаг 1.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2444142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143994" y="2264792"/>
            <a:ext cx="8496300" cy="4260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2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9"/>
            <a:ext cx="640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Централизованный алгоритм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Есть процесс координатор и остальные процессы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DE27249-3E85-4DB4-A823-DEF0B164551B}"/>
              </a:ext>
            </a:extLst>
          </p:cNvPr>
          <p:cNvSpPr txBox="1"/>
          <p:nvPr/>
        </p:nvSpPr>
        <p:spPr>
          <a:xfrm>
            <a:off x="3287688" y="2852937"/>
            <a:ext cx="8136904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Координатор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Процесс-координатор постоянно ждет сообщений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После получения сообщения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он помещает номер процесса отправителя в хвост очереди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FIFO.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до этого очередь была пуста, он немедленно в ответ посылает сообщение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После получения сообщения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он удаляет номер из головы очереди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FIFO.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очередь не пуста, то посылает сообщение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permit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процессу из головы очереди.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Переходит на шаг 1.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CD264F21-B05E-4034-8491-72979BE1435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1385443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324" y="2264792"/>
            <a:ext cx="8496300" cy="4260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2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2323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5EB20370-F81D-4F79-9BCA-319F8D23F303}"/>
              </a:ext>
            </a:extLst>
          </p:cNvPr>
          <p:cNvSpPr/>
          <p:nvPr/>
        </p:nvSpPr>
        <p:spPr>
          <a:xfrm>
            <a:off x="88327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="" xmlns:a16="http://schemas.microsoft.com/office/drawing/2014/main" id="{1AC00E83-5F5B-4B01-80BE-6EFC4458D4AE}"/>
              </a:ext>
            </a:extLst>
          </p:cNvPr>
          <p:cNvSpPr/>
          <p:nvPr/>
        </p:nvSpPr>
        <p:spPr>
          <a:xfrm>
            <a:off x="7104514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="" xmlns:a16="http://schemas.microsoft.com/office/drawing/2014/main" id="{7151E32B-67A3-47C1-9D9D-08D6B1460613}"/>
              </a:ext>
            </a:extLst>
          </p:cNvPr>
          <p:cNvSpPr/>
          <p:nvPr/>
        </p:nvSpPr>
        <p:spPr>
          <a:xfrm>
            <a:off x="7104434" y="4653136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E0D01CC-8B9B-4C21-AC36-EF8ABB42013B}"/>
              </a:ext>
            </a:extLst>
          </p:cNvPr>
          <p:cNvSpPr txBox="1"/>
          <p:nvPr/>
        </p:nvSpPr>
        <p:spPr>
          <a:xfrm>
            <a:off x="5808370" y="4859288"/>
            <a:ext cx="129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координатор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184554" y="4797152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184554" y="4797152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184554" y="5167064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hteck 36">
            <a:extLst>
              <a:ext uri="{FF2B5EF4-FFF2-40B4-BE49-F238E27FC236}">
                <a16:creationId xmlns="" xmlns:a16="http://schemas.microsoft.com/office/drawing/2014/main" id="{279372A8-BD38-46D8-BBD5-35CBB239C2E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321A145-18AC-4BF4-B1F7-523446A1FB6D}"/>
              </a:ext>
            </a:extLst>
          </p:cNvPr>
          <p:cNvSpPr txBox="1"/>
          <p:nvPr/>
        </p:nvSpPr>
        <p:spPr>
          <a:xfrm>
            <a:off x="4223792" y="1700809"/>
            <a:ext cx="640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Централизованный алгоритм</a:t>
            </a:r>
          </a:p>
        </p:txBody>
      </p:sp>
      <p:sp>
        <p:nvSpPr>
          <p:cNvPr id="18" name="_h1">
            <a:extLst>
              <a:ext uri="{FF2B5EF4-FFF2-40B4-BE49-F238E27FC236}">
                <a16:creationId xmlns="" xmlns:a16="http://schemas.microsoft.com/office/drawing/2014/main" id="{C911D2F4-AA43-471E-A7B3-A0F8891BA83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3721118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 animBg="1"/>
      <p:bldP spid="9" grpId="0" animBg="1"/>
      <p:bldP spid="10" grpId="0" animBg="1"/>
      <p:bldP spid="11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324" y="2264792"/>
            <a:ext cx="8496300" cy="4260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2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2323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5EB20370-F81D-4F79-9BCA-319F8D23F303}"/>
              </a:ext>
            </a:extLst>
          </p:cNvPr>
          <p:cNvSpPr/>
          <p:nvPr/>
        </p:nvSpPr>
        <p:spPr>
          <a:xfrm>
            <a:off x="88327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="" xmlns:a16="http://schemas.microsoft.com/office/drawing/2014/main" id="{1AC00E83-5F5B-4B01-80BE-6EFC4458D4AE}"/>
              </a:ext>
            </a:extLst>
          </p:cNvPr>
          <p:cNvSpPr/>
          <p:nvPr/>
        </p:nvSpPr>
        <p:spPr>
          <a:xfrm>
            <a:off x="7104514" y="2564904"/>
            <a:ext cx="720000" cy="720080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="" xmlns:a16="http://schemas.microsoft.com/office/drawing/2014/main" id="{7151E32B-67A3-47C1-9D9D-08D6B1460613}"/>
              </a:ext>
            </a:extLst>
          </p:cNvPr>
          <p:cNvSpPr/>
          <p:nvPr/>
        </p:nvSpPr>
        <p:spPr>
          <a:xfrm>
            <a:off x="7104434" y="4653136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E0D01CC-8B9B-4C21-AC36-EF8ABB42013B}"/>
              </a:ext>
            </a:extLst>
          </p:cNvPr>
          <p:cNvSpPr txBox="1"/>
          <p:nvPr/>
        </p:nvSpPr>
        <p:spPr>
          <a:xfrm>
            <a:off x="5808370" y="4859288"/>
            <a:ext cx="129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координатор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184554" y="4797152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184554" y="4797152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184554" y="5167064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hteck 36">
            <a:extLst>
              <a:ext uri="{FF2B5EF4-FFF2-40B4-BE49-F238E27FC236}">
                <a16:creationId xmlns="" xmlns:a16="http://schemas.microsoft.com/office/drawing/2014/main" id="{D9F9B258-376C-447A-A80D-9B1E0D7C98F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CC44965-1C60-4201-A7E1-EB92D4202189}"/>
              </a:ext>
            </a:extLst>
          </p:cNvPr>
          <p:cNvSpPr txBox="1"/>
          <p:nvPr/>
        </p:nvSpPr>
        <p:spPr>
          <a:xfrm>
            <a:off x="4223792" y="1700809"/>
            <a:ext cx="640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Централизованный алгоритм</a:t>
            </a:r>
          </a:p>
        </p:txBody>
      </p:sp>
      <p:sp>
        <p:nvSpPr>
          <p:cNvPr id="18" name="_h1">
            <a:extLst>
              <a:ext uri="{FF2B5EF4-FFF2-40B4-BE49-F238E27FC236}">
                <a16:creationId xmlns="" xmlns:a16="http://schemas.microsoft.com/office/drawing/2014/main" id="{3F43E7CA-FA98-4C61-A22E-3246EC5BB4E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1495075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324" y="2264792"/>
            <a:ext cx="8496300" cy="4260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2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2323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5EB20370-F81D-4F79-9BCA-319F8D23F303}"/>
              </a:ext>
            </a:extLst>
          </p:cNvPr>
          <p:cNvSpPr/>
          <p:nvPr/>
        </p:nvSpPr>
        <p:spPr>
          <a:xfrm>
            <a:off x="88327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="" xmlns:a16="http://schemas.microsoft.com/office/drawing/2014/main" id="{1AC00E83-5F5B-4B01-80BE-6EFC4458D4AE}"/>
              </a:ext>
            </a:extLst>
          </p:cNvPr>
          <p:cNvSpPr/>
          <p:nvPr/>
        </p:nvSpPr>
        <p:spPr>
          <a:xfrm>
            <a:off x="7104514" y="2564904"/>
            <a:ext cx="720000" cy="720080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="" xmlns:a16="http://schemas.microsoft.com/office/drawing/2014/main" id="{7151E32B-67A3-47C1-9D9D-08D6B1460613}"/>
              </a:ext>
            </a:extLst>
          </p:cNvPr>
          <p:cNvSpPr/>
          <p:nvPr/>
        </p:nvSpPr>
        <p:spPr>
          <a:xfrm>
            <a:off x="7104434" y="4653136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E0D01CC-8B9B-4C21-AC36-EF8ABB42013B}"/>
              </a:ext>
            </a:extLst>
          </p:cNvPr>
          <p:cNvSpPr txBox="1"/>
          <p:nvPr/>
        </p:nvSpPr>
        <p:spPr>
          <a:xfrm>
            <a:off x="5808370" y="4859288"/>
            <a:ext cx="129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координатор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184554" y="4797152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184554" y="4797152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184554" y="5167064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="" xmlns:a16="http://schemas.microsoft.com/office/drawing/2014/main" id="{E79803D1-05EC-4394-860C-94439110145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7464434" y="3284984"/>
            <a:ext cx="80" cy="1368152"/>
          </a:xfrm>
          <a:prstGeom prst="line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2485743-ADEB-49AD-A5E3-B6E7FC424E5D}"/>
              </a:ext>
            </a:extLst>
          </p:cNvPr>
          <p:cNvSpPr txBox="1"/>
          <p:nvPr/>
        </p:nvSpPr>
        <p:spPr>
          <a:xfrm>
            <a:off x="6600378" y="3688992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6BC112E-F90B-4E32-887E-86B4EC1444EF}"/>
              </a:ext>
            </a:extLst>
          </p:cNvPr>
          <p:cNvSpPr txBox="1"/>
          <p:nvPr/>
        </p:nvSpPr>
        <p:spPr>
          <a:xfrm>
            <a:off x="8220475" y="4824017"/>
            <a:ext cx="576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hteck 36">
            <a:extLst>
              <a:ext uri="{FF2B5EF4-FFF2-40B4-BE49-F238E27FC236}">
                <a16:creationId xmlns="" xmlns:a16="http://schemas.microsoft.com/office/drawing/2014/main" id="{7C2F2CA8-9C45-4CCD-8D96-7D84EBC85E7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682B00FD-0BB4-4ED4-B734-CF0DD46F7863}"/>
              </a:ext>
            </a:extLst>
          </p:cNvPr>
          <p:cNvSpPr txBox="1"/>
          <p:nvPr/>
        </p:nvSpPr>
        <p:spPr>
          <a:xfrm>
            <a:off x="4223792" y="1700809"/>
            <a:ext cx="640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Централизованный алгоритм</a:t>
            </a:r>
          </a:p>
        </p:txBody>
      </p:sp>
      <p:sp>
        <p:nvSpPr>
          <p:cNvPr id="20" name="_h1">
            <a:extLst>
              <a:ext uri="{FF2B5EF4-FFF2-40B4-BE49-F238E27FC236}">
                <a16:creationId xmlns="" xmlns:a16="http://schemas.microsoft.com/office/drawing/2014/main" id="{7EADEE7B-BAEA-453D-8EEE-C7B0D0C0728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3801499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324" y="2264792"/>
            <a:ext cx="8496300" cy="4260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2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2323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5EB20370-F81D-4F79-9BCA-319F8D23F303}"/>
              </a:ext>
            </a:extLst>
          </p:cNvPr>
          <p:cNvSpPr/>
          <p:nvPr/>
        </p:nvSpPr>
        <p:spPr>
          <a:xfrm>
            <a:off x="88327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="" xmlns:a16="http://schemas.microsoft.com/office/drawing/2014/main" id="{1AC00E83-5F5B-4B01-80BE-6EFC4458D4AE}"/>
              </a:ext>
            </a:extLst>
          </p:cNvPr>
          <p:cNvSpPr/>
          <p:nvPr/>
        </p:nvSpPr>
        <p:spPr>
          <a:xfrm>
            <a:off x="7104514" y="2564904"/>
            <a:ext cx="720000" cy="720080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="" xmlns:a16="http://schemas.microsoft.com/office/drawing/2014/main" id="{7151E32B-67A3-47C1-9D9D-08D6B1460613}"/>
              </a:ext>
            </a:extLst>
          </p:cNvPr>
          <p:cNvSpPr/>
          <p:nvPr/>
        </p:nvSpPr>
        <p:spPr>
          <a:xfrm>
            <a:off x="7104434" y="4653136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E0D01CC-8B9B-4C21-AC36-EF8ABB42013B}"/>
              </a:ext>
            </a:extLst>
          </p:cNvPr>
          <p:cNvSpPr txBox="1"/>
          <p:nvPr/>
        </p:nvSpPr>
        <p:spPr>
          <a:xfrm>
            <a:off x="5808370" y="4859288"/>
            <a:ext cx="129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координатор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184554" y="4797152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184554" y="4797152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184554" y="5167064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="" xmlns:a16="http://schemas.microsoft.com/office/drawing/2014/main" id="{E79803D1-05EC-4394-860C-94439110145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7464434" y="3284984"/>
            <a:ext cx="80" cy="1368152"/>
          </a:xfrm>
          <a:prstGeom prst="line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2485743-ADEB-49AD-A5E3-B6E7FC424E5D}"/>
              </a:ext>
            </a:extLst>
          </p:cNvPr>
          <p:cNvSpPr txBox="1"/>
          <p:nvPr/>
        </p:nvSpPr>
        <p:spPr>
          <a:xfrm>
            <a:off x="6600378" y="3688992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permit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6BC112E-F90B-4E32-887E-86B4EC1444EF}"/>
              </a:ext>
            </a:extLst>
          </p:cNvPr>
          <p:cNvSpPr txBox="1"/>
          <p:nvPr/>
        </p:nvSpPr>
        <p:spPr>
          <a:xfrm>
            <a:off x="8220475" y="4824017"/>
            <a:ext cx="576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hteck 36">
            <a:extLst>
              <a:ext uri="{FF2B5EF4-FFF2-40B4-BE49-F238E27FC236}">
                <a16:creationId xmlns="" xmlns:a16="http://schemas.microsoft.com/office/drawing/2014/main" id="{4AE25901-8486-4A0F-9291-57AE96C3A13A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343C68DD-1BE7-4F6E-AC37-660A8A3B2ED1}"/>
              </a:ext>
            </a:extLst>
          </p:cNvPr>
          <p:cNvSpPr txBox="1"/>
          <p:nvPr/>
        </p:nvSpPr>
        <p:spPr>
          <a:xfrm>
            <a:off x="4223792" y="1700809"/>
            <a:ext cx="640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Централизованный алгоритм</a:t>
            </a:r>
          </a:p>
        </p:txBody>
      </p:sp>
      <p:sp>
        <p:nvSpPr>
          <p:cNvPr id="20" name="_h1">
            <a:extLst>
              <a:ext uri="{FF2B5EF4-FFF2-40B4-BE49-F238E27FC236}">
                <a16:creationId xmlns="" xmlns:a16="http://schemas.microsoft.com/office/drawing/2014/main" id="{172A76FD-F231-46C0-8CFE-49A144F4DFF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1315817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324" y="2264792"/>
            <a:ext cx="8496300" cy="4260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2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2323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5EB20370-F81D-4F79-9BCA-319F8D23F303}"/>
              </a:ext>
            </a:extLst>
          </p:cNvPr>
          <p:cNvSpPr/>
          <p:nvPr/>
        </p:nvSpPr>
        <p:spPr>
          <a:xfrm>
            <a:off x="88327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="" xmlns:a16="http://schemas.microsoft.com/office/drawing/2014/main" id="{1AC00E83-5F5B-4B01-80BE-6EFC4458D4AE}"/>
              </a:ext>
            </a:extLst>
          </p:cNvPr>
          <p:cNvSpPr/>
          <p:nvPr/>
        </p:nvSpPr>
        <p:spPr>
          <a:xfrm>
            <a:off x="7104514" y="2564904"/>
            <a:ext cx="720000" cy="72008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="" xmlns:a16="http://schemas.microsoft.com/office/drawing/2014/main" id="{7151E32B-67A3-47C1-9D9D-08D6B1460613}"/>
              </a:ext>
            </a:extLst>
          </p:cNvPr>
          <p:cNvSpPr/>
          <p:nvPr/>
        </p:nvSpPr>
        <p:spPr>
          <a:xfrm>
            <a:off x="7104434" y="4653136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E0D01CC-8B9B-4C21-AC36-EF8ABB42013B}"/>
              </a:ext>
            </a:extLst>
          </p:cNvPr>
          <p:cNvSpPr txBox="1"/>
          <p:nvPr/>
        </p:nvSpPr>
        <p:spPr>
          <a:xfrm>
            <a:off x="5808370" y="4859288"/>
            <a:ext cx="129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координатор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184554" y="4797152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184554" y="4797152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184554" y="5167064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6BC112E-F90B-4E32-887E-86B4EC1444EF}"/>
              </a:ext>
            </a:extLst>
          </p:cNvPr>
          <p:cNvSpPr txBox="1"/>
          <p:nvPr/>
        </p:nvSpPr>
        <p:spPr>
          <a:xfrm>
            <a:off x="8220475" y="4824017"/>
            <a:ext cx="576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="" xmlns:a16="http://schemas.microsoft.com/office/drawing/2014/main" id="{BB87BF6D-A3A8-4642-9E5F-48D6E7F4F0D8}"/>
              </a:ext>
            </a:extLst>
          </p:cNvPr>
          <p:cNvSpPr/>
          <p:nvPr/>
        </p:nvSpPr>
        <p:spPr>
          <a:xfrm>
            <a:off x="8832626" y="2564904"/>
            <a:ext cx="720000" cy="720080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2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="" xmlns:a16="http://schemas.microsoft.com/office/drawing/2014/main" id="{34690B80-D394-4758-90CF-91DC3704E763}"/>
              </a:ext>
            </a:extLst>
          </p:cNvPr>
          <p:cNvCxnSpPr>
            <a:cxnSpLocks/>
            <a:stCxn id="18" idx="3"/>
            <a:endCxn id="11" idx="7"/>
          </p:cNvCxnSpPr>
          <p:nvPr/>
        </p:nvCxnSpPr>
        <p:spPr>
          <a:xfrm flipH="1">
            <a:off x="7718992" y="3179531"/>
            <a:ext cx="1219076" cy="157905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71625B0-98F0-4332-A85C-4DA880A14DD4}"/>
              </a:ext>
            </a:extLst>
          </p:cNvPr>
          <p:cNvSpPr txBox="1"/>
          <p:nvPr/>
        </p:nvSpPr>
        <p:spPr>
          <a:xfrm>
            <a:off x="8760618" y="3697288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281F2618-7AD1-4359-91BB-561400CCC196}"/>
              </a:ext>
            </a:extLst>
          </p:cNvPr>
          <p:cNvSpPr txBox="1"/>
          <p:nvPr/>
        </p:nvSpPr>
        <p:spPr>
          <a:xfrm>
            <a:off x="8220475" y="4797153"/>
            <a:ext cx="576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hteck 36">
            <a:extLst>
              <a:ext uri="{FF2B5EF4-FFF2-40B4-BE49-F238E27FC236}">
                <a16:creationId xmlns="" xmlns:a16="http://schemas.microsoft.com/office/drawing/2014/main" id="{41F8BD67-D236-45FC-BEA4-7795494224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608CBAEE-DCF8-478D-9064-D80CC776FA43}"/>
              </a:ext>
            </a:extLst>
          </p:cNvPr>
          <p:cNvSpPr txBox="1"/>
          <p:nvPr/>
        </p:nvSpPr>
        <p:spPr>
          <a:xfrm>
            <a:off x="4223792" y="1700809"/>
            <a:ext cx="640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Централизованный алгоритм</a:t>
            </a:r>
          </a:p>
        </p:txBody>
      </p:sp>
      <p:sp>
        <p:nvSpPr>
          <p:cNvPr id="22" name="_h1">
            <a:extLst>
              <a:ext uri="{FF2B5EF4-FFF2-40B4-BE49-F238E27FC236}">
                <a16:creationId xmlns="" xmlns:a16="http://schemas.microsoft.com/office/drawing/2014/main" id="{DEC3CF1B-D827-420D-9074-BEC6B85AE15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3298547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 animBg="1"/>
      <p:bldP spid="23" grpId="0"/>
      <p:bldP spid="23" grpId="1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324" y="2264792"/>
            <a:ext cx="8496300" cy="4260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2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2323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5EB20370-F81D-4F79-9BCA-319F8D23F303}"/>
              </a:ext>
            </a:extLst>
          </p:cNvPr>
          <p:cNvSpPr/>
          <p:nvPr/>
        </p:nvSpPr>
        <p:spPr>
          <a:xfrm>
            <a:off x="88327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="" xmlns:a16="http://schemas.microsoft.com/office/drawing/2014/main" id="{1AC00E83-5F5B-4B01-80BE-6EFC4458D4AE}"/>
              </a:ext>
            </a:extLst>
          </p:cNvPr>
          <p:cNvSpPr/>
          <p:nvPr/>
        </p:nvSpPr>
        <p:spPr>
          <a:xfrm>
            <a:off x="7104514" y="2564904"/>
            <a:ext cx="720000" cy="72008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="" xmlns:a16="http://schemas.microsoft.com/office/drawing/2014/main" id="{7151E32B-67A3-47C1-9D9D-08D6B1460613}"/>
              </a:ext>
            </a:extLst>
          </p:cNvPr>
          <p:cNvSpPr/>
          <p:nvPr/>
        </p:nvSpPr>
        <p:spPr>
          <a:xfrm>
            <a:off x="7104434" y="4653136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E0D01CC-8B9B-4C21-AC36-EF8ABB42013B}"/>
              </a:ext>
            </a:extLst>
          </p:cNvPr>
          <p:cNvSpPr txBox="1"/>
          <p:nvPr/>
        </p:nvSpPr>
        <p:spPr>
          <a:xfrm>
            <a:off x="5808370" y="4859288"/>
            <a:ext cx="129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координатор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184554" y="4797152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184554" y="4797152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184554" y="5167064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6BC112E-F90B-4E32-887E-86B4EC1444EF}"/>
              </a:ext>
            </a:extLst>
          </p:cNvPr>
          <p:cNvSpPr txBox="1"/>
          <p:nvPr/>
        </p:nvSpPr>
        <p:spPr>
          <a:xfrm>
            <a:off x="8220475" y="4824017"/>
            <a:ext cx="576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="" xmlns:a16="http://schemas.microsoft.com/office/drawing/2014/main" id="{BB87BF6D-A3A8-4642-9E5F-48D6E7F4F0D8}"/>
              </a:ext>
            </a:extLst>
          </p:cNvPr>
          <p:cNvSpPr/>
          <p:nvPr/>
        </p:nvSpPr>
        <p:spPr>
          <a:xfrm>
            <a:off x="8832626" y="2564904"/>
            <a:ext cx="720000" cy="720080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2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="" xmlns:a16="http://schemas.microsoft.com/office/drawing/2014/main" id="{34690B80-D394-4758-90CF-91DC3704E763}"/>
              </a:ext>
            </a:extLst>
          </p:cNvPr>
          <p:cNvCxnSpPr>
            <a:cxnSpLocks/>
            <a:stCxn id="18" idx="3"/>
            <a:endCxn id="11" idx="7"/>
          </p:cNvCxnSpPr>
          <p:nvPr/>
        </p:nvCxnSpPr>
        <p:spPr>
          <a:xfrm flipH="1">
            <a:off x="7718992" y="3179531"/>
            <a:ext cx="1219076" cy="1579058"/>
          </a:xfrm>
          <a:prstGeom prst="line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71625B0-98F0-4332-A85C-4DA880A14DD4}"/>
              </a:ext>
            </a:extLst>
          </p:cNvPr>
          <p:cNvSpPr txBox="1"/>
          <p:nvPr/>
        </p:nvSpPr>
        <p:spPr>
          <a:xfrm>
            <a:off x="8760618" y="3697288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permit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281F2618-7AD1-4359-91BB-561400CCC196}"/>
              </a:ext>
            </a:extLst>
          </p:cNvPr>
          <p:cNvSpPr txBox="1"/>
          <p:nvPr/>
        </p:nvSpPr>
        <p:spPr>
          <a:xfrm>
            <a:off x="8220475" y="4824017"/>
            <a:ext cx="576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="" xmlns:a16="http://schemas.microsoft.com/office/drawing/2014/main" id="{F924FF5D-102B-4880-B151-327EA115C523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7464434" y="3284984"/>
            <a:ext cx="80" cy="1368152"/>
          </a:xfrm>
          <a:prstGeom prst="line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80EDA3E-4C55-432F-A12D-29FF42BD6C23}"/>
              </a:ext>
            </a:extLst>
          </p:cNvPr>
          <p:cNvSpPr txBox="1"/>
          <p:nvPr/>
        </p:nvSpPr>
        <p:spPr>
          <a:xfrm>
            <a:off x="6583641" y="3678187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release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Овал 21">
            <a:extLst>
              <a:ext uri="{FF2B5EF4-FFF2-40B4-BE49-F238E27FC236}">
                <a16:creationId xmlns="" xmlns:a16="http://schemas.microsoft.com/office/drawing/2014/main" id="{02B71915-83FA-4A4C-855D-9F0694CAE880}"/>
              </a:ext>
            </a:extLst>
          </p:cNvPr>
          <p:cNvSpPr/>
          <p:nvPr/>
        </p:nvSpPr>
        <p:spPr>
          <a:xfrm>
            <a:off x="7104434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5" name="Rechteck 36">
            <a:extLst>
              <a:ext uri="{FF2B5EF4-FFF2-40B4-BE49-F238E27FC236}">
                <a16:creationId xmlns="" xmlns:a16="http://schemas.microsoft.com/office/drawing/2014/main" id="{8B72DEB4-4F81-45F1-A828-3FC2DB11BB7A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C6BFAF02-1D7E-4B42-8265-BA2651EA53A3}"/>
              </a:ext>
            </a:extLst>
          </p:cNvPr>
          <p:cNvSpPr txBox="1"/>
          <p:nvPr/>
        </p:nvSpPr>
        <p:spPr>
          <a:xfrm>
            <a:off x="4223792" y="1700809"/>
            <a:ext cx="640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Централизованный алгоритм</a:t>
            </a:r>
          </a:p>
        </p:txBody>
      </p:sp>
      <p:sp>
        <p:nvSpPr>
          <p:cNvPr id="27" name="_h1">
            <a:extLst>
              <a:ext uri="{FF2B5EF4-FFF2-40B4-BE49-F238E27FC236}">
                <a16:creationId xmlns="" xmlns:a16="http://schemas.microsoft.com/office/drawing/2014/main" id="{829BCBBA-24F0-4425-A298-BC096FEE00C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3272600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  <p:bldP spid="23" grpId="0"/>
      <p:bldP spid="24" grpId="0"/>
      <p:bldP spid="21" grpId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324" y="2264792"/>
            <a:ext cx="8496300" cy="4260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2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2323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5EB20370-F81D-4F79-9BCA-319F8D23F303}"/>
              </a:ext>
            </a:extLst>
          </p:cNvPr>
          <p:cNvSpPr/>
          <p:nvPr/>
        </p:nvSpPr>
        <p:spPr>
          <a:xfrm>
            <a:off x="883270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="" xmlns:a16="http://schemas.microsoft.com/office/drawing/2014/main" id="{1AC00E83-5F5B-4B01-80BE-6EFC4458D4AE}"/>
              </a:ext>
            </a:extLst>
          </p:cNvPr>
          <p:cNvSpPr/>
          <p:nvPr/>
        </p:nvSpPr>
        <p:spPr>
          <a:xfrm>
            <a:off x="7104514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="" xmlns:a16="http://schemas.microsoft.com/office/drawing/2014/main" id="{7151E32B-67A3-47C1-9D9D-08D6B1460613}"/>
              </a:ext>
            </a:extLst>
          </p:cNvPr>
          <p:cNvSpPr/>
          <p:nvPr/>
        </p:nvSpPr>
        <p:spPr>
          <a:xfrm>
            <a:off x="7104434" y="4653136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E0D01CC-8B9B-4C21-AC36-EF8ABB42013B}"/>
              </a:ext>
            </a:extLst>
          </p:cNvPr>
          <p:cNvSpPr txBox="1"/>
          <p:nvPr/>
        </p:nvSpPr>
        <p:spPr>
          <a:xfrm>
            <a:off x="5808370" y="4859288"/>
            <a:ext cx="129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координатор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184554" y="4797152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184554" y="4797152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184554" y="5167064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6BC112E-F90B-4E32-887E-86B4EC1444EF}"/>
              </a:ext>
            </a:extLst>
          </p:cNvPr>
          <p:cNvSpPr txBox="1"/>
          <p:nvPr/>
        </p:nvSpPr>
        <p:spPr>
          <a:xfrm>
            <a:off x="8220475" y="4824017"/>
            <a:ext cx="576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="" xmlns:a16="http://schemas.microsoft.com/office/drawing/2014/main" id="{BB87BF6D-A3A8-4642-9E5F-48D6E7F4F0D8}"/>
              </a:ext>
            </a:extLst>
          </p:cNvPr>
          <p:cNvSpPr/>
          <p:nvPr/>
        </p:nvSpPr>
        <p:spPr>
          <a:xfrm>
            <a:off x="8832626" y="2564904"/>
            <a:ext cx="720000" cy="72008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2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="" xmlns:a16="http://schemas.microsoft.com/office/drawing/2014/main" id="{34690B80-D394-4758-90CF-91DC3704E763}"/>
              </a:ext>
            </a:extLst>
          </p:cNvPr>
          <p:cNvCxnSpPr>
            <a:cxnSpLocks/>
            <a:stCxn id="18" idx="3"/>
            <a:endCxn id="11" idx="7"/>
          </p:cNvCxnSpPr>
          <p:nvPr/>
        </p:nvCxnSpPr>
        <p:spPr>
          <a:xfrm flipH="1">
            <a:off x="7718992" y="3179531"/>
            <a:ext cx="1219076" cy="157905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71625B0-98F0-4332-A85C-4DA880A14DD4}"/>
              </a:ext>
            </a:extLst>
          </p:cNvPr>
          <p:cNvSpPr txBox="1"/>
          <p:nvPr/>
        </p:nvSpPr>
        <p:spPr>
          <a:xfrm>
            <a:off x="8760618" y="3697288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release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="" xmlns:a16="http://schemas.microsoft.com/office/drawing/2014/main" id="{B76EFD67-EC32-48AA-BB77-3B153A235B25}"/>
              </a:ext>
            </a:extLst>
          </p:cNvPr>
          <p:cNvSpPr/>
          <p:nvPr/>
        </p:nvSpPr>
        <p:spPr>
          <a:xfrm>
            <a:off x="8832626" y="2564904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20" name="Rechteck 36">
            <a:extLst>
              <a:ext uri="{FF2B5EF4-FFF2-40B4-BE49-F238E27FC236}">
                <a16:creationId xmlns="" xmlns:a16="http://schemas.microsoft.com/office/drawing/2014/main" id="{2D0242FE-7E63-430B-9308-0B20FB8B098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E27A0C99-AC7B-44D5-A410-5AB50B3B7A75}"/>
              </a:ext>
            </a:extLst>
          </p:cNvPr>
          <p:cNvSpPr txBox="1"/>
          <p:nvPr/>
        </p:nvSpPr>
        <p:spPr>
          <a:xfrm>
            <a:off x="4223792" y="1700809"/>
            <a:ext cx="640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Централизованный алгоритм</a:t>
            </a:r>
          </a:p>
        </p:txBody>
      </p:sp>
      <p:sp>
        <p:nvSpPr>
          <p:cNvPr id="22" name="_h1">
            <a:extLst>
              <a:ext uri="{FF2B5EF4-FFF2-40B4-BE49-F238E27FC236}">
                <a16:creationId xmlns="" xmlns:a16="http://schemas.microsoft.com/office/drawing/2014/main" id="{526F2927-00D1-47EA-8AD3-7CB6F888868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1257726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 animBg="1"/>
      <p:bldP spid="23" grpId="0"/>
      <p:bldP spid="23" grpId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64791"/>
            <a:ext cx="8928992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предположения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DE27249-3E85-4DB4-A823-DEF0B164551B}"/>
              </a:ext>
            </a:extLst>
          </p:cNvPr>
          <p:cNvSpPr txBox="1"/>
          <p:nvPr/>
        </p:nvSpPr>
        <p:spPr>
          <a:xfrm>
            <a:off x="3034800" y="2996952"/>
            <a:ext cx="8892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Tx/>
              <a:buAutoNum type="arabicPeriod"/>
            </a:pP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Процессы распределенной программы работают бесконечно долго.</a:t>
            </a: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Топология распределенной программы является </a:t>
            </a:r>
            <a:r>
              <a:rPr lang="ru-RU" sz="2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полносвязной</a:t>
            </a: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spcAft>
                <a:spcPts val="1200"/>
              </a:spcAft>
              <a:buFontTx/>
              <a:buAutoNum type="arabicPeriod"/>
            </a:pP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Каналы связи обладают свойством </a:t>
            </a: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FIFO.</a:t>
            </a:r>
          </a:p>
          <a:p>
            <a:pPr marL="457200" indent="-457200">
              <a:spcAft>
                <a:spcPts val="600"/>
              </a:spcAft>
              <a:buFontTx/>
              <a:buAutoNum type="arabicPeriod"/>
            </a:pP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распределенной программе реализованы логические часы </a:t>
            </a:r>
            <a:r>
              <a:rPr lang="ru-RU" sz="2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1741866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64791"/>
            <a:ext cx="8928992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предположения 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1DE27249-3E85-4DB4-A823-DEF0B164551B}"/>
                  </a:ext>
                </a:extLst>
              </p:cNvPr>
              <p:cNvSpPr txBox="1"/>
              <p:nvPr/>
            </p:nvSpPr>
            <p:spPr>
              <a:xfrm>
                <a:off x="3034800" y="2997240"/>
                <a:ext cx="8892000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Tx/>
                  <a:buAutoNum type="arabicPeriod" startAt="5"/>
                </a:pP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События упорядочены по временным отметкам – упорядоченным парам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20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200" i="1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  <m:r>
                              <a:rPr lang="en-US" sz="2200" i="1" baseline="-25000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sz="2200" i="1" baseline="30000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</m:e>
                        </m:d>
                        <m:r>
                          <a:rPr lang="en-US" sz="2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200" i="1" dirty="0" err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d>
                      <m:dPr>
                        <m:ctrlPr>
                          <a:rPr lang="en-US" sz="2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2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  <m:r>
                          <a:rPr lang="en-US" sz="2200" i="1" baseline="-25000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sz="2200" i="1" baseline="30000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время </a:t>
                </a:r>
                <a:r>
                  <a:rPr lang="ru-RU" sz="2200" dirty="0" err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Лэмпорта</a:t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для события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sz="2200" i="1" baseline="-25000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200" i="1" baseline="30000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/>
                </a:r>
                <a:r>
                  <a:rPr lang="en-US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– </a:t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номер процесса, </a:t>
                </a:r>
                <a:r>
                  <a:rPr lang="en-US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/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а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</a:t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номер события в этом процессе. Порядок вводится лексикографически.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DE27249-3E85-4DB4-A823-DEF0B1645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800" y="2997240"/>
                <a:ext cx="8892000" cy="1785104"/>
              </a:xfrm>
              <a:prstGeom prst="rect">
                <a:avLst/>
              </a:prstGeom>
              <a:blipFill rotWithShape="0">
                <a:blip r:embed="rId3"/>
                <a:stretch>
                  <a:fillRect l="-823" t="-20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2421264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8800" y="1778399"/>
            <a:ext cx="8872824" cy="48414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Скалярное время Лэмпорта - свойства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Линейное упорядочивание событий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6462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36628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40863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300804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372632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444640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780088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572176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04024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184232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856048" y="3053428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296208" y="3053428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26176" y="3069244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636456" y="3773428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60496" y="25649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3792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23792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190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0056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9214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11824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7928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51984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76320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40416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71864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2104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68208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72264" y="451841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984248" y="3245400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6" name="Прямоугольник 95"/>
          <p:cNvSpPr/>
          <p:nvPr/>
        </p:nvSpPr>
        <p:spPr>
          <a:xfrm>
            <a:off x="6440224" y="3294276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7" name="Прямоугольник 96"/>
          <p:cNvSpPr/>
          <p:nvPr/>
        </p:nvSpPr>
        <p:spPr>
          <a:xfrm>
            <a:off x="7808376" y="3654316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8" name="Прямоугольник 97"/>
          <p:cNvSpPr/>
          <p:nvPr/>
        </p:nvSpPr>
        <p:spPr>
          <a:xfrm>
            <a:off x="8816488" y="3942348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57" name="_h1">
            <a:extLst>
              <a:ext uri="{FF2B5EF4-FFF2-40B4-BE49-F238E27FC236}">
                <a16:creationId xmlns="" xmlns:a16="http://schemas.microsoft.com/office/drawing/2014/main" id="{37119DE9-A12C-41CC-97D0-8451C6B9C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</p:spTree>
    <p:extLst>
      <p:ext uri="{BB962C8B-B14F-4D97-AF65-F5344CB8AC3E}">
        <p14:creationId xmlns:p14="http://schemas.microsoft.com/office/powerpoint/2010/main" xmlns="" val="2036502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2998800" y="1778400"/>
            <a:ext cx="8872824" cy="48414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16002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Скалярное время Лэмпорта - свойства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7688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Линейное упорядочивание событий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3712" y="26462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3712" y="336628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3712" y="40863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3935760" y="300804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3935760" y="372632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3935760" y="444640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3935760" y="5166484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03824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75920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780088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572176" y="296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763864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27960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04024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192368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092456" y="368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176120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184232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544272" y="440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856048" y="3053428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296208" y="3053428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26176" y="3069244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636456" y="3773428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60496" y="25649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3792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23792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190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00056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92144" y="264620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11824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7928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51984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76320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40416" y="336628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71864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2104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68208" y="44986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72264" y="451841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45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81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06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430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682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25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6834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7230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26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23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598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246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146152" y="288924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223792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83832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43872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31904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19936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23992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00056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32104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64152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68208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00256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48328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12424" y="523849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83" name="Овал 82"/>
          <p:cNvSpPr/>
          <p:nvPr/>
        </p:nvSpPr>
        <p:spPr>
          <a:xfrm>
            <a:off x="4403824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763864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051896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5375920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627960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204024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6780088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7176120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572176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184232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544272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192344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092456" y="512124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96" name="Прямоугольник 95"/>
          <p:cNvSpPr/>
          <p:nvPr/>
        </p:nvSpPr>
        <p:spPr>
          <a:xfrm>
            <a:off x="4984248" y="3245400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7" name="Прямоугольник 96"/>
          <p:cNvSpPr/>
          <p:nvPr/>
        </p:nvSpPr>
        <p:spPr>
          <a:xfrm>
            <a:off x="6440224" y="3294276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8" name="Прямоугольник 97"/>
          <p:cNvSpPr/>
          <p:nvPr/>
        </p:nvSpPr>
        <p:spPr>
          <a:xfrm>
            <a:off x="7808376" y="3654316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9" name="Прямоугольник 98"/>
          <p:cNvSpPr/>
          <p:nvPr/>
        </p:nvSpPr>
        <p:spPr>
          <a:xfrm>
            <a:off x="8816488" y="3942348"/>
            <a:ext cx="231840" cy="2160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01" name="_h1">
            <a:extLst>
              <a:ext uri="{FF2B5EF4-FFF2-40B4-BE49-F238E27FC236}">
                <a16:creationId xmlns="" xmlns:a16="http://schemas.microsoft.com/office/drawing/2014/main" id="{3B93B19A-4EA5-409C-BA42-5D36B1F9FE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43994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 </a:t>
            </a:r>
          </a:p>
        </p:txBody>
      </p:sp>
    </p:spTree>
    <p:extLst>
      <p:ext uri="{BB962C8B-B14F-4D97-AF65-F5344CB8AC3E}">
        <p14:creationId xmlns:p14="http://schemas.microsoft.com/office/powerpoint/2010/main" xmlns="" val="627154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64791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предположения 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1DE27249-3E85-4DB4-A823-DEF0B164551B}"/>
                  </a:ext>
                </a:extLst>
              </p:cNvPr>
              <p:cNvSpPr txBox="1"/>
              <p:nvPr/>
            </p:nvSpPr>
            <p:spPr>
              <a:xfrm>
                <a:off x="3034800" y="2997240"/>
                <a:ext cx="8856000" cy="2200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Tx/>
                  <a:buAutoNum type="arabicPeriod" startAt="5"/>
                </a:pP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События упорядочены по временным отметкам – упорядоченным парам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20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200" i="1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  <m:r>
                              <a:rPr lang="en-US" sz="2200" i="1" baseline="-25000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sz="2200" i="1" baseline="30000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</m:e>
                        </m:d>
                        <m:r>
                          <a:rPr lang="en-US" sz="2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200" i="1" dirty="0" err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d>
                      <m:dPr>
                        <m:ctrlPr>
                          <a:rPr lang="en-US" sz="2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2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  <m:r>
                          <a:rPr lang="en-US" sz="2200" i="1" baseline="-25000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sz="2200" i="1" baseline="30000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время </a:t>
                </a:r>
                <a:r>
                  <a:rPr lang="ru-RU" sz="2200" dirty="0" err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Лэмпорта</a:t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для события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sz="2200" i="1" baseline="-25000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200" i="1" baseline="30000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/>
                </a:r>
                <a:r>
                  <a:rPr lang="en-US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– </a:t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номер процесса, </a:t>
                </a:r>
                <a:r>
                  <a:rPr lang="en-US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/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а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</a:t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номер события в этом процессе. Порядок вводится лексикографически.</a:t>
                </a:r>
              </a:p>
              <a:p>
                <a:pPr marL="457200" indent="-457200">
                  <a:spcAft>
                    <a:spcPts val="600"/>
                  </a:spcAft>
                  <a:buFontTx/>
                  <a:buAutoNum type="arabicPeriod" startAt="5"/>
                </a:pP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Массовая рассылка </a:t>
                </a:r>
                <a:r>
                  <a:rPr lang="ru-RU" sz="220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сообщения считается </a:t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единичным атомарным событием.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1DE27249-3E85-4DB4-A823-DEF0B1645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800" y="2997240"/>
                <a:ext cx="8856000" cy="2200602"/>
              </a:xfrm>
              <a:prstGeom prst="rect">
                <a:avLst/>
              </a:prstGeom>
              <a:blipFill rotWithShape="0">
                <a:blip r:embed="rId3"/>
                <a:stretch>
                  <a:fillRect l="-826" t="-1662" b="-47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15616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64791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Идея алгоритма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DE27249-3E85-4DB4-A823-DEF0B164551B}"/>
              </a:ext>
            </a:extLst>
          </p:cNvPr>
          <p:cNvSpPr txBox="1"/>
          <p:nvPr/>
        </p:nvSpPr>
        <p:spPr>
          <a:xfrm>
            <a:off x="3034800" y="2997240"/>
            <a:ext cx="88560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реализует прохождение критических секций процессами в порядке возрастания временных отметок запросов на вход в критические секции.</a:t>
            </a:r>
          </a:p>
          <a:p>
            <a:pPr marL="457200" indent="-457200">
              <a:spcAft>
                <a:spcPts val="600"/>
              </a:spcAft>
              <a:buFontTx/>
              <a:buAutoNum type="arabicPeriod"/>
            </a:pP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этого у каждого </a:t>
            </a:r>
            <a:r>
              <a:rPr lang="ru-RU" sz="2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процесса </a:t>
            </a: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создается локальная очередь запросов, упорядоченная по временным отметкам.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2466169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64791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Пролог. Запрос на вход 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1DE27249-3E85-4DB4-A823-DEF0B164551B}"/>
                  </a:ext>
                </a:extLst>
              </p:cNvPr>
              <p:cNvSpPr txBox="1"/>
              <p:nvPr/>
            </p:nvSpPr>
            <p:spPr>
              <a:xfrm>
                <a:off x="3034800" y="2997240"/>
                <a:ext cx="8856000" cy="28777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Когда процесс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2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хочет войти в свою критическую секцию, он рассылает всем остальным процессам сообщение </a:t>
                </a:r>
                <a:r>
                  <a:rPr lang="en-US" sz="22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request(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𝑡𝑠</m:t>
                    </m:r>
                    <m:r>
                      <a:rPr lang="en-US" sz="2200" i="1" baseline="-25000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sz="22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𝑡𝑠</m:t>
                    </m:r>
                    <m:r>
                      <a:rPr lang="en-US" sz="2200" i="1" baseline="-25000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ru-RU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– временная отметка события отсылки сообщения, и помещает свой запрос в свою локальную очередь запросов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𝑞</m:t>
                    </m:r>
                    <m:r>
                      <a:rPr lang="en-US" sz="2200" i="1" baseline="-2500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ru-RU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spcAft>
                    <a:spcPts val="600"/>
                  </a:spcAft>
                  <a:buFontTx/>
                  <a:buAutoNum type="arabicPeriod"/>
                </a:pP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Когда процесс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200" b="0" i="1" baseline="-250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/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получает сообщение </a:t>
                </a:r>
                <a:r>
                  <a:rPr lang="en-US" sz="22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request(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𝑡𝑠</m:t>
                    </m:r>
                    <m:r>
                      <a:rPr lang="en-US" sz="2200" i="1" baseline="-25000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sz="22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ru-RU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от процесса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2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он помещает этот запрос в свою локальную очередь запросов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𝑞</m:t>
                    </m:r>
                    <m:r>
                      <a:rPr lang="en-US" sz="2200" b="0" i="1" baseline="-2500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ru-RU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и отправляет сообщение </a:t>
                </a:r>
                <a:r>
                  <a:rPr lang="en-US" sz="22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reply(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𝑡𝑠</m:t>
                    </m:r>
                    <m:r>
                      <a:rPr lang="en-US" sz="2200" b="0" i="1" baseline="-2500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en-US" sz="22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ru-RU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процессу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2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ru-RU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𝑡𝑠</m:t>
                    </m:r>
                    <m:r>
                      <a:rPr lang="en-US" sz="22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ru-RU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- временная отметка события отправки  этого сообщения</a:t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DE27249-3E85-4DB4-A823-DEF0B1645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800" y="2997240"/>
                <a:ext cx="8856000" cy="2877711"/>
              </a:xfrm>
              <a:prstGeom prst="rect">
                <a:avLst/>
              </a:prstGeom>
              <a:blipFill rotWithShape="0">
                <a:blip r:embed="rId3"/>
                <a:stretch>
                  <a:fillRect l="-826" t="-1271" r="-1652" b="-33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2384338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64791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Пролог. Вход в КС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1DE27249-3E85-4DB4-A823-DEF0B164551B}"/>
                  </a:ext>
                </a:extLst>
              </p:cNvPr>
              <p:cNvSpPr txBox="1"/>
              <p:nvPr/>
            </p:nvSpPr>
            <p:spPr>
              <a:xfrm>
                <a:off x="3034800" y="2997240"/>
                <a:ext cx="8856000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Процесс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2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/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может войти в свою критическую секцию, только при соблюдении двух условий:</a:t>
                </a:r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Он получил от всех процессов хотя бы по одному сообщению с временными отметками большими, чем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𝑡𝑠</m:t>
                    </m:r>
                    <m:r>
                      <a:rPr lang="en-US" sz="2200" i="1" baseline="-25000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ru-RU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spcAft>
                    <a:spcPts val="600"/>
                  </a:spcAft>
                  <a:buFontTx/>
                  <a:buAutoNum type="arabicPeriod"/>
                </a:pP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Его запрос на вход в критическую секцию с временной отметкой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𝑡𝑠</m:t>
                    </m:r>
                    <m:r>
                      <a:rPr lang="en-US" sz="2200" i="1" baseline="-25000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200" i="1" baseline="-25000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находится в голове его локальной очереди запросов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𝑞</m:t>
                    </m:r>
                    <m:r>
                      <a:rPr lang="en-US" sz="2200" i="1" baseline="-25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DE27249-3E85-4DB4-A823-DEF0B1645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800" y="2997240"/>
                <a:ext cx="8856000" cy="2616101"/>
              </a:xfrm>
              <a:prstGeom prst="rect">
                <a:avLst/>
              </a:prstGeom>
              <a:blipFill rotWithShape="0">
                <a:blip r:embed="rId3"/>
                <a:stretch>
                  <a:fillRect l="-895" t="-1399" b="-39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2633139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64791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Эпилог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1DE27249-3E85-4DB4-A823-DEF0B164551B}"/>
                  </a:ext>
                </a:extLst>
              </p:cNvPr>
              <p:cNvSpPr txBox="1"/>
              <p:nvPr/>
            </p:nvSpPr>
            <p:spPr>
              <a:xfrm>
                <a:off x="3034800" y="2997240"/>
                <a:ext cx="8856000" cy="2539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После выхода из критической секции процесс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2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удаляет свой запрос из локальной очереди запросов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𝑞</m:t>
                    </m:r>
                    <m:r>
                      <a:rPr lang="en-US" sz="2200" i="1" baseline="-25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и отправляет всем остальным процессам сообщение </a:t>
                </a:r>
                <a:r>
                  <a:rPr lang="en-US" sz="22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release(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𝑡𝑠</m:t>
                    </m:r>
                    <m:r>
                      <a:rPr lang="en-US" sz="2200" i="1" baseline="-25000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sz="22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𝑡𝑠</m:t>
                    </m:r>
                    <m:r>
                      <a:rPr lang="en-US" sz="2200" i="1" baseline="-25000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ru-RU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– временная отметка события отсылки сообщения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ru-RU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spcAft>
                    <a:spcPts val="600"/>
                  </a:spcAft>
                  <a:buFontTx/>
                  <a:buAutoNum type="arabicPeriod"/>
                </a:pP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Когда процесс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2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/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получает сообщение </a:t>
                </a:r>
                <a:r>
                  <a:rPr lang="en-US" sz="22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release(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𝑡𝑠</m:t>
                    </m:r>
                    <m:r>
                      <a:rPr lang="en-US" sz="2200" i="1" baseline="-25000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sz="22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ru-RU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от процесса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2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он удаляет запрос </a:t>
                </a:r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процесса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2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2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ru-RU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из своей локальной очереди запросов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𝑞</m:t>
                    </m:r>
                    <m:r>
                      <a:rPr lang="en-US" sz="2200" i="1" baseline="-25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ru-RU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DE27249-3E85-4DB4-A823-DEF0B1645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800" y="2997240"/>
                <a:ext cx="8856000" cy="2539157"/>
              </a:xfrm>
              <a:prstGeom prst="rect">
                <a:avLst/>
              </a:prstGeom>
              <a:blipFill rotWithShape="0">
                <a:blip r:embed="rId3"/>
                <a:stretch>
                  <a:fillRect l="-826" t="-1442" r="-1032" b="-40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1973184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64791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/>
              <p:cNvSpPr txBox="1"/>
              <p:nvPr/>
            </p:nvSpPr>
            <p:spPr>
              <a:xfrm>
                <a:off x="5808047" y="2994374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047" y="2994374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5" name="TextBox 24"/>
              <p:cNvSpPr txBox="1"/>
              <p:nvPr/>
            </p:nvSpPr>
            <p:spPr>
              <a:xfrm>
                <a:off x="8526290" y="5651956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290" y="5651956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6" name="TextBox 25"/>
              <p:cNvSpPr txBox="1"/>
              <p:nvPr/>
            </p:nvSpPr>
            <p:spPr>
              <a:xfrm>
                <a:off x="5069906" y="5651956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906" y="5651956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4054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0CFF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0CFF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19" grpId="0" animBg="1"/>
      <p:bldP spid="5" grpId="0" animBg="1"/>
      <p:bldP spid="23" grpId="0" animBg="1"/>
      <p:bldP spid="24" grpId="0" animBg="1"/>
      <p:bldP spid="6" grpId="0" animBg="1"/>
      <p:bldP spid="25" grpId="0" animBg="1"/>
      <p:bldP spid="26" grpId="0" animBg="1"/>
      <p:bldP spid="27" grpId="0"/>
      <p:bldP spid="28" grpId="0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4864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solidFill>
            <a:srgbClr val="10CF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/>
              <p:cNvSpPr txBox="1"/>
              <p:nvPr/>
            </p:nvSpPr>
            <p:spPr>
              <a:xfrm>
                <a:off x="5808047" y="2994374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047" y="2994374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6" name="TextBox 25"/>
              <p:cNvSpPr txBox="1"/>
              <p:nvPr/>
            </p:nvSpPr>
            <p:spPr>
              <a:xfrm>
                <a:off x="5069906" y="5651956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906" y="5651956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Прямая со стрелкой 13"/>
          <p:cNvCxnSpPr>
            <a:stCxn id="19" idx="7"/>
            <a:endCxn id="15" idx="1"/>
          </p:cNvCxnSpPr>
          <p:nvPr/>
        </p:nvCxnSpPr>
        <p:spPr>
          <a:xfrm>
            <a:off x="5954514" y="4974613"/>
            <a:ext cx="29472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5" idx="3"/>
            <a:endCxn id="19" idx="5"/>
          </p:cNvCxnSpPr>
          <p:nvPr/>
        </p:nvCxnSpPr>
        <p:spPr>
          <a:xfrm flipH="1">
            <a:off x="5954514" y="5483787"/>
            <a:ext cx="29472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19" idx="0"/>
            <a:endCxn id="9" idx="3"/>
          </p:cNvCxnSpPr>
          <p:nvPr/>
        </p:nvCxnSpPr>
        <p:spPr>
          <a:xfrm flipV="1">
            <a:off x="569995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stCxn id="15" idx="0"/>
            <a:endCxn id="9" idx="5"/>
          </p:cNvCxnSpPr>
          <p:nvPr/>
        </p:nvCxnSpPr>
        <p:spPr>
          <a:xfrm flipH="1" flipV="1">
            <a:off x="768270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0" name="TextBox 39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1</a:t>
                </a:r>
                <a:endParaRPr lang="ru-RU" sz="2400" dirty="0"/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1" name="TextBox 40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1</a:t>
                </a:r>
                <a:endParaRPr lang="ru-RU" sz="2400" dirty="0"/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8544105" y="3990130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89749" y="5568452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12557" y="505498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89749" y="4471448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25443" y="4067124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485502" y="507051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422541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0" grpId="0" animBg="1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/>
              <p:cNvSpPr txBox="1"/>
              <p:nvPr/>
            </p:nvSpPr>
            <p:spPr>
              <a:xfrm>
                <a:off x="5808047" y="2994374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047" y="2994374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Прямая со стрелкой 13"/>
          <p:cNvCxnSpPr>
            <a:stCxn id="19" idx="7"/>
            <a:endCxn id="15" idx="1"/>
          </p:cNvCxnSpPr>
          <p:nvPr/>
        </p:nvCxnSpPr>
        <p:spPr>
          <a:xfrm>
            <a:off x="5954514" y="4974613"/>
            <a:ext cx="29472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5" idx="3"/>
            <a:endCxn id="19" idx="5"/>
          </p:cNvCxnSpPr>
          <p:nvPr/>
        </p:nvCxnSpPr>
        <p:spPr>
          <a:xfrm flipH="1">
            <a:off x="5954514" y="5483787"/>
            <a:ext cx="29472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19" idx="0"/>
            <a:endCxn id="9" idx="3"/>
          </p:cNvCxnSpPr>
          <p:nvPr/>
        </p:nvCxnSpPr>
        <p:spPr>
          <a:xfrm flipV="1">
            <a:off x="569995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stCxn id="15" idx="0"/>
            <a:endCxn id="9" idx="5"/>
          </p:cNvCxnSpPr>
          <p:nvPr/>
        </p:nvCxnSpPr>
        <p:spPr>
          <a:xfrm flipH="1" flipV="1">
            <a:off x="768270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0" name="TextBox 39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1</a:t>
                </a:r>
                <a:endParaRPr lang="ru-RU" sz="2400" dirty="0"/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8544105" y="3990130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89749" y="5568452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12557" y="505498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89749" y="4471448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25443" y="4067124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485502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8" name="TextBox 47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2</a:t>
                </a:r>
                <a:endParaRPr lang="ru-RU" sz="2400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10539581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0" name="TextBox 49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2</a:t>
                </a:r>
                <a:endParaRPr lang="ru-RU" sz="2400" dirty="0"/>
              </a:p>
            </p:txBody>
          </p:sp>
        </mc:Choice>
        <mc:Fallback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5910323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40" grpId="0" animBg="1"/>
      <p:bldP spid="43" grpId="0"/>
      <p:bldP spid="45" grpId="0"/>
      <p:bldP spid="47" grpId="0"/>
      <p:bldP spid="49" grpId="0"/>
      <p:bldP spid="5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/>
              <p:cNvSpPr txBox="1"/>
              <p:nvPr/>
            </p:nvSpPr>
            <p:spPr>
              <a:xfrm>
                <a:off x="5808047" y="2994374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047" y="2994374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Прямая со стрелкой 13"/>
          <p:cNvCxnSpPr>
            <a:stCxn id="19" idx="7"/>
            <a:endCxn id="15" idx="1"/>
          </p:cNvCxnSpPr>
          <p:nvPr/>
        </p:nvCxnSpPr>
        <p:spPr>
          <a:xfrm>
            <a:off x="5954514" y="4974613"/>
            <a:ext cx="29472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5" idx="3"/>
            <a:endCxn id="19" idx="5"/>
          </p:cNvCxnSpPr>
          <p:nvPr/>
        </p:nvCxnSpPr>
        <p:spPr>
          <a:xfrm flipH="1">
            <a:off x="5954514" y="5483787"/>
            <a:ext cx="29472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19" idx="0"/>
            <a:endCxn id="9" idx="3"/>
          </p:cNvCxnSpPr>
          <p:nvPr/>
        </p:nvCxnSpPr>
        <p:spPr>
          <a:xfrm flipV="1">
            <a:off x="569995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stCxn id="15" idx="0"/>
            <a:endCxn id="9" idx="5"/>
          </p:cNvCxnSpPr>
          <p:nvPr/>
        </p:nvCxnSpPr>
        <p:spPr>
          <a:xfrm flipH="1" flipV="1">
            <a:off x="768270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44105" y="3990130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89749" y="5568452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Reply(3,1)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12557" y="505498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89749" y="4471448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Reply(3,2)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25443" y="4067124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39581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0" name="TextBox 49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2</a:t>
                </a:r>
                <a:endParaRPr lang="ru-RU" sz="2400" dirty="0"/>
              </a:p>
            </p:txBody>
          </p:sp>
        </mc:Choice>
        <mc:Fallback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1" name="TextBox 50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3</a:t>
                </a:r>
                <a:endParaRPr lang="ru-RU" sz="2400" dirty="0"/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2" name="TextBox 51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3</a:t>
                </a:r>
                <a:endParaRPr lang="ru-RU" sz="2400" dirty="0"/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4559098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5" grpId="0"/>
      <p:bldP spid="50" grpId="0" animBg="1"/>
      <p:bldP spid="5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/>
              <p:cNvSpPr txBox="1"/>
              <p:nvPr/>
            </p:nvSpPr>
            <p:spPr>
              <a:xfrm>
                <a:off x="5808047" y="2994374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047" y="2994374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Прямая со стрелкой 13"/>
          <p:cNvCxnSpPr>
            <a:stCxn id="19" idx="7"/>
            <a:endCxn id="15" idx="1"/>
          </p:cNvCxnSpPr>
          <p:nvPr/>
        </p:nvCxnSpPr>
        <p:spPr>
          <a:xfrm>
            <a:off x="5954514" y="4974613"/>
            <a:ext cx="29472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5" idx="3"/>
            <a:endCxn id="19" idx="5"/>
          </p:cNvCxnSpPr>
          <p:nvPr/>
        </p:nvCxnSpPr>
        <p:spPr>
          <a:xfrm flipH="1">
            <a:off x="5954514" y="5483787"/>
            <a:ext cx="29472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19" idx="0"/>
            <a:endCxn id="9" idx="3"/>
          </p:cNvCxnSpPr>
          <p:nvPr/>
        </p:nvCxnSpPr>
        <p:spPr>
          <a:xfrm flipV="1">
            <a:off x="569995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stCxn id="15" idx="0"/>
            <a:endCxn id="9" idx="5"/>
          </p:cNvCxnSpPr>
          <p:nvPr/>
        </p:nvCxnSpPr>
        <p:spPr>
          <a:xfrm flipH="1" flipV="1">
            <a:off x="768270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44105" y="3990130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89749" y="5568452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Reply(3,1)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12557" y="505498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89749" y="4471448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Reply(3,2)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25443" y="4067124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39581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6" name="TextBox 55"/>
              <p:cNvSpPr txBox="1"/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1</a:t>
                </a:r>
                <a:endParaRPr lang="ru-RU" sz="2400" dirty="0"/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1" name="TextBox 50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4</a:t>
                </a:r>
                <a:endParaRPr lang="ru-RU" sz="2400" dirty="0"/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2" name="TextBox 51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3</a:t>
                </a:r>
                <a:endParaRPr lang="ru-RU" sz="2400" dirty="0"/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Прямая соединительная линия 29"/>
          <p:cNvCxnSpPr/>
          <p:nvPr/>
        </p:nvCxnSpPr>
        <p:spPr>
          <a:xfrm flipH="1">
            <a:off x="3997893" y="5804230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3997893" y="5804230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10782412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>
            <a:off x="10782412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8" name="TextBox 57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4</a:t>
                </a:r>
                <a:endParaRPr lang="ru-RU" sz="2400" dirty="0"/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/>
          <p:cNvSpPr txBox="1"/>
          <p:nvPr/>
        </p:nvSpPr>
        <p:spPr>
          <a:xfrm>
            <a:off x="8209084" y="3199249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7" name="TextBox 46"/>
              <p:cNvSpPr txBox="1"/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2</a:t>
                </a:r>
                <a:endParaRPr lang="ru-RU" sz="2400" dirty="0"/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blipFill rotWithShape="0">
                <a:blip r:embed="rId11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8931926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2" grpId="0"/>
      <p:bldP spid="43" grpId="0"/>
      <p:bldP spid="45" grpId="0"/>
      <p:bldP spid="56" grpId="0" animBg="1"/>
      <p:bldP spid="56" grpId="1" animBg="1"/>
      <p:bldP spid="52" grpId="0" animBg="1"/>
      <p:bldP spid="58" grpId="0" animBg="1"/>
      <p:bldP spid="59" grpId="0"/>
      <p:bldP spid="4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Прямая со стрелкой 34"/>
          <p:cNvCxnSpPr>
            <a:stCxn id="19" idx="0"/>
            <a:endCxn id="9" idx="3"/>
          </p:cNvCxnSpPr>
          <p:nvPr/>
        </p:nvCxnSpPr>
        <p:spPr>
          <a:xfrm flipV="1">
            <a:off x="569995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stCxn id="15" idx="0"/>
            <a:endCxn id="9" idx="5"/>
          </p:cNvCxnSpPr>
          <p:nvPr/>
        </p:nvCxnSpPr>
        <p:spPr>
          <a:xfrm flipH="1" flipV="1">
            <a:off x="768270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44105" y="3990130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Reply(3,0)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12557" y="505498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25443" y="4067124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39581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6" name="TextBox 55"/>
              <p:cNvSpPr txBox="1"/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3</a:t>
                </a:r>
                <a:endParaRPr lang="ru-RU" sz="2400" dirty="0"/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1" name="TextBox 50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4</a:t>
                </a:r>
                <a:endParaRPr lang="ru-RU" sz="2400" dirty="0"/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2" name="TextBox 51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4</a:t>
                </a:r>
                <a:endParaRPr lang="ru-RU" sz="2400" dirty="0"/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Прямая соединительная линия 52"/>
          <p:cNvCxnSpPr/>
          <p:nvPr/>
        </p:nvCxnSpPr>
        <p:spPr>
          <a:xfrm flipH="1">
            <a:off x="10782412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>
            <a:off x="10782412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209084" y="3199249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8" name="TextBox 47"/>
              <p:cNvSpPr txBox="1"/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4</a:t>
                </a:r>
                <a:endParaRPr lang="ru-RU" sz="2400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blipFill rotWithShape="0">
                <a:blip r:embed="rId9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/>
          <p:cNvSpPr txBox="1"/>
          <p:nvPr/>
        </p:nvSpPr>
        <p:spPr>
          <a:xfrm>
            <a:off x="8742354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Прямая соединительная линия 58"/>
          <p:cNvCxnSpPr/>
          <p:nvPr/>
        </p:nvCxnSpPr>
        <p:spPr>
          <a:xfrm flipH="1">
            <a:off x="3997893" y="5804230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>
            <a:off x="3997893" y="5804230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6534017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6" grpId="0"/>
      <p:bldP spid="56" grpId="0" animBg="1"/>
      <p:bldP spid="48" grpId="0" animBg="1"/>
      <p:bldP spid="5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12557" y="505498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39581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0" name="TextBox 49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4</a:t>
                </a:r>
                <a:endParaRPr lang="ru-RU" sz="2400" dirty="0"/>
              </a:p>
            </p:txBody>
          </p:sp>
        </mc:Choice>
        <mc:Fallback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1" name="TextBox 50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4</a:t>
                </a:r>
                <a:endParaRPr lang="ru-RU" sz="2400" dirty="0"/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Прямая соединительная линия 52"/>
          <p:cNvCxnSpPr/>
          <p:nvPr/>
        </p:nvCxnSpPr>
        <p:spPr>
          <a:xfrm flipH="1">
            <a:off x="10782412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>
            <a:off x="10782412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/>
        </p:nvCxnSpPr>
        <p:spPr>
          <a:xfrm flipH="1">
            <a:off x="3997893" y="5804230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3997893" y="5804230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544105" y="3990130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Reply(3,0)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Прямая со стрелкой 58"/>
          <p:cNvCxnSpPr>
            <a:stCxn id="15" idx="0"/>
            <a:endCxn id="9" idx="5"/>
          </p:cNvCxnSpPr>
          <p:nvPr/>
        </p:nvCxnSpPr>
        <p:spPr>
          <a:xfrm flipH="1" flipV="1">
            <a:off x="768270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0" name="TextBox 59"/>
              <p:cNvSpPr txBox="1"/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5</a:t>
                </a:r>
                <a:endParaRPr lang="ru-RU" sz="2400" dirty="0"/>
              </a:p>
            </p:txBody>
          </p:sp>
        </mc:Choice>
        <mc:Fallback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Прямая со стрелкой 60"/>
          <p:cNvCxnSpPr>
            <a:stCxn id="19" idx="0"/>
            <a:endCxn id="9" idx="3"/>
          </p:cNvCxnSpPr>
          <p:nvPr/>
        </p:nvCxnSpPr>
        <p:spPr>
          <a:xfrm flipV="1">
            <a:off x="569995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525443" y="4067124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Reply(5,0)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3" name="TextBox 62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5</a:t>
                </a:r>
                <a:endParaRPr lang="ru-RU" sz="2400" dirty="0"/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Прямая соединительная линия 63"/>
          <p:cNvCxnSpPr/>
          <p:nvPr/>
        </p:nvCxnSpPr>
        <p:spPr>
          <a:xfrm flipH="1">
            <a:off x="10404156" y="5840515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>
            <a:off x="10404156" y="5840515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742354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09084" y="3199249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8" name="TextBox 67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5</a:t>
                </a:r>
                <a:endParaRPr lang="ru-RU" sz="2400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 flipH="1">
            <a:off x="3670117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3670117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2" name="TextBox 51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6</a:t>
                </a:r>
                <a:endParaRPr lang="ru-RU" sz="2400" dirty="0"/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40361604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EC1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0CFF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8" grpId="0"/>
      <p:bldP spid="62" grpId="0"/>
      <p:bldP spid="62" grpId="1"/>
      <p:bldP spid="63" grpId="0" animBg="1"/>
      <p:bldP spid="68" grpId="0" animBg="1"/>
      <p:bldP spid="68" grpId="1" animBg="1"/>
      <p:bldP spid="5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solidFill>
            <a:srgbClr val="FEC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12557" y="505498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39581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Прямая соединительная линия 52"/>
          <p:cNvCxnSpPr/>
          <p:nvPr/>
        </p:nvCxnSpPr>
        <p:spPr>
          <a:xfrm flipH="1">
            <a:off x="10782412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>
            <a:off x="10782412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/>
        </p:nvCxnSpPr>
        <p:spPr>
          <a:xfrm flipH="1">
            <a:off x="3997893" y="5804230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3997893" y="5804230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0" name="TextBox 59"/>
              <p:cNvSpPr txBox="1"/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6</a:t>
                </a:r>
                <a:endParaRPr lang="ru-RU" sz="2400" dirty="0"/>
              </a:p>
            </p:txBody>
          </p:sp>
        </mc:Choice>
        <mc:Fallback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3" name="TextBox 62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5</a:t>
                </a:r>
                <a:endParaRPr lang="ru-RU" sz="2400" dirty="0"/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Прямая соединительная линия 63"/>
          <p:cNvCxnSpPr/>
          <p:nvPr/>
        </p:nvCxnSpPr>
        <p:spPr>
          <a:xfrm flipH="1">
            <a:off x="10404156" y="5840515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>
            <a:off x="10404156" y="5840515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742354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09084" y="3199249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8" name="TextBox 67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6</a:t>
                </a:r>
                <a:endParaRPr lang="ru-RU" sz="2400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 flipH="1">
            <a:off x="3670117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3670117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>
            <a:stCxn id="9" idx="3"/>
            <a:endCxn id="19" idx="0"/>
          </p:cNvCxnSpPr>
          <p:nvPr/>
        </p:nvCxnSpPr>
        <p:spPr>
          <a:xfrm flipH="1">
            <a:off x="569995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stCxn id="9" idx="5"/>
            <a:endCxn id="15" idx="0"/>
          </p:cNvCxnSpPr>
          <p:nvPr/>
        </p:nvCxnSpPr>
        <p:spPr>
          <a:xfrm>
            <a:off x="768270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25443" y="4067124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544105" y="3990130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261043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41964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71" grpId="0"/>
      <p:bldP spid="7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solidFill>
            <a:srgbClr val="FEC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12557" y="505498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39581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Прямая соединительная линия 52"/>
          <p:cNvCxnSpPr/>
          <p:nvPr/>
        </p:nvCxnSpPr>
        <p:spPr>
          <a:xfrm flipH="1">
            <a:off x="10782412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>
            <a:off x="10782412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/>
        </p:nvCxnSpPr>
        <p:spPr>
          <a:xfrm flipH="1">
            <a:off x="3997893" y="5804230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3997893" y="5804230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0" name="TextBox 59"/>
              <p:cNvSpPr txBox="1"/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6</a:t>
                </a:r>
                <a:endParaRPr lang="ru-RU" sz="2400" dirty="0"/>
              </a:p>
            </p:txBody>
          </p:sp>
        </mc:Choice>
        <mc:Fallback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3" name="TextBox 62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6</a:t>
                </a:r>
                <a:endParaRPr lang="ru-RU" sz="2400" dirty="0"/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Прямая соединительная линия 63"/>
          <p:cNvCxnSpPr/>
          <p:nvPr/>
        </p:nvCxnSpPr>
        <p:spPr>
          <a:xfrm flipH="1">
            <a:off x="10404156" y="5840515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>
            <a:off x="10404156" y="5840515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742354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09084" y="3199249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8" name="TextBox 67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7</a:t>
                </a:r>
                <a:endParaRPr lang="ru-RU" sz="2400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 flipH="1">
            <a:off x="3670117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3670117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>
            <a:stCxn id="9" idx="3"/>
            <a:endCxn id="19" idx="0"/>
          </p:cNvCxnSpPr>
          <p:nvPr/>
        </p:nvCxnSpPr>
        <p:spPr>
          <a:xfrm flipH="1">
            <a:off x="569995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stCxn id="9" idx="5"/>
            <a:endCxn id="15" idx="0"/>
          </p:cNvCxnSpPr>
          <p:nvPr/>
        </p:nvCxnSpPr>
        <p:spPr>
          <a:xfrm>
            <a:off x="768270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25443" y="4067124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544105" y="3990130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Request(6,0)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261043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6,0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088000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27526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2" name="TextBox 51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7</a:t>
                </a:r>
                <a:endParaRPr lang="ru-RU" sz="2400" dirty="0"/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6968518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56" grpId="0"/>
      <p:bldP spid="71" grpId="0"/>
      <p:bldP spid="50" grpId="0"/>
      <p:bldP spid="51" grpId="0"/>
      <p:bldP spid="5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solidFill>
            <a:srgbClr val="FEC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12557" y="505498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39581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Прямая соединительная линия 52"/>
          <p:cNvCxnSpPr/>
          <p:nvPr/>
        </p:nvCxnSpPr>
        <p:spPr>
          <a:xfrm flipH="1">
            <a:off x="10782412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>
            <a:off x="10782412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/>
        </p:nvCxnSpPr>
        <p:spPr>
          <a:xfrm flipH="1">
            <a:off x="3997893" y="5804230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3997893" y="5804230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0" name="TextBox 59"/>
              <p:cNvSpPr txBox="1"/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6</a:t>
                </a:r>
                <a:endParaRPr lang="ru-RU" sz="2400" dirty="0"/>
              </a:p>
            </p:txBody>
          </p:sp>
        </mc:Choice>
        <mc:Fallback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3" name="TextBox 62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8</a:t>
                </a:r>
                <a:endParaRPr lang="ru-RU" sz="2400" dirty="0"/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Прямая соединительная линия 63"/>
          <p:cNvCxnSpPr/>
          <p:nvPr/>
        </p:nvCxnSpPr>
        <p:spPr>
          <a:xfrm flipH="1">
            <a:off x="10404156" y="5840515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>
            <a:off x="10404156" y="5840515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742354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09084" y="3199249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8" name="TextBox 67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8</a:t>
                </a:r>
                <a:endParaRPr lang="ru-RU" sz="2400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 flipH="1">
            <a:off x="3670117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3670117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>
            <a:stCxn id="9" idx="3"/>
            <a:endCxn id="19" idx="0"/>
          </p:cNvCxnSpPr>
          <p:nvPr/>
        </p:nvCxnSpPr>
        <p:spPr>
          <a:xfrm flipH="1">
            <a:off x="569995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stCxn id="9" idx="5"/>
            <a:endCxn id="15" idx="0"/>
          </p:cNvCxnSpPr>
          <p:nvPr/>
        </p:nvCxnSpPr>
        <p:spPr>
          <a:xfrm>
            <a:off x="768270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25443" y="4067124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Reply(8,2)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544105" y="3990130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Reply(8,1)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261043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088000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27526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377901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7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solidFill>
            <a:srgbClr val="FEC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12557" y="505498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39581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Прямая соединительная линия 52"/>
          <p:cNvCxnSpPr/>
          <p:nvPr/>
        </p:nvCxnSpPr>
        <p:spPr>
          <a:xfrm flipH="1">
            <a:off x="10782412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>
            <a:off x="10782412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/>
        </p:nvCxnSpPr>
        <p:spPr>
          <a:xfrm flipH="1">
            <a:off x="3997893" y="5804230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3997893" y="5804230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0" name="TextBox 59"/>
              <p:cNvSpPr txBox="1"/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7</a:t>
                </a:r>
                <a:endParaRPr lang="ru-RU" sz="2400" dirty="0"/>
              </a:p>
            </p:txBody>
          </p:sp>
        </mc:Choice>
        <mc:Fallback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3" name="TextBox 62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8</a:t>
                </a:r>
                <a:endParaRPr lang="ru-RU" sz="2400" dirty="0"/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Прямая соединительная линия 63"/>
          <p:cNvCxnSpPr/>
          <p:nvPr/>
        </p:nvCxnSpPr>
        <p:spPr>
          <a:xfrm flipH="1">
            <a:off x="10404156" y="5840515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>
            <a:off x="10404156" y="5840515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742354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09084" y="3199249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8" name="TextBox 67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8</a:t>
                </a:r>
                <a:endParaRPr lang="ru-RU" sz="2400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 flipH="1">
            <a:off x="3670117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3670117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>
            <a:stCxn id="9" idx="3"/>
            <a:endCxn id="19" idx="0"/>
          </p:cNvCxnSpPr>
          <p:nvPr/>
        </p:nvCxnSpPr>
        <p:spPr>
          <a:xfrm flipH="1">
            <a:off x="569995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stCxn id="9" idx="5"/>
            <a:endCxn id="15" idx="0"/>
          </p:cNvCxnSpPr>
          <p:nvPr/>
        </p:nvCxnSpPr>
        <p:spPr>
          <a:xfrm>
            <a:off x="768270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25443" y="4067124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Reply(8,2)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544105" y="3990130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Reply(8,1)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261043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088000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27526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9" name="TextBox 58"/>
              <p:cNvSpPr txBox="1"/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9</a:t>
                </a:r>
                <a:endParaRPr lang="ru-RU" sz="2400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400" y="2995200"/>
                <a:ext cx="1260100" cy="461665"/>
              </a:xfrm>
              <a:prstGeom prst="rect">
                <a:avLst/>
              </a:prstGeom>
              <a:blipFill rotWithShape="0">
                <a:blip r:embed="rId9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Прямая соединительная линия 60"/>
          <p:cNvCxnSpPr/>
          <p:nvPr/>
        </p:nvCxnSpPr>
        <p:spPr>
          <a:xfrm flipH="1">
            <a:off x="4883724" y="2994434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4883724" y="2994434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6173859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71" grpId="0"/>
      <p:bldP spid="5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solidFill>
            <a:srgbClr val="FEC1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12557" y="505498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39581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Прямая соединительная линия 52"/>
          <p:cNvCxnSpPr/>
          <p:nvPr/>
        </p:nvCxnSpPr>
        <p:spPr>
          <a:xfrm flipH="1">
            <a:off x="10782412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>
            <a:off x="10782412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/>
        </p:nvCxnSpPr>
        <p:spPr>
          <a:xfrm flipH="1">
            <a:off x="3997893" y="5804230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3997893" y="5804230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3" name="TextBox 62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8</a:t>
                </a:r>
                <a:endParaRPr lang="ru-RU" sz="2400" dirty="0"/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Прямая соединительная линия 63"/>
          <p:cNvCxnSpPr/>
          <p:nvPr/>
        </p:nvCxnSpPr>
        <p:spPr>
          <a:xfrm flipH="1">
            <a:off x="10404156" y="5840515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>
            <a:off x="10404156" y="5840515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742354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09084" y="3199249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8" name="TextBox 67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8</a:t>
                </a:r>
                <a:endParaRPr lang="ru-RU" sz="2400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 flipH="1">
            <a:off x="3670117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3670117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>
            <a:stCxn id="9" idx="3"/>
            <a:endCxn id="19" idx="0"/>
          </p:cNvCxnSpPr>
          <p:nvPr/>
        </p:nvCxnSpPr>
        <p:spPr>
          <a:xfrm flipH="1">
            <a:off x="569995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25443" y="4067124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Reply(8,2)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261043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088000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27526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9" name="TextBox 58"/>
              <p:cNvSpPr txBox="1"/>
              <p:nvPr/>
            </p:nvSpPr>
            <p:spPr>
              <a:xfrm>
                <a:off x="58680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10</a:t>
                </a:r>
                <a:endParaRPr lang="ru-RU" sz="2400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000" y="29952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t="-10526" r="-2913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Прямая соединительная линия 60"/>
          <p:cNvCxnSpPr/>
          <p:nvPr/>
        </p:nvCxnSpPr>
        <p:spPr>
          <a:xfrm flipH="1">
            <a:off x="4883724" y="2994434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4883724" y="2994434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/>
          <p:cNvCxnSpPr/>
          <p:nvPr/>
        </p:nvCxnSpPr>
        <p:spPr>
          <a:xfrm flipH="1">
            <a:off x="5213149" y="2946456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/>
          <p:nvPr/>
        </p:nvCxnSpPr>
        <p:spPr>
          <a:xfrm>
            <a:off x="5213149" y="2946456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83545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solidFill>
            <a:srgbClr val="33FD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12557" y="505498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39581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Прямая соединительная линия 52"/>
          <p:cNvCxnSpPr/>
          <p:nvPr/>
        </p:nvCxnSpPr>
        <p:spPr>
          <a:xfrm flipH="1">
            <a:off x="10782412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>
            <a:off x="10782412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/>
        </p:nvCxnSpPr>
        <p:spPr>
          <a:xfrm flipH="1">
            <a:off x="3997893" y="5804230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3997893" y="5804230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3" name="TextBox 62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8</a:t>
                </a:r>
                <a:endParaRPr lang="ru-RU" sz="2400" dirty="0"/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Прямая соединительная линия 63"/>
          <p:cNvCxnSpPr/>
          <p:nvPr/>
        </p:nvCxnSpPr>
        <p:spPr>
          <a:xfrm flipH="1">
            <a:off x="10404156" y="5840515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>
            <a:off x="10404156" y="5840515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742354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09084" y="3199249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8" name="TextBox 67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8</a:t>
                </a:r>
                <a:endParaRPr lang="ru-RU" sz="2400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 flipH="1">
            <a:off x="3670117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3670117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261043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088000" y="5054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27526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9" name="TextBox 58"/>
              <p:cNvSpPr txBox="1"/>
              <p:nvPr/>
            </p:nvSpPr>
            <p:spPr>
              <a:xfrm>
                <a:off x="58680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10</a:t>
                </a:r>
                <a:endParaRPr lang="ru-RU" sz="2400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000" y="29952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t="-10526" r="-2913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Прямая соединительная линия 60"/>
          <p:cNvCxnSpPr/>
          <p:nvPr/>
        </p:nvCxnSpPr>
        <p:spPr>
          <a:xfrm flipH="1">
            <a:off x="4883724" y="2994434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4883724" y="2994434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/>
          <p:cNvCxnSpPr/>
          <p:nvPr/>
        </p:nvCxnSpPr>
        <p:spPr>
          <a:xfrm flipH="1">
            <a:off x="5213149" y="2946456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/>
          <p:nvPr/>
        </p:nvCxnSpPr>
        <p:spPr>
          <a:xfrm>
            <a:off x="5213149" y="2946456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8" name="TextBox 57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9</a:t>
                </a:r>
                <a:endParaRPr lang="ru-RU" sz="2400" dirty="0"/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Прямая со стрелкой 13"/>
          <p:cNvCxnSpPr>
            <a:stCxn id="15" idx="0"/>
            <a:endCxn id="9" idx="5"/>
          </p:cNvCxnSpPr>
          <p:nvPr/>
        </p:nvCxnSpPr>
        <p:spPr>
          <a:xfrm flipH="1" flipV="1">
            <a:off x="768270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15" idx="2"/>
            <a:endCxn id="19" idx="6"/>
          </p:cNvCxnSpPr>
          <p:nvPr/>
        </p:nvCxnSpPr>
        <p:spPr>
          <a:xfrm flipH="1">
            <a:off x="6059956" y="5229200"/>
            <a:ext cx="2736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544105" y="3990130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Release(9,1)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589749" y="5568452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Release(9,1)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012373" y="5052068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547141" y="5052068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887287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9" grpId="0"/>
      <p:bldP spid="63" grpId="0" animBg="1"/>
      <p:bldP spid="50" grpId="0"/>
      <p:bldP spid="58" grpId="0" animBg="1"/>
      <p:bldP spid="60" grpId="0"/>
      <p:bldP spid="75" grpId="0"/>
      <p:bldP spid="77" grpId="0"/>
      <p:bldP spid="7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Прямая соединительная линия 46"/>
          <p:cNvCxnSpPr/>
          <p:nvPr/>
        </p:nvCxnSpPr>
        <p:spPr>
          <a:xfrm flipH="1">
            <a:off x="3997893" y="5804230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3997893" y="5804230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742354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09084" y="3199249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8" name="TextBox 67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8</a:t>
                </a:r>
                <a:endParaRPr lang="ru-RU" sz="2400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 flipH="1">
            <a:off x="3670117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3670117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261043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27526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9" name="TextBox 58"/>
              <p:cNvSpPr txBox="1"/>
              <p:nvPr/>
            </p:nvSpPr>
            <p:spPr>
              <a:xfrm>
                <a:off x="58680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10</a:t>
                </a:r>
                <a:endParaRPr lang="ru-RU" sz="2400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000" y="29952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t="-10526" r="-2913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Прямая соединительная линия 60"/>
          <p:cNvCxnSpPr/>
          <p:nvPr/>
        </p:nvCxnSpPr>
        <p:spPr>
          <a:xfrm flipH="1">
            <a:off x="4883724" y="2994434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4883724" y="2994434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/>
          <p:cNvCxnSpPr/>
          <p:nvPr/>
        </p:nvCxnSpPr>
        <p:spPr>
          <a:xfrm flipH="1">
            <a:off x="5213149" y="2946456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/>
          <p:nvPr/>
        </p:nvCxnSpPr>
        <p:spPr>
          <a:xfrm>
            <a:off x="5213149" y="2946456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8" name="TextBox 57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9</a:t>
                </a:r>
                <a:endParaRPr lang="ru-RU" sz="2400" dirty="0"/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Прямая со стрелкой 13"/>
          <p:cNvCxnSpPr>
            <a:stCxn id="15" idx="0"/>
            <a:endCxn id="9" idx="5"/>
          </p:cNvCxnSpPr>
          <p:nvPr/>
        </p:nvCxnSpPr>
        <p:spPr>
          <a:xfrm flipH="1" flipV="1">
            <a:off x="768270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15" idx="2"/>
            <a:endCxn id="19" idx="6"/>
          </p:cNvCxnSpPr>
          <p:nvPr/>
        </p:nvCxnSpPr>
        <p:spPr>
          <a:xfrm flipH="1">
            <a:off x="6059956" y="5229200"/>
            <a:ext cx="2736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544105" y="3990130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Release(9,1)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589749" y="5568452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Release(9,1)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" name="Прямая соединительная линия 5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7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0011600" y="50508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0548000" y="50508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31850138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Прямая соединительная линия 46"/>
          <p:cNvCxnSpPr/>
          <p:nvPr/>
        </p:nvCxnSpPr>
        <p:spPr>
          <a:xfrm flipH="1">
            <a:off x="3997893" y="5804230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3997893" y="5804230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742354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09084" y="3199249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8" name="TextBox 67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9</a:t>
                </a:r>
                <a:endParaRPr lang="ru-RU" sz="2400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45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 flipH="1">
            <a:off x="3670117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3670117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261043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27526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9" name="TextBox 58"/>
              <p:cNvSpPr txBox="1"/>
              <p:nvPr/>
            </p:nvSpPr>
            <p:spPr>
              <a:xfrm>
                <a:off x="58680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11</a:t>
                </a:r>
                <a:endParaRPr lang="ru-RU" sz="2400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000" y="29952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t="-10526" r="-2913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Прямая соединительная линия 60"/>
          <p:cNvCxnSpPr/>
          <p:nvPr/>
        </p:nvCxnSpPr>
        <p:spPr>
          <a:xfrm flipH="1">
            <a:off x="4883724" y="2994434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4883724" y="2994434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/>
          <p:cNvCxnSpPr/>
          <p:nvPr/>
        </p:nvCxnSpPr>
        <p:spPr>
          <a:xfrm flipH="1">
            <a:off x="5213149" y="2946456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/>
          <p:nvPr/>
        </p:nvCxnSpPr>
        <p:spPr>
          <a:xfrm>
            <a:off x="5213149" y="2946456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8" name="TextBox 57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9</a:t>
                </a:r>
                <a:endParaRPr lang="ru-RU" sz="2400" dirty="0"/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Прямая со стрелкой 13"/>
          <p:cNvCxnSpPr>
            <a:stCxn id="15" idx="0"/>
            <a:endCxn id="9" idx="5"/>
          </p:cNvCxnSpPr>
          <p:nvPr/>
        </p:nvCxnSpPr>
        <p:spPr>
          <a:xfrm flipH="1" flipV="1">
            <a:off x="7682706" y="3641475"/>
            <a:ext cx="1473634" cy="1227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15" idx="2"/>
            <a:endCxn id="19" idx="6"/>
          </p:cNvCxnSpPr>
          <p:nvPr/>
        </p:nvCxnSpPr>
        <p:spPr>
          <a:xfrm flipH="1">
            <a:off x="6059956" y="5229200"/>
            <a:ext cx="2736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544105" y="3990130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Release(9,1)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589749" y="5568452"/>
            <a:ext cx="198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Release(9,1)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Прямая соединительная линия 70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0011600" y="50508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548000" y="50508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72482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7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84800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97893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Прямая соединительная линия 46"/>
          <p:cNvCxnSpPr/>
          <p:nvPr/>
        </p:nvCxnSpPr>
        <p:spPr>
          <a:xfrm flipH="1">
            <a:off x="3997893" y="5804230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3997893" y="5804230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742354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09084" y="3199249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8" name="TextBox 67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10</a:t>
                </a:r>
                <a:endParaRPr lang="ru-RU" sz="2400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456" t="-10526" r="-485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 flipH="1">
            <a:off x="3670117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3670117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261043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27526" y="5072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9" name="TextBox 58"/>
              <p:cNvSpPr txBox="1"/>
              <p:nvPr/>
            </p:nvSpPr>
            <p:spPr>
              <a:xfrm>
                <a:off x="58680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11</a:t>
                </a:r>
                <a:endParaRPr lang="ru-RU" sz="2400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000" y="29952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t="-10526" r="-2913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Прямая соединительная линия 60"/>
          <p:cNvCxnSpPr/>
          <p:nvPr/>
        </p:nvCxnSpPr>
        <p:spPr>
          <a:xfrm flipH="1">
            <a:off x="4883724" y="2994434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4883724" y="2994434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/>
          <p:cNvCxnSpPr/>
          <p:nvPr/>
        </p:nvCxnSpPr>
        <p:spPr>
          <a:xfrm flipH="1">
            <a:off x="5213149" y="2946456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/>
          <p:nvPr/>
        </p:nvCxnSpPr>
        <p:spPr>
          <a:xfrm>
            <a:off x="5213149" y="2946456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8" name="TextBox 57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9</a:t>
                </a:r>
                <a:endParaRPr lang="ru-RU" sz="2400" dirty="0"/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Прямая соединительная линия 70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0011600" y="50508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548000" y="50508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7333840"/>
      </p:ext>
    </p:extLst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05548"/>
            <a:ext cx="8928000" cy="4188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35023" y="5046936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получением разрешений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4F8479-5E89-40F3-8643-4051CCE53482}"/>
              </a:ext>
            </a:extLst>
          </p:cNvPr>
          <p:cNvSpPr txBox="1"/>
          <p:nvPr/>
        </p:nvSpPr>
        <p:spPr>
          <a:xfrm>
            <a:off x="4223792" y="17008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 </a:t>
            </a:r>
            <a:r>
              <a:rPr lang="ru-RU" sz="2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3EB922A-5473-45A8-B4E9-5E9AC8AFA455}"/>
              </a:ext>
            </a:extLst>
          </p:cNvPr>
          <p:cNvSpPr txBox="1"/>
          <p:nvPr/>
        </p:nvSpPr>
        <p:spPr>
          <a:xfrm>
            <a:off x="3719736" y="2348880"/>
            <a:ext cx="74168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</a:p>
        </p:txBody>
      </p:sp>
      <p:sp>
        <p:nvSpPr>
          <p:cNvPr id="8" name="_h1">
            <a:extLst>
              <a:ext uri="{FF2B5EF4-FFF2-40B4-BE49-F238E27FC236}">
                <a16:creationId xmlns="" xmlns:a16="http://schemas.microsoft.com/office/drawing/2014/main" id="{6402D406-93FF-49AF-B506-0226B74C95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7068148" y="3026848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8250495" y="3212976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8250495" y="3212976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8250495" y="3582888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8796340" y="4869160"/>
            <a:ext cx="720000" cy="7200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10056440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10056440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10056440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BE05B0B7-427C-42F0-897E-6D5A8DB9B5CA}"/>
              </a:ext>
            </a:extLst>
          </p:cNvPr>
          <p:cNvSpPr/>
          <p:nvPr/>
        </p:nvSpPr>
        <p:spPr>
          <a:xfrm>
            <a:off x="5339956" y="4869160"/>
            <a:ext cx="720000" cy="720080"/>
          </a:xfrm>
          <a:prstGeom prst="ellipse">
            <a:avLst/>
          </a:prstGeom>
          <a:solidFill>
            <a:srgbClr val="10CF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="" xmlns:a16="http://schemas.microsoft.com/office/drawing/2014/main" id="{70CF3FCD-A3DE-433E-A36F-76A1A10FA7D5}"/>
              </a:ext>
            </a:extLst>
          </p:cNvPr>
          <p:cNvCxnSpPr/>
          <p:nvPr/>
        </p:nvCxnSpPr>
        <p:spPr>
          <a:xfrm>
            <a:off x="3503712" y="5085184"/>
            <a:ext cx="0" cy="36991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="" xmlns:a16="http://schemas.microsoft.com/office/drawing/2014/main" id="{631DBEF2-F409-4602-835E-161D9737CA35}"/>
              </a:ext>
            </a:extLst>
          </p:cNvPr>
          <p:cNvCxnSpPr/>
          <p:nvPr/>
        </p:nvCxnSpPr>
        <p:spPr>
          <a:xfrm>
            <a:off x="3503712" y="5085184"/>
            <a:ext cx="144016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0ED0775A-08BA-4EF4-9654-AC3D8AB7EB8D}"/>
              </a:ext>
            </a:extLst>
          </p:cNvPr>
          <p:cNvCxnSpPr/>
          <p:nvPr/>
        </p:nvCxnSpPr>
        <p:spPr>
          <a:xfrm>
            <a:off x="3503712" y="5455096"/>
            <a:ext cx="144016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baseline="-25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95" y="2749420"/>
                <a:ext cx="426303" cy="453137"/>
              </a:xfrm>
              <a:prstGeom prst="rect">
                <a:avLst/>
              </a:prstGeom>
              <a:blipFill rotWithShape="0">
                <a:blip r:embed="rId3"/>
                <a:stretch>
                  <a:fillRect l="-4286" r="-2857" b="-148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1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21" y="4584628"/>
                <a:ext cx="588767" cy="453137"/>
              </a:xfrm>
              <a:prstGeom prst="rect">
                <a:avLst/>
              </a:prstGeom>
              <a:blipFill rotWithShape="0">
                <a:blip r:embed="rId4"/>
                <a:stretch>
                  <a:fillRect l="-3093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TextBox 23"/>
              <p:cNvSpPr txBox="1"/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aseline="-25000" dirty="0"/>
                  <a:t>2</a:t>
                </a:r>
                <a:endParaRPr lang="ru-RU" sz="2400" baseline="-25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93" y="4584627"/>
                <a:ext cx="616851" cy="453137"/>
              </a:xfrm>
              <a:prstGeom prst="rect">
                <a:avLst/>
              </a:prstGeom>
              <a:blipFill rotWithShape="0">
                <a:blip r:embed="rId5"/>
                <a:stretch>
                  <a:fillRect l="-2970" b="-3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0416480" y="580423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29746" y="5808320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0, 1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89846" y="297082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1, 2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011600" y="50508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Прямая соединительная линия 46"/>
          <p:cNvCxnSpPr/>
          <p:nvPr/>
        </p:nvCxnSpPr>
        <p:spPr>
          <a:xfrm flipH="1">
            <a:off x="3997893" y="5804230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3997893" y="5804230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208000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(1,2)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8" name="TextBox 67"/>
              <p:cNvSpPr txBox="1"/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10</a:t>
                </a:r>
                <a:endParaRPr lang="ru-RU" sz="2400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00" y="5652000"/>
                <a:ext cx="1260100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456" t="-10526" r="-485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 flipH="1">
            <a:off x="3670117" y="5824421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3670117" y="5824421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748000" y="32004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45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solidFill>
                <a:srgbClr val="345A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548000" y="50508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950603" y="5047200"/>
            <a:ext cx="96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(6,0)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9" name="TextBox 58"/>
              <p:cNvSpPr txBox="1"/>
              <p:nvPr/>
            </p:nvSpPr>
            <p:spPr>
              <a:xfrm>
                <a:off x="5868000" y="29952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11</a:t>
                </a:r>
                <a:endParaRPr lang="ru-RU" sz="2400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000" y="2995200"/>
                <a:ext cx="1260100" cy="461665"/>
              </a:xfrm>
              <a:prstGeom prst="rect">
                <a:avLst/>
              </a:prstGeom>
              <a:blipFill rotWithShape="0">
                <a:blip r:embed="rId7"/>
                <a:stretch>
                  <a:fillRect t="-10526" r="-2913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Прямая соединительная линия 60"/>
          <p:cNvCxnSpPr/>
          <p:nvPr/>
        </p:nvCxnSpPr>
        <p:spPr>
          <a:xfrm flipH="1">
            <a:off x="4883724" y="2994434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4883724" y="2994434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/>
          <p:cNvCxnSpPr/>
          <p:nvPr/>
        </p:nvCxnSpPr>
        <p:spPr>
          <a:xfrm flipH="1">
            <a:off x="5213149" y="2946456"/>
            <a:ext cx="300356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/>
          <p:nvPr/>
        </p:nvCxnSpPr>
        <p:spPr>
          <a:xfrm>
            <a:off x="5213149" y="2946456"/>
            <a:ext cx="372364" cy="396797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8" name="TextBox 57"/>
              <p:cNvSpPr txBox="1"/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9</a:t>
                </a:r>
                <a:endParaRPr lang="ru-RU" sz="2400" dirty="0"/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0" y="5652000"/>
                <a:ext cx="12601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966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40457777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EC1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2998800" y="2252734"/>
            <a:ext cx="8928992" cy="427261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ts val="1200"/>
              </a:spcAft>
              <a:defRPr/>
            </a:pPr>
            <a:endParaRPr lang="ru-RU" sz="22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6C7A6866-C926-41E3-967A-840A4EDB38A4}"/>
              </a:ext>
            </a:extLst>
          </p:cNvPr>
          <p:cNvSpPr txBox="1"/>
          <p:nvPr/>
        </p:nvSpPr>
        <p:spPr>
          <a:xfrm>
            <a:off x="3215680" y="2630229"/>
            <a:ext cx="8424614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Все процессы имеют номера от 0 до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- 1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Процессы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логически связаны в кольцо: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й процесс предшествует процессу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i+1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при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от 0 до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2,  процесс 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- 1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предшествует 0-му процессу.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Один из процессов инициирует передачу маркера.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процесс получил маркер и готов войти в КС, он входит в нее, по окончании КС передает маркер следующему.</a:t>
            </a:r>
          </a:p>
          <a:p>
            <a:pPr marL="457200" indent="-457200"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процесс получил маркер и не готов войти в КС, немедленно  передает маркер следующему.</a:t>
            </a:r>
          </a:p>
        </p:txBody>
      </p:sp>
      <p:sp>
        <p:nvSpPr>
          <p:cNvPr id="11" name="Rechteck 36">
            <a:extLst>
              <a:ext uri="{FF2B5EF4-FFF2-40B4-BE49-F238E27FC236}">
                <a16:creationId xmlns="" xmlns:a16="http://schemas.microsoft.com/office/drawing/2014/main" id="{9728FE40-D335-4265-9624-C40FAE1C5E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маркером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8699CB2-6B72-452A-A568-000DF702BA03}"/>
              </a:ext>
            </a:extLst>
          </p:cNvPr>
          <p:cNvSpPr txBox="1"/>
          <p:nvPr/>
        </p:nvSpPr>
        <p:spPr>
          <a:xfrm>
            <a:off x="4223792" y="1700809"/>
            <a:ext cx="640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Круговой маркер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Token ring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4" name="_h1">
            <a:extLst>
              <a:ext uri="{FF2B5EF4-FFF2-40B4-BE49-F238E27FC236}">
                <a16:creationId xmlns="" xmlns:a16="http://schemas.microsoft.com/office/drawing/2014/main" id="{41618D1C-7693-4F10-83F8-91EFF054F9B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2640988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36">
            <a:extLst>
              <a:ext uri="{FF2B5EF4-FFF2-40B4-BE49-F238E27FC236}">
                <a16:creationId xmlns="" xmlns:a16="http://schemas.microsoft.com/office/drawing/2014/main" id="{9728FE40-D335-4265-9624-C40FAE1C5E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98800" y="1011600"/>
            <a:ext cx="8928992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Алгоритмы с маркером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8699CB2-6B72-452A-A568-000DF702BA03}"/>
              </a:ext>
            </a:extLst>
          </p:cNvPr>
          <p:cNvSpPr txBox="1"/>
          <p:nvPr/>
        </p:nvSpPr>
        <p:spPr>
          <a:xfrm>
            <a:off x="4223792" y="1700809"/>
            <a:ext cx="640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Круговой маркер</a:t>
            </a:r>
          </a:p>
        </p:txBody>
      </p:sp>
      <p:sp>
        <p:nvSpPr>
          <p:cNvPr id="14" name="_h1">
            <a:extLst>
              <a:ext uri="{FF2B5EF4-FFF2-40B4-BE49-F238E27FC236}">
                <a16:creationId xmlns="" xmlns:a16="http://schemas.microsoft.com/office/drawing/2014/main" id="{41618D1C-7693-4F10-83F8-91EFF054F9B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взаимоисключения</a:t>
            </a:r>
          </a:p>
        </p:txBody>
      </p:sp>
      <p:sp>
        <p:nvSpPr>
          <p:cNvPr id="8" name="Rechteck 39">
            <a:extLst>
              <a:ext uri="{FF2B5EF4-FFF2-40B4-BE49-F238E27FC236}">
                <a16:creationId xmlns="" xmlns:a16="http://schemas.microsoft.com/office/drawing/2014/main" id="{263B0589-6946-4AC0-BDCF-DE45BE78175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16002" y="2306960"/>
            <a:ext cx="8712646" cy="418243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9372D992-094A-4DE4-9579-57F99A3A748E}"/>
              </a:ext>
            </a:extLst>
          </p:cNvPr>
          <p:cNvSpPr/>
          <p:nvPr/>
        </p:nvSpPr>
        <p:spPr>
          <a:xfrm>
            <a:off x="9336360" y="2558930"/>
            <a:ext cx="576064" cy="57606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="" xmlns:a16="http://schemas.microsoft.com/office/drawing/2014/main" id="{B510F5E7-6C08-436E-8F47-61183901A71D}"/>
              </a:ext>
            </a:extLst>
          </p:cNvPr>
          <p:cNvSpPr/>
          <p:nvPr/>
        </p:nvSpPr>
        <p:spPr>
          <a:xfrm>
            <a:off x="9336360" y="5583266"/>
            <a:ext cx="576064" cy="57606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="" xmlns:a16="http://schemas.microsoft.com/office/drawing/2014/main" id="{40328433-E9E0-4819-82E2-50D405BA73BA}"/>
              </a:ext>
            </a:extLst>
          </p:cNvPr>
          <p:cNvSpPr/>
          <p:nvPr/>
        </p:nvSpPr>
        <p:spPr>
          <a:xfrm>
            <a:off x="7752184" y="4071098"/>
            <a:ext cx="576064" cy="57606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="" xmlns:a16="http://schemas.microsoft.com/office/drawing/2014/main" id="{4AC74242-F2C4-4519-8E0D-3CE7998A9A56}"/>
              </a:ext>
            </a:extLst>
          </p:cNvPr>
          <p:cNvSpPr/>
          <p:nvPr/>
        </p:nvSpPr>
        <p:spPr>
          <a:xfrm>
            <a:off x="10848528" y="4071098"/>
            <a:ext cx="576064" cy="57606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="" xmlns:a16="http://schemas.microsoft.com/office/drawing/2014/main" id="{784C86D7-EFD1-4682-8D29-2489F9AE24E6}"/>
              </a:ext>
            </a:extLst>
          </p:cNvPr>
          <p:cNvSpPr/>
          <p:nvPr/>
        </p:nvSpPr>
        <p:spPr>
          <a:xfrm>
            <a:off x="8256240" y="2990978"/>
            <a:ext cx="576064" cy="57606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="" xmlns:a16="http://schemas.microsoft.com/office/drawing/2014/main" id="{743F646D-3BB6-41F8-BB2A-286C78BEAE01}"/>
              </a:ext>
            </a:extLst>
          </p:cNvPr>
          <p:cNvSpPr/>
          <p:nvPr/>
        </p:nvSpPr>
        <p:spPr>
          <a:xfrm>
            <a:off x="8256240" y="5079210"/>
            <a:ext cx="576064" cy="57606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="" xmlns:a16="http://schemas.microsoft.com/office/drawing/2014/main" id="{D047BB0E-1288-444F-BCB5-A6DA653A27D2}"/>
              </a:ext>
            </a:extLst>
          </p:cNvPr>
          <p:cNvSpPr/>
          <p:nvPr/>
        </p:nvSpPr>
        <p:spPr>
          <a:xfrm>
            <a:off x="10416480" y="2990978"/>
            <a:ext cx="576064" cy="57606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="" xmlns:a16="http://schemas.microsoft.com/office/drawing/2014/main" id="{18E2ED3D-3C68-4603-9783-4CEDFB790712}"/>
              </a:ext>
            </a:extLst>
          </p:cNvPr>
          <p:cNvSpPr/>
          <p:nvPr/>
        </p:nvSpPr>
        <p:spPr>
          <a:xfrm>
            <a:off x="10488488" y="5079210"/>
            <a:ext cx="576064" cy="57606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9E91BA92-8F1E-49D1-AC75-B4377932C00A}"/>
              </a:ext>
            </a:extLst>
          </p:cNvPr>
          <p:cNvSpPr/>
          <p:nvPr/>
        </p:nvSpPr>
        <p:spPr>
          <a:xfrm>
            <a:off x="3575720" y="3134994"/>
            <a:ext cx="648072" cy="1499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BF69E96-991F-4AB2-BAA9-DF1B05C6CFA1}"/>
              </a:ext>
            </a:extLst>
          </p:cNvPr>
          <p:cNvSpPr txBox="1"/>
          <p:nvPr/>
        </p:nvSpPr>
        <p:spPr>
          <a:xfrm>
            <a:off x="4655840" y="3005046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Remainder section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="" xmlns:a16="http://schemas.microsoft.com/office/drawing/2014/main" id="{FA32FD62-8043-470A-92FB-77CCB3214DAE}"/>
              </a:ext>
            </a:extLst>
          </p:cNvPr>
          <p:cNvSpPr/>
          <p:nvPr/>
        </p:nvSpPr>
        <p:spPr>
          <a:xfrm>
            <a:off x="3575720" y="3846980"/>
            <a:ext cx="648072" cy="149990"/>
          </a:xfrm>
          <a:prstGeom prst="rect">
            <a:avLst/>
          </a:prstGeom>
          <a:solidFill>
            <a:srgbClr val="FEBB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38D7F6B8-8CA6-4230-BAEF-B4BA5BAA7E67}"/>
              </a:ext>
            </a:extLst>
          </p:cNvPr>
          <p:cNvSpPr txBox="1"/>
          <p:nvPr/>
        </p:nvSpPr>
        <p:spPr>
          <a:xfrm>
            <a:off x="4655840" y="3717032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Ready to entry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="" xmlns:a16="http://schemas.microsoft.com/office/drawing/2014/main" id="{919C4B70-DAC3-45B9-BDAC-1032040AD8EC}"/>
              </a:ext>
            </a:extLst>
          </p:cNvPr>
          <p:cNvSpPr/>
          <p:nvPr/>
        </p:nvSpPr>
        <p:spPr>
          <a:xfrm>
            <a:off x="3575720" y="4639068"/>
            <a:ext cx="648072" cy="149990"/>
          </a:xfrm>
          <a:prstGeom prst="rect">
            <a:avLst/>
          </a:prstGeom>
          <a:solidFill>
            <a:srgbClr val="33FD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FCF0F4D1-AABA-45A4-8D9D-4CB9D11C4067}"/>
              </a:ext>
            </a:extLst>
          </p:cNvPr>
          <p:cNvSpPr txBox="1"/>
          <p:nvPr/>
        </p:nvSpPr>
        <p:spPr>
          <a:xfrm>
            <a:off x="4655840" y="4509120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Critical section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="" xmlns:a16="http://schemas.microsoft.com/office/drawing/2014/main" id="{A621CE37-8814-4B1B-AE3D-C75552427860}"/>
              </a:ext>
            </a:extLst>
          </p:cNvPr>
          <p:cNvSpPr/>
          <p:nvPr/>
        </p:nvSpPr>
        <p:spPr>
          <a:xfrm>
            <a:off x="9436504" y="2665048"/>
            <a:ext cx="360000" cy="360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="" xmlns:a16="http://schemas.microsoft.com/office/drawing/2014/main" id="{ECDD0FA1-42CC-4092-8133-446287B9CB0B}"/>
              </a:ext>
            </a:extLst>
          </p:cNvPr>
          <p:cNvCxnSpPr>
            <a:stCxn id="9" idx="6"/>
            <a:endCxn id="19" idx="1"/>
          </p:cNvCxnSpPr>
          <p:nvPr/>
        </p:nvCxnSpPr>
        <p:spPr>
          <a:xfrm>
            <a:off x="9912424" y="2846962"/>
            <a:ext cx="588419" cy="2283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Овал 25">
            <a:extLst>
              <a:ext uri="{FF2B5EF4-FFF2-40B4-BE49-F238E27FC236}">
                <a16:creationId xmlns="" xmlns:a16="http://schemas.microsoft.com/office/drawing/2014/main" id="{75D8F804-25AF-4ABC-8037-31C3A90AC996}"/>
              </a:ext>
            </a:extLst>
          </p:cNvPr>
          <p:cNvSpPr/>
          <p:nvPr/>
        </p:nvSpPr>
        <p:spPr>
          <a:xfrm>
            <a:off x="9984432" y="2766900"/>
            <a:ext cx="360000" cy="360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="" xmlns:a16="http://schemas.microsoft.com/office/drawing/2014/main" id="{67DDE177-EA9A-4287-9403-67B00F6C16A5}"/>
              </a:ext>
            </a:extLst>
          </p:cNvPr>
          <p:cNvSpPr/>
          <p:nvPr/>
        </p:nvSpPr>
        <p:spPr>
          <a:xfrm>
            <a:off x="10516624" y="3112872"/>
            <a:ext cx="360000" cy="360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="" xmlns:a16="http://schemas.microsoft.com/office/drawing/2014/main" id="{2487B54E-B40B-41CC-BC73-17E0E55ADA45}"/>
              </a:ext>
            </a:extLst>
          </p:cNvPr>
          <p:cNvCxnSpPr>
            <a:cxnSpLocks/>
            <a:stCxn id="19" idx="5"/>
            <a:endCxn id="16" idx="0"/>
          </p:cNvCxnSpPr>
          <p:nvPr/>
        </p:nvCxnSpPr>
        <p:spPr>
          <a:xfrm>
            <a:off x="10908181" y="3482679"/>
            <a:ext cx="228379" cy="5884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Овал 31">
            <a:extLst>
              <a:ext uri="{FF2B5EF4-FFF2-40B4-BE49-F238E27FC236}">
                <a16:creationId xmlns="" xmlns:a16="http://schemas.microsoft.com/office/drawing/2014/main" id="{387FE4E1-C8FA-4D42-90B0-97C0CEA06617}"/>
              </a:ext>
            </a:extLst>
          </p:cNvPr>
          <p:cNvSpPr/>
          <p:nvPr/>
        </p:nvSpPr>
        <p:spPr>
          <a:xfrm>
            <a:off x="10820432" y="3573016"/>
            <a:ext cx="360000" cy="360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="" xmlns:a16="http://schemas.microsoft.com/office/drawing/2014/main" id="{22799847-1597-495B-81EA-6BDCCE169EB7}"/>
              </a:ext>
            </a:extLst>
          </p:cNvPr>
          <p:cNvSpPr/>
          <p:nvPr/>
        </p:nvSpPr>
        <p:spPr>
          <a:xfrm>
            <a:off x="10944696" y="4177216"/>
            <a:ext cx="360000" cy="360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="" xmlns:a16="http://schemas.microsoft.com/office/drawing/2014/main" id="{8ED7E41E-E411-4012-BC77-8AE59FBD0B38}"/>
              </a:ext>
            </a:extLst>
          </p:cNvPr>
          <p:cNvCxnSpPr>
            <a:cxnSpLocks/>
            <a:stCxn id="16" idx="4"/>
            <a:endCxn id="21" idx="7"/>
          </p:cNvCxnSpPr>
          <p:nvPr/>
        </p:nvCxnSpPr>
        <p:spPr>
          <a:xfrm flipH="1">
            <a:off x="10980189" y="4647162"/>
            <a:ext cx="156371" cy="5164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Овал 36">
            <a:extLst>
              <a:ext uri="{FF2B5EF4-FFF2-40B4-BE49-F238E27FC236}">
                <a16:creationId xmlns="" xmlns:a16="http://schemas.microsoft.com/office/drawing/2014/main" id="{9717A485-20D4-4883-B639-A425D15B4CFF}"/>
              </a:ext>
            </a:extLst>
          </p:cNvPr>
          <p:cNvSpPr/>
          <p:nvPr/>
        </p:nvSpPr>
        <p:spPr>
          <a:xfrm>
            <a:off x="10890732" y="4697008"/>
            <a:ext cx="360000" cy="360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>
            <a:extLst>
              <a:ext uri="{FF2B5EF4-FFF2-40B4-BE49-F238E27FC236}">
                <a16:creationId xmlns="" xmlns:a16="http://schemas.microsoft.com/office/drawing/2014/main" id="{6401633A-3C91-46AC-A6E4-88F66B5209DB}"/>
              </a:ext>
            </a:extLst>
          </p:cNvPr>
          <p:cNvSpPr/>
          <p:nvPr/>
        </p:nvSpPr>
        <p:spPr>
          <a:xfrm>
            <a:off x="10596021" y="5185328"/>
            <a:ext cx="360000" cy="360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="" xmlns:a16="http://schemas.microsoft.com/office/drawing/2014/main" id="{90CD72D0-9AA4-4102-8DFF-6D18A36FF66C}"/>
              </a:ext>
            </a:extLst>
          </p:cNvPr>
          <p:cNvCxnSpPr>
            <a:cxnSpLocks/>
            <a:stCxn id="21" idx="3"/>
            <a:endCxn id="10" idx="6"/>
          </p:cNvCxnSpPr>
          <p:nvPr/>
        </p:nvCxnSpPr>
        <p:spPr>
          <a:xfrm flipH="1">
            <a:off x="9912424" y="5570911"/>
            <a:ext cx="660427" cy="3003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Овал 41">
            <a:extLst>
              <a:ext uri="{FF2B5EF4-FFF2-40B4-BE49-F238E27FC236}">
                <a16:creationId xmlns="" xmlns:a16="http://schemas.microsoft.com/office/drawing/2014/main" id="{12FC870E-80E1-4BEB-9A3A-3C7967AC31EA}"/>
              </a:ext>
            </a:extLst>
          </p:cNvPr>
          <p:cNvSpPr/>
          <p:nvPr/>
        </p:nvSpPr>
        <p:spPr>
          <a:xfrm>
            <a:off x="10070508" y="5531340"/>
            <a:ext cx="360000" cy="360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extLst>
              <a:ext uri="{FF2B5EF4-FFF2-40B4-BE49-F238E27FC236}">
                <a16:creationId xmlns="" xmlns:a16="http://schemas.microsoft.com/office/drawing/2014/main" id="{16C74349-1E6D-4B8C-9DA1-28E1794B2D2D}"/>
              </a:ext>
            </a:extLst>
          </p:cNvPr>
          <p:cNvSpPr/>
          <p:nvPr/>
        </p:nvSpPr>
        <p:spPr>
          <a:xfrm>
            <a:off x="9438212" y="5697808"/>
            <a:ext cx="360000" cy="360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="" xmlns:a16="http://schemas.microsoft.com/office/drawing/2014/main" id="{92048992-A61F-4542-871D-14D2034EDF44}"/>
              </a:ext>
            </a:extLst>
          </p:cNvPr>
          <p:cNvCxnSpPr>
            <a:cxnSpLocks/>
            <a:stCxn id="10" idx="2"/>
            <a:endCxn id="18" idx="5"/>
          </p:cNvCxnSpPr>
          <p:nvPr/>
        </p:nvCxnSpPr>
        <p:spPr>
          <a:xfrm flipH="1" flipV="1">
            <a:off x="8747941" y="5570911"/>
            <a:ext cx="588419" cy="3003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Овал 46">
            <a:extLst>
              <a:ext uri="{FF2B5EF4-FFF2-40B4-BE49-F238E27FC236}">
                <a16:creationId xmlns="" xmlns:a16="http://schemas.microsoft.com/office/drawing/2014/main" id="{3FA644E5-92FA-47C9-B22B-F422A55B6CCC}"/>
              </a:ext>
            </a:extLst>
          </p:cNvPr>
          <p:cNvSpPr/>
          <p:nvPr/>
        </p:nvSpPr>
        <p:spPr>
          <a:xfrm>
            <a:off x="8874508" y="5545408"/>
            <a:ext cx="360000" cy="360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Овал 47">
            <a:extLst>
              <a:ext uri="{FF2B5EF4-FFF2-40B4-BE49-F238E27FC236}">
                <a16:creationId xmlns="" xmlns:a16="http://schemas.microsoft.com/office/drawing/2014/main" id="{CEF3F6BB-49FD-404F-8234-B04CF98F3F04}"/>
              </a:ext>
            </a:extLst>
          </p:cNvPr>
          <p:cNvSpPr/>
          <p:nvPr/>
        </p:nvSpPr>
        <p:spPr>
          <a:xfrm>
            <a:off x="8356384" y="5185328"/>
            <a:ext cx="360000" cy="360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 стрелкой 48">
            <a:extLst>
              <a:ext uri="{FF2B5EF4-FFF2-40B4-BE49-F238E27FC236}">
                <a16:creationId xmlns="" xmlns:a16="http://schemas.microsoft.com/office/drawing/2014/main" id="{B3946388-083E-4DBB-AF75-2E730FBA719B}"/>
              </a:ext>
            </a:extLst>
          </p:cNvPr>
          <p:cNvCxnSpPr>
            <a:cxnSpLocks/>
            <a:stCxn id="18" idx="1"/>
            <a:endCxn id="15" idx="4"/>
          </p:cNvCxnSpPr>
          <p:nvPr/>
        </p:nvCxnSpPr>
        <p:spPr>
          <a:xfrm flipH="1" flipV="1">
            <a:off x="8040216" y="4647162"/>
            <a:ext cx="300387" cy="5164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Овал 51">
            <a:extLst>
              <a:ext uri="{FF2B5EF4-FFF2-40B4-BE49-F238E27FC236}">
                <a16:creationId xmlns="" xmlns:a16="http://schemas.microsoft.com/office/drawing/2014/main" id="{D19E9867-C488-4925-8045-EEF0D205CD80}"/>
              </a:ext>
            </a:extLst>
          </p:cNvPr>
          <p:cNvSpPr/>
          <p:nvPr/>
        </p:nvSpPr>
        <p:spPr>
          <a:xfrm>
            <a:off x="8024480" y="4725184"/>
            <a:ext cx="360000" cy="360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49258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EBBA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EBBA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3FD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EBBA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6D9F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EBBA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9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3FD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3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6D9F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9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22" grpId="0" animBg="1"/>
      <p:bldP spid="23" grpId="0"/>
      <p:bldP spid="24" grpId="0" animBg="1"/>
      <p:bldP spid="25" grpId="0"/>
      <p:bldP spid="4" grpId="0" animBg="1"/>
      <p:bldP spid="4" grpId="1" animBg="1"/>
      <p:bldP spid="26" grpId="0" animBg="1"/>
      <p:bldP spid="26" grpId="1" animBg="1"/>
      <p:bldP spid="27" grpId="0" animBg="1"/>
      <p:bldP spid="27" grpId="1" animBg="1"/>
      <p:bldP spid="32" grpId="0" animBg="1"/>
      <p:bldP spid="32" grpId="1" animBg="1"/>
      <p:bldP spid="33" grpId="0" animBg="1"/>
      <p:bldP spid="33" grpId="1" animBg="1"/>
      <p:bldP spid="37" grpId="0" animBg="1"/>
      <p:bldP spid="37" grpId="1" animBg="1"/>
      <p:bldP spid="38" grpId="0" animBg="1"/>
      <p:bldP spid="38" grpId="1" animBg="1"/>
      <p:bldP spid="42" grpId="0" animBg="1"/>
      <p:bldP spid="42" grpId="1" animBg="1"/>
      <p:bldP spid="43" grpId="0" animBg="1"/>
      <p:bldP spid="43" grpId="1" animBg="1"/>
      <p:bldP spid="47" grpId="0" animBg="1"/>
      <p:bldP spid="47" grpId="1" animBg="1"/>
      <p:bldP spid="48" grpId="0" animBg="1"/>
      <p:bldP spid="48" grpId="1" animBg="1"/>
      <p:bldP spid="5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WordArt 3"/>
          <p:cNvSpPr>
            <a:spLocks noChangeArrowheads="1" noChangeShapeType="1" noTextEdit="1"/>
          </p:cNvSpPr>
          <p:nvPr/>
        </p:nvSpPr>
        <p:spPr bwMode="gray">
          <a:xfrm>
            <a:off x="8899201" y="1585914"/>
            <a:ext cx="1322388" cy="2166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0C0C0"/>
                    </a:gs>
                    <a:gs pos="100000">
                      <a:srgbClr val="484848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2" name="WordArt 8"/>
          <p:cNvSpPr>
            <a:spLocks noChangeArrowheads="1" noChangeShapeType="1" noTextEdit="1"/>
          </p:cNvSpPr>
          <p:nvPr/>
        </p:nvSpPr>
        <p:spPr bwMode="gray">
          <a:xfrm>
            <a:off x="8081640" y="2536826"/>
            <a:ext cx="1004887" cy="164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B4B4B4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3" name="WordArt 9"/>
          <p:cNvSpPr>
            <a:spLocks noChangeArrowheads="1" noChangeShapeType="1" noTextEdit="1"/>
          </p:cNvSpPr>
          <p:nvPr/>
        </p:nvSpPr>
        <p:spPr bwMode="gray">
          <a:xfrm>
            <a:off x="9518327" y="2484439"/>
            <a:ext cx="1546225" cy="2535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 dirty="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1C4FF"/>
                    </a:gs>
                    <a:gs pos="100000">
                      <a:srgbClr val="2A79FF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xmlns="" val="155659519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5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2003</Words>
  <Application>Microsoft Office PowerPoint</Application>
  <PresentationFormat>Произвольный</PresentationFormat>
  <Paragraphs>810</Paragraphs>
  <Slides>50</Slides>
  <Notes>50</Notes>
  <HiddenSlides>0</HiddenSlides>
  <MMClips>0</MMClips>
  <ScaleCrop>false</ScaleCrop>
  <HeadingPairs>
    <vt:vector size="4" baseType="variant">
      <vt:variant>
        <vt:lpstr>Тема</vt:lpstr>
      </vt:variant>
      <vt:variant>
        <vt:i4>6</vt:i4>
      </vt:variant>
      <vt:variant>
        <vt:lpstr>Заголовки слайдов</vt:lpstr>
      </vt:variant>
      <vt:variant>
        <vt:i4>50</vt:i4>
      </vt:variant>
    </vt:vector>
  </HeadingPairs>
  <TitlesOfParts>
    <vt:vector size="56" baseType="lpstr">
      <vt:lpstr>1_Тема Office</vt:lpstr>
      <vt:lpstr>2_Тема Office</vt:lpstr>
      <vt:lpstr>Larissa-Design</vt:lpstr>
      <vt:lpstr>Тема Office</vt:lpstr>
      <vt:lpstr>3_Тема Office</vt:lpstr>
      <vt:lpstr>5_Тема Office</vt:lpstr>
      <vt:lpstr>Слайд 1</vt:lpstr>
      <vt:lpstr>Тема 8</vt:lpstr>
      <vt:lpstr>Алгоритмы взаимоисключения</vt:lpstr>
      <vt:lpstr>Алгоритмы взаимоисключения</vt:lpstr>
      <vt:lpstr>Алгоритмы взаимоисключения</vt:lpstr>
      <vt:lpstr>Алгоритмы взаимоисключения</vt:lpstr>
      <vt:lpstr>Алгоритмы взаимоисключения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Логические часы </vt:lpstr>
      <vt:lpstr>Логические часы 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  <vt:lpstr>Слайд 41</vt:lpstr>
      <vt:lpstr>Слайд 42</vt:lpstr>
      <vt:lpstr>Слайд 43</vt:lpstr>
      <vt:lpstr>Слайд 44</vt:lpstr>
      <vt:lpstr>Слайд 45</vt:lpstr>
      <vt:lpstr>Слайд 46</vt:lpstr>
      <vt:lpstr>Слайд 47</vt:lpstr>
      <vt:lpstr>Слайд 48</vt:lpstr>
      <vt:lpstr>Слайд 49</vt:lpstr>
      <vt:lpstr>Слайд 50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>wuser</cp:lastModifiedBy>
  <cp:revision>4</cp:revision>
  <dcterms:created xsi:type="dcterms:W3CDTF">2016-02-27T09:01:20Z</dcterms:created>
  <dcterms:modified xsi:type="dcterms:W3CDTF">2026-04-14T09:28:46Z</dcterms:modified>
</cp:coreProperties>
</file>