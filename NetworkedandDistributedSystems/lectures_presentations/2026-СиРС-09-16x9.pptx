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  <p:sldMasterId id="2147483666" r:id="rId2"/>
    <p:sldMasterId id="2147483672" r:id="rId3"/>
    <p:sldMasterId id="2147483678" r:id="rId4"/>
  </p:sldMasterIdLst>
  <p:notesMasterIdLst>
    <p:notesMasterId r:id="rId31"/>
  </p:notesMasterIdLst>
  <p:sldIdLst>
    <p:sldId id="257" r:id="rId5"/>
    <p:sldId id="437" r:id="rId6"/>
    <p:sldId id="439" r:id="rId7"/>
    <p:sldId id="464" r:id="rId8"/>
    <p:sldId id="465" r:id="rId9"/>
    <p:sldId id="466" r:id="rId10"/>
    <p:sldId id="467" r:id="rId11"/>
    <p:sldId id="468" r:id="rId12"/>
    <p:sldId id="469" r:id="rId13"/>
    <p:sldId id="470" r:id="rId14"/>
    <p:sldId id="471" r:id="rId15"/>
    <p:sldId id="479" r:id="rId16"/>
    <p:sldId id="472" r:id="rId17"/>
    <p:sldId id="478" r:id="rId18"/>
    <p:sldId id="473" r:id="rId19"/>
    <p:sldId id="474" r:id="rId20"/>
    <p:sldId id="475" r:id="rId21"/>
    <p:sldId id="476" r:id="rId22"/>
    <p:sldId id="477" r:id="rId23"/>
    <p:sldId id="480" r:id="rId24"/>
    <p:sldId id="481" r:id="rId25"/>
    <p:sldId id="485" r:id="rId26"/>
    <p:sldId id="482" r:id="rId27"/>
    <p:sldId id="484" r:id="rId28"/>
    <p:sldId id="483" r:id="rId29"/>
    <p:sldId id="271" r:id="rId30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0606"/>
    <a:srgbClr val="008000"/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28" autoAdjust="0"/>
    <p:restoredTop sz="91335" autoAdjust="0"/>
  </p:normalViewPr>
  <p:slideViewPr>
    <p:cSldViewPr>
      <p:cViewPr varScale="1">
        <p:scale>
          <a:sx n="87" d="100"/>
          <a:sy n="87" d="100"/>
        </p:scale>
        <p:origin x="120" y="750"/>
      </p:cViewPr>
      <p:guideLst>
        <p:guide orient="horz" pos="36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FE918CA-A6C8-47AD-BA93-FCB7C71A67F8}" type="datetimeFigureOut">
              <a:rPr lang="ru-RU"/>
              <a:pPr>
                <a:defRPr/>
              </a:pPr>
              <a:t>21.04.2026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B95F50A5-3461-4FCD-BA66-BBC741FF2B1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4274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noProof="1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258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19459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9BAB8869-877E-43F6-9593-FF692F158AF8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ru-RU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940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98F542A-A93D-4F23-9CE1-EF77600A53DA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846BC758-A080-4A1B-8558-2E17F4E17DA4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3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98964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E78DD9B-4DB5-4F2C-84E6-49F3B0363A28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23554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783F155C-5615-4F73-8BD2-CDDCFAD25594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4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152030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6A0EE21-0021-4F61-B093-AE7B5536EB5E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25602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FF32BA0C-4B88-4CEF-B367-ABA27509BA61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5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45395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EC656B8-473C-47A7-902B-F9E18DC13D34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27650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91DACAA5-522A-49D5-AD8D-21559425627A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6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49577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888D5FA-4E98-46B1-8F2D-936333647C8D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29698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4BF32759-98F0-400F-A180-DEB4DDE2DB9C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7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39898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DBDCE7D-60B3-481E-B95A-0FF7AF005EC7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31746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C98C7406-906C-47A1-82C4-5C37770F1823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8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03256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7FDD4EF-8FE0-43EC-8FBF-9C760D461663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33794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142FB692-E8C8-4DCC-895E-1C59F986FF5D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9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7021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D90282D-6B44-45C8-9111-DECB89FC3812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35842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CFBF2BE3-ACEB-4886-A35D-38B8F72C12D4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10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72300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14EFDFE-9E66-463A-8015-F049F351BD17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37890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A4003970-D06B-4846-8670-1185AC71499B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11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2523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BE6CD3E-1221-41F0-8BB5-374C8459B680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39938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950DF4EE-D971-431F-8550-A20A1DCCAA6D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12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957333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253C257-D1D6-4FC6-964B-DFA2427E1027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41986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6F1028DE-5B3E-4605-ABA8-9191CEF218BA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13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16190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7C14335-E202-420B-9C7A-0E2C8B42680A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44034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B73370E0-99E4-4DEC-BE49-6724AB9A4B36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14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556785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75C742C-ED21-49D1-AB7A-7CD2786257A5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46082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8B401A16-7B60-481F-BE65-34B48F5F6BC3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15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12252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24599A9-6AF2-4C04-84B4-D2A0A0297197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48130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CE7D8415-1A4E-427D-AE55-E299252C31AD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16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57777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82DDA6C-CAE0-4E23-B3E8-8EDC2F5E7A78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50178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8D97D4CC-BBAD-45BF-A584-D601AD701992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17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86887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5D290E8-6675-4EEF-B12C-EF805658DA46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52226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E9690F57-8AB2-440B-A0C0-EE937101D835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18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157751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B5AEC70-62C1-4EDF-B27D-5A4B78655C3A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54274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EC1D736E-1435-4C54-85A1-10FE16FCF538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19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75471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3E7E50E-9A25-41DF-A82B-64E55D0F2CD8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56322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FD41E175-DBF0-49BD-BD0A-3CB435D2495B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20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3963436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9B6D50F-F215-4FAD-957B-98822B1D6E16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BCB5F105-8E67-486F-AD39-F47E034AF837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21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746675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3E7E50E-9A25-41DF-A82B-64E55D0F2CD8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56322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FD41E175-DBF0-49BD-BD0A-3CB435D2495B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22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279387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5D7318D-D2D4-462A-904D-064429CCE574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60418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5F7CF016-AB88-48EC-9D3C-6772D8B4CDB5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23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8409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5D7318D-D2D4-462A-904D-064429CCE574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60418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5F7CF016-AB88-48EC-9D3C-6772D8B4CDB5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24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376746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F40BDD6-B514-4925-B360-AA4EC9F73E82}" type="slidenum">
              <a:rPr 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de-DE">
              <a:solidFill>
                <a:srgbClr val="000000"/>
              </a:solidFill>
            </a:endParaRPr>
          </a:p>
        </p:txBody>
      </p:sp>
      <p:sp>
        <p:nvSpPr>
          <p:cNvPr id="62466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80C765A9-CC73-4AA4-B428-06E0AD9C4A7C}" type="slidenum">
              <a:rPr lang="en-GB" sz="1300">
                <a:solidFill>
                  <a:srgbClr val="000000"/>
                </a:solidFill>
                <a:latin typeface="Calibri" pitchFamily="34" charset="0"/>
                <a:cs typeface="Arial" charset="0"/>
              </a:rPr>
              <a:pPr algn="r" defTabSz="947738"/>
              <a:t>25</a:t>
            </a:fld>
            <a:endParaRPr lang="en-GB" sz="1300">
              <a:solidFill>
                <a:srgbClr val="000000"/>
              </a:solidFill>
              <a:latin typeface="Calibri" pitchFamily="34" charset="0"/>
              <a:cs typeface="Arial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lIns="94824" tIns="47416" rIns="94824" bIns="47416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noProof="1">
                <a:cs typeface="Arial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581283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D1F2D46-2B0D-4A22-BD76-D2DE18C1E3CC}" type="slidenum">
              <a:rPr lang="de-DE" altLang="ru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de-DE" altLang="ru-RU">
              <a:solidFill>
                <a:srgbClr val="000000"/>
              </a:solidFill>
            </a:endParaRPr>
          </a:p>
        </p:txBody>
      </p:sp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1887371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/>
              <a:t>Стр. </a:t>
            </a:r>
            <a:fld id="{D766541D-1F74-42CB-A8B2-6ED16CD1E2C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/>
              <a:t>Стр. </a:t>
            </a:r>
            <a:fld id="{E6056983-1F60-4D06-9778-08111D026CA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CCDC8889-511F-4BAA-927A-8D78DA2A4F36}" type="slidenum">
              <a:rPr lang="de-DE" altLang="ru-RU" smtClean="0"/>
              <a:pPr>
                <a:defRPr/>
              </a:pPr>
              <a:t>‹#›</a:t>
            </a:fld>
            <a:endParaRPr lang="de-DE" altLang="ru-RU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2B86B5F5-2455-4E18-8239-9A9865539A30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9F1365C2-769D-41F3-91E0-D91FC6EF113E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49FB7EEA-F401-40C5-99AC-C05C91064699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4A7EBF09-5269-4983-9A5F-2FD1466B285C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/>
              <a:t>Стр. </a:t>
            </a:r>
            <a:fld id="{87C1439B-6782-4BF8-A037-9E1336E2269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1" sz="1600">
                <a:solidFill>
                  <a:srgbClr val="FFFFFF"/>
                </a:solidFill>
                <a:ea typeface="Arial Unicode MS" pitchFamily="34" charset="-128"/>
                <a:cs typeface="Arial" charset="0"/>
              </a:defRPr>
            </a:lvl1pPr>
          </a:lstStyle>
          <a:p>
            <a:endParaRPr lang="de-DE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600">
                <a:solidFill>
                  <a:srgbClr val="000000"/>
                </a:solidFill>
                <a:cs typeface="Arial" charset="0"/>
              </a:defRPr>
            </a:lvl1pPr>
          </a:lstStyle>
          <a:p>
            <a:r>
              <a:rPr lang="ru-RU"/>
              <a:t>Стр. </a:t>
            </a:r>
            <a:fld id="{31128D43-DD4B-43B0-A6C8-CFCD9EDAB353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075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1" sz="1600">
                <a:solidFill>
                  <a:srgbClr val="FFFFFF"/>
                </a:solidFill>
                <a:ea typeface="Arial Unicode MS" pitchFamily="34" charset="-128"/>
                <a:cs typeface="Arial" charset="0"/>
              </a:defRPr>
            </a:lvl1pPr>
          </a:lstStyle>
          <a:p>
            <a:endParaRPr lang="de-DE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600">
                <a:solidFill>
                  <a:srgbClr val="000000"/>
                </a:solidFill>
                <a:cs typeface="Arial" charset="0"/>
              </a:defRPr>
            </a:lvl1pPr>
          </a:lstStyle>
          <a:p>
            <a:r>
              <a:rPr lang="ru-RU"/>
              <a:t>Стр. </a:t>
            </a:r>
            <a:fld id="{FEB7ECFB-9114-467E-81C8-44ED12927062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614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prstClr val="white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>
                <a:solidFill>
                  <a:prstClr val="black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/>
              <a:t>Стр. </a:t>
            </a:r>
            <a:fld id="{DE6945F3-61FF-43A4-9C5B-C9B56DDA6524}" type="slidenum">
              <a:rPr lang="de-DE" altLang="ru-RU"/>
              <a:pPr>
                <a:defRPr/>
              </a:pPr>
              <a:t>‹#›</a:t>
            </a:fld>
            <a:endParaRPr lang="de-DE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1229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1" sz="1600">
                <a:solidFill>
                  <a:srgbClr val="FFFFFF"/>
                </a:solidFill>
                <a:ea typeface="Arial Unicode MS" pitchFamily="34" charset="-128"/>
                <a:cs typeface="Arial" charset="0"/>
              </a:defRPr>
            </a:lvl1pPr>
          </a:lstStyle>
          <a:p>
            <a:endParaRPr lang="de-DE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600">
                <a:solidFill>
                  <a:srgbClr val="000000"/>
                </a:solidFill>
                <a:cs typeface="Arial" charset="0"/>
              </a:defRPr>
            </a:lvl1pPr>
          </a:lstStyle>
          <a:p>
            <a:r>
              <a:rPr lang="ru-RU"/>
              <a:t>Стр. </a:t>
            </a:r>
            <a:fld id="{39E63D5F-5F1E-4C7B-A0FF-0D4CE63DDE4B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resentationload.de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7" descr="Neutral Abstract 7 V1 F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24"/>
            <a:ext cx="1218161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hteck 19">
            <a:hlinkClick r:id="rId4"/>
          </p:cNvPr>
          <p:cNvSpPr/>
          <p:nvPr/>
        </p:nvSpPr>
        <p:spPr>
          <a:xfrm>
            <a:off x="9914666" y="6276976"/>
            <a:ext cx="2266950" cy="581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6387" name="Прямоугольник 3"/>
          <p:cNvSpPr>
            <a:spLocks noChangeArrowheads="1"/>
          </p:cNvSpPr>
          <p:nvPr/>
        </p:nvSpPr>
        <p:spPr bwMode="auto">
          <a:xfrm>
            <a:off x="3759929" y="2203451"/>
            <a:ext cx="75184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5400" dirty="0">
                <a:solidFill>
                  <a:srgbClr val="800000"/>
                </a:solidFill>
                <a:cs typeface="Arial" charset="0"/>
              </a:rPr>
              <a:t>Сетевые и Распределенные Системы</a:t>
            </a:r>
          </a:p>
          <a:p>
            <a:r>
              <a:rPr lang="en-US" sz="5400">
                <a:solidFill>
                  <a:srgbClr val="800000"/>
                </a:solidFill>
                <a:cs typeface="Arial" charset="0"/>
              </a:rPr>
              <a:t/>
            </a:r>
            <a:br>
              <a:rPr lang="en-US" sz="5400">
                <a:solidFill>
                  <a:srgbClr val="800000"/>
                </a:solidFill>
                <a:cs typeface="Arial" charset="0"/>
              </a:rPr>
            </a:br>
            <a:endParaRPr lang="ru-RU" sz="5400" dirty="0">
              <a:solidFill>
                <a:srgbClr val="800000"/>
              </a:solidFill>
              <a:cs typeface="Arial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Название 1"/>
          <p:cNvSpPr>
            <a:spLocks noGrp="1"/>
          </p:cNvSpPr>
          <p:nvPr>
            <p:ph type="title"/>
          </p:nvPr>
        </p:nvSpPr>
        <p:spPr>
          <a:xfrm>
            <a:off x="3120627" y="238125"/>
            <a:ext cx="8496300" cy="617538"/>
          </a:xfrm>
        </p:spPr>
        <p:txBody>
          <a:bodyPr/>
          <a:lstStyle/>
          <a:p>
            <a:pPr algn="l" eaLnBrk="1" hangingPunct="1"/>
            <a:r>
              <a:rPr kumimoji="0" lang="ru-RU" sz="3600" b="1" dirty="0">
                <a:solidFill>
                  <a:srgbClr val="003794"/>
                </a:solidFill>
                <a:latin typeface="Arial" charset="0"/>
              </a:rPr>
              <a:t>Тема</a:t>
            </a:r>
            <a:r>
              <a:rPr kumimoji="0" lang="en-US" sz="3600" b="1" dirty="0">
                <a:solidFill>
                  <a:srgbClr val="003794"/>
                </a:solidFill>
                <a:latin typeface="Arial" charset="0"/>
              </a:rPr>
              <a:t> </a:t>
            </a:r>
            <a:r>
              <a:rPr kumimoji="0" lang="ru-RU" sz="3600" b="1" smtClean="0">
                <a:solidFill>
                  <a:srgbClr val="003794"/>
                </a:solidFill>
                <a:latin typeface="Arial" charset="0"/>
              </a:rPr>
              <a:t>9</a:t>
            </a:r>
            <a:endParaRPr kumimoji="0" lang="ru-RU" sz="3600" b="1" dirty="0">
              <a:solidFill>
                <a:srgbClr val="003794"/>
              </a:solidFill>
              <a:latin typeface="Arial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722290" y="1069976"/>
            <a:ext cx="8134350" cy="371774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defTabSz="457200">
              <a:lnSpc>
                <a:spcPct val="120000"/>
              </a:lnSpc>
              <a:defRPr/>
            </a:pPr>
            <a:endParaRPr lang="en-US" sz="4000" dirty="0">
              <a:solidFill>
                <a:srgbClr val="003794"/>
              </a:solidFill>
              <a:latin typeface="Lucida Grande CY" pitchFamily="2" charset="-52"/>
              <a:cs typeface="Arial" pitchFamily="34" charset="0"/>
            </a:endParaRPr>
          </a:p>
          <a:p>
            <a:pPr marL="1440000" defTabSz="457200">
              <a:lnSpc>
                <a:spcPct val="120000"/>
              </a:lnSpc>
              <a:defRPr/>
            </a:pPr>
            <a:r>
              <a:rPr lang="ru-RU" sz="4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Распределенная общая память и модели </a:t>
            </a:r>
            <a:r>
              <a:rPr lang="ru-RU" sz="400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непротиворечивости памяти</a:t>
            </a:r>
            <a:endParaRPr lang="ru-RU" sz="4000" dirty="0">
              <a:solidFill>
                <a:srgbClr val="40404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Понятие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DSM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0483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Распределенная общая память</a:t>
            </a:r>
          </a:p>
        </p:txBody>
      </p:sp>
      <p:sp>
        <p:nvSpPr>
          <p:cNvPr id="2" name="Прямоугольник 1"/>
          <p:cNvSpPr>
            <a:spLocks noChangeArrowheads="1"/>
          </p:cNvSpPr>
          <p:nvPr/>
        </p:nvSpPr>
        <p:spPr bwMode="auto">
          <a:xfrm>
            <a:off x="3504357" y="1858963"/>
            <a:ext cx="8351837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2200" dirty="0">
                <a:cs typeface="Arial" charset="0"/>
              </a:rPr>
              <a:t>Распределенная общая память (DSM – </a:t>
            </a:r>
            <a:r>
              <a:rPr lang="en-US" sz="2200" dirty="0">
                <a:cs typeface="Arial" charset="0"/>
              </a:rPr>
              <a:t>Distributed shared memory) </a:t>
            </a:r>
            <a:r>
              <a:rPr lang="ru-RU" sz="2200" dirty="0">
                <a:cs typeface="Arial" charset="0"/>
              </a:rPr>
              <a:t>виртуальное адресное пространство, разделяемое всеми процессами распределенной системы. </a:t>
            </a:r>
            <a:endParaRPr lang="en-US" sz="2200" dirty="0">
              <a:cs typeface="Arial" charset="0"/>
            </a:endParaRPr>
          </a:p>
          <a:p>
            <a:pPr algn="ctr"/>
            <a:endParaRPr lang="ru-RU" sz="2200" dirty="0">
              <a:cs typeface="Arial" charset="0"/>
            </a:endParaRPr>
          </a:p>
          <a:p>
            <a:pPr algn="ctr"/>
            <a:r>
              <a:rPr lang="ru-RU" sz="2200" dirty="0">
                <a:cs typeface="Arial" charset="0"/>
              </a:rPr>
              <a:t>Процессы получают доступ к данным в DSM примерно так же, как они работают с данными в виртуальной памяти традиционных ЭВМ.</a:t>
            </a:r>
          </a:p>
          <a:p>
            <a:pPr algn="ctr"/>
            <a:endParaRPr lang="ru-RU" sz="2200" dirty="0">
              <a:cs typeface="Arial" charset="0"/>
            </a:endParaRPr>
          </a:p>
          <a:p>
            <a:pPr algn="ctr"/>
            <a:r>
              <a:rPr lang="ru-RU" sz="2200" dirty="0">
                <a:cs typeface="Arial" charset="0"/>
              </a:rPr>
              <a:t>В системах с DSM данные перемещаются между локальными памятями разных компьютеров аналогично тому, как они перемещаются между оперативной и внешней памятью одного компьютера.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Достоинства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DSM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2531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Распределенная общая память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504356" y="1916114"/>
            <a:ext cx="8496300" cy="4001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ru-RU" sz="2800" dirty="0">
                <a:cs typeface="Arial" charset="0"/>
              </a:rPr>
              <a:t>Отсутствие при программировании явных коммуникационных операций.</a:t>
            </a:r>
          </a:p>
          <a:p>
            <a:pPr marL="342900" indent="-342900">
              <a:spcBef>
                <a:spcPts val="1200"/>
              </a:spcBef>
              <a:buFontTx/>
              <a:buAutoNum type="arabicPeriod"/>
            </a:pPr>
            <a:r>
              <a:rPr lang="ru-RU" sz="2800" dirty="0">
                <a:cs typeface="Arial" charset="0"/>
              </a:rPr>
              <a:t>Возможность передавать структуры данных, содержащие указатели.</a:t>
            </a:r>
          </a:p>
          <a:p>
            <a:pPr marL="342900" indent="-342900">
              <a:spcBef>
                <a:spcPts val="1200"/>
              </a:spcBef>
              <a:buFontTx/>
              <a:buAutoNum type="arabicPeriod"/>
            </a:pPr>
            <a:r>
              <a:rPr lang="ru-RU" sz="2800" dirty="0">
                <a:cs typeface="Arial" charset="0"/>
              </a:rPr>
              <a:t>Нет ограниченности объемом физической памяти на одном узле.</a:t>
            </a:r>
          </a:p>
          <a:p>
            <a:pPr marL="342900" indent="-342900">
              <a:spcBef>
                <a:spcPts val="1200"/>
              </a:spcBef>
              <a:buFontTx/>
              <a:buAutoNum type="arabicPeriod"/>
            </a:pPr>
            <a:r>
              <a:rPr lang="ru-RU" sz="2800" dirty="0">
                <a:cs typeface="Arial" charset="0"/>
              </a:rPr>
              <a:t>Переносимость программ с мультипроцессоров на распределенные </a:t>
            </a:r>
            <a:r>
              <a:rPr lang="en-US" sz="2800" dirty="0">
                <a:cs typeface="Arial" charset="0"/>
              </a:rPr>
              <a:t>DSM </a:t>
            </a:r>
            <a:r>
              <a:rPr lang="ru-RU" sz="2800" dirty="0">
                <a:cs typeface="Arial" charset="0"/>
              </a:rPr>
              <a:t>системы. 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Алгоритмы реализацаии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DSM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4579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Распределенная общая память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504356" y="1916113"/>
            <a:ext cx="8280400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ru-RU" sz="2800" dirty="0">
                <a:cs typeface="Arial" charset="0"/>
              </a:rPr>
              <a:t>Как поддерживать информацию о расположении удаленных данных.</a:t>
            </a:r>
          </a:p>
          <a:p>
            <a:pPr marL="342900" indent="-342900">
              <a:spcBef>
                <a:spcPts val="2400"/>
              </a:spcBef>
              <a:buFontTx/>
              <a:buAutoNum type="arabicPeriod"/>
            </a:pPr>
            <a:r>
              <a:rPr lang="ru-RU" sz="2800" dirty="0">
                <a:cs typeface="Arial" charset="0"/>
              </a:rPr>
              <a:t>Как снизить коммуникационные задержки и накладные расходы.</a:t>
            </a:r>
          </a:p>
          <a:p>
            <a:pPr marL="342900" indent="-342900">
              <a:spcBef>
                <a:spcPts val="2400"/>
              </a:spcBef>
              <a:buFontTx/>
              <a:buAutoNum type="arabicPeriod"/>
            </a:pPr>
            <a:r>
              <a:rPr lang="ru-RU" sz="2800" dirty="0">
                <a:cs typeface="Arial" charset="0"/>
              </a:rPr>
              <a:t>Как сделать разделяемые данные доступными для процессов на разных узлах.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Алгоритмы реализацаии </a:t>
            </a: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DSM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6627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Распределенная общая память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4356" y="2348880"/>
            <a:ext cx="8280400" cy="32162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indent="-457200">
              <a:lnSpc>
                <a:spcPct val="80000"/>
              </a:lnSpc>
              <a:spcBef>
                <a:spcPct val="2000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/>
            </a:pPr>
            <a:r>
              <a:rPr lang="ru-RU" sz="3200" kern="0" dirty="0">
                <a:latin typeface="Arial"/>
              </a:rPr>
              <a:t>Алгоритм с центральным сервером</a:t>
            </a:r>
          </a:p>
          <a:p>
            <a:pPr marL="457200" indent="-457200">
              <a:lnSpc>
                <a:spcPct val="80000"/>
              </a:lnSpc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/>
            </a:pPr>
            <a:r>
              <a:rPr lang="ru-RU" sz="3200" kern="0" dirty="0">
                <a:latin typeface="Arial"/>
              </a:rPr>
              <a:t>Миграционный алгоритм</a:t>
            </a:r>
          </a:p>
          <a:p>
            <a:pPr marL="457200" indent="-457200">
              <a:lnSpc>
                <a:spcPct val="80000"/>
              </a:lnSpc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/>
            </a:pPr>
            <a:r>
              <a:rPr lang="ru-RU" sz="3200" kern="0" dirty="0">
                <a:latin typeface="Arial"/>
              </a:rPr>
              <a:t>Алгоритм размножения для чтения</a:t>
            </a:r>
          </a:p>
          <a:p>
            <a:pPr marL="457200" indent="-457200">
              <a:lnSpc>
                <a:spcPct val="80000"/>
              </a:lnSpc>
              <a:spcBef>
                <a:spcPts val="1800"/>
              </a:spcBef>
              <a:spcAft>
                <a:spcPts val="1200"/>
              </a:spcAft>
              <a:buFont typeface="Wingdings" panose="05000000000000000000" pitchFamily="2" charset="2"/>
              <a:buChar char="§"/>
              <a:defRPr/>
            </a:pPr>
            <a:r>
              <a:rPr lang="ru-RU" sz="3200" kern="0" dirty="0">
                <a:latin typeface="Arial"/>
              </a:rPr>
              <a:t>Алгоритм  размножения для чтения и записи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11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Поятие модели непротиворечивости</a:t>
            </a:r>
          </a:p>
        </p:txBody>
      </p:sp>
      <p:sp>
        <p:nvSpPr>
          <p:cNvPr id="28675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04356" y="1916113"/>
            <a:ext cx="8280400" cy="397031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  <a:spcAft>
                <a:spcPts val="1200"/>
              </a:spcAft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Модель непротиворечивости представляет собой некоторый договор между программами и памятью, в котором указывается, что при соблюдении программами определенных правил работа модуля памяти будет корректной, если же правила программой будут нарушены, то память не гарантирует правильность выполнения операций чтения/записи.</a:t>
            </a:r>
            <a:endParaRPr lang="ru-RU" sz="28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Строгая непротиворечивость</a:t>
            </a:r>
          </a:p>
        </p:txBody>
      </p:sp>
      <p:sp>
        <p:nvSpPr>
          <p:cNvPr id="30723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altLang="ru-RU" sz="2400" kern="0" dirty="0">
                <a:effectLst/>
                <a:latin typeface="Arial"/>
              </a:rPr>
              <a:t>Модель непротиворечивости, удовлетворяющая условию: «Операция чтения ячейки памяти с адресом X должна возвращать значение, записанное самой последней операцией записи (перед чтением) по адресу X», называется моделью строгой непротиворечивости.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626046"/>
              </p:ext>
            </p:extLst>
          </p:nvPr>
        </p:nvGraphicFramePr>
        <p:xfrm>
          <a:off x="3528000" y="4068000"/>
          <a:ext cx="8280473" cy="1689900"/>
        </p:xfrm>
        <a:graphic>
          <a:graphicData uri="http://schemas.openxmlformats.org/drawingml/2006/table">
            <a:tbl>
              <a:tblPr/>
              <a:tblGrid>
                <a:gridCol w="414110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3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37980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P1:    W(x)1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P1:    W(x)1</a:t>
                      </a: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7980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--------------------------------&gt; t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-----------------------------------&gt; t</a:t>
                      </a: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7980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P2:                    R(x)1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P2:                   R(x)0    R(x)1</a:t>
                      </a: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37980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3798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        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а)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Верно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           б)  Неверно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Строгая непротиворечивость</a:t>
            </a:r>
          </a:p>
        </p:txBody>
      </p:sp>
      <p:sp>
        <p:nvSpPr>
          <p:cNvPr id="32771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altLang="ru-RU" sz="2400" kern="0" dirty="0">
                <a:effectLst/>
                <a:latin typeface="Arial"/>
              </a:rPr>
              <a:t>Модель непротиворечивости, удовлетворяющая условию: «Операция чтения ячейки памяти с адресом X должна возвращать значение, записанное самой последней операцией записи (перед чтением) по адресу X», называется моделью строгой непротиворечивости.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xmlns="" id="{BB94FC5A-7465-4DD2-9AF0-FCAC84FBD8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427040"/>
              </p:ext>
            </p:extLst>
          </p:nvPr>
        </p:nvGraphicFramePr>
        <p:xfrm>
          <a:off x="3528000" y="4068000"/>
          <a:ext cx="8280473" cy="1689900"/>
        </p:xfrm>
        <a:graphic>
          <a:graphicData uri="http://schemas.openxmlformats.org/drawingml/2006/table">
            <a:tbl>
              <a:tblPr/>
              <a:tblGrid>
                <a:gridCol w="414110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13937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37980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P1:    W(x)1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P1:    W(x)2                  W(x)1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7980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--------------------------------&gt; t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-----------------------------------&gt; t</a:t>
                      </a: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7980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P2:                    R(x)1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P2:                   R(x)1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37980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 </a:t>
                      </a: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37980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        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а)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Верно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                  б) Неверно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4" marR="68574" marT="64800" marB="0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9CD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Последовательная непротиворечивость</a:t>
            </a:r>
          </a:p>
        </p:txBody>
      </p:sp>
      <p:sp>
        <p:nvSpPr>
          <p:cNvPr id="34819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Результат любого действия такой же, как если бы операции записи всех процессов в хранилище данных выполнялись бы в некотором последовательном порядке, причем операции записи и чтения каждого отдельного процесса выполнялись бы в порядке, определяемом его программой.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145320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6528544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>
                <a:cs typeface="Arial" charset="0"/>
              </a:rPr>
              <a:t>Верно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Последовательная непротиворечивость</a:t>
            </a:r>
          </a:p>
        </p:txBody>
      </p:sp>
      <p:sp>
        <p:nvSpPr>
          <p:cNvPr id="36867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Результат любого действия такой же, как если бы операции записи всех процессов в хранилище данных выполнялись бы в некотором последовательном порядке, причем операции записи и чтения каждого отдельного процесса выполнялись бы в порядке, определяемом его программой.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28544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>
                <a:cs typeface="Arial" charset="0"/>
              </a:rPr>
              <a:t>Верно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xmlns="" id="{1CEEF737-219E-4558-8CB0-574BFBF75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938199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Последовательная непротиворечивость</a:t>
            </a:r>
          </a:p>
        </p:txBody>
      </p:sp>
      <p:sp>
        <p:nvSpPr>
          <p:cNvPr id="38915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Результат любого действия такой же, как если бы операции записи всех процессов в хранилище данных выполнялись бы в некотором последовательном порядке, причем операции записи и чтения каждого отдельного процесса выполнялись бы в порядке, определяемом его программой.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28544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>
                <a:cs typeface="Arial" charset="0"/>
              </a:rPr>
              <a:t>Верно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xmlns="" id="{2E352CD7-099A-490F-87F6-C89CEA3E8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2313969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Последовательная непротиворечивость</a:t>
            </a:r>
          </a:p>
        </p:txBody>
      </p:sp>
      <p:sp>
        <p:nvSpPr>
          <p:cNvPr id="40963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Результат любого действия такой же, как если бы операции записи всех процессов в хранилище данных выполнялись бы в некотором последовательном порядке, причем операции записи и чтения каждого отдельного процесса выполнялись бы в порядке, определяемом его программой.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28544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>
                <a:cs typeface="Arial" charset="0"/>
              </a:rPr>
              <a:t>Неверно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xmlns="" id="{B0950847-18FD-447E-AD35-3835B6600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893847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Последовательная непротиворечивость</a:t>
            </a:r>
          </a:p>
        </p:txBody>
      </p:sp>
      <p:sp>
        <p:nvSpPr>
          <p:cNvPr id="43011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Результат любого действия такой же, как если бы операции записи всех процессов в хранилище данных выполнялись бы в некотором последовательном порядке, причем операции записи и чтения каждого отдельного процесса выполнялись бы в порядке, определяемом его программой.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28544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>
                <a:cs typeface="Arial" charset="0"/>
              </a:rPr>
              <a:t>Неверно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xmlns="" id="{35D24AFF-9422-47ED-BE32-E8A9D00130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775666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         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Последовательная непротиворечивость</a:t>
            </a:r>
          </a:p>
        </p:txBody>
      </p:sp>
      <p:sp>
        <p:nvSpPr>
          <p:cNvPr id="45059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Результат любого действия такой же, как если бы операции записи всех процессов в хранилище данных выполнялись бы в некотором последовательном порядке, причем операции записи и чтения каждого отдельного процесса выполнялись бы в порядке, определяемом его программой.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28544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>
                <a:cs typeface="Arial" charset="0"/>
              </a:rPr>
              <a:t>Верно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xmlns="" id="{91096C14-42F2-428A-BC9F-EB3F1676A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308074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         W(y)1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  R(y)1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R(y)1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Последовательная непротиворечивость</a:t>
            </a:r>
          </a:p>
        </p:txBody>
      </p:sp>
      <p:sp>
        <p:nvSpPr>
          <p:cNvPr id="47107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Результат любого действия такой же, как если бы операции записи всех процессов в хранилище данных выполнялись бы в некотором последовательном порядке, причем операции записи и чтения каждого отдельного процесса выполнялись бы в порядке, определяемом его программой.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28544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>
                <a:cs typeface="Arial" charset="0"/>
              </a:rPr>
              <a:t>Неверно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xmlns="" id="{E175015D-671D-4636-AA9B-6938BEB31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826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W(y)1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R(y)1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  R(x)0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R(y)1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Причинная непротиворечивость</a:t>
            </a:r>
          </a:p>
        </p:txBody>
      </p:sp>
      <p:sp>
        <p:nvSpPr>
          <p:cNvPr id="49155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модели причинной непротиворечивости не требуется, чтобы все процессы видели одну последовательность операций записи.  Различаются события, возможно обладающие причинно-следственной связью, и параллельные события. 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28544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>
                <a:cs typeface="Arial" charset="0"/>
              </a:rPr>
              <a:t>Неверно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xmlns="" id="{18D2EC5E-8F77-45D5-968D-51CA63ED0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961704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 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  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Причинная непротиворечивость</a:t>
            </a:r>
          </a:p>
        </p:txBody>
      </p:sp>
      <p:sp>
        <p:nvSpPr>
          <p:cNvPr id="51203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модели причинной непротиворечивости не требуется, чтобы все процессы видели одну последовательность операций записи.  Различаются события, возможно обладающие причинно-следственной связью, и параллельные события. 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28544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>
                <a:cs typeface="Arial" charset="0"/>
              </a:rPr>
              <a:t>Верно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xmlns="" id="{2D16A018-1533-495B-B724-75C1D2F98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06307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 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  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Причинная непротиворечивость</a:t>
            </a:r>
          </a:p>
        </p:txBody>
      </p:sp>
      <p:sp>
        <p:nvSpPr>
          <p:cNvPr id="53251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модели причинной непротиворечивости не требуется, чтобы все процессы видели одну последовательность операций записи.  Различаются события, возможно обладающие причинно-следственной связью, и параллельные события. 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28544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>
                <a:cs typeface="Arial" charset="0"/>
              </a:rPr>
              <a:t>Верно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xmlns="" id="{8DD18A80-AB74-434C-A2F4-4DA549BD1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041769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W(x)3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 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R(x)3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R(x)2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hteck 39"/>
          <p:cNvSpPr>
            <a:spLocks noChangeArrowheads="1"/>
          </p:cNvSpPr>
          <p:nvPr/>
        </p:nvSpPr>
        <p:spPr bwMode="gray">
          <a:xfrm>
            <a:off x="3287688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125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FIFO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непротиворечивость</a:t>
            </a:r>
          </a:p>
        </p:txBody>
      </p:sp>
      <p:sp>
        <p:nvSpPr>
          <p:cNvPr id="55299" name="_h1"/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6900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Операции записи, выполняемые в одном процессе,  видны в том порядке, в котором они выполнялись. Операции записи разных процессов видны в произвольном порядке. 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27776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dirty="0">
                <a:cs typeface="Arial" charset="0"/>
              </a:rPr>
              <a:t>Верно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xmlns="" id="{80274BD2-4515-4978-86EE-EEE12D20B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282210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W(x)3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 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R(x)3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R(x)2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hteck 39"/>
          <p:cNvSpPr>
            <a:spLocks noChangeArrowheads="1"/>
          </p:cNvSpPr>
          <p:nvPr/>
        </p:nvSpPr>
        <p:spPr bwMode="gray">
          <a:xfrm>
            <a:off x="3288456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893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FIFO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непротиворечивость</a:t>
            </a:r>
          </a:p>
        </p:txBody>
      </p:sp>
      <p:sp>
        <p:nvSpPr>
          <p:cNvPr id="57347" name="_h1"/>
          <p:cNvSpPr>
            <a:spLocks noGrp="1" noChangeArrowheads="1"/>
          </p:cNvSpPr>
          <p:nvPr>
            <p:ph type="title"/>
          </p:nvPr>
        </p:nvSpPr>
        <p:spPr>
          <a:xfrm>
            <a:off x="3288456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7668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Операции записи, выполняемые в одном процессе,  видны в том порядке, в котором они выполнялись. Операции записи разных процессов видны в произвольном порядке. 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28544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>
                <a:cs typeface="Arial" charset="0"/>
              </a:rPr>
              <a:t>Неверно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xmlns="" id="{00C27E55-E497-47DD-8147-27517B109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06216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W(x)3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 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R(x)3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R(x)2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hteck 39"/>
          <p:cNvSpPr>
            <a:spLocks noChangeArrowheads="1"/>
          </p:cNvSpPr>
          <p:nvPr/>
        </p:nvSpPr>
        <p:spPr bwMode="gray">
          <a:xfrm>
            <a:off x="3287688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125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en-US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FIFO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 непротиворечивость</a:t>
            </a:r>
          </a:p>
        </p:txBody>
      </p:sp>
      <p:sp>
        <p:nvSpPr>
          <p:cNvPr id="55299" name="_h1"/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6900" y="1879601"/>
            <a:ext cx="8540750" cy="442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Операции записи, выполняемые в одном процессе,  видны в том порядке, в котором они выполнялись. Операции записи разных процессов видны в произвольном порядке. 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527776" y="587692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dirty="0">
                <a:cs typeface="Arial" charset="0"/>
              </a:rPr>
              <a:t>Верно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xmlns="" id="{80274BD2-4515-4978-86EE-EEE12D20B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935449"/>
              </p:ext>
            </p:extLst>
          </p:nvPr>
        </p:nvGraphicFramePr>
        <p:xfrm>
          <a:off x="3527999" y="4212000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W(y)3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 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R(y)3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R(y)3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35787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hteck 39"/>
          <p:cNvSpPr>
            <a:spLocks noChangeArrowheads="1"/>
          </p:cNvSpPr>
          <p:nvPr/>
        </p:nvSpPr>
        <p:spPr bwMode="gray">
          <a:xfrm>
            <a:off x="3287688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125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Процессорная непротиворечивость</a:t>
            </a:r>
          </a:p>
        </p:txBody>
      </p:sp>
      <p:sp>
        <p:nvSpPr>
          <p:cNvPr id="59395" name="_h1"/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6900" y="1879601"/>
            <a:ext cx="8540750" cy="478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6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каждой переменной </a:t>
            </a:r>
            <a:r>
              <a:rPr lang="en-US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есть общее согласие о порядке, в котором процессы модифицируют значение этой переменной.</a:t>
            </a:r>
          </a:p>
          <a:p>
            <a:pPr marL="0" indent="0" algn="ctr" eaLnBrk="1" hangingPunct="1">
              <a:spcBef>
                <a:spcPct val="0"/>
              </a:spcBef>
              <a:spcAft>
                <a:spcPts val="6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Записи в различные переменные – параллельны.</a:t>
            </a:r>
          </a:p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 упорядочиванию записей каждого процесса добавляется упорядочивание записей в переменные.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hteck 39"/>
          <p:cNvSpPr>
            <a:spLocks noChangeArrowheads="1"/>
          </p:cNvSpPr>
          <p:nvPr/>
        </p:nvSpPr>
        <p:spPr bwMode="gray">
          <a:xfrm>
            <a:off x="3287688" y="1700214"/>
            <a:ext cx="8712200" cy="496914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125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Процессорная непротиворечивость</a:t>
            </a:r>
          </a:p>
        </p:txBody>
      </p:sp>
      <p:sp>
        <p:nvSpPr>
          <p:cNvPr id="59395" name="_h1"/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sp>
        <p:nvSpPr>
          <p:cNvPr id="6" name="Rectangle 3"/>
          <p:cNvSpPr txBox="1">
            <a:spLocks noRot="1" noChangeArrowheads="1"/>
          </p:cNvSpPr>
          <p:nvPr/>
        </p:nvSpPr>
        <p:spPr bwMode="auto">
          <a:xfrm>
            <a:off x="3336900" y="1879601"/>
            <a:ext cx="8540750" cy="478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 eaLnBrk="1" hangingPunct="1">
              <a:spcBef>
                <a:spcPct val="0"/>
              </a:spcBef>
              <a:spcAft>
                <a:spcPts val="6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Для каждой переменной </a:t>
            </a:r>
            <a:r>
              <a:rPr lang="en-US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есть общее согласие о порядке, в котором процессы модифицируют значение этой переменной.</a:t>
            </a:r>
          </a:p>
          <a:p>
            <a:pPr marL="0" indent="0" algn="ctr" eaLnBrk="1" hangingPunct="1">
              <a:spcBef>
                <a:spcPct val="0"/>
              </a:spcBef>
              <a:spcAft>
                <a:spcPts val="6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Записи в различные переменные – параллельны.</a:t>
            </a:r>
          </a:p>
          <a:p>
            <a:pPr marL="0" indent="0" algn="ctr" eaLnBrk="1" hangingPunct="1">
              <a:spcBef>
                <a:spcPct val="0"/>
              </a:spcBef>
              <a:spcAft>
                <a:spcPts val="1800"/>
              </a:spcAft>
              <a:buClr>
                <a:srgbClr val="B7E7FF"/>
              </a:buClr>
              <a:buNone/>
              <a:defRPr/>
            </a:pPr>
            <a:r>
              <a:rPr lang="ru-RU" sz="2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 упорядочиванию записей каждого процесса добавляется упорядочивание записей в переменные.</a:t>
            </a:r>
            <a:endParaRPr lang="ru-RU" altLang="ru-RU" sz="2400" kern="0" dirty="0">
              <a:solidFill>
                <a:srgbClr val="4D4D4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491262" y="6140675"/>
            <a:ext cx="22320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dirty="0" smtClean="0">
                <a:cs typeface="Arial" charset="0"/>
              </a:rPr>
              <a:t>He</a:t>
            </a:r>
            <a:r>
              <a:rPr lang="ru-RU" dirty="0" smtClean="0">
                <a:cs typeface="Arial" charset="0"/>
              </a:rPr>
              <a:t>в</a:t>
            </a:r>
            <a:r>
              <a:rPr lang="ru-RU" dirty="0" smtClean="0">
                <a:cs typeface="Arial" charset="0"/>
              </a:rPr>
              <a:t>ерно</a:t>
            </a:r>
            <a:endParaRPr lang="ru-RU" dirty="0">
              <a:cs typeface="Arial" charset="0"/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xmlns="" id="{80274BD2-4515-4978-86EE-EEE12D20BD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993542"/>
              </p:ext>
            </p:extLst>
          </p:nvPr>
        </p:nvGraphicFramePr>
        <p:xfrm>
          <a:off x="3527999" y="4438475"/>
          <a:ext cx="8328193" cy="1582813"/>
        </p:xfrm>
        <a:graphic>
          <a:graphicData uri="http://schemas.openxmlformats.org/drawingml/2006/table">
            <a:tbl>
              <a:tblPr firstCol="1" bandRow="1" bandCol="1"/>
              <a:tblGrid>
                <a:gridCol w="8499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8383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17983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6709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P1: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W(y)3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622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P2: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 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W(x)2  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P3: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R(y)3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4397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P4:</a:t>
                      </a:r>
                      <a:endParaRPr lang="ru-RU" sz="16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6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</a:t>
                      </a: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R(x)1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just">
                        <a:lnSpc>
                          <a:spcPct val="107000"/>
                        </a:lnSpc>
                        <a:spcAft>
                          <a:spcPts val="600"/>
                        </a:spcAft>
                      </a:pPr>
                      <a:r>
                        <a:rPr lang="ru-RU" sz="1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R(y)3</a:t>
                      </a:r>
                      <a:endParaRPr lang="ru-RU" sz="1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4" marR="68584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97354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hteck 39"/>
          <p:cNvSpPr>
            <a:spLocks noChangeArrowheads="1"/>
          </p:cNvSpPr>
          <p:nvPr/>
        </p:nvSpPr>
        <p:spPr bwMode="gray">
          <a:xfrm>
            <a:off x="3287688" y="1700214"/>
            <a:ext cx="8712200" cy="468153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</p:spPr>
        <p:txBody>
          <a:bodyPr lIns="216000" tIns="36000" rIns="216000" bIns="36000" anchor="ctr"/>
          <a:lstStyle/>
          <a:p>
            <a:pPr defTabSz="457200">
              <a:spcAft>
                <a:spcPct val="20000"/>
              </a:spcAft>
            </a:pPr>
            <a:endParaRPr lang="ru-RU" sz="2000" noProof="1">
              <a:solidFill>
                <a:srgbClr val="1F497D"/>
              </a:solidFill>
              <a:cs typeface="Arial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125" y="1011238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>
              <a:spcAft>
                <a:spcPct val="20000"/>
              </a:spcAft>
              <a:defRPr/>
            </a:pP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Сводка</a:t>
            </a:r>
          </a:p>
        </p:txBody>
      </p:sp>
      <p:sp>
        <p:nvSpPr>
          <p:cNvPr id="61443" name="_h1"/>
          <p:cNvSpPr>
            <a:spLocks noGrp="1" noChangeArrowheads="1"/>
          </p:cNvSpPr>
          <p:nvPr>
            <p:ph type="title"/>
          </p:nvPr>
        </p:nvSpPr>
        <p:spPr>
          <a:xfrm>
            <a:off x="3287688" y="238125"/>
            <a:ext cx="8640762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charset="0"/>
              </a:rPr>
              <a:t>Модели консистентности данных</a:t>
            </a: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3849"/>
              </p:ext>
            </p:extLst>
          </p:nvPr>
        </p:nvGraphicFramePr>
        <p:xfrm>
          <a:off x="3575025" y="1830389"/>
          <a:ext cx="8135938" cy="4479927"/>
        </p:xfrm>
        <a:graphic>
          <a:graphicData uri="http://schemas.openxmlformats.org/drawingml/2006/table">
            <a:tbl>
              <a:tblPr/>
              <a:tblGrid>
                <a:gridCol w="240506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7308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Непротиворечивость</a:t>
                      </a: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Описание 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44563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Строгая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Упорядочение всех доступов к разделяемым данным по абсолютному времени 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44563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Последовательная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Все процессы видят все записи разделяемых  данных в одном и том же порядке 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44563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Причинная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Все процессы видят все причинно-связанные  записи данных в одном и том же порядке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FIFO</a:t>
                      </a:r>
                      <a:endParaRPr kumimoji="0" lang="ru-RU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Все процессы видят записи любого процесса в одном и том же порядке</a:t>
                      </a:r>
                      <a:endParaRPr kumimoji="0" lang="ru-RU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cs typeface="Arial" charset="0"/>
                        </a:rPr>
                        <a:t>Процессорная</a:t>
                      </a:r>
                      <a:endParaRPr kumimoji="0" lang="ru-RU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base" latinLnBrk="0" hangingPunct="1"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FIFO </a:t>
                      </a:r>
                      <a:r>
                        <a:rPr kumimoji="0" lang="ru-R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непротиворечивость + когерентность памяти</a:t>
                      </a:r>
                      <a:endParaRPr kumimoji="0" lang="ru-RU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72" marR="68572" marT="0" marB="0"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DE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WordArt 3"/>
          <p:cNvSpPr>
            <a:spLocks noChangeArrowheads="1" noChangeShapeType="1" noTextEdit="1"/>
          </p:cNvSpPr>
          <p:nvPr/>
        </p:nvSpPr>
        <p:spPr bwMode="gray">
          <a:xfrm>
            <a:off x="9547273" y="1585914"/>
            <a:ext cx="1322388" cy="21669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C0C0C0"/>
                    </a:gs>
                    <a:gs pos="100000">
                      <a:srgbClr val="484848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</a:rPr>
              <a:t>?</a:t>
            </a:r>
          </a:p>
        </p:txBody>
      </p:sp>
      <p:sp>
        <p:nvSpPr>
          <p:cNvPr id="63490" name="WordArt 8"/>
          <p:cNvSpPr>
            <a:spLocks noChangeArrowheads="1" noChangeShapeType="1" noTextEdit="1"/>
          </p:cNvSpPr>
          <p:nvPr/>
        </p:nvSpPr>
        <p:spPr bwMode="gray">
          <a:xfrm>
            <a:off x="8729712" y="2536826"/>
            <a:ext cx="1004887" cy="16478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FFFF"/>
                    </a:gs>
                    <a:gs pos="100000">
                      <a:srgbClr val="B4B4B4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</a:rPr>
              <a:t>?</a:t>
            </a:r>
          </a:p>
        </p:txBody>
      </p:sp>
      <p:sp>
        <p:nvSpPr>
          <p:cNvPr id="63491" name="WordArt 9"/>
          <p:cNvSpPr>
            <a:spLocks noChangeArrowheads="1" noChangeShapeType="1" noTextEdit="1"/>
          </p:cNvSpPr>
          <p:nvPr/>
        </p:nvSpPr>
        <p:spPr bwMode="gray">
          <a:xfrm>
            <a:off x="10166399" y="2484439"/>
            <a:ext cx="1546225" cy="253523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ru-RU" sz="3600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1C4FF"/>
                    </a:gs>
                    <a:gs pos="100000">
                      <a:srgbClr val="2A79FF"/>
                    </a:gs>
                  </a:gsLst>
                  <a:lin ang="5400000" scaled="1"/>
                </a:gradFill>
                <a:effectLst>
                  <a:outerShdw dist="63500" dir="2212194" algn="ctr" rotWithShape="0">
                    <a:srgbClr val="808080">
                      <a:alpha val="50000"/>
                    </a:srgbClr>
                  </a:outerShdw>
                </a:effectLst>
                <a:latin typeface="Arial Black"/>
              </a:rPr>
              <a:t>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1398</Words>
  <Application>Microsoft Office PowerPoint</Application>
  <PresentationFormat>Широкоэкранный</PresentationFormat>
  <Paragraphs>531</Paragraphs>
  <Slides>26</Slides>
  <Notes>26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26</vt:i4>
      </vt:variant>
    </vt:vector>
  </HeadingPairs>
  <TitlesOfParts>
    <vt:vector size="38" baseType="lpstr">
      <vt:lpstr>Arial Unicode MS</vt:lpstr>
      <vt:lpstr>Arial</vt:lpstr>
      <vt:lpstr>Arial Black</vt:lpstr>
      <vt:lpstr>Calibri</vt:lpstr>
      <vt:lpstr>Lucida Grande CY</vt:lpstr>
      <vt:lpstr>Symbol</vt:lpstr>
      <vt:lpstr>Times New Roman</vt:lpstr>
      <vt:lpstr>Wingdings</vt:lpstr>
      <vt:lpstr>1_Тема Office</vt:lpstr>
      <vt:lpstr>2_Тема Office</vt:lpstr>
      <vt:lpstr>Larissa-Design</vt:lpstr>
      <vt:lpstr>Тема Office</vt:lpstr>
      <vt:lpstr>Презентация PowerPoint</vt:lpstr>
      <vt:lpstr>Тема 9</vt:lpstr>
      <vt:lpstr>Распределенная общая память</vt:lpstr>
      <vt:lpstr>Распределенная общая память</vt:lpstr>
      <vt:lpstr>Распределенная общая память</vt:lpstr>
      <vt:lpstr>Распределенная общая память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Модели консистентности данных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/>
  <cp:revision>2</cp:revision>
  <dcterms:created xsi:type="dcterms:W3CDTF">2016-02-27T09:01:20Z</dcterms:created>
  <dcterms:modified xsi:type="dcterms:W3CDTF">2026-04-21T03:35:22Z</dcterms:modified>
</cp:coreProperties>
</file>