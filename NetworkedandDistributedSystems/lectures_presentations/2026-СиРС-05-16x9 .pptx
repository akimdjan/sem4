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66" r:id="rId2"/>
    <p:sldMasterId id="2147483672" r:id="rId3"/>
    <p:sldMasterId id="2147483678" r:id="rId4"/>
    <p:sldMasterId id="2147483681" r:id="rId5"/>
  </p:sldMasterIdLst>
  <p:notesMasterIdLst>
    <p:notesMasterId r:id="rId55"/>
  </p:notesMasterIdLst>
  <p:sldIdLst>
    <p:sldId id="257" r:id="rId6"/>
    <p:sldId id="449" r:id="rId7"/>
    <p:sldId id="460" r:id="rId8"/>
    <p:sldId id="461" r:id="rId9"/>
    <p:sldId id="462" r:id="rId10"/>
    <p:sldId id="468" r:id="rId11"/>
    <p:sldId id="441" r:id="rId12"/>
    <p:sldId id="469" r:id="rId13"/>
    <p:sldId id="478" r:id="rId14"/>
    <p:sldId id="443" r:id="rId15"/>
    <p:sldId id="466" r:id="rId16"/>
    <p:sldId id="467" r:id="rId17"/>
    <p:sldId id="444" r:id="rId18"/>
    <p:sldId id="447" r:id="rId19"/>
    <p:sldId id="446" r:id="rId20"/>
    <p:sldId id="470" r:id="rId21"/>
    <p:sldId id="368" r:id="rId22"/>
    <p:sldId id="379" r:id="rId23"/>
    <p:sldId id="380" r:id="rId24"/>
    <p:sldId id="381" r:id="rId25"/>
    <p:sldId id="450" r:id="rId26"/>
    <p:sldId id="472" r:id="rId27"/>
    <p:sldId id="473" r:id="rId28"/>
    <p:sldId id="474" r:id="rId29"/>
    <p:sldId id="392" r:id="rId30"/>
    <p:sldId id="479" r:id="rId31"/>
    <p:sldId id="481" r:id="rId32"/>
    <p:sldId id="451" r:id="rId33"/>
    <p:sldId id="453" r:id="rId34"/>
    <p:sldId id="454" r:id="rId35"/>
    <p:sldId id="455" r:id="rId36"/>
    <p:sldId id="485" r:id="rId37"/>
    <p:sldId id="480" r:id="rId38"/>
    <p:sldId id="486" r:id="rId39"/>
    <p:sldId id="484" r:id="rId40"/>
    <p:sldId id="458" r:id="rId41"/>
    <p:sldId id="456" r:id="rId42"/>
    <p:sldId id="487" r:id="rId43"/>
    <p:sldId id="482" r:id="rId44"/>
    <p:sldId id="493" r:id="rId45"/>
    <p:sldId id="494" r:id="rId46"/>
    <p:sldId id="501" r:id="rId47"/>
    <p:sldId id="495" r:id="rId48"/>
    <p:sldId id="496" r:id="rId49"/>
    <p:sldId id="500" r:id="rId50"/>
    <p:sldId id="497" r:id="rId51"/>
    <p:sldId id="498" r:id="rId52"/>
    <p:sldId id="499" r:id="rId53"/>
    <p:sldId id="271" r:id="rId5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3404F6-AF45-403F-8B0B-E58FD8E18ED2}">
          <p14:sldIdLst>
            <p14:sldId id="257"/>
            <p14:sldId id="449"/>
            <p14:sldId id="460"/>
            <p14:sldId id="461"/>
            <p14:sldId id="462"/>
            <p14:sldId id="468"/>
            <p14:sldId id="441"/>
            <p14:sldId id="469"/>
            <p14:sldId id="478"/>
            <p14:sldId id="443"/>
            <p14:sldId id="466"/>
            <p14:sldId id="467"/>
            <p14:sldId id="444"/>
            <p14:sldId id="447"/>
            <p14:sldId id="446"/>
            <p14:sldId id="470"/>
            <p14:sldId id="368"/>
            <p14:sldId id="379"/>
            <p14:sldId id="380"/>
            <p14:sldId id="381"/>
            <p14:sldId id="450"/>
            <p14:sldId id="472"/>
            <p14:sldId id="473"/>
            <p14:sldId id="474"/>
            <p14:sldId id="392"/>
            <p14:sldId id="479"/>
            <p14:sldId id="481"/>
            <p14:sldId id="451"/>
            <p14:sldId id="453"/>
            <p14:sldId id="454"/>
            <p14:sldId id="455"/>
            <p14:sldId id="485"/>
            <p14:sldId id="480"/>
            <p14:sldId id="486"/>
            <p14:sldId id="484"/>
            <p14:sldId id="458"/>
            <p14:sldId id="456"/>
            <p14:sldId id="487"/>
            <p14:sldId id="482"/>
            <p14:sldId id="493"/>
            <p14:sldId id="494"/>
            <p14:sldId id="501"/>
            <p14:sldId id="495"/>
            <p14:sldId id="496"/>
            <p14:sldId id="500"/>
            <p14:sldId id="497"/>
            <p14:sldId id="498"/>
            <p14:sldId id="499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606"/>
    <a:srgbClr val="008000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28" autoAdjust="0"/>
    <p:restoredTop sz="91335" autoAdjust="0"/>
  </p:normalViewPr>
  <p:slideViewPr>
    <p:cSldViewPr>
      <p:cViewPr varScale="1">
        <p:scale>
          <a:sx n="71" d="100"/>
          <a:sy n="71" d="100"/>
        </p:scale>
        <p:origin x="180" y="60"/>
      </p:cViewPr>
      <p:guideLst>
        <p:guide orient="horz" pos="36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presProps" Target="pres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5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12" Type="http://schemas.openxmlformats.org/officeDocument/2006/relationships/image" Target="../media/image14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Relationship Id="rId14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2" Type="http://schemas.openxmlformats.org/officeDocument/2006/relationships/image" Target="../media/image28.wmf"/><Relationship Id="rId16" Type="http://schemas.openxmlformats.org/officeDocument/2006/relationships/image" Target="../media/image42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5" Type="http://schemas.openxmlformats.org/officeDocument/2006/relationships/image" Target="../media/image4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Relationship Id="rId14" Type="http://schemas.openxmlformats.org/officeDocument/2006/relationships/image" Target="../media/image4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6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17" Type="http://schemas.openxmlformats.org/officeDocument/2006/relationships/image" Target="../media/image60.wmf"/><Relationship Id="rId2" Type="http://schemas.openxmlformats.org/officeDocument/2006/relationships/image" Target="../media/image45.wmf"/><Relationship Id="rId16" Type="http://schemas.openxmlformats.org/officeDocument/2006/relationships/image" Target="../media/image59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5" Type="http://schemas.openxmlformats.org/officeDocument/2006/relationships/image" Target="../media/image5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399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993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706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05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35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752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911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957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68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850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715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663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625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095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864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347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850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32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111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10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468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408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86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2390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3900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640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2461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052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4613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010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785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542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7594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2433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771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227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baseline="0" noProof="1" smtClean="0">
                <a:cs typeface="Arial" pitchFamily="34" charset="0"/>
              </a:rPr>
              <a:t>Изоморфизм — это взаимно однозначное соответствие между двумя структурами, при котором сохраняются все их свойства, операции и отношения. Простыми словами, это математическая или структурная эквивалентность, где объекты, имеющие разную природу, «по сути являются одним и тем же»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0869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334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6587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3292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6389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43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2935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44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1306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45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101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7519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47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470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48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6033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49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820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6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7043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12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76390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874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83953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45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0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notesSlide" Target="../notesSlides/notesSlide30.xml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2" Type="http://schemas.openxmlformats.org/officeDocument/2006/relationships/slideLayout" Target="../slideLayouts/slideLayout10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5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3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0.wmf"/><Relationship Id="rId31" Type="http://schemas.openxmlformats.org/officeDocument/2006/relationships/image" Target="../media/image1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wmf"/><Relationship Id="rId18" Type="http://schemas.openxmlformats.org/officeDocument/2006/relationships/oleObject" Target="../embeddings/oleObject22.bin"/><Relationship Id="rId26" Type="http://schemas.openxmlformats.org/officeDocument/2006/relationships/oleObject" Target="../embeddings/oleObject26.bin"/><Relationship Id="rId3" Type="http://schemas.openxmlformats.org/officeDocument/2006/relationships/notesSlide" Target="../notesSlides/notesSlide37.xml"/><Relationship Id="rId21" Type="http://schemas.openxmlformats.org/officeDocument/2006/relationships/image" Target="../media/image35.wmf"/><Relationship Id="rId34" Type="http://schemas.openxmlformats.org/officeDocument/2006/relationships/image" Target="../media/image41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33.wmf"/><Relationship Id="rId25" Type="http://schemas.openxmlformats.org/officeDocument/2006/relationships/image" Target="../media/image37.wmf"/><Relationship Id="rId33" Type="http://schemas.openxmlformats.org/officeDocument/2006/relationships/oleObject" Target="../embeddings/oleObject30.bin"/><Relationship Id="rId2" Type="http://schemas.openxmlformats.org/officeDocument/2006/relationships/slideLayout" Target="../slideLayouts/slideLayout10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29" Type="http://schemas.openxmlformats.org/officeDocument/2006/relationships/oleObject" Target="../embeddings/oleObject28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25.bin"/><Relationship Id="rId32" Type="http://schemas.openxmlformats.org/officeDocument/2006/relationships/image" Target="../media/image40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27.bin"/><Relationship Id="rId36" Type="http://schemas.openxmlformats.org/officeDocument/2006/relationships/image" Target="../media/image42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34.wmf"/><Relationship Id="rId31" Type="http://schemas.openxmlformats.org/officeDocument/2006/relationships/oleObject" Target="../embeddings/oleObject29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Relationship Id="rId27" Type="http://schemas.openxmlformats.org/officeDocument/2006/relationships/image" Target="../media/image38.wmf"/><Relationship Id="rId30" Type="http://schemas.openxmlformats.org/officeDocument/2006/relationships/image" Target="../media/image39.wmf"/><Relationship Id="rId35" Type="http://schemas.openxmlformats.org/officeDocument/2006/relationships/oleObject" Target="../embeddings/oleObject31.bin"/><Relationship Id="rId8" Type="http://schemas.openxmlformats.org/officeDocument/2006/relationships/oleObject" Target="../embeddings/oleObject17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wmf"/><Relationship Id="rId18" Type="http://schemas.openxmlformats.org/officeDocument/2006/relationships/oleObject" Target="../embeddings/oleObject40.bin"/><Relationship Id="rId26" Type="http://schemas.openxmlformats.org/officeDocument/2006/relationships/oleObject" Target="../embeddings/oleObject44.bin"/><Relationship Id="rId21" Type="http://schemas.openxmlformats.org/officeDocument/2006/relationships/image" Target="../media/image52.wmf"/><Relationship Id="rId34" Type="http://schemas.openxmlformats.org/officeDocument/2006/relationships/oleObject" Target="../embeddings/oleObject48.bin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50.wmf"/><Relationship Id="rId25" Type="http://schemas.openxmlformats.org/officeDocument/2006/relationships/image" Target="../media/image54.wmf"/><Relationship Id="rId33" Type="http://schemas.openxmlformats.org/officeDocument/2006/relationships/image" Target="../media/image58.wmf"/><Relationship Id="rId2" Type="http://schemas.openxmlformats.org/officeDocument/2006/relationships/slideLayout" Target="../slideLayouts/slideLayout10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29" Type="http://schemas.openxmlformats.org/officeDocument/2006/relationships/image" Target="../media/image56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7.wmf"/><Relationship Id="rId24" Type="http://schemas.openxmlformats.org/officeDocument/2006/relationships/oleObject" Target="../embeddings/oleObject43.bin"/><Relationship Id="rId32" Type="http://schemas.openxmlformats.org/officeDocument/2006/relationships/oleObject" Target="../embeddings/oleObject47.bin"/><Relationship Id="rId37" Type="http://schemas.openxmlformats.org/officeDocument/2006/relationships/image" Target="../media/image60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23" Type="http://schemas.openxmlformats.org/officeDocument/2006/relationships/image" Target="../media/image53.wmf"/><Relationship Id="rId28" Type="http://schemas.openxmlformats.org/officeDocument/2006/relationships/oleObject" Target="../embeddings/oleObject45.bin"/><Relationship Id="rId36" Type="http://schemas.openxmlformats.org/officeDocument/2006/relationships/oleObject" Target="../embeddings/oleObject49.bin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51.wmf"/><Relationship Id="rId31" Type="http://schemas.openxmlformats.org/officeDocument/2006/relationships/image" Target="../media/image57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2.bin"/><Relationship Id="rId27" Type="http://schemas.openxmlformats.org/officeDocument/2006/relationships/image" Target="../media/image55.wmf"/><Relationship Id="rId30" Type="http://schemas.openxmlformats.org/officeDocument/2006/relationships/oleObject" Target="../embeddings/oleObject46.bin"/><Relationship Id="rId35" Type="http://schemas.openxmlformats.org/officeDocument/2006/relationships/image" Target="../media/image59.wmf"/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384"/>
            <a:ext cx="122166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949730" y="6256735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794993" y="2183210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Сетевые и Распределенные Системы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endParaRPr lang="ru-RU" sz="5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961360" y="1069975"/>
            <a:ext cx="8134225" cy="1501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440000" marR="0" lvl="0" indent="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Логические часы</a:t>
            </a:r>
          </a:p>
        </p:txBody>
      </p:sp>
    </p:spTree>
    <p:extLst>
      <p:ext uri="{BB962C8B-B14F-4D97-AF65-F5344CB8AC3E}">
        <p14:creationId xmlns:p14="http://schemas.microsoft.com/office/powerpoint/2010/main" val="110881868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00808"/>
            <a:ext cx="8856662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Понятие логических часов  и времени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2124000"/>
            <a:ext cx="8424292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Отсутствие глобальных часов, к которым процессы распределенной программы имели бы мгновенный доступ, не позволяет ввести на множестве событий линейный порядок, соответствующий времени происхождения событий.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На множестве событий программы можно ввести частичный порядок, соответствующий причинно-следственному отношению «произошло раньше».</a:t>
            </a:r>
          </a:p>
        </p:txBody>
      </p:sp>
    </p:spTree>
    <p:extLst>
      <p:ext uri="{BB962C8B-B14F-4D97-AF65-F5344CB8AC3E}">
        <p14:creationId xmlns:p14="http://schemas.microsoft.com/office/powerpoint/2010/main" val="41501446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00808"/>
            <a:ext cx="8856662" cy="460851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Понятие логических часов  и времени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6800" y="2124000"/>
            <a:ext cx="8424292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Логические часы должны отслеживать причинно-следственный порядок событий в распределенном вычислении и, как следствие, упорядочивать события в одну или несколько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последовательностей, которые могли бы происходить в системе.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Величина, «отсчитываемая» логическими часами, – это логическое время.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8086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00807"/>
            <a:ext cx="8856662" cy="460851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Общие принципы построения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43672" y="1836000"/>
            <a:ext cx="8568308" cy="4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Логические часы должны обеспечивать механизм, позволяющий каждому событию в распределенной системе приписать </a:t>
            </a:r>
            <a:r>
              <a:rPr kumimoji="0" lang="ru-RU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некоторое значение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отметку логического времени наступления этого события.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Логические часы </a:t>
            </a:r>
            <a:r>
              <a:rPr kumimoji="0" lang="el-G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это любая функция, которая отображает множество событий распределенного вычисления </a:t>
            </a:r>
            <a:r>
              <a:rPr kumimoji="0" lang="ru-RU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₵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в некоторое упорядоченное множество (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T,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&lt;)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где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ru-RU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совокупность допустимых значений логического времени.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Логическое время наступления события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это показания логических часов в момент наступления события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т.е.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Θ(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404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00807"/>
            <a:ext cx="8856662" cy="460851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Общие принципы построения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43672" y="1836000"/>
            <a:ext cx="8568308" cy="4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распределенной программе у каждого процесса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свои локальные логические часы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событие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происходит в процессе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то логическое время события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в программе определяется показаниями локальных логических часов процесса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l-G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=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AutoNum type="arabicPeriod" startAt="4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Отметки логических часов, назначаемые событиям, должны удовлетворять условию непротиворечивости логических часов (условию монотонного возрастания времени)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B0E7D53-7ED4-4C09-AD6A-2E4417B0990A}"/>
                  </a:ext>
                </a:extLst>
              </p:cNvPr>
              <p:cNvSpPr txBox="1"/>
              <p:nvPr/>
            </p:nvSpPr>
            <p:spPr>
              <a:xfrm>
                <a:off x="5169793" y="4740683"/>
                <a:ext cx="4588073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∀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p>
                        <m:sSup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ℂ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sSup>
                        <m:sSup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r>
                        <m:rPr>
                          <m:sty m:val="p"/>
                        </m:rP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Θ</m:t>
                      </m:r>
                      <m:d>
                        <m:d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</m:d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m:rPr>
                          <m:sty m:val="p"/>
                        </m:rP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Θ</m:t>
                      </m:r>
                      <m:d>
                        <m:d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ru-RU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ru-RU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ru-RU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B0E7D53-7ED4-4C09-AD6A-2E4417B09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793" y="4740683"/>
                <a:ext cx="4588073" cy="431800"/>
              </a:xfrm>
              <a:prstGeom prst="rect">
                <a:avLst/>
              </a:prstGeom>
              <a:blipFill>
                <a:blip r:embed="rId3"/>
                <a:stretch>
                  <a:fillRect l="-133"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0745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11821"/>
            <a:ext cx="8856984" cy="459749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Общие принципы построения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42800" y="1836000"/>
            <a:ext cx="842461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6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Требование непротиворечивости логических часов будет выполнено при выполнении двух условий:</a:t>
            </a:r>
          </a:p>
          <a:p>
            <a:pPr marL="1321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события одного процесса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событие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в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наступает раньше (физически) события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то </a:t>
            </a:r>
            <a:r>
              <a:rPr kumimoji="0" lang="el-G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</a:t>
            </a:r>
            <a:r>
              <a:rPr kumimoji="0" lang="el-G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</a:t>
            </a:r>
          </a:p>
          <a:p>
            <a:pPr marL="1321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взаимосвязанные события отправки и получения одного и того же сообщения, передаваемого из процесса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 </a:t>
            </a:r>
            <a:r>
              <a:rPr kumimoji="0" lang="ru-RU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процесс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то </a:t>
            </a:r>
            <a:b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l-G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</a:t>
            </a:r>
            <a:r>
              <a:rPr kumimoji="0" lang="el-G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2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257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059" y="1779869"/>
            <a:ext cx="8856984" cy="459749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Общие принципы построения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42800" y="1836000"/>
            <a:ext cx="8569502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для логических часов справедливо: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3200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то логические часы называются строго непротиворечивыми.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логических часах каждого процесса часто выделяют две составляющие:</a:t>
            </a:r>
          </a:p>
          <a:p>
            <a:pPr marL="88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локальные часы процесса (для измерения собственного хода выполнения процесса)</a:t>
            </a:r>
          </a:p>
          <a:p>
            <a:pPr marL="88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глобальные часы процесса (для описания представления процесса о ходе глобального времени)</a:t>
            </a:r>
          </a:p>
          <a:p>
            <a:pPr marL="43200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 txBox="1"/>
              <p:nvPr/>
            </p:nvSpPr>
            <p:spPr>
              <a:xfrm>
                <a:off x="5062959" y="2265098"/>
                <a:ext cx="4802385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∀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p>
                        <m:sSup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ℂ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sSup>
                        <m:sSup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⇔</m:t>
                      </m:r>
                      <m:r>
                        <m:rPr>
                          <m:sty m:val="p"/>
                        </m:rP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Θ</m:t>
                      </m:r>
                      <m:d>
                        <m:d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</m:d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m:rPr>
                          <m:sty m:val="p"/>
                        </m:rP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Θ</m:t>
                      </m:r>
                      <m:d>
                        <m:dPr>
                          <m:ctrlPr>
                            <a:rPr kumimoji="0" lang="ru-RU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ru-RU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ru-RU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ru-RU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</m:oMath>
                  </m:oMathPara>
                </a14:m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Объект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959" y="2265098"/>
                <a:ext cx="4802385" cy="431800"/>
              </a:xfrm>
              <a:prstGeom prst="rect">
                <a:avLst/>
              </a:prstGeom>
              <a:blipFill>
                <a:blip r:embed="rId3"/>
                <a:stretch>
                  <a:fillRect l="-127" b="-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856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059" y="1779869"/>
            <a:ext cx="8856984" cy="459749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Общие принципы построения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42800" y="1836000"/>
            <a:ext cx="856950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400"/>
              </a:spcAft>
              <a:buClrTx/>
              <a:buSzTx/>
              <a:buFont typeface="+mj-lt"/>
              <a:buAutoNum type="arabicPeriod" startAt="9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Для функционирования логических часов процесса нужны два правила:</a:t>
            </a:r>
          </a:p>
          <a:p>
            <a:pPr marL="10800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Как изменяются показания локальных часов процесса при наступления события в процессе.</a:t>
            </a:r>
          </a:p>
          <a:p>
            <a:pPr marL="10800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Как и когда изменяются показания глобальных часов процесса для поддержки представления о выполнении других процессов.  </a:t>
            </a:r>
          </a:p>
        </p:txBody>
      </p:sp>
    </p:spTree>
    <p:extLst>
      <p:ext uri="{BB962C8B-B14F-4D97-AF65-F5344CB8AC3E}">
        <p14:creationId xmlns:p14="http://schemas.microsoft.com/office/powerpoint/2010/main" val="22582348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78400"/>
            <a:ext cx="8856984" cy="453650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29767" y="2400047"/>
            <a:ext cx="84246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Функция </a:t>
            </a: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(часовая функция) отображает множество событий на множество неотрицательных целых чисел.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 процесса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локальное время и представление о глобальном времени совпадают – некоторое значение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9331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78400"/>
            <a:ext cx="8856984" cy="4530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988840"/>
            <a:ext cx="8424614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Правило 1: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Перед выполнением любого события, показания часов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процесса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увеличиваются: 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L′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где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 &gt; 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Правило 2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каждое передаваемое сообщение включается значение логического времени процесса отправителя на момент передачи сообщения. Когда процесс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получает сообщение с отметкой времени 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msg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его время корректируется так: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L″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max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L′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msg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d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и эта отметка приписывается событию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6160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78400"/>
            <a:ext cx="8856984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48930" y="2780928"/>
            <a:ext cx="8424614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Скалярные часы </a:t>
            </a:r>
            <a:r>
              <a:rPr kumimoji="0" lang="ru-RU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Лэмпорта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непротиворечивы.</a:t>
            </a:r>
          </a:p>
        </p:txBody>
      </p:sp>
    </p:spTree>
    <p:extLst>
      <p:ext uri="{BB962C8B-B14F-4D97-AF65-F5344CB8AC3E}">
        <p14:creationId xmlns:p14="http://schemas.microsoft.com/office/powerpoint/2010/main" val="14732241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9656" y="1778400"/>
            <a:ext cx="8856984" cy="482453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работы скалярных часов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Лэмпорта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03712" y="263691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569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770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299875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1703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3711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44136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44136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59952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64136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5561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4208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056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48937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48937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48937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450912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984248" y="323610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Прямоугольник 95"/>
          <p:cNvSpPr/>
          <p:nvPr/>
        </p:nvSpPr>
        <p:spPr>
          <a:xfrm>
            <a:off x="6440224" y="328498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7" name="Прямоугольник 96"/>
          <p:cNvSpPr/>
          <p:nvPr/>
        </p:nvSpPr>
        <p:spPr>
          <a:xfrm>
            <a:off x="7808376" y="364502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8" name="Прямоугольник 97"/>
          <p:cNvSpPr/>
          <p:nvPr/>
        </p:nvSpPr>
        <p:spPr>
          <a:xfrm>
            <a:off x="8816488" y="393305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35960" y="5302002"/>
            <a:ext cx="3456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=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то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║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_h1">
            <a:extLst>
              <a:ext uri="{FF2B5EF4-FFF2-40B4-BE49-F238E27FC236}">
                <a16:creationId xmlns:a16="http://schemas.microsoft.com/office/drawing/2014/main" id="{7CA94CF4-AAA9-473A-A674-77F4E11C31C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21922853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3" grpId="0" animBg="1"/>
      <p:bldP spid="96" grpId="0" animBg="1"/>
      <p:bldP spid="97" grpId="0" animBg="1"/>
      <p:bldP spid="9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8800" y="1778399"/>
            <a:ext cx="8872824" cy="48414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 - свойства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Линейное упорядочивание событий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662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863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2632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4640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5342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5342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6924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7342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056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45184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984248" y="3245400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Прямоугольник 95"/>
          <p:cNvSpPr/>
          <p:nvPr/>
        </p:nvSpPr>
        <p:spPr>
          <a:xfrm>
            <a:off x="6440224" y="329427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7" name="Прямоугольник 96"/>
          <p:cNvSpPr/>
          <p:nvPr/>
        </p:nvSpPr>
        <p:spPr>
          <a:xfrm>
            <a:off x="7808376" y="365431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8" name="Прямоугольник 97"/>
          <p:cNvSpPr/>
          <p:nvPr/>
        </p:nvSpPr>
        <p:spPr>
          <a:xfrm>
            <a:off x="8816488" y="394234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7" name="_h1">
            <a:extLst>
              <a:ext uri="{FF2B5EF4-FFF2-40B4-BE49-F238E27FC236}">
                <a16:creationId xmlns:a16="http://schemas.microsoft.com/office/drawing/2014/main" id="{37119DE9-A12C-41CC-97D0-8451C6B9C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40315058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8800" y="1778400"/>
            <a:ext cx="8872824" cy="48414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 - свойства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Линейное упорядочивание событий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662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863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2632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4640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3935760" y="5166484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5342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5342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6924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7342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00056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45184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45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1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0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430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682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25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834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230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2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23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59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24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14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2379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8383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4387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1904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19936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2399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00056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32104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6415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68208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00256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48328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12424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83" name="Овал 82"/>
          <p:cNvSpPr/>
          <p:nvPr/>
        </p:nvSpPr>
        <p:spPr>
          <a:xfrm>
            <a:off x="440382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76386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05189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37592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2796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0402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780088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17612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57217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184232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544272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19234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09245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4984248" y="3245400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7" name="Прямоугольник 96"/>
          <p:cNvSpPr/>
          <p:nvPr/>
        </p:nvSpPr>
        <p:spPr>
          <a:xfrm>
            <a:off x="6440224" y="329427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8" name="Прямоугольник 97"/>
          <p:cNvSpPr/>
          <p:nvPr/>
        </p:nvSpPr>
        <p:spPr>
          <a:xfrm>
            <a:off x="7808376" y="365431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9" name="Прямоугольник 98"/>
          <p:cNvSpPr/>
          <p:nvPr/>
        </p:nvSpPr>
        <p:spPr>
          <a:xfrm>
            <a:off x="8816488" y="394234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01" name="_h1">
            <a:extLst>
              <a:ext uri="{FF2B5EF4-FFF2-40B4-BE49-F238E27FC236}">
                <a16:creationId xmlns:a16="http://schemas.microsoft.com/office/drawing/2014/main" id="{3B93B19A-4EA5-409C-BA42-5D36B1F9FE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8995324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994" y="177281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 - свойства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Подсчет событий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3691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569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770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299875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1703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3711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44136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44136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59952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64136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5561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4208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056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369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569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48937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48937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48937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450912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984248" y="323610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7" name="Прямоугольник 96"/>
          <p:cNvSpPr/>
          <p:nvPr/>
        </p:nvSpPr>
        <p:spPr>
          <a:xfrm>
            <a:off x="7808376" y="364502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8" name="Прямоугольник 97"/>
          <p:cNvSpPr/>
          <p:nvPr/>
        </p:nvSpPr>
        <p:spPr>
          <a:xfrm>
            <a:off x="8816488" y="393305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9776" y="5085184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Если в часах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Лэмпорта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≡ 1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то до события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должно пройти не менее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1 событий, связанных </a:t>
            </a:r>
            <a:r>
              <a:rPr lang="ru-RU" dirty="0" smtClean="0">
                <a:solidFill>
                  <a:prstClr val="black"/>
                </a:solidFill>
                <a:latin typeface="Calibri"/>
              </a:rPr>
              <a:t>с ним </a:t>
            </a: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соотношением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«произошло раньше».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Прямая соединительная линия 10"/>
          <p:cNvCxnSpPr>
            <a:cxnSpLocks/>
          </p:cNvCxnSpPr>
          <p:nvPr/>
        </p:nvCxnSpPr>
        <p:spPr>
          <a:xfrm>
            <a:off x="3935760" y="3708112"/>
            <a:ext cx="2322000" cy="8920"/>
          </a:xfrm>
          <a:prstGeom prst="line">
            <a:avLst/>
          </a:prstGeom>
          <a:ln w="127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cxnSpLocks/>
          </p:cNvCxnSpPr>
          <p:nvPr/>
        </p:nvCxnSpPr>
        <p:spPr>
          <a:xfrm>
            <a:off x="6834088" y="2996952"/>
            <a:ext cx="792088" cy="0"/>
          </a:xfrm>
          <a:prstGeom prst="line">
            <a:avLst/>
          </a:prstGeom>
          <a:ln w="127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cxnSpLocks/>
          </p:cNvCxnSpPr>
          <p:nvPr/>
        </p:nvCxnSpPr>
        <p:spPr>
          <a:xfrm flipV="1">
            <a:off x="6257760" y="2996952"/>
            <a:ext cx="576328" cy="7200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Прямоугольник 95"/>
          <p:cNvSpPr/>
          <p:nvPr/>
        </p:nvSpPr>
        <p:spPr>
          <a:xfrm>
            <a:off x="6440224" y="328498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8" name="_h1">
            <a:extLst>
              <a:ext uri="{FF2B5EF4-FFF2-40B4-BE49-F238E27FC236}">
                <a16:creationId xmlns:a16="http://schemas.microsoft.com/office/drawing/2014/main" id="{8E459024-3746-4A01-B450-6D25B5E73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32565257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  <p:bldP spid="24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490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60218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4074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4074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80298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427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563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434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530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530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65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93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Прямая со стрелкой 23"/>
          <p:cNvCxnSpPr>
            <a:cxnSpLocks/>
            <a:stCxn id="8" idx="5"/>
            <a:endCxn id="17" idx="1"/>
          </p:cNvCxnSpPr>
          <p:nvPr/>
        </p:nvCxnSpPr>
        <p:spPr>
          <a:xfrm>
            <a:off x="5972482" y="3331872"/>
            <a:ext cx="1147768" cy="1367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cxnSpLocks/>
            <a:stCxn id="20" idx="7"/>
            <a:endCxn id="21" idx="3"/>
          </p:cNvCxnSpPr>
          <p:nvPr/>
        </p:nvCxnSpPr>
        <p:spPr>
          <a:xfrm flipV="1">
            <a:off x="9176838" y="3331872"/>
            <a:ext cx="988914" cy="1363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7690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8068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7860554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554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450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6282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430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0218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6294338" y="3843228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6562" y="2780929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562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_h1">
            <a:extLst>
              <a:ext uri="{FF2B5EF4-FFF2-40B4-BE49-F238E27FC236}">
                <a16:creationId xmlns:a16="http://schemas.microsoft.com/office/drawing/2014/main" id="{EB78F36E-D9E6-4010-B666-14184BF7C2C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39" name="Rechteck 36">
            <a:extLst>
              <a:ext uri="{FF2B5EF4-FFF2-40B4-BE49-F238E27FC236}">
                <a16:creationId xmlns:a16="http://schemas.microsoft.com/office/drawing/2014/main" id="{BE2AD9E1-D672-4D3C-9075-030208430B6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36992592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8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7" grpId="0"/>
      <p:bldP spid="29" grpId="0"/>
      <p:bldP spid="28" grpId="0" animBg="1"/>
      <p:bldP spid="31" grpId="0" animBg="1"/>
      <p:bldP spid="30" grpId="0"/>
      <p:bldP spid="32" grpId="0"/>
      <p:bldP spid="33" grpId="0"/>
      <p:bldP spid="34" grpId="0" animBg="1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490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60218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4074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4074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80298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427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563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434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530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530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65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93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7690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8068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7860554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554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450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6282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430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0218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6562" y="2780929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562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18734" y="27915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8:5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</a:p>
        </p:txBody>
      </p:sp>
      <p:cxnSp>
        <p:nvCxnSpPr>
          <p:cNvPr id="3" name="Прямая со стрелкой 2"/>
          <p:cNvCxnSpPr>
            <a:stCxn id="16" idx="5"/>
            <a:endCxn id="20" idx="1"/>
          </p:cNvCxnSpPr>
          <p:nvPr/>
        </p:nvCxnSpPr>
        <p:spPr>
          <a:xfrm>
            <a:off x="6662748" y="3331872"/>
            <a:ext cx="2437723" cy="1363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7610882" y="3860705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_h1">
            <a:extLst>
              <a:ext uri="{FF2B5EF4-FFF2-40B4-BE49-F238E27FC236}">
                <a16:creationId xmlns:a16="http://schemas.microsoft.com/office/drawing/2014/main" id="{F4258066-A1F1-421D-B1D2-6FB32DD1B54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39" name="Rechteck 36">
            <a:extLst>
              <a:ext uri="{FF2B5EF4-FFF2-40B4-BE49-F238E27FC236}">
                <a16:creationId xmlns:a16="http://schemas.microsoft.com/office/drawing/2014/main" id="{1026D6F4-9028-4C06-893B-1CD2ADA66B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14225372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36" grpId="0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018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490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60218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4074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4074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80298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427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563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434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530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530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654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93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7690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8068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7860554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554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450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6282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430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0218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6562" y="2780929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562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18734" y="27915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8:5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</a:p>
        </p:txBody>
      </p:sp>
      <p:cxnSp>
        <p:nvCxnSpPr>
          <p:cNvPr id="3" name="Прямая со стрелкой 2"/>
          <p:cNvCxnSpPr>
            <a:stCxn id="16" idx="5"/>
            <a:endCxn id="20" idx="1"/>
          </p:cNvCxnSpPr>
          <p:nvPr/>
        </p:nvCxnSpPr>
        <p:spPr>
          <a:xfrm>
            <a:off x="6662748" y="3331872"/>
            <a:ext cx="2437723" cy="1363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7610882" y="3860705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_h1">
            <a:extLst>
              <a:ext uri="{FF2B5EF4-FFF2-40B4-BE49-F238E27FC236}">
                <a16:creationId xmlns:a16="http://schemas.microsoft.com/office/drawing/2014/main" id="{E7CEF33A-3543-4E31-9A5D-E8C6E63C5AA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39" name="Rechteck 36">
            <a:extLst>
              <a:ext uri="{FF2B5EF4-FFF2-40B4-BE49-F238E27FC236}">
                <a16:creationId xmlns:a16="http://schemas.microsoft.com/office/drawing/2014/main" id="{1AB538D1-DAA2-4671-8775-BA970B306D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11836063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59696" y="1842096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160168" y="329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59896" y="4734000"/>
            <a:ext cx="5760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3752" y="309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3752" y="45360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Филиал 2</a:t>
            </a:r>
          </a:p>
        </p:txBody>
      </p:sp>
      <p:sp>
        <p:nvSpPr>
          <p:cNvPr id="8" name="Овал 7"/>
          <p:cNvSpPr/>
          <p:nvPr/>
        </p:nvSpPr>
        <p:spPr>
          <a:xfrm>
            <a:off x="5879976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63952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6570241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104112" y="4683466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968208" y="32397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968208" y="4683549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9084332" y="467984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149614" y="323968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3952" y="2791579"/>
            <a:ext cx="603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7746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9:00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5772000" y="313167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860232" y="4571836"/>
            <a:ext cx="324000" cy="324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8128" y="55079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Итого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5960" y="210324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Банковская система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1108" y="2780929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59896" y="4993432"/>
            <a:ext cx="101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3952" y="2564905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6240" y="4993432"/>
            <a:ext cx="5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18412" y="27915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3" name="Прямая со стрелкой 2"/>
          <p:cNvCxnSpPr>
            <a:cxnSpLocks/>
            <a:stCxn id="16" idx="5"/>
            <a:endCxn id="17" idx="0"/>
          </p:cNvCxnSpPr>
          <p:nvPr/>
        </p:nvCxnSpPr>
        <p:spPr>
          <a:xfrm>
            <a:off x="6662426" y="3331872"/>
            <a:ext cx="495687" cy="1351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6654056" y="3810370"/>
            <a:ext cx="504056" cy="3832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13650" y="4993432"/>
            <a:ext cx="62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8:59</a:t>
            </a:r>
          </a:p>
        </p:txBody>
      </p:sp>
      <p:sp>
        <p:nvSpPr>
          <p:cNvPr id="39" name="_h1">
            <a:extLst>
              <a:ext uri="{FF2B5EF4-FFF2-40B4-BE49-F238E27FC236}">
                <a16:creationId xmlns:a16="http://schemas.microsoft.com/office/drawing/2014/main" id="{0B9AF834-2A6F-48EC-972E-4F54481343D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40" name="Rechteck 36">
            <a:extLst>
              <a:ext uri="{FF2B5EF4-FFF2-40B4-BE49-F238E27FC236}">
                <a16:creationId xmlns:a16="http://schemas.microsoft.com/office/drawing/2014/main" id="{33EDC073-D9D5-44EA-9FFC-84027FA151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40329730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36" grpId="0"/>
      <p:bldP spid="37" grpId="0"/>
      <p:bldP spid="34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00007" y="172677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использования: банковская система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7880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506543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414813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5425478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996112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829225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70808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68017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6080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1222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75728" y="379808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5604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162272" y="379808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07776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64152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5497487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D635B-8E13-47AC-8893-381AD7767B6D}"/>
              </a:ext>
            </a:extLst>
          </p:cNvPr>
          <p:cNvSpPr txBox="1"/>
          <p:nvPr/>
        </p:nvSpPr>
        <p:spPr>
          <a:xfrm>
            <a:off x="3755740" y="241443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F75DE3-F3C0-4920-8D62-9A379E6721F0}"/>
              </a:ext>
            </a:extLst>
          </p:cNvPr>
          <p:cNvSpPr txBox="1"/>
          <p:nvPr/>
        </p:nvSpPr>
        <p:spPr>
          <a:xfrm>
            <a:off x="3758225" y="3573016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6FDD9E-BC83-41AE-8D26-D4A628AF0E0C}"/>
              </a:ext>
            </a:extLst>
          </p:cNvPr>
          <p:cNvSpPr txBox="1"/>
          <p:nvPr/>
        </p:nvSpPr>
        <p:spPr>
          <a:xfrm>
            <a:off x="3755740" y="4819004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226356A8-FD45-4F4C-9AEC-8656D779888B}"/>
              </a:ext>
            </a:extLst>
          </p:cNvPr>
          <p:cNvCxnSpPr>
            <a:cxnSpLocks/>
            <a:stCxn id="27" idx="0"/>
            <a:endCxn id="23" idx="3"/>
          </p:cNvCxnSpPr>
          <p:nvPr/>
        </p:nvCxnSpPr>
        <p:spPr>
          <a:xfrm flipV="1">
            <a:off x="5105896" y="4195236"/>
            <a:ext cx="537880" cy="1185082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B16CEE28-30F8-43F3-A474-A12EAADC7595}"/>
              </a:ext>
            </a:extLst>
          </p:cNvPr>
          <p:cNvCxnSpPr>
            <a:cxnSpLocks/>
            <a:stCxn id="18" idx="5"/>
            <a:endCxn id="28" idx="0"/>
          </p:cNvCxnSpPr>
          <p:nvPr/>
        </p:nvCxnSpPr>
        <p:spPr>
          <a:xfrm>
            <a:off x="5468104" y="3053428"/>
            <a:ext cx="1762016" cy="2326890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A2B9E65C-7EAC-40D3-BB69-6E962061961A}"/>
              </a:ext>
            </a:extLst>
          </p:cNvPr>
          <p:cNvCxnSpPr>
            <a:cxnSpLocks/>
            <a:stCxn id="24" idx="0"/>
            <a:endCxn id="19" idx="4"/>
          </p:cNvCxnSpPr>
          <p:nvPr/>
        </p:nvCxnSpPr>
        <p:spPr>
          <a:xfrm flipV="1">
            <a:off x="6762080" y="3069244"/>
            <a:ext cx="288032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98D31896-D9BF-4B98-A649-CABE3C72FA03}"/>
              </a:ext>
            </a:extLst>
          </p:cNvPr>
          <p:cNvCxnSpPr>
            <a:cxnSpLocks/>
            <a:stCxn id="29" idx="0"/>
            <a:endCxn id="21" idx="4"/>
          </p:cNvCxnSpPr>
          <p:nvPr/>
        </p:nvCxnSpPr>
        <p:spPr>
          <a:xfrm flipV="1">
            <a:off x="7734176" y="3069244"/>
            <a:ext cx="612080" cy="2311074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327210E7-B290-406E-AE56-2BB09566B8FE}"/>
              </a:ext>
            </a:extLst>
          </p:cNvPr>
          <p:cNvCxnSpPr>
            <a:cxnSpLocks/>
            <a:stCxn id="30" idx="7"/>
            <a:endCxn id="25" idx="3"/>
          </p:cNvCxnSpPr>
          <p:nvPr/>
        </p:nvCxnSpPr>
        <p:spPr>
          <a:xfrm flipV="1">
            <a:off x="8636456" y="4195236"/>
            <a:ext cx="571728" cy="120089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Овал 78">
            <a:extLst>
              <a:ext uri="{FF2B5EF4-FFF2-40B4-BE49-F238E27FC236}">
                <a16:creationId xmlns:a16="http://schemas.microsoft.com/office/drawing/2014/main" id="{72E23E1A-C122-4459-98B7-19D860B3446A}"/>
              </a:ext>
            </a:extLst>
          </p:cNvPr>
          <p:cNvSpPr/>
          <p:nvPr/>
        </p:nvSpPr>
        <p:spPr>
          <a:xfrm>
            <a:off x="9435206" y="2961243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010698-ED24-4A7E-943B-EB51AA12B446}"/>
              </a:ext>
            </a:extLst>
          </p:cNvPr>
          <p:cNvSpPr txBox="1"/>
          <p:nvPr/>
        </p:nvSpPr>
        <p:spPr>
          <a:xfrm>
            <a:off x="9255174" y="264620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FE9FE97F-3905-4E23-B4AD-4A44DD0531B1}"/>
              </a:ext>
            </a:extLst>
          </p:cNvPr>
          <p:cNvCxnSpPr>
            <a:cxnSpLocks/>
            <a:stCxn id="79" idx="5"/>
            <a:endCxn id="26" idx="1"/>
          </p:cNvCxnSpPr>
          <p:nvPr/>
        </p:nvCxnSpPr>
        <p:spPr>
          <a:xfrm>
            <a:off x="9527390" y="3053427"/>
            <a:ext cx="580882" cy="1065441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BEE2B27-E8FC-44B4-BA24-0FD4D508931B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>
            <a:off x="4457824" y="3069244"/>
            <a:ext cx="360040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4447776" y="334746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1FFF702C-3DE2-4578-9FEB-AD2D06ECB84F}"/>
              </a:ext>
            </a:extLst>
          </p:cNvPr>
          <p:cNvSpPr/>
          <p:nvPr/>
        </p:nvSpPr>
        <p:spPr>
          <a:xfrm>
            <a:off x="5869948" y="3645874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76FB2E94-14A0-4B15-A84D-0B8BA9B83207}"/>
              </a:ext>
            </a:extLst>
          </p:cNvPr>
          <p:cNvSpPr/>
          <p:nvPr/>
        </p:nvSpPr>
        <p:spPr>
          <a:xfrm>
            <a:off x="5177904" y="467967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15B7BF99-0488-489B-88A9-A23A0D82F2DB}"/>
              </a:ext>
            </a:extLst>
          </p:cNvPr>
          <p:cNvSpPr/>
          <p:nvPr/>
        </p:nvSpPr>
        <p:spPr>
          <a:xfrm>
            <a:off x="6722138" y="3433063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DC626911-DA58-4F51-AF8C-052F72004A8D}"/>
              </a:ext>
            </a:extLst>
          </p:cNvPr>
          <p:cNvSpPr/>
          <p:nvPr/>
        </p:nvSpPr>
        <p:spPr>
          <a:xfrm>
            <a:off x="7839834" y="3986132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342984D6-51D0-45DE-BEA2-6B38721AEF31}"/>
              </a:ext>
            </a:extLst>
          </p:cNvPr>
          <p:cNvSpPr/>
          <p:nvPr/>
        </p:nvSpPr>
        <p:spPr>
          <a:xfrm>
            <a:off x="9637831" y="3378919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$0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C65ABEFE-2C26-4D86-80A9-2037E332AAE6}"/>
              </a:ext>
            </a:extLst>
          </p:cNvPr>
          <p:cNvSpPr/>
          <p:nvPr/>
        </p:nvSpPr>
        <p:spPr>
          <a:xfrm>
            <a:off x="8742320" y="4625777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0" name="_h1">
            <a:extLst>
              <a:ext uri="{FF2B5EF4-FFF2-40B4-BE49-F238E27FC236}">
                <a16:creationId xmlns:a16="http://schemas.microsoft.com/office/drawing/2014/main" id="{3D49DD49-88FB-4DFB-8ABC-286A5DA18C5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27582624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5" grpId="0"/>
      <p:bldP spid="57" grpId="0"/>
      <p:bldP spid="58" grpId="0"/>
      <p:bldP spid="79" grpId="0" animBg="1"/>
      <p:bldP spid="80" grpId="0"/>
      <p:bldP spid="3" grpId="0" animBg="1"/>
      <p:bldP spid="94" grpId="0" animBg="1"/>
      <p:bldP spid="95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00007" y="172677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использования: банковская система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7880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506543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414813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5425478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996112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829225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70808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68017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6080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1222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75728" y="379808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5604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162272" y="379808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07776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64152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5497487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D635B-8E13-47AC-8893-381AD7767B6D}"/>
              </a:ext>
            </a:extLst>
          </p:cNvPr>
          <p:cNvSpPr txBox="1"/>
          <p:nvPr/>
        </p:nvSpPr>
        <p:spPr>
          <a:xfrm>
            <a:off x="3755740" y="241443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F75DE3-F3C0-4920-8D62-9A379E6721F0}"/>
              </a:ext>
            </a:extLst>
          </p:cNvPr>
          <p:cNvSpPr txBox="1"/>
          <p:nvPr/>
        </p:nvSpPr>
        <p:spPr>
          <a:xfrm>
            <a:off x="3758225" y="3573016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6FDD9E-BC83-41AE-8D26-D4A628AF0E0C}"/>
              </a:ext>
            </a:extLst>
          </p:cNvPr>
          <p:cNvSpPr txBox="1"/>
          <p:nvPr/>
        </p:nvSpPr>
        <p:spPr>
          <a:xfrm>
            <a:off x="3755740" y="4819004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226356A8-FD45-4F4C-9AEC-8656D779888B}"/>
              </a:ext>
            </a:extLst>
          </p:cNvPr>
          <p:cNvCxnSpPr>
            <a:cxnSpLocks/>
            <a:stCxn id="27" idx="0"/>
            <a:endCxn id="23" idx="3"/>
          </p:cNvCxnSpPr>
          <p:nvPr/>
        </p:nvCxnSpPr>
        <p:spPr>
          <a:xfrm flipV="1">
            <a:off x="5105896" y="4195236"/>
            <a:ext cx="537880" cy="1185082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B16CEE28-30F8-43F3-A474-A12EAADC7595}"/>
              </a:ext>
            </a:extLst>
          </p:cNvPr>
          <p:cNvCxnSpPr>
            <a:cxnSpLocks/>
            <a:stCxn id="18" idx="5"/>
            <a:endCxn id="28" idx="0"/>
          </p:cNvCxnSpPr>
          <p:nvPr/>
        </p:nvCxnSpPr>
        <p:spPr>
          <a:xfrm>
            <a:off x="5468104" y="3053428"/>
            <a:ext cx="1762016" cy="2326890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A2B9E65C-7EAC-40D3-BB69-6E962061961A}"/>
              </a:ext>
            </a:extLst>
          </p:cNvPr>
          <p:cNvCxnSpPr>
            <a:cxnSpLocks/>
            <a:stCxn id="24" idx="0"/>
            <a:endCxn id="19" idx="4"/>
          </p:cNvCxnSpPr>
          <p:nvPr/>
        </p:nvCxnSpPr>
        <p:spPr>
          <a:xfrm flipV="1">
            <a:off x="6762080" y="3069244"/>
            <a:ext cx="288032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98D31896-D9BF-4B98-A649-CABE3C72FA03}"/>
              </a:ext>
            </a:extLst>
          </p:cNvPr>
          <p:cNvCxnSpPr>
            <a:cxnSpLocks/>
            <a:stCxn id="29" idx="0"/>
            <a:endCxn id="21" idx="4"/>
          </p:cNvCxnSpPr>
          <p:nvPr/>
        </p:nvCxnSpPr>
        <p:spPr>
          <a:xfrm flipV="1">
            <a:off x="7734176" y="3069244"/>
            <a:ext cx="612080" cy="2311074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327210E7-B290-406E-AE56-2BB09566B8FE}"/>
              </a:ext>
            </a:extLst>
          </p:cNvPr>
          <p:cNvCxnSpPr>
            <a:cxnSpLocks/>
            <a:stCxn id="30" idx="7"/>
            <a:endCxn id="25" idx="3"/>
          </p:cNvCxnSpPr>
          <p:nvPr/>
        </p:nvCxnSpPr>
        <p:spPr>
          <a:xfrm flipV="1">
            <a:off x="8636456" y="4195236"/>
            <a:ext cx="571728" cy="120089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Овал 78">
            <a:extLst>
              <a:ext uri="{FF2B5EF4-FFF2-40B4-BE49-F238E27FC236}">
                <a16:creationId xmlns:a16="http://schemas.microsoft.com/office/drawing/2014/main" id="{72E23E1A-C122-4459-98B7-19D860B3446A}"/>
              </a:ext>
            </a:extLst>
          </p:cNvPr>
          <p:cNvSpPr/>
          <p:nvPr/>
        </p:nvSpPr>
        <p:spPr>
          <a:xfrm>
            <a:off x="9435206" y="2961243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010698-ED24-4A7E-943B-EB51AA12B446}"/>
              </a:ext>
            </a:extLst>
          </p:cNvPr>
          <p:cNvSpPr txBox="1"/>
          <p:nvPr/>
        </p:nvSpPr>
        <p:spPr>
          <a:xfrm>
            <a:off x="9255174" y="264620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FE9FE97F-3905-4E23-B4AD-4A44DD0531B1}"/>
              </a:ext>
            </a:extLst>
          </p:cNvPr>
          <p:cNvCxnSpPr>
            <a:cxnSpLocks/>
            <a:stCxn id="79" idx="5"/>
            <a:endCxn id="26" idx="1"/>
          </p:cNvCxnSpPr>
          <p:nvPr/>
        </p:nvCxnSpPr>
        <p:spPr>
          <a:xfrm>
            <a:off x="9527390" y="3053427"/>
            <a:ext cx="580882" cy="1065441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BEE2B27-E8FC-44B4-BA24-0FD4D508931B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>
            <a:off x="4457824" y="3069244"/>
            <a:ext cx="360040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4447776" y="334746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1FFF702C-3DE2-4578-9FEB-AD2D06ECB84F}"/>
              </a:ext>
            </a:extLst>
          </p:cNvPr>
          <p:cNvSpPr/>
          <p:nvPr/>
        </p:nvSpPr>
        <p:spPr>
          <a:xfrm>
            <a:off x="5869948" y="3645874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76FB2E94-14A0-4B15-A84D-0B8BA9B83207}"/>
              </a:ext>
            </a:extLst>
          </p:cNvPr>
          <p:cNvSpPr/>
          <p:nvPr/>
        </p:nvSpPr>
        <p:spPr>
          <a:xfrm>
            <a:off x="5177904" y="467967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15B7BF99-0488-489B-88A9-A23A0D82F2DB}"/>
              </a:ext>
            </a:extLst>
          </p:cNvPr>
          <p:cNvSpPr/>
          <p:nvPr/>
        </p:nvSpPr>
        <p:spPr>
          <a:xfrm>
            <a:off x="6722138" y="3433063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DC626911-DA58-4F51-AF8C-052F72004A8D}"/>
              </a:ext>
            </a:extLst>
          </p:cNvPr>
          <p:cNvSpPr/>
          <p:nvPr/>
        </p:nvSpPr>
        <p:spPr>
          <a:xfrm>
            <a:off x="7839834" y="3986132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342984D6-51D0-45DE-BEA2-6B38721AEF31}"/>
              </a:ext>
            </a:extLst>
          </p:cNvPr>
          <p:cNvSpPr/>
          <p:nvPr/>
        </p:nvSpPr>
        <p:spPr>
          <a:xfrm>
            <a:off x="9637831" y="3378919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$0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C65ABEFE-2C26-4D86-80A9-2037E332AAE6}"/>
              </a:ext>
            </a:extLst>
          </p:cNvPr>
          <p:cNvSpPr/>
          <p:nvPr/>
        </p:nvSpPr>
        <p:spPr>
          <a:xfrm>
            <a:off x="8742320" y="4625777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8320A3-9BF9-4A4C-A0EA-005AF6CDB7B4}"/>
              </a:ext>
            </a:extLst>
          </p:cNvPr>
          <p:cNvCxnSpPr/>
          <p:nvPr/>
        </p:nvCxnSpPr>
        <p:spPr>
          <a:xfrm>
            <a:off x="6229948" y="2838078"/>
            <a:ext cx="0" cy="357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4777748B-5F3F-4F5B-8F77-C3030B581C93}"/>
              </a:ext>
            </a:extLst>
          </p:cNvPr>
          <p:cNvCxnSpPr/>
          <p:nvPr/>
        </p:nvCxnSpPr>
        <p:spPr>
          <a:xfrm>
            <a:off x="7392144" y="3952931"/>
            <a:ext cx="0" cy="357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0702B610-7B55-48F0-94EA-141B7390366C}"/>
              </a:ext>
            </a:extLst>
          </p:cNvPr>
          <p:cNvCxnSpPr/>
          <p:nvPr/>
        </p:nvCxnSpPr>
        <p:spPr>
          <a:xfrm>
            <a:off x="8189862" y="5256169"/>
            <a:ext cx="0" cy="357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658AC63-289C-4285-8317-184F5F734280}"/>
              </a:ext>
            </a:extLst>
          </p:cNvPr>
          <p:cNvSpPr txBox="1"/>
          <p:nvPr/>
        </p:nvSpPr>
        <p:spPr>
          <a:xfrm>
            <a:off x="6001998" y="247329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$7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C702D8-CB48-495D-BB1F-4863BCB5B796}"/>
              </a:ext>
            </a:extLst>
          </p:cNvPr>
          <p:cNvSpPr txBox="1"/>
          <p:nvPr/>
        </p:nvSpPr>
        <p:spPr>
          <a:xfrm>
            <a:off x="7098601" y="361671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A84EB3-B0EE-457D-97D0-B98AE226C80B}"/>
              </a:ext>
            </a:extLst>
          </p:cNvPr>
          <p:cNvSpPr txBox="1"/>
          <p:nvPr/>
        </p:nvSpPr>
        <p:spPr>
          <a:xfrm>
            <a:off x="7923502" y="4902901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6" name="_h1">
            <a:extLst>
              <a:ext uri="{FF2B5EF4-FFF2-40B4-BE49-F238E27FC236}">
                <a16:creationId xmlns:a16="http://schemas.microsoft.com/office/drawing/2014/main" id="{EBFA9141-7252-434C-8022-BAF85B40F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5957001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00007" y="172677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использования: банковская система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7880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506543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414813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5425478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996112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829225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70808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68017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6080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1222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75728" y="379808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5604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162272" y="379808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07776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64152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5497487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D635B-8E13-47AC-8893-381AD7767B6D}"/>
              </a:ext>
            </a:extLst>
          </p:cNvPr>
          <p:cNvSpPr txBox="1"/>
          <p:nvPr/>
        </p:nvSpPr>
        <p:spPr>
          <a:xfrm>
            <a:off x="3755740" y="241443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F75DE3-F3C0-4920-8D62-9A379E6721F0}"/>
              </a:ext>
            </a:extLst>
          </p:cNvPr>
          <p:cNvSpPr txBox="1"/>
          <p:nvPr/>
        </p:nvSpPr>
        <p:spPr>
          <a:xfrm>
            <a:off x="3758225" y="3573016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6FDD9E-BC83-41AE-8D26-D4A628AF0E0C}"/>
              </a:ext>
            </a:extLst>
          </p:cNvPr>
          <p:cNvSpPr txBox="1"/>
          <p:nvPr/>
        </p:nvSpPr>
        <p:spPr>
          <a:xfrm>
            <a:off x="3755740" y="4819004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226356A8-FD45-4F4C-9AEC-8656D779888B}"/>
              </a:ext>
            </a:extLst>
          </p:cNvPr>
          <p:cNvCxnSpPr>
            <a:cxnSpLocks/>
            <a:stCxn id="27" idx="0"/>
            <a:endCxn id="23" idx="3"/>
          </p:cNvCxnSpPr>
          <p:nvPr/>
        </p:nvCxnSpPr>
        <p:spPr>
          <a:xfrm flipV="1">
            <a:off x="5105896" y="4195236"/>
            <a:ext cx="537880" cy="1185082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B16CEE28-30F8-43F3-A474-A12EAADC7595}"/>
              </a:ext>
            </a:extLst>
          </p:cNvPr>
          <p:cNvCxnSpPr>
            <a:cxnSpLocks/>
            <a:stCxn id="18" idx="5"/>
            <a:endCxn id="28" idx="0"/>
          </p:cNvCxnSpPr>
          <p:nvPr/>
        </p:nvCxnSpPr>
        <p:spPr>
          <a:xfrm>
            <a:off x="5468104" y="3053428"/>
            <a:ext cx="1762016" cy="2326890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A2B9E65C-7EAC-40D3-BB69-6E962061961A}"/>
              </a:ext>
            </a:extLst>
          </p:cNvPr>
          <p:cNvCxnSpPr>
            <a:cxnSpLocks/>
            <a:stCxn id="24" idx="0"/>
            <a:endCxn id="19" idx="4"/>
          </p:cNvCxnSpPr>
          <p:nvPr/>
        </p:nvCxnSpPr>
        <p:spPr>
          <a:xfrm flipV="1">
            <a:off x="6762080" y="3069244"/>
            <a:ext cx="288032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98D31896-D9BF-4B98-A649-CABE3C72FA03}"/>
              </a:ext>
            </a:extLst>
          </p:cNvPr>
          <p:cNvCxnSpPr>
            <a:cxnSpLocks/>
            <a:stCxn id="29" idx="0"/>
            <a:endCxn id="21" idx="4"/>
          </p:cNvCxnSpPr>
          <p:nvPr/>
        </p:nvCxnSpPr>
        <p:spPr>
          <a:xfrm flipV="1">
            <a:off x="7734176" y="3069244"/>
            <a:ext cx="612080" cy="2311074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327210E7-B290-406E-AE56-2BB09566B8FE}"/>
              </a:ext>
            </a:extLst>
          </p:cNvPr>
          <p:cNvCxnSpPr>
            <a:cxnSpLocks/>
            <a:stCxn id="30" idx="7"/>
            <a:endCxn id="25" idx="3"/>
          </p:cNvCxnSpPr>
          <p:nvPr/>
        </p:nvCxnSpPr>
        <p:spPr>
          <a:xfrm flipV="1">
            <a:off x="8636456" y="4195236"/>
            <a:ext cx="571728" cy="120089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Овал 78">
            <a:extLst>
              <a:ext uri="{FF2B5EF4-FFF2-40B4-BE49-F238E27FC236}">
                <a16:creationId xmlns:a16="http://schemas.microsoft.com/office/drawing/2014/main" id="{72E23E1A-C122-4459-98B7-19D860B3446A}"/>
              </a:ext>
            </a:extLst>
          </p:cNvPr>
          <p:cNvSpPr/>
          <p:nvPr/>
        </p:nvSpPr>
        <p:spPr>
          <a:xfrm>
            <a:off x="9435206" y="2961243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010698-ED24-4A7E-943B-EB51AA12B446}"/>
              </a:ext>
            </a:extLst>
          </p:cNvPr>
          <p:cNvSpPr txBox="1"/>
          <p:nvPr/>
        </p:nvSpPr>
        <p:spPr>
          <a:xfrm>
            <a:off x="9255174" y="264620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FE9FE97F-3905-4E23-B4AD-4A44DD0531B1}"/>
              </a:ext>
            </a:extLst>
          </p:cNvPr>
          <p:cNvCxnSpPr>
            <a:cxnSpLocks/>
            <a:stCxn id="79" idx="5"/>
            <a:endCxn id="26" idx="1"/>
          </p:cNvCxnSpPr>
          <p:nvPr/>
        </p:nvCxnSpPr>
        <p:spPr>
          <a:xfrm>
            <a:off x="9527390" y="3053427"/>
            <a:ext cx="580882" cy="1065441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BEE2B27-E8FC-44B4-BA24-0FD4D508931B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>
            <a:off x="4457824" y="3069244"/>
            <a:ext cx="360040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4447776" y="334746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1FFF702C-3DE2-4578-9FEB-AD2D06ECB84F}"/>
              </a:ext>
            </a:extLst>
          </p:cNvPr>
          <p:cNvSpPr/>
          <p:nvPr/>
        </p:nvSpPr>
        <p:spPr>
          <a:xfrm>
            <a:off x="5869948" y="3645874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76FB2E94-14A0-4B15-A84D-0B8BA9B83207}"/>
              </a:ext>
            </a:extLst>
          </p:cNvPr>
          <p:cNvSpPr/>
          <p:nvPr/>
        </p:nvSpPr>
        <p:spPr>
          <a:xfrm>
            <a:off x="5177904" y="467967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15B7BF99-0488-489B-88A9-A23A0D82F2DB}"/>
              </a:ext>
            </a:extLst>
          </p:cNvPr>
          <p:cNvSpPr/>
          <p:nvPr/>
        </p:nvSpPr>
        <p:spPr>
          <a:xfrm>
            <a:off x="6722138" y="3433063"/>
            <a:ext cx="360000" cy="324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DC626911-DA58-4F51-AF8C-052F72004A8D}"/>
              </a:ext>
            </a:extLst>
          </p:cNvPr>
          <p:cNvSpPr/>
          <p:nvPr/>
        </p:nvSpPr>
        <p:spPr>
          <a:xfrm>
            <a:off x="7839834" y="3986132"/>
            <a:ext cx="360000" cy="324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342984D6-51D0-45DE-BEA2-6B38721AEF31}"/>
              </a:ext>
            </a:extLst>
          </p:cNvPr>
          <p:cNvSpPr/>
          <p:nvPr/>
        </p:nvSpPr>
        <p:spPr>
          <a:xfrm>
            <a:off x="9637831" y="3378919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$0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C65ABEFE-2C26-4D86-80A9-2037E332AAE6}"/>
              </a:ext>
            </a:extLst>
          </p:cNvPr>
          <p:cNvSpPr/>
          <p:nvPr/>
        </p:nvSpPr>
        <p:spPr>
          <a:xfrm>
            <a:off x="8742320" y="4625777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8320A3-9BF9-4A4C-A0EA-005AF6CDB7B4}"/>
              </a:ext>
            </a:extLst>
          </p:cNvPr>
          <p:cNvCxnSpPr/>
          <p:nvPr/>
        </p:nvCxnSpPr>
        <p:spPr>
          <a:xfrm>
            <a:off x="6229948" y="2838078"/>
            <a:ext cx="0" cy="357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4777748B-5F3F-4F5B-8F77-C3030B581C93}"/>
              </a:ext>
            </a:extLst>
          </p:cNvPr>
          <p:cNvCxnSpPr/>
          <p:nvPr/>
        </p:nvCxnSpPr>
        <p:spPr>
          <a:xfrm>
            <a:off x="7392144" y="3952931"/>
            <a:ext cx="0" cy="357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0702B610-7B55-48F0-94EA-141B7390366C}"/>
              </a:ext>
            </a:extLst>
          </p:cNvPr>
          <p:cNvCxnSpPr/>
          <p:nvPr/>
        </p:nvCxnSpPr>
        <p:spPr>
          <a:xfrm>
            <a:off x="8189862" y="5256169"/>
            <a:ext cx="0" cy="357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658AC63-289C-4285-8317-184F5F734280}"/>
              </a:ext>
            </a:extLst>
          </p:cNvPr>
          <p:cNvSpPr txBox="1"/>
          <p:nvPr/>
        </p:nvSpPr>
        <p:spPr>
          <a:xfrm>
            <a:off x="6001998" y="247329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$7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C702D8-CB48-495D-BB1F-4863BCB5B796}"/>
              </a:ext>
            </a:extLst>
          </p:cNvPr>
          <p:cNvSpPr txBox="1"/>
          <p:nvPr/>
        </p:nvSpPr>
        <p:spPr>
          <a:xfrm>
            <a:off x="7098601" y="361671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A84EB3-B0EE-457D-97D0-B98AE226C80B}"/>
              </a:ext>
            </a:extLst>
          </p:cNvPr>
          <p:cNvSpPr txBox="1"/>
          <p:nvPr/>
        </p:nvSpPr>
        <p:spPr>
          <a:xfrm>
            <a:off x="7923502" y="4902901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6" name="_h1">
            <a:extLst>
              <a:ext uri="{FF2B5EF4-FFF2-40B4-BE49-F238E27FC236}">
                <a16:creationId xmlns:a16="http://schemas.microsoft.com/office/drawing/2014/main" id="{4DF3E110-3B53-410E-AAE5-A1A272FD52F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26825052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00007" y="172677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использования: банковская система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7880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506543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414813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5425478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996112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829225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708080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41030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680176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538031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6080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1222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75728" y="379808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5604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7880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162272" y="379808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07776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64152" y="547774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5497487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D635B-8E13-47AC-8893-381AD7767B6D}"/>
              </a:ext>
            </a:extLst>
          </p:cNvPr>
          <p:cNvSpPr txBox="1"/>
          <p:nvPr/>
        </p:nvSpPr>
        <p:spPr>
          <a:xfrm>
            <a:off x="3755740" y="241443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$10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F75DE3-F3C0-4920-8D62-9A379E6721F0}"/>
              </a:ext>
            </a:extLst>
          </p:cNvPr>
          <p:cNvSpPr txBox="1"/>
          <p:nvPr/>
        </p:nvSpPr>
        <p:spPr>
          <a:xfrm>
            <a:off x="3758225" y="3573016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6FDD9E-BC83-41AE-8D26-D4A628AF0E0C}"/>
              </a:ext>
            </a:extLst>
          </p:cNvPr>
          <p:cNvSpPr txBox="1"/>
          <p:nvPr/>
        </p:nvSpPr>
        <p:spPr>
          <a:xfrm>
            <a:off x="3755740" y="4819004"/>
            <a:ext cx="57606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$30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226356A8-FD45-4F4C-9AEC-8656D779888B}"/>
              </a:ext>
            </a:extLst>
          </p:cNvPr>
          <p:cNvCxnSpPr>
            <a:cxnSpLocks/>
            <a:stCxn id="27" idx="0"/>
            <a:endCxn id="23" idx="3"/>
          </p:cNvCxnSpPr>
          <p:nvPr/>
        </p:nvCxnSpPr>
        <p:spPr>
          <a:xfrm flipV="1">
            <a:off x="5105896" y="4195236"/>
            <a:ext cx="537880" cy="1185082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B16CEE28-30F8-43F3-A474-A12EAADC7595}"/>
              </a:ext>
            </a:extLst>
          </p:cNvPr>
          <p:cNvCxnSpPr>
            <a:cxnSpLocks/>
            <a:stCxn id="18" idx="5"/>
            <a:endCxn id="28" idx="0"/>
          </p:cNvCxnSpPr>
          <p:nvPr/>
        </p:nvCxnSpPr>
        <p:spPr>
          <a:xfrm>
            <a:off x="5468104" y="3053428"/>
            <a:ext cx="1762016" cy="2326890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A2B9E65C-7EAC-40D3-BB69-6E962061961A}"/>
              </a:ext>
            </a:extLst>
          </p:cNvPr>
          <p:cNvCxnSpPr>
            <a:cxnSpLocks/>
            <a:stCxn id="24" idx="0"/>
            <a:endCxn id="19" idx="4"/>
          </p:cNvCxnSpPr>
          <p:nvPr/>
        </p:nvCxnSpPr>
        <p:spPr>
          <a:xfrm flipV="1">
            <a:off x="6762080" y="3069244"/>
            <a:ext cx="288032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98D31896-D9BF-4B98-A649-CABE3C72FA03}"/>
              </a:ext>
            </a:extLst>
          </p:cNvPr>
          <p:cNvCxnSpPr>
            <a:cxnSpLocks/>
            <a:stCxn id="29" idx="0"/>
            <a:endCxn id="21" idx="4"/>
          </p:cNvCxnSpPr>
          <p:nvPr/>
        </p:nvCxnSpPr>
        <p:spPr>
          <a:xfrm flipV="1">
            <a:off x="7734176" y="3069244"/>
            <a:ext cx="612080" cy="2311074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327210E7-B290-406E-AE56-2BB09566B8FE}"/>
              </a:ext>
            </a:extLst>
          </p:cNvPr>
          <p:cNvCxnSpPr>
            <a:cxnSpLocks/>
            <a:stCxn id="30" idx="7"/>
            <a:endCxn id="25" idx="3"/>
          </p:cNvCxnSpPr>
          <p:nvPr/>
        </p:nvCxnSpPr>
        <p:spPr>
          <a:xfrm flipV="1">
            <a:off x="8636456" y="4195236"/>
            <a:ext cx="571728" cy="120089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Овал 78">
            <a:extLst>
              <a:ext uri="{FF2B5EF4-FFF2-40B4-BE49-F238E27FC236}">
                <a16:creationId xmlns:a16="http://schemas.microsoft.com/office/drawing/2014/main" id="{72E23E1A-C122-4459-98B7-19D860B3446A}"/>
              </a:ext>
            </a:extLst>
          </p:cNvPr>
          <p:cNvSpPr/>
          <p:nvPr/>
        </p:nvSpPr>
        <p:spPr>
          <a:xfrm>
            <a:off x="9435206" y="2961243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010698-ED24-4A7E-943B-EB51AA12B446}"/>
              </a:ext>
            </a:extLst>
          </p:cNvPr>
          <p:cNvSpPr txBox="1"/>
          <p:nvPr/>
        </p:nvSpPr>
        <p:spPr>
          <a:xfrm>
            <a:off x="9255174" y="264620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FE9FE97F-3905-4E23-B4AD-4A44DD0531B1}"/>
              </a:ext>
            </a:extLst>
          </p:cNvPr>
          <p:cNvCxnSpPr>
            <a:cxnSpLocks/>
            <a:stCxn id="79" idx="5"/>
            <a:endCxn id="26" idx="1"/>
          </p:cNvCxnSpPr>
          <p:nvPr/>
        </p:nvCxnSpPr>
        <p:spPr>
          <a:xfrm>
            <a:off x="9527390" y="3053427"/>
            <a:ext cx="580882" cy="1065441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BEE2B27-E8FC-44B4-BA24-0FD4D508931B}"/>
              </a:ext>
            </a:extLst>
          </p:cNvPr>
          <p:cNvCxnSpPr>
            <a:cxnSpLocks/>
            <a:stCxn id="12" idx="4"/>
            <a:endCxn id="22" idx="0"/>
          </p:cNvCxnSpPr>
          <p:nvPr/>
        </p:nvCxnSpPr>
        <p:spPr>
          <a:xfrm>
            <a:off x="4457824" y="3069244"/>
            <a:ext cx="360040" cy="1033808"/>
          </a:xfrm>
          <a:prstGeom prst="straightConnector1">
            <a:avLst/>
          </a:prstGeom>
          <a:ln w="15875">
            <a:solidFill>
              <a:schemeClr val="tx1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4447776" y="334746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1FFF702C-3DE2-4578-9FEB-AD2D06ECB84F}"/>
              </a:ext>
            </a:extLst>
          </p:cNvPr>
          <p:cNvSpPr/>
          <p:nvPr/>
        </p:nvSpPr>
        <p:spPr>
          <a:xfrm>
            <a:off x="5869948" y="3645874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$2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76FB2E94-14A0-4B15-A84D-0B8BA9B83207}"/>
              </a:ext>
            </a:extLst>
          </p:cNvPr>
          <p:cNvSpPr/>
          <p:nvPr/>
        </p:nvSpPr>
        <p:spPr>
          <a:xfrm>
            <a:off x="5177904" y="4679670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$3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15B7BF99-0488-489B-88A9-A23A0D82F2DB}"/>
              </a:ext>
            </a:extLst>
          </p:cNvPr>
          <p:cNvSpPr/>
          <p:nvPr/>
        </p:nvSpPr>
        <p:spPr>
          <a:xfrm>
            <a:off x="6722138" y="3433063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DC626911-DA58-4F51-AF8C-052F72004A8D}"/>
              </a:ext>
            </a:extLst>
          </p:cNvPr>
          <p:cNvSpPr/>
          <p:nvPr/>
        </p:nvSpPr>
        <p:spPr>
          <a:xfrm>
            <a:off x="7839834" y="3986132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342984D6-51D0-45DE-BEA2-6B38721AEF31}"/>
              </a:ext>
            </a:extLst>
          </p:cNvPr>
          <p:cNvSpPr/>
          <p:nvPr/>
        </p:nvSpPr>
        <p:spPr>
          <a:xfrm>
            <a:off x="9637831" y="3378919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$0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C65ABEFE-2C26-4D86-80A9-2037E332AAE6}"/>
              </a:ext>
            </a:extLst>
          </p:cNvPr>
          <p:cNvSpPr/>
          <p:nvPr/>
        </p:nvSpPr>
        <p:spPr>
          <a:xfrm>
            <a:off x="8742320" y="4625777"/>
            <a:ext cx="360000" cy="324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$5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6896740-E565-4084-BE3E-8F081155E367}"/>
              </a:ext>
            </a:extLst>
          </p:cNvPr>
          <p:cNvCxnSpPr/>
          <p:nvPr/>
        </p:nvCxnSpPr>
        <p:spPr>
          <a:xfrm>
            <a:off x="6096000" y="2646204"/>
            <a:ext cx="2304256" cy="308784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_h1">
            <a:extLst>
              <a:ext uri="{FF2B5EF4-FFF2-40B4-BE49-F238E27FC236}">
                <a16:creationId xmlns:a16="http://schemas.microsoft.com/office/drawing/2014/main" id="{AA247C8F-52B5-4F7B-82E6-24A55BC1D9D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22521525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51008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886058" y="2852936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86058" y="3789040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886058" y="4797152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886058" y="5733256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98026" y="242088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98026" y="338893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98026" y="4437112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98026" y="53331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4570146" y="278092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4722546" y="371703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5326234" y="472516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5986668" y="372384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6478362" y="472516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98442" y="278092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774506" y="472516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7926906" y="566126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10466095" y="566124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8062522" y="278092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8350570" y="371704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Овал 33"/>
          <p:cNvSpPr/>
          <p:nvPr/>
        </p:nvSpPr>
        <p:spPr>
          <a:xfrm>
            <a:off x="9574706" y="566124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36" name="Прямая со стрелкой 14335"/>
          <p:cNvCxnSpPr>
            <a:cxnSpLocks/>
            <a:stCxn id="23" idx="4"/>
            <a:endCxn id="24" idx="0"/>
          </p:cNvCxnSpPr>
          <p:nvPr/>
        </p:nvCxnSpPr>
        <p:spPr>
          <a:xfrm>
            <a:off x="4642146" y="2924928"/>
            <a:ext cx="152400" cy="79210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0" name="Прямая со стрелкой 14339"/>
          <p:cNvCxnSpPr>
            <a:cxnSpLocks/>
            <a:stCxn id="23" idx="5"/>
            <a:endCxn id="25" idx="0"/>
          </p:cNvCxnSpPr>
          <p:nvPr/>
        </p:nvCxnSpPr>
        <p:spPr>
          <a:xfrm>
            <a:off x="4693058" y="2903840"/>
            <a:ext cx="705176" cy="182132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2" name="Прямая со стрелкой 14341"/>
          <p:cNvCxnSpPr>
            <a:cxnSpLocks/>
            <a:stCxn id="23" idx="5"/>
            <a:endCxn id="31" idx="1"/>
          </p:cNvCxnSpPr>
          <p:nvPr/>
        </p:nvCxnSpPr>
        <p:spPr>
          <a:xfrm>
            <a:off x="4693058" y="2903840"/>
            <a:ext cx="5794125" cy="277849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5" name="Прямая со стрелкой 14344"/>
          <p:cNvCxnSpPr>
            <a:stCxn id="26" idx="4"/>
            <a:endCxn id="27" idx="0"/>
          </p:cNvCxnSpPr>
          <p:nvPr/>
        </p:nvCxnSpPr>
        <p:spPr>
          <a:xfrm>
            <a:off x="6058668" y="3867844"/>
            <a:ext cx="491694" cy="85731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7" name="Прямая со стрелкой 14346"/>
          <p:cNvCxnSpPr>
            <a:cxnSpLocks/>
            <a:stCxn id="26" idx="5"/>
            <a:endCxn id="30" idx="1"/>
          </p:cNvCxnSpPr>
          <p:nvPr/>
        </p:nvCxnSpPr>
        <p:spPr>
          <a:xfrm>
            <a:off x="6109580" y="3846756"/>
            <a:ext cx="1838414" cy="183559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9" name="Прямая со стрелкой 14348"/>
          <p:cNvCxnSpPr>
            <a:cxnSpLocks/>
            <a:stCxn id="26" idx="7"/>
            <a:endCxn id="28" idx="3"/>
          </p:cNvCxnSpPr>
          <p:nvPr/>
        </p:nvCxnSpPr>
        <p:spPr>
          <a:xfrm flipV="1">
            <a:off x="6109580" y="2903840"/>
            <a:ext cx="1109950" cy="84109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57" name="Прямая со стрелкой 14356"/>
          <p:cNvCxnSpPr>
            <a:stCxn id="29" idx="0"/>
            <a:endCxn id="32" idx="4"/>
          </p:cNvCxnSpPr>
          <p:nvPr/>
        </p:nvCxnSpPr>
        <p:spPr>
          <a:xfrm flipV="1">
            <a:off x="7846506" y="2924928"/>
            <a:ext cx="288016" cy="180023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59" name="Прямая со стрелкой 14358"/>
          <p:cNvCxnSpPr>
            <a:stCxn id="29" idx="5"/>
            <a:endCxn id="34" idx="1"/>
          </p:cNvCxnSpPr>
          <p:nvPr/>
        </p:nvCxnSpPr>
        <p:spPr>
          <a:xfrm>
            <a:off x="7897418" y="4848072"/>
            <a:ext cx="1698376" cy="83426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61" name="Прямая со стрелкой 14360"/>
          <p:cNvCxnSpPr>
            <a:stCxn id="29" idx="7"/>
            <a:endCxn id="33" idx="3"/>
          </p:cNvCxnSpPr>
          <p:nvPr/>
        </p:nvCxnSpPr>
        <p:spPr>
          <a:xfrm flipV="1">
            <a:off x="7897418" y="3839960"/>
            <a:ext cx="474240" cy="90628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62" name="TextBox 14361"/>
          <p:cNvSpPr txBox="1"/>
          <p:nvPr/>
        </p:nvSpPr>
        <p:spPr>
          <a:xfrm>
            <a:off x="4273554" y="2921276"/>
            <a:ext cx="49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319410" y="3140968"/>
            <a:ext cx="52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86458" y="4067780"/>
            <a:ext cx="51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_h1">
            <a:extLst>
              <a:ext uri="{FF2B5EF4-FFF2-40B4-BE49-F238E27FC236}">
                <a16:creationId xmlns:a16="http://schemas.microsoft.com/office/drawing/2014/main" id="{2E6FBB20-7023-41B7-A2C5-2EC03D3BFF7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F6AAA-11EA-4927-8E26-5A5EC4BCA76E}"/>
              </a:ext>
            </a:extLst>
          </p:cNvPr>
          <p:cNvSpPr txBox="1"/>
          <p:nvPr/>
        </p:nvSpPr>
        <p:spPr>
          <a:xfrm>
            <a:off x="3658881" y="1908303"/>
            <a:ext cx="761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использования.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Упорядочивание событий</a:t>
            </a:r>
          </a:p>
        </p:txBody>
      </p:sp>
      <p:sp>
        <p:nvSpPr>
          <p:cNvPr id="38" name="Rechteck 36">
            <a:extLst>
              <a:ext uri="{FF2B5EF4-FFF2-40B4-BE49-F238E27FC236}">
                <a16:creationId xmlns:a16="http://schemas.microsoft.com/office/drawing/2014/main" id="{95FE4A24-8E75-412C-9E72-38893CE7C9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27598060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4362" grpId="0"/>
      <p:bldP spid="62" grpId="0"/>
      <p:bldP spid="6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51008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886058" y="2852936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86058" y="3789040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886058" y="4797152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886058" y="5733256"/>
            <a:ext cx="72008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98026" y="2420888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98026" y="3388930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98026" y="4437112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98026" y="533314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4570146" y="278092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4722546" y="3717032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5326234" y="472516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5986668" y="372384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6478362" y="472516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98442" y="278092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774506" y="4725160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7926906" y="5661264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10466095" y="566124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8062522" y="278092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8350570" y="371704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Овал 33"/>
          <p:cNvSpPr/>
          <p:nvPr/>
        </p:nvSpPr>
        <p:spPr>
          <a:xfrm>
            <a:off x="9574706" y="5661248"/>
            <a:ext cx="144000" cy="14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336" name="Прямая со стрелкой 14335"/>
          <p:cNvCxnSpPr>
            <a:cxnSpLocks/>
            <a:stCxn id="23" idx="4"/>
            <a:endCxn id="24" idx="0"/>
          </p:cNvCxnSpPr>
          <p:nvPr/>
        </p:nvCxnSpPr>
        <p:spPr>
          <a:xfrm>
            <a:off x="4642146" y="2924928"/>
            <a:ext cx="152400" cy="79210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0" name="Прямая со стрелкой 14339"/>
          <p:cNvCxnSpPr>
            <a:cxnSpLocks/>
            <a:stCxn id="23" idx="5"/>
            <a:endCxn id="25" idx="0"/>
          </p:cNvCxnSpPr>
          <p:nvPr/>
        </p:nvCxnSpPr>
        <p:spPr>
          <a:xfrm>
            <a:off x="4693058" y="2903840"/>
            <a:ext cx="705176" cy="182132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2" name="Прямая со стрелкой 14341"/>
          <p:cNvCxnSpPr>
            <a:cxnSpLocks/>
            <a:stCxn id="23" idx="5"/>
            <a:endCxn id="31" idx="1"/>
          </p:cNvCxnSpPr>
          <p:nvPr/>
        </p:nvCxnSpPr>
        <p:spPr>
          <a:xfrm>
            <a:off x="4693058" y="2903840"/>
            <a:ext cx="5794125" cy="277849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5" name="Прямая со стрелкой 14344"/>
          <p:cNvCxnSpPr>
            <a:stCxn id="26" idx="4"/>
            <a:endCxn id="27" idx="0"/>
          </p:cNvCxnSpPr>
          <p:nvPr/>
        </p:nvCxnSpPr>
        <p:spPr>
          <a:xfrm>
            <a:off x="6058668" y="3867844"/>
            <a:ext cx="491694" cy="85731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7" name="Прямая со стрелкой 14346"/>
          <p:cNvCxnSpPr>
            <a:cxnSpLocks/>
            <a:stCxn id="26" idx="5"/>
            <a:endCxn id="30" idx="1"/>
          </p:cNvCxnSpPr>
          <p:nvPr/>
        </p:nvCxnSpPr>
        <p:spPr>
          <a:xfrm>
            <a:off x="6109580" y="3846756"/>
            <a:ext cx="1838414" cy="183559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49" name="Прямая со стрелкой 14348"/>
          <p:cNvCxnSpPr>
            <a:cxnSpLocks/>
            <a:stCxn id="26" idx="7"/>
            <a:endCxn id="28" idx="3"/>
          </p:cNvCxnSpPr>
          <p:nvPr/>
        </p:nvCxnSpPr>
        <p:spPr>
          <a:xfrm flipV="1">
            <a:off x="6109580" y="2903840"/>
            <a:ext cx="1109950" cy="84109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57" name="Прямая со стрелкой 14356"/>
          <p:cNvCxnSpPr>
            <a:stCxn id="29" idx="0"/>
            <a:endCxn id="32" idx="4"/>
          </p:cNvCxnSpPr>
          <p:nvPr/>
        </p:nvCxnSpPr>
        <p:spPr>
          <a:xfrm flipV="1">
            <a:off x="7846506" y="2924928"/>
            <a:ext cx="288016" cy="180023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59" name="Прямая со стрелкой 14358"/>
          <p:cNvCxnSpPr>
            <a:stCxn id="29" idx="5"/>
            <a:endCxn id="34" idx="1"/>
          </p:cNvCxnSpPr>
          <p:nvPr/>
        </p:nvCxnSpPr>
        <p:spPr>
          <a:xfrm>
            <a:off x="7897418" y="4848072"/>
            <a:ext cx="1698376" cy="83426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61" name="Прямая со стрелкой 14360"/>
          <p:cNvCxnSpPr>
            <a:stCxn id="29" idx="7"/>
            <a:endCxn id="33" idx="3"/>
          </p:cNvCxnSpPr>
          <p:nvPr/>
        </p:nvCxnSpPr>
        <p:spPr>
          <a:xfrm flipV="1">
            <a:off x="7897418" y="3839960"/>
            <a:ext cx="474240" cy="90628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62" name="TextBox 14361"/>
          <p:cNvSpPr txBox="1"/>
          <p:nvPr/>
        </p:nvSpPr>
        <p:spPr>
          <a:xfrm>
            <a:off x="4303186" y="3140968"/>
            <a:ext cx="49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319410" y="3140968"/>
            <a:ext cx="52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86458" y="4067780"/>
            <a:ext cx="51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5B4722-671E-4A7D-A1BF-111A549F6A93}"/>
              </a:ext>
            </a:extLst>
          </p:cNvPr>
          <p:cNvSpPr txBox="1"/>
          <p:nvPr/>
        </p:nvSpPr>
        <p:spPr>
          <a:xfrm>
            <a:off x="3886058" y="247141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D201B0-C195-40C0-AC55-95ACF1115AB6}"/>
              </a:ext>
            </a:extLst>
          </p:cNvPr>
          <p:cNvSpPr txBox="1"/>
          <p:nvPr/>
        </p:nvSpPr>
        <p:spPr>
          <a:xfrm>
            <a:off x="3898436" y="340925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052F4D-F300-4FC6-B649-F0F9A558CC6F}"/>
              </a:ext>
            </a:extLst>
          </p:cNvPr>
          <p:cNvSpPr txBox="1"/>
          <p:nvPr/>
        </p:nvSpPr>
        <p:spPr>
          <a:xfrm>
            <a:off x="3898436" y="443711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BCECA6-80F4-4D04-8D58-2B0685305634}"/>
              </a:ext>
            </a:extLst>
          </p:cNvPr>
          <p:cNvSpPr txBox="1"/>
          <p:nvPr/>
        </p:nvSpPr>
        <p:spPr>
          <a:xfrm>
            <a:off x="4474500" y="247315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9345EF0-06A8-4375-B489-D266C4A22026}"/>
              </a:ext>
            </a:extLst>
          </p:cNvPr>
          <p:cNvSpPr/>
          <p:nvPr/>
        </p:nvSpPr>
        <p:spPr>
          <a:xfrm>
            <a:off x="5034748" y="400506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B8644D3-7FE2-451E-9265-CE8FC91EC01C}"/>
              </a:ext>
            </a:extLst>
          </p:cNvPr>
          <p:cNvSpPr/>
          <p:nvPr/>
        </p:nvSpPr>
        <p:spPr>
          <a:xfrm>
            <a:off x="4546508" y="3068960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CC7A26B-25F8-4BE6-912F-ACE5DCB72CF3}"/>
              </a:ext>
            </a:extLst>
          </p:cNvPr>
          <p:cNvSpPr/>
          <p:nvPr/>
        </p:nvSpPr>
        <p:spPr>
          <a:xfrm>
            <a:off x="7050972" y="400506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AD1AD2-C811-4E15-B7B9-3F2F1A8EE106}"/>
              </a:ext>
            </a:extLst>
          </p:cNvPr>
          <p:cNvSpPr txBox="1"/>
          <p:nvPr/>
        </p:nvSpPr>
        <p:spPr>
          <a:xfrm>
            <a:off x="4546508" y="391331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64B724-7B6A-4F67-8D36-5427A22DAC1E}"/>
              </a:ext>
            </a:extLst>
          </p:cNvPr>
          <p:cNvSpPr txBox="1"/>
          <p:nvPr/>
        </p:nvSpPr>
        <p:spPr>
          <a:xfrm>
            <a:off x="5122572" y="4869160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C746EF-F523-4A84-BEAA-73BA567D084C}"/>
              </a:ext>
            </a:extLst>
          </p:cNvPr>
          <p:cNvSpPr txBox="1"/>
          <p:nvPr/>
        </p:nvSpPr>
        <p:spPr>
          <a:xfrm>
            <a:off x="5745904" y="346194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1747C5A-26E9-4F57-BEDA-844023445C3F}"/>
              </a:ext>
            </a:extLst>
          </p:cNvPr>
          <p:cNvSpPr/>
          <p:nvPr/>
        </p:nvSpPr>
        <p:spPr>
          <a:xfrm>
            <a:off x="6690932" y="314096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932F51BC-CECF-42BC-B188-DAAC7F2192AE}"/>
              </a:ext>
            </a:extLst>
          </p:cNvPr>
          <p:cNvSpPr/>
          <p:nvPr/>
        </p:nvSpPr>
        <p:spPr>
          <a:xfrm>
            <a:off x="6202692" y="422108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03A414B-6309-4CF3-A034-8ED7D2383716}"/>
              </a:ext>
            </a:extLst>
          </p:cNvPr>
          <p:cNvSpPr/>
          <p:nvPr/>
        </p:nvSpPr>
        <p:spPr>
          <a:xfrm>
            <a:off x="7339004" y="508518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6AED74-C558-49E5-9D12-B334D31B8CA3}"/>
              </a:ext>
            </a:extLst>
          </p:cNvPr>
          <p:cNvSpPr txBox="1"/>
          <p:nvPr/>
        </p:nvSpPr>
        <p:spPr>
          <a:xfrm>
            <a:off x="6346708" y="484941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662B01-B177-431D-ABF2-D22A06475362}"/>
              </a:ext>
            </a:extLst>
          </p:cNvPr>
          <p:cNvSpPr txBox="1"/>
          <p:nvPr/>
        </p:nvSpPr>
        <p:spPr>
          <a:xfrm>
            <a:off x="6994780" y="249289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C63979-FE21-4F57-99B2-1B82AF14ACAB}"/>
              </a:ext>
            </a:extLst>
          </p:cNvPr>
          <p:cNvSpPr txBox="1"/>
          <p:nvPr/>
        </p:nvSpPr>
        <p:spPr>
          <a:xfrm>
            <a:off x="7570844" y="484941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2B7D0826-DACD-4C0B-82FE-65A03CAACD98}"/>
              </a:ext>
            </a:extLst>
          </p:cNvPr>
          <p:cNvSpPr/>
          <p:nvPr/>
        </p:nvSpPr>
        <p:spPr>
          <a:xfrm>
            <a:off x="7930884" y="328498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10379932-4D55-459F-B076-BCDED80B72B4}"/>
              </a:ext>
            </a:extLst>
          </p:cNvPr>
          <p:cNvSpPr/>
          <p:nvPr/>
        </p:nvSpPr>
        <p:spPr>
          <a:xfrm>
            <a:off x="8083284" y="4149080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B45888CC-6425-4392-81B8-BBBA20700598}"/>
              </a:ext>
            </a:extLst>
          </p:cNvPr>
          <p:cNvSpPr/>
          <p:nvPr/>
        </p:nvSpPr>
        <p:spPr>
          <a:xfrm>
            <a:off x="8419124" y="5085184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D665CF-0E0F-4C66-84CD-0D4E23A42746}"/>
              </a:ext>
            </a:extLst>
          </p:cNvPr>
          <p:cNvSpPr txBox="1"/>
          <p:nvPr/>
        </p:nvSpPr>
        <p:spPr>
          <a:xfrm>
            <a:off x="3898436" y="535347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436B6B-E552-48AF-BC12-D2FE2D1E1F07}"/>
              </a:ext>
            </a:extLst>
          </p:cNvPr>
          <p:cNvSpPr txBox="1"/>
          <p:nvPr/>
        </p:nvSpPr>
        <p:spPr>
          <a:xfrm>
            <a:off x="8002892" y="249289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2053B8-1C33-4059-877A-28AC8EE15D41}"/>
              </a:ext>
            </a:extLst>
          </p:cNvPr>
          <p:cNvSpPr txBox="1"/>
          <p:nvPr/>
        </p:nvSpPr>
        <p:spPr>
          <a:xfrm>
            <a:off x="8290924" y="340925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915271-A023-4D1C-BA9E-06495588F1B8}"/>
              </a:ext>
            </a:extLst>
          </p:cNvPr>
          <p:cNvSpPr txBox="1"/>
          <p:nvPr/>
        </p:nvSpPr>
        <p:spPr>
          <a:xfrm>
            <a:off x="7786868" y="5857527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42EF9C-BD78-44ED-BAA7-D72DC6AC6DF1}"/>
              </a:ext>
            </a:extLst>
          </p:cNvPr>
          <p:cNvSpPr txBox="1"/>
          <p:nvPr/>
        </p:nvSpPr>
        <p:spPr>
          <a:xfrm>
            <a:off x="9371044" y="5857527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D7D20F-63B0-491B-B0A8-A866DA3A189C}"/>
              </a:ext>
            </a:extLst>
          </p:cNvPr>
          <p:cNvSpPr txBox="1"/>
          <p:nvPr/>
        </p:nvSpPr>
        <p:spPr>
          <a:xfrm>
            <a:off x="10379156" y="5857527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5" name="Rechteck 36">
            <a:extLst>
              <a:ext uri="{FF2B5EF4-FFF2-40B4-BE49-F238E27FC236}">
                <a16:creationId xmlns:a16="http://schemas.microsoft.com/office/drawing/2014/main" id="{20EE627F-B12F-4D9E-AB01-7CC2C161BD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66" name="_h1">
            <a:extLst>
              <a:ext uri="{FF2B5EF4-FFF2-40B4-BE49-F238E27FC236}">
                <a16:creationId xmlns:a16="http://schemas.microsoft.com/office/drawing/2014/main" id="{224E93A1-96D0-4C42-B650-3835E19D1C5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43994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2CBE8A-3978-4224-98EA-BFF3C03EE2C4}"/>
              </a:ext>
            </a:extLst>
          </p:cNvPr>
          <p:cNvSpPr txBox="1"/>
          <p:nvPr/>
        </p:nvSpPr>
        <p:spPr>
          <a:xfrm>
            <a:off x="3658881" y="1908303"/>
            <a:ext cx="761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использования. Упорядочивание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23941716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 animBg="1"/>
      <p:bldP spid="48" grpId="0" animBg="1"/>
      <p:bldP spid="49" grpId="0" animBg="1"/>
      <p:bldP spid="50" grpId="0"/>
      <p:bldP spid="51" grpId="0"/>
      <p:bldP spid="52" grpId="0"/>
      <p:bldP spid="53" grpId="0" animBg="1"/>
      <p:bldP spid="54" grpId="0" animBg="1"/>
      <p:bldP spid="55" grpId="0" animBg="1"/>
      <p:bldP spid="56" grpId="0"/>
      <p:bldP spid="58" grpId="0"/>
      <p:bldP spid="59" grpId="0"/>
      <p:bldP spid="60" grpId="0"/>
      <p:bldP spid="61" grpId="0"/>
      <p:bldP spid="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994" y="177281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 - недостаток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Отсутствие строгой непротиворечивости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662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863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2632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4640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5342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5342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6924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7342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056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45184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984248" y="3245400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Прямоугольник 95"/>
          <p:cNvSpPr/>
          <p:nvPr/>
        </p:nvSpPr>
        <p:spPr>
          <a:xfrm>
            <a:off x="6440224" y="329427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7" name="Прямоугольник 96"/>
          <p:cNvSpPr/>
          <p:nvPr/>
        </p:nvSpPr>
        <p:spPr>
          <a:xfrm>
            <a:off x="7808376" y="365431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8" name="Прямоугольник 97"/>
          <p:cNvSpPr/>
          <p:nvPr/>
        </p:nvSpPr>
        <p:spPr>
          <a:xfrm>
            <a:off x="8816488" y="394234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79776" y="5085184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&lt;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то из этого не следует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_h1">
            <a:extLst>
              <a:ext uri="{FF2B5EF4-FFF2-40B4-BE49-F238E27FC236}">
                <a16:creationId xmlns:a16="http://schemas.microsoft.com/office/drawing/2014/main" id="{6E8E2628-9CCF-48FA-946F-82182805E4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val="30618094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3" grpId="0"/>
      <p:bldP spid="2" grpId="0"/>
      <p:bldP spid="7" grpId="0"/>
      <p:bldP spid="8" grpId="0"/>
      <p:bldP spid="12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  <p:bldP spid="38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3" grpId="0" animBg="1"/>
      <p:bldP spid="96" grpId="0" animBg="1"/>
      <p:bldP spid="97" grpId="0" animBg="1"/>
      <p:bldP spid="98" grpId="0" animBg="1"/>
      <p:bldP spid="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994" y="1772816"/>
            <a:ext cx="8712646" cy="309634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 - недостаток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916832"/>
            <a:ext cx="84246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для двух событий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выполнено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&lt;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)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то из-за отсутствия строгой непротиворечивости, нельзя сказать, что справедливо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или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║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e′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Для распознавания параллельных событий нужно ввести такое логическое время, для которого отметки параллельных событий являются несравнимыми.</a:t>
            </a:r>
          </a:p>
        </p:txBody>
      </p:sp>
    </p:spTree>
    <p:extLst>
      <p:ext uri="{BB962C8B-B14F-4D97-AF65-F5344CB8AC3E}">
        <p14:creationId xmlns:p14="http://schemas.microsoft.com/office/powerpoint/2010/main" val="34875157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6800" y="177281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работы гипотетических векторных часов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3691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569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770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299875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260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3711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5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7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39195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44136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44136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59952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64136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5561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4208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056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5108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5108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5108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43352" y="45108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4572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6800" y="177281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480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 – глобальный подход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2800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</a:t>
            </a:r>
            <a:r>
              <a:rPr kumimoji="0" lang="ru-R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работы гипотетических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векторных часов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662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863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2998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2632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38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3935760" y="5166484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5342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5342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6924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7342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00056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2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0416" y="33480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1864" y="45108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5108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51080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3208" y="4509121"/>
            <a:ext cx="461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45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1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0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430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682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25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834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230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2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23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59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24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14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0382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76386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05189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37592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2796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0402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780088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17612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57217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184232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544272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19234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09245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503712" y="494116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2" name="Прямая соединительная линия 101"/>
          <p:cNvCxnSpPr/>
          <p:nvPr/>
        </p:nvCxnSpPr>
        <p:spPr>
          <a:xfrm flipV="1">
            <a:off x="3935760" y="2925208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Объект 2"/>
          <p:cNvGraphicFramePr>
            <a:graphicFrameLocks noChangeAspect="1"/>
          </p:cNvGraphicFramePr>
          <p:nvPr/>
        </p:nvGraphicFramePr>
        <p:xfrm>
          <a:off x="3770660" y="5453256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" name="Equation" r:id="rId4" imgW="330120" imgH="914400" progId="Equation.DSMT4">
                  <p:embed/>
                </p:oleObj>
              </mc:Choice>
              <mc:Fallback>
                <p:oleObj name="Equation" r:id="rId4" imgW="330120" imgH="914400" progId="Equation.DSMT4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70660" y="5453256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Объект 102"/>
          <p:cNvGraphicFramePr>
            <a:graphicFrameLocks noChangeAspect="1"/>
          </p:cNvGraphicFramePr>
          <p:nvPr/>
        </p:nvGraphicFramePr>
        <p:xfrm>
          <a:off x="4325640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" name="Equation" r:id="rId6" imgW="330120" imgH="914400" progId="Equation.DSMT4">
                  <p:embed/>
                </p:oleObj>
              </mc:Choice>
              <mc:Fallback>
                <p:oleObj name="Equation" r:id="rId6" imgW="330120" imgH="914400" progId="Equation.DSMT4">
                  <p:embed/>
                  <p:pic>
                    <p:nvPicPr>
                      <p:cNvPr id="103" name="Объект 10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25640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Объект 103"/>
          <p:cNvGraphicFramePr>
            <a:graphicFrameLocks noChangeAspect="1"/>
          </p:cNvGraphicFramePr>
          <p:nvPr/>
        </p:nvGraphicFramePr>
        <p:xfrm>
          <a:off x="4655840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" name="Equation" r:id="rId8" imgW="330120" imgH="914400" progId="Equation.DSMT4">
                  <p:embed/>
                </p:oleObj>
              </mc:Choice>
              <mc:Fallback>
                <p:oleObj name="Equation" r:id="rId8" imgW="330120" imgH="914400" progId="Equation.DSMT4">
                  <p:embed/>
                  <p:pic>
                    <p:nvPicPr>
                      <p:cNvPr id="104" name="Объект 10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55840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Объект 104"/>
          <p:cNvGraphicFramePr>
            <a:graphicFrameLocks noChangeAspect="1"/>
          </p:cNvGraphicFramePr>
          <p:nvPr/>
        </p:nvGraphicFramePr>
        <p:xfrm>
          <a:off x="4992415" y="5445125"/>
          <a:ext cx="292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" name="Equation" r:id="rId10" imgW="291960" imgH="914400" progId="Equation.DSMT4">
                  <p:embed/>
                </p:oleObj>
              </mc:Choice>
              <mc:Fallback>
                <p:oleObj name="Equation" r:id="rId10" imgW="291960" imgH="914400" progId="Equation.DSMT4">
                  <p:embed/>
                  <p:pic>
                    <p:nvPicPr>
                      <p:cNvPr id="105" name="Объект 10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92415" y="5445125"/>
                        <a:ext cx="2921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Объект 105"/>
          <p:cNvGraphicFramePr>
            <a:graphicFrameLocks noChangeAspect="1"/>
          </p:cNvGraphicFramePr>
          <p:nvPr/>
        </p:nvGraphicFramePr>
        <p:xfrm>
          <a:off x="5281340" y="5445125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" name="Equation" r:id="rId12" imgW="330120" imgH="914400" progId="Equation.DSMT4">
                  <p:embed/>
                </p:oleObj>
              </mc:Choice>
              <mc:Fallback>
                <p:oleObj name="Equation" r:id="rId12" imgW="330120" imgH="914400" progId="Equation.DSMT4">
                  <p:embed/>
                  <p:pic>
                    <p:nvPicPr>
                      <p:cNvPr id="106" name="Объект 10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81340" y="5445125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Объект 106"/>
          <p:cNvGraphicFramePr>
            <a:graphicFrameLocks noChangeAspect="1"/>
          </p:cNvGraphicFramePr>
          <p:nvPr/>
        </p:nvGraphicFramePr>
        <p:xfrm>
          <a:off x="5621784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" name="Equation" r:id="rId14" imgW="330120" imgH="914400" progId="Equation.DSMT4">
                  <p:embed/>
                </p:oleObj>
              </mc:Choice>
              <mc:Fallback>
                <p:oleObj name="Equation" r:id="rId14" imgW="330120" imgH="914400" progId="Equation.DSMT4">
                  <p:embed/>
                  <p:pic>
                    <p:nvPicPr>
                      <p:cNvPr id="107" name="Объект 10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21784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Объект 107"/>
          <p:cNvGraphicFramePr>
            <a:graphicFrameLocks noChangeAspect="1"/>
          </p:cNvGraphicFramePr>
          <p:nvPr/>
        </p:nvGraphicFramePr>
        <p:xfrm>
          <a:off x="6125840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" name="Equation" r:id="rId16" imgW="330120" imgH="914400" progId="Equation.DSMT4">
                  <p:embed/>
                </p:oleObj>
              </mc:Choice>
              <mc:Fallback>
                <p:oleObj name="Equation" r:id="rId16" imgW="330120" imgH="914400" progId="Equation.DSMT4">
                  <p:embed/>
                  <p:pic>
                    <p:nvPicPr>
                      <p:cNvPr id="108" name="Объект 10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125840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Объект 108"/>
          <p:cNvGraphicFramePr>
            <a:graphicFrameLocks noChangeAspect="1"/>
          </p:cNvGraphicFramePr>
          <p:nvPr/>
        </p:nvGraphicFramePr>
        <p:xfrm>
          <a:off x="6708502" y="5445125"/>
          <a:ext cx="317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" name="Equation" r:id="rId18" imgW="317160" imgH="914400" progId="Equation.DSMT4">
                  <p:embed/>
                </p:oleObj>
              </mc:Choice>
              <mc:Fallback>
                <p:oleObj name="Equation" r:id="rId18" imgW="317160" imgH="914400" progId="Equation.DSMT4">
                  <p:embed/>
                  <p:pic>
                    <p:nvPicPr>
                      <p:cNvPr id="109" name="Объект 10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08502" y="5445125"/>
                        <a:ext cx="3175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Объект 109"/>
          <p:cNvGraphicFramePr>
            <a:graphicFrameLocks noChangeAspect="1"/>
          </p:cNvGraphicFramePr>
          <p:nvPr/>
        </p:nvGraphicFramePr>
        <p:xfrm>
          <a:off x="7068865" y="5445125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" name="Equation" r:id="rId20" imgW="330120" imgH="914400" progId="Equation.DSMT4">
                  <p:embed/>
                </p:oleObj>
              </mc:Choice>
              <mc:Fallback>
                <p:oleObj name="Equation" r:id="rId20" imgW="330120" imgH="914400" progId="Equation.DSMT4">
                  <p:embed/>
                  <p:pic>
                    <p:nvPicPr>
                      <p:cNvPr id="110" name="Объект 10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068865" y="5445125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Объект 110"/>
          <p:cNvGraphicFramePr>
            <a:graphicFrameLocks noChangeAspect="1"/>
          </p:cNvGraphicFramePr>
          <p:nvPr/>
        </p:nvGraphicFramePr>
        <p:xfrm>
          <a:off x="7493992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" name="Equation" r:id="rId22" imgW="330120" imgH="914400" progId="Equation.DSMT4">
                  <p:embed/>
                </p:oleObj>
              </mc:Choice>
              <mc:Fallback>
                <p:oleObj name="Equation" r:id="rId22" imgW="330120" imgH="914400" progId="Equation.DSMT4">
                  <p:embed/>
                  <p:pic>
                    <p:nvPicPr>
                      <p:cNvPr id="111" name="Объект 11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493992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Объект 111"/>
          <p:cNvGraphicFramePr>
            <a:graphicFrameLocks noChangeAspect="1"/>
          </p:cNvGraphicFramePr>
          <p:nvPr/>
        </p:nvGraphicFramePr>
        <p:xfrm>
          <a:off x="8112224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" name="Equation" r:id="rId24" imgW="330120" imgH="914400" progId="Equation.DSMT4">
                  <p:embed/>
                </p:oleObj>
              </mc:Choice>
              <mc:Fallback>
                <p:oleObj name="Equation" r:id="rId24" imgW="330120" imgH="914400" progId="Equation.DSMT4">
                  <p:embed/>
                  <p:pic>
                    <p:nvPicPr>
                      <p:cNvPr id="112" name="Объект 11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112224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Объект 112"/>
          <p:cNvGraphicFramePr>
            <a:graphicFrameLocks noChangeAspect="1"/>
          </p:cNvGraphicFramePr>
          <p:nvPr/>
        </p:nvGraphicFramePr>
        <p:xfrm>
          <a:off x="8502104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" name="Equation" r:id="rId26" imgW="330120" imgH="914400" progId="Equation.DSMT4">
                  <p:embed/>
                </p:oleObj>
              </mc:Choice>
              <mc:Fallback>
                <p:oleObj name="Equation" r:id="rId26" imgW="330120" imgH="914400" progId="Equation.DSMT4">
                  <p:embed/>
                  <p:pic>
                    <p:nvPicPr>
                      <p:cNvPr id="113" name="Объект 11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502104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Объект 113"/>
          <p:cNvGraphicFramePr>
            <a:graphicFrameLocks noChangeAspect="1"/>
          </p:cNvGraphicFramePr>
          <p:nvPr/>
        </p:nvGraphicFramePr>
        <p:xfrm>
          <a:off x="9078168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" name="Equation" r:id="rId28" imgW="330120" imgH="914400" progId="Equation.DSMT4">
                  <p:embed/>
                </p:oleObj>
              </mc:Choice>
              <mc:Fallback>
                <p:oleObj name="Equation" r:id="rId28" imgW="330120" imgH="914400" progId="Equation.DSMT4">
                  <p:embed/>
                  <p:pic>
                    <p:nvPicPr>
                      <p:cNvPr id="114" name="Объект 11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078168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Объект 114"/>
          <p:cNvGraphicFramePr>
            <a:graphicFrameLocks noChangeAspect="1"/>
          </p:cNvGraphicFramePr>
          <p:nvPr/>
        </p:nvGraphicFramePr>
        <p:xfrm>
          <a:off x="9984432" y="5445224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" name="Equation" r:id="rId30" imgW="330120" imgH="914400" progId="Equation.DSMT4">
                  <p:embed/>
                </p:oleObj>
              </mc:Choice>
              <mc:Fallback>
                <p:oleObj name="Equation" r:id="rId30" imgW="330120" imgH="914400" progId="Equation.DSMT4">
                  <p:embed/>
                  <p:pic>
                    <p:nvPicPr>
                      <p:cNvPr id="115" name="Объект 11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984432" y="5445224"/>
                        <a:ext cx="330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57894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071946" y="1772816"/>
            <a:ext cx="9000717" cy="472270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2" y="1772816"/>
                <a:ext cx="9048328" cy="4722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У процесса нет знания о значении глобальных часов.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Процесс 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формирует свое собственное представление о ходе работы других процессов, используя поступающие сообщения.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Заведем 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для каждого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1,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𝑁</m:t>
                            </m:r>
                          </m:e>
                        </m:acc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вектор</a:t>
                </a: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  <a:spcBef>
                    <a:spcPts val="12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𝐕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0" lang="ru-RU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>
                  <a:spcBef>
                    <a:spcPts val="1200"/>
                  </a:spcBef>
                  <a:defRPr/>
                </a:pP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Компонента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или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𝐕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показания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локальной части часов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spcBef>
                    <a:spcPts val="1200"/>
                  </a:spcBef>
                  <a:defRPr/>
                </a:pP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Компонента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𝐕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последняя информация, полученная процессом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о локальном времени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1772816"/>
                <a:ext cx="9048328" cy="4722703"/>
              </a:xfrm>
              <a:prstGeom prst="rect">
                <a:avLst/>
              </a:prstGeom>
              <a:blipFill rotWithShape="0">
                <a:blip r:embed="rId3"/>
                <a:stretch>
                  <a:fillRect l="-1078" t="-903" r="-741" b="-12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582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6800" y="1772816"/>
            <a:ext cx="8712646" cy="417646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551827" y="2473945"/>
                <a:ext cx="8424614" cy="2451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Область </a:t>
                </a: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значения часовой функции </a:t>
                </a:r>
                <a:r>
                  <a:rPr kumimoji="0" lang="ru-RU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Θ</a:t>
                </a: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– множество </a:t>
                </a:r>
                <a:r>
                  <a:rPr kumimoji="0" lang="en-US" sz="2800" b="0" i="1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</a:t>
                </a:r>
                <a:r>
                  <a:rPr kumimoji="0" 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-</a:t>
                </a: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мерных векторов целых неотрицательных чисел. </a:t>
                </a:r>
                <a:endParaRPr kumimoji="0" 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Отметку </a:t>
                </a: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времени события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b>
                        <m:r>
                          <a:rPr kumimoji="0" 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обозначим </a:t>
                </a:r>
                <a14:m>
                  <m:oMath xmlns:m="http://schemas.openxmlformats.org/officeDocument/2006/math">
                    <m:r>
                      <a:rPr kumimoji="0" lang="en-US" sz="32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𝐕</m:t>
                    </m:r>
                    <m:d>
                      <m:dPr>
                        <m:ctrlPr>
                          <a:rPr kumimoji="0" 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kumimoji="0" lang="en-US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</a:t>
                </a:r>
                <a:endParaRPr kumimoji="0" lang="ru-R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827" y="2473945"/>
                <a:ext cx="8424614" cy="2451697"/>
              </a:xfrm>
              <a:prstGeom prst="rect">
                <a:avLst/>
              </a:prstGeom>
              <a:blipFill rotWithShape="0">
                <a:blip r:embed="rId3"/>
                <a:stretch>
                  <a:fillRect t="-1244" b="-34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8041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09643" y="1740756"/>
            <a:ext cx="8712646" cy="420852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88010" y="1844825"/>
            <a:ext cx="84963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Введем следующие отношения: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noProof="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Отношение </a:t>
            </a:r>
            <a:r>
              <a:rPr lang="en-US" sz="2400" noProof="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“&lt;“ </a:t>
            </a:r>
            <a:r>
              <a:rPr lang="ru-RU" sz="2400" noProof="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векторов является транзитивным:</a:t>
            </a:r>
            <a:endParaRPr lang="en-US" sz="2400" noProof="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Объект 1"/>
              <p:cNvSpPr txBox="1"/>
              <p:nvPr/>
            </p:nvSpPr>
            <p:spPr>
              <a:xfrm>
                <a:off x="4799856" y="2488952"/>
                <a:ext cx="5832647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⇔∀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" name="Объект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2488952"/>
                <a:ext cx="5832647" cy="5080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 txBox="1"/>
              <p:nvPr/>
            </p:nvSpPr>
            <p:spPr>
              <a:xfrm>
                <a:off x="4799856" y="3065016"/>
                <a:ext cx="5919115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⇔∀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Объект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3065016"/>
                <a:ext cx="5919115" cy="5080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/>
              <p:cNvSpPr txBox="1"/>
              <p:nvPr/>
            </p:nvSpPr>
            <p:spPr>
              <a:xfrm>
                <a:off x="3230265" y="3717032"/>
                <a:ext cx="8626053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⇔∀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23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∧∃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ru-RU" sz="2300" dirty="0"/>
              </a:p>
            </p:txBody>
          </p:sp>
        </mc:Choice>
        <mc:Fallback xmlns="">
          <p:sp>
            <p:nvSpPr>
              <p:cNvPr id="8" name="Объект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265" y="3717032"/>
                <a:ext cx="8626053" cy="508000"/>
              </a:xfrm>
              <a:prstGeom prst="rect">
                <a:avLst/>
              </a:prstGeom>
              <a:blipFill rotWithShape="0">
                <a:blip r:embed="rId5"/>
                <a:stretch>
                  <a:fillRect l="-141" b="-84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7"/>
              <p:cNvSpPr txBox="1"/>
              <p:nvPr/>
            </p:nvSpPr>
            <p:spPr>
              <a:xfrm>
                <a:off x="4511824" y="4869160"/>
                <a:ext cx="6120680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3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u-RU" sz="23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3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3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ru-RU" sz="23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ru-RU" sz="2300" dirty="0"/>
              </a:p>
            </p:txBody>
          </p:sp>
        </mc:Choice>
        <mc:Fallback xmlns="">
          <p:sp>
            <p:nvSpPr>
              <p:cNvPr id="11" name="Объект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4869160"/>
                <a:ext cx="6120680" cy="5080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13" name="_h1"/>
          <p:cNvSpPr txBox="1">
            <a:spLocks noChangeArrowheads="1"/>
          </p:cNvSpPr>
          <p:nvPr/>
        </p:nvSpPr>
        <p:spPr bwMode="gray">
          <a:xfrm>
            <a:off x="3143672" y="238125"/>
            <a:ext cx="8640638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5102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09643" y="1740756"/>
            <a:ext cx="8712646" cy="420852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295141" y="1839789"/>
                <a:ext cx="8496300" cy="3954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Доказательство транзитивности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24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Тогда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4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</a:t>
                </a:r>
              </a:p>
              <a:p>
                <a:pPr lvl="0" algn="ctr">
                  <a:spcBef>
                    <a:spcPts val="300"/>
                  </a:spcBef>
                  <a:spcAft>
                    <a:spcPts val="300"/>
                  </a:spcAft>
                  <a:defRPr/>
                </a:pPr>
                <a14:m>
                  <m:oMath xmlns:m="http://schemas.openxmlformats.org/officeDocument/2006/math">
                    <m:r>
                      <a:rPr lang="ru-RU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и</a:t>
                </a: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algn="ctr">
                  <a:spcBef>
                    <a:spcPts val="1200"/>
                  </a:spcBef>
                  <a:defRPr/>
                </a:pPr>
                <a:r>
                  <a:rPr lang="ru-RU" sz="24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Следовательно, </a:t>
                </a:r>
                <a14:m>
                  <m:oMath xmlns:m="http://schemas.openxmlformats.org/officeDocument/2006/math">
                    <m:r>
                      <a:rPr lang="ru-RU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ru-RU" sz="2400" dirty="0"/>
              </a:p>
              <a:p>
                <a:pPr lvl="0" algn="ctr">
                  <a:spcBef>
                    <a:spcPts val="1200"/>
                  </a:spcBef>
                  <a:defRPr/>
                </a:pP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141" y="1839789"/>
                <a:ext cx="8496300" cy="3954929"/>
              </a:xfrm>
              <a:prstGeom prst="rect">
                <a:avLst/>
              </a:prstGeom>
              <a:blipFill rotWithShape="0">
                <a:blip r:embed="rId3"/>
                <a:stretch>
                  <a:fillRect t="-10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/>
              <p:cNvSpPr txBox="1"/>
              <p:nvPr/>
            </p:nvSpPr>
            <p:spPr>
              <a:xfrm>
                <a:off x="3230265" y="2420888"/>
                <a:ext cx="8626053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3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⇔∀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23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∧∃</m:t>
                      </m:r>
                      <m:sSub>
                        <m:sSubPr>
                          <m:ctrlPr>
                            <a:rPr lang="ru-RU" sz="23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300" dirty="0"/>
              </a:p>
            </p:txBody>
          </p:sp>
        </mc:Choice>
        <mc:Fallback xmlns="">
          <p:sp>
            <p:nvSpPr>
              <p:cNvPr id="8" name="Объект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265" y="2420888"/>
                <a:ext cx="8626053" cy="508000"/>
              </a:xfrm>
              <a:prstGeom prst="rect">
                <a:avLst/>
              </a:prstGeom>
              <a:blipFill rotWithShape="0">
                <a:blip r:embed="rId4"/>
                <a:stretch>
                  <a:fillRect l="-1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Объект 7"/>
              <p:cNvSpPr txBox="1"/>
              <p:nvPr/>
            </p:nvSpPr>
            <p:spPr>
              <a:xfrm>
                <a:off x="3215680" y="3068960"/>
                <a:ext cx="8626053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3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⇔∀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23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∧∃</m:t>
                      </m:r>
                      <m:sSub>
                        <m:sSubPr>
                          <m:ctrlPr>
                            <a:rPr lang="ru-RU" sz="23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3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3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3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300" dirty="0"/>
              </a:p>
            </p:txBody>
          </p:sp>
        </mc:Choice>
        <mc:Fallback xmlns="">
          <p:sp>
            <p:nvSpPr>
              <p:cNvPr id="12" name="Объект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068960"/>
                <a:ext cx="8626053" cy="508000"/>
              </a:xfrm>
              <a:prstGeom prst="rect">
                <a:avLst/>
              </a:prstGeom>
              <a:blipFill rotWithShape="0">
                <a:blip r:embed="rId5"/>
                <a:stretch>
                  <a:fillRect l="-1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13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</p:spTree>
    <p:extLst>
      <p:ext uri="{BB962C8B-B14F-4D97-AF65-F5344CB8AC3E}">
        <p14:creationId xmlns:p14="http://schemas.microsoft.com/office/powerpoint/2010/main" val="12826719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672" y="1772816"/>
            <a:ext cx="8712646" cy="460851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3288010" y="1844825"/>
                <a:ext cx="8496300" cy="4174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Отношение </a:t>
                </a: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“&lt;“ 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задает частичный порядок на множестве векторных отметок времени при </a:t>
                </a: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≥ 2.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[1, 1, 3] &lt; [1, 2, 3]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[2, 3, 0] 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и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[0, 4, 1] – 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несравнимы.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Несравнимые отметки времени будем записывать так:</a:t>
                </a:r>
              </a:p>
              <a:p>
                <a:pPr lvl="0" algn="ctr">
                  <a:spcBef>
                    <a:spcPts val="1200"/>
                  </a:spcBef>
                  <a:defRPr/>
                </a:pPr>
                <a14:m>
                  <m:oMath xmlns:m="http://schemas.openxmlformats.org/officeDocument/2006/math">
                    <m:r>
                      <a:rPr lang="en-US" sz="2400" b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𝐕</m:t>
                    </m:r>
                    <m:d>
                      <m:d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ru-RU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║</a:t>
                </a: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𝐕</m:t>
                    </m:r>
                    <m:d>
                      <m:d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0" algn="ctr">
                  <a:spcBef>
                    <a:spcPts val="1200"/>
                  </a:spcBef>
                  <a:defRPr/>
                </a:pPr>
                <a:r>
                  <a:rPr lang="ru-RU" sz="24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Отношение </a:t>
                </a:r>
                <a:r>
                  <a:rPr lang="en-US" sz="24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║</a:t>
                </a:r>
                <a:r>
                  <a:rPr lang="en-US" sz="24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 </a:t>
                </a:r>
                <a:r>
                  <a:rPr lang="ru-RU" sz="24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не является транзитивным.</a:t>
                </a:r>
              </a:p>
              <a:p>
                <a:pPr lvl="0" algn="ctr">
                  <a:spcBef>
                    <a:spcPts val="1200"/>
                  </a:spcBef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[2,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║ 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0]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0]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║ 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но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[2,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0]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[1, 1,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0]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010" y="1844825"/>
                <a:ext cx="8496300" cy="4174220"/>
              </a:xfrm>
              <a:prstGeom prst="rect">
                <a:avLst/>
              </a:prstGeom>
              <a:blipFill>
                <a:blip r:embed="rId3"/>
                <a:stretch>
                  <a:fillRect t="-292" r="-359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8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</p:spTree>
    <p:extLst>
      <p:ext uri="{BB962C8B-B14F-4D97-AF65-F5344CB8AC3E}">
        <p14:creationId xmlns:p14="http://schemas.microsoft.com/office/powerpoint/2010/main" val="10657632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988046"/>
            <a:ext cx="8712646" cy="460930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431704" y="2132063"/>
                <a:ext cx="8424614" cy="394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05000"/>
                  </a:lnSpc>
                  <a:defRPr/>
                </a:pPr>
                <a:r>
                  <a:rPr kumimoji="0" lang="ru-RU" sz="2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Правило 1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 Перед выполнением любого события процесс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увеличивает показания своих локальных часов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𝐕</m:t>
                        </m:r>
                      </m:e>
                      <m:sub>
                        <m:r>
                          <a:rPr lang="en-US" sz="24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</a:t>
                </a:r>
              </a:p>
              <a:p>
                <a:pPr lvl="0" algn="ctr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𝐕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𝐕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где </a:t>
                </a: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&gt; 0.</a:t>
                </a:r>
              </a:p>
              <a:p>
                <a:pPr lvl="0">
                  <a:lnSpc>
                    <a:spcPct val="105000"/>
                  </a:lnSpc>
                  <a:spcBef>
                    <a:spcPts val="1200"/>
                  </a:spcBef>
                  <a:spcAft>
                    <a:spcPts val="600"/>
                  </a:spcAft>
                  <a:defRPr/>
                </a:pPr>
                <a:r>
                  <a:rPr kumimoji="0" lang="ru-RU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Правило 2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 В каждое передаваемое сообщение добавляется значение векторного времени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𝐕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процесса-отправителя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на момент отправки сообщения. При приеме сообщения с временной отметкой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𝐕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𝑚𝑠𝑔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процессом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изменяются векторные часы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</a:t>
                </a:r>
              </a:p>
              <a:p>
                <a:pPr lvl="0">
                  <a:spcBef>
                    <a:spcPts val="6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∀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,1≤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ru-RU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𝐕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𝑚𝑠𝑔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ru-RU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2132063"/>
                <a:ext cx="8424614" cy="3949414"/>
              </a:xfrm>
              <a:prstGeom prst="rect">
                <a:avLst/>
              </a:prstGeom>
              <a:blipFill rotWithShape="0">
                <a:blip r:embed="rId3"/>
                <a:stretch>
                  <a:fillRect l="-941" t="-7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4308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994" y="177281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Пример работы векторных часов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7809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9421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509435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142768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431115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545439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188152"/>
            <a:ext cx="535688" cy="10847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188152"/>
            <a:ext cx="499696" cy="10847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203968"/>
            <a:ext cx="573872" cy="22210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4349288"/>
            <a:ext cx="571728" cy="10757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69962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56490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/>
        </p:nvGraphicFramePr>
        <p:xfrm>
          <a:off x="4329832" y="2357760"/>
          <a:ext cx="254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Equation" r:id="rId4" imgW="253800" imgH="711000" progId="Equation.DSMT4">
                  <p:embed/>
                </p:oleObj>
              </mc:Choice>
              <mc:Fallback>
                <p:oleObj name="Equation" r:id="rId4" imgW="253800" imgH="711000" progId="Equation.DSMT4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9832" y="2357760"/>
                        <a:ext cx="2540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Объект 56"/>
          <p:cNvGraphicFramePr>
            <a:graphicFrameLocks noChangeAspect="1"/>
          </p:cNvGraphicFramePr>
          <p:nvPr/>
        </p:nvGraphicFramePr>
        <p:xfrm>
          <a:off x="4689872" y="4445992"/>
          <a:ext cx="254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3" name="Equation" r:id="rId6" imgW="253800" imgH="711000" progId="Equation.DSMT4">
                  <p:embed/>
                </p:oleObj>
              </mc:Choice>
              <mc:Fallback>
                <p:oleObj name="Equation" r:id="rId6" imgW="253800" imgH="711000" progId="Equation.DSMT4">
                  <p:embed/>
                  <p:pic>
                    <p:nvPicPr>
                      <p:cNvPr id="57" name="Объект 5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89872" y="4445992"/>
                        <a:ext cx="2540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Объект 57"/>
          <p:cNvGraphicFramePr>
            <a:graphicFrameLocks noChangeAspect="1"/>
          </p:cNvGraphicFramePr>
          <p:nvPr/>
        </p:nvGraphicFramePr>
        <p:xfrm>
          <a:off x="4977904" y="5670128"/>
          <a:ext cx="254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Equation" r:id="rId8" imgW="253800" imgH="711000" progId="Equation.DSMT4">
                  <p:embed/>
                </p:oleObj>
              </mc:Choice>
              <mc:Fallback>
                <p:oleObj name="Equation" r:id="rId8" imgW="253800" imgH="711000" progId="Equation.DSMT4">
                  <p:embed/>
                  <p:pic>
                    <p:nvPicPr>
                      <p:cNvPr id="58" name="Объект 5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77904" y="5670128"/>
                        <a:ext cx="2540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Объект 58"/>
          <p:cNvGraphicFramePr>
            <a:graphicFrameLocks noChangeAspect="1"/>
          </p:cNvGraphicFramePr>
          <p:nvPr/>
        </p:nvGraphicFramePr>
        <p:xfrm>
          <a:off x="4977904" y="3356992"/>
          <a:ext cx="254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" name="Equation" r:id="rId10" imgW="253800" imgH="711000" progId="Equation.DSMT4">
                  <p:embed/>
                </p:oleObj>
              </mc:Choice>
              <mc:Fallback>
                <p:oleObj name="Equation" r:id="rId10" imgW="253800" imgH="711000" progId="Equation.DSMT4">
                  <p:embed/>
                  <p:pic>
                    <p:nvPicPr>
                      <p:cNvPr id="59" name="Объект 5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77904" y="3356992"/>
                        <a:ext cx="2540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Объект 59"/>
          <p:cNvGraphicFramePr>
            <a:graphicFrameLocks noChangeAspect="1"/>
          </p:cNvGraphicFramePr>
          <p:nvPr/>
        </p:nvGraphicFramePr>
        <p:xfrm>
          <a:off x="5332140" y="2357438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Equation" r:id="rId12" imgW="266400" imgH="711000" progId="Equation.DSMT4">
                  <p:embed/>
                </p:oleObj>
              </mc:Choice>
              <mc:Fallback>
                <p:oleObj name="Equation" r:id="rId12" imgW="266400" imgH="711000" progId="Equation.DSMT4">
                  <p:embed/>
                  <p:pic>
                    <p:nvPicPr>
                      <p:cNvPr id="60" name="Объект 5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32140" y="2357438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Объект 60"/>
          <p:cNvGraphicFramePr>
            <a:graphicFrameLocks noChangeAspect="1"/>
          </p:cNvGraphicFramePr>
          <p:nvPr/>
        </p:nvGraphicFramePr>
        <p:xfrm>
          <a:off x="5541268" y="4437112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Equation" r:id="rId14" imgW="266400" imgH="711000" progId="Equation.DSMT4">
                  <p:embed/>
                </p:oleObj>
              </mc:Choice>
              <mc:Fallback>
                <p:oleObj name="Equation" r:id="rId14" imgW="266400" imgH="711000" progId="Equation.DSMT4">
                  <p:embed/>
                  <p:pic>
                    <p:nvPicPr>
                      <p:cNvPr id="61" name="Объект 6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41268" y="4437112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Объект 61"/>
          <p:cNvGraphicFramePr>
            <a:graphicFrameLocks noChangeAspect="1"/>
          </p:cNvGraphicFramePr>
          <p:nvPr/>
        </p:nvGraphicFramePr>
        <p:xfrm>
          <a:off x="7132365" y="5661025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Equation" r:id="rId16" imgW="266400" imgH="711000" progId="Equation.DSMT4">
                  <p:embed/>
                </p:oleObj>
              </mc:Choice>
              <mc:Fallback>
                <p:oleObj name="Equation" r:id="rId16" imgW="266400" imgH="711000" progId="Equation.DSMT4">
                  <p:embed/>
                  <p:pic>
                    <p:nvPicPr>
                      <p:cNvPr id="62" name="Объект 6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32365" y="5661025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Объект 62"/>
          <p:cNvGraphicFramePr>
            <a:graphicFrameLocks noChangeAspect="1"/>
          </p:cNvGraphicFramePr>
          <p:nvPr/>
        </p:nvGraphicFramePr>
        <p:xfrm>
          <a:off x="6168752" y="4437112"/>
          <a:ext cx="254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Equation" r:id="rId18" imgW="253800" imgH="711000" progId="Equation.DSMT4">
                  <p:embed/>
                </p:oleObj>
              </mc:Choice>
              <mc:Fallback>
                <p:oleObj name="Equation" r:id="rId18" imgW="253800" imgH="711000" progId="Equation.DSMT4">
                  <p:embed/>
                  <p:pic>
                    <p:nvPicPr>
                      <p:cNvPr id="63" name="Объект 6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68752" y="4437112"/>
                        <a:ext cx="2540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Объект 63"/>
          <p:cNvGraphicFramePr>
            <a:graphicFrameLocks noChangeAspect="1"/>
          </p:cNvGraphicFramePr>
          <p:nvPr/>
        </p:nvGraphicFramePr>
        <p:xfrm>
          <a:off x="6456040" y="3356992"/>
          <a:ext cx="254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" name="Equation" r:id="rId20" imgW="253800" imgH="711000" progId="Equation.DSMT4">
                  <p:embed/>
                </p:oleObj>
              </mc:Choice>
              <mc:Fallback>
                <p:oleObj name="Equation" r:id="rId20" imgW="253800" imgH="711000" progId="Equation.DSMT4">
                  <p:embed/>
                  <p:pic>
                    <p:nvPicPr>
                      <p:cNvPr id="64" name="Объект 6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456040" y="3356992"/>
                        <a:ext cx="2540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Объект 64"/>
          <p:cNvGraphicFramePr>
            <a:graphicFrameLocks noChangeAspect="1"/>
          </p:cNvGraphicFramePr>
          <p:nvPr/>
        </p:nvGraphicFramePr>
        <p:xfrm>
          <a:off x="6698977" y="2349500"/>
          <a:ext cx="254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Equation" r:id="rId22" imgW="253800" imgH="711000" progId="Equation.DSMT4">
                  <p:embed/>
                </p:oleObj>
              </mc:Choice>
              <mc:Fallback>
                <p:oleObj name="Equation" r:id="rId22" imgW="253800" imgH="711000" progId="Equation.DSMT4">
                  <p:embed/>
                  <p:pic>
                    <p:nvPicPr>
                      <p:cNvPr id="65" name="Объект 6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698977" y="2349500"/>
                        <a:ext cx="2540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Объект 65"/>
          <p:cNvGraphicFramePr>
            <a:graphicFrameLocks noChangeAspect="1"/>
          </p:cNvGraphicFramePr>
          <p:nvPr/>
        </p:nvGraphicFramePr>
        <p:xfrm>
          <a:off x="7491140" y="2349500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Equation" r:id="rId24" imgW="266400" imgH="711000" progId="Equation.DSMT4">
                  <p:embed/>
                </p:oleObj>
              </mc:Choice>
              <mc:Fallback>
                <p:oleObj name="Equation" r:id="rId24" imgW="266400" imgH="711000" progId="Equation.DSMT4">
                  <p:embed/>
                  <p:pic>
                    <p:nvPicPr>
                      <p:cNvPr id="66" name="Объект 6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491140" y="2349500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Объект 66"/>
          <p:cNvGraphicFramePr>
            <a:graphicFrameLocks noChangeAspect="1"/>
          </p:cNvGraphicFramePr>
          <p:nvPr/>
        </p:nvGraphicFramePr>
        <p:xfrm>
          <a:off x="8061548" y="5661248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Equation" r:id="rId26" imgW="266400" imgH="711000" progId="Equation.DSMT4">
                  <p:embed/>
                </p:oleObj>
              </mc:Choice>
              <mc:Fallback>
                <p:oleObj name="Equation" r:id="rId26" imgW="266400" imgH="711000" progId="Equation.DSMT4">
                  <p:embed/>
                  <p:pic>
                    <p:nvPicPr>
                      <p:cNvPr id="67" name="Объект 6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061548" y="5661248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Объект 67"/>
          <p:cNvGraphicFramePr>
            <a:graphicFrameLocks noChangeAspect="1"/>
          </p:cNvGraphicFramePr>
          <p:nvPr/>
        </p:nvGraphicFramePr>
        <p:xfrm>
          <a:off x="7643540" y="3437880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Equation" r:id="rId28" imgW="266400" imgH="711000" progId="Equation.DSMT4">
                  <p:embed/>
                </p:oleObj>
              </mc:Choice>
              <mc:Fallback>
                <p:oleObj name="Equation" r:id="rId28" imgW="266400" imgH="711000" progId="Equation.DSMT4">
                  <p:embed/>
                  <p:pic>
                    <p:nvPicPr>
                      <p:cNvPr id="68" name="Объект 6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643540" y="3437880"/>
                        <a:ext cx="2667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Объект 68"/>
          <p:cNvGraphicFramePr>
            <a:graphicFrameLocks noChangeAspect="1"/>
          </p:cNvGraphicFramePr>
          <p:nvPr/>
        </p:nvGraphicFramePr>
        <p:xfrm>
          <a:off x="8493596" y="5661248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Equation" r:id="rId29" imgW="266400" imgH="711000" progId="Equation.DSMT4">
                  <p:embed/>
                </p:oleObj>
              </mc:Choice>
              <mc:Fallback>
                <p:oleObj name="Equation" r:id="rId29" imgW="266400" imgH="711000" progId="Equation.DSMT4">
                  <p:embed/>
                  <p:pic>
                    <p:nvPicPr>
                      <p:cNvPr id="69" name="Объект 6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493596" y="5661248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Объект 44"/>
          <p:cNvGraphicFramePr>
            <a:graphicFrameLocks noChangeAspect="1"/>
          </p:cNvGraphicFramePr>
          <p:nvPr/>
        </p:nvGraphicFramePr>
        <p:xfrm>
          <a:off x="8781628" y="4581128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Equation" r:id="rId31" imgW="266400" imgH="711000" progId="Equation.DSMT4">
                  <p:embed/>
                </p:oleObj>
              </mc:Choice>
              <mc:Fallback>
                <p:oleObj name="Equation" r:id="rId31" imgW="266400" imgH="711000" progId="Equation.DSMT4">
                  <p:embed/>
                  <p:pic>
                    <p:nvPicPr>
                      <p:cNvPr id="45" name="Объект 4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781628" y="4581128"/>
                        <a:ext cx="2667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Объект 45"/>
          <p:cNvGraphicFramePr>
            <a:graphicFrameLocks noChangeAspect="1"/>
          </p:cNvGraphicFramePr>
          <p:nvPr/>
        </p:nvGraphicFramePr>
        <p:xfrm>
          <a:off x="9329465" y="4437063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Equation" r:id="rId33" imgW="266400" imgH="711000" progId="Equation.DSMT4">
                  <p:embed/>
                </p:oleObj>
              </mc:Choice>
              <mc:Fallback>
                <p:oleObj name="Equation" r:id="rId33" imgW="266400" imgH="711000" progId="Equation.DSMT4">
                  <p:embed/>
                  <p:pic>
                    <p:nvPicPr>
                      <p:cNvPr id="46" name="Объект 4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329465" y="4437063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Объект 46"/>
          <p:cNvGraphicFramePr>
            <a:graphicFrameLocks noChangeAspect="1"/>
          </p:cNvGraphicFramePr>
          <p:nvPr/>
        </p:nvGraphicFramePr>
        <p:xfrm>
          <a:off x="10005764" y="4437112"/>
          <a:ext cx="266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Equation" r:id="rId35" imgW="266400" imgH="711000" progId="Equation.DSMT4">
                  <p:embed/>
                </p:oleObj>
              </mc:Choice>
              <mc:Fallback>
                <p:oleObj name="Equation" r:id="rId35" imgW="266400" imgH="711000" progId="Equation.DSMT4">
                  <p:embed/>
                  <p:pic>
                    <p:nvPicPr>
                      <p:cNvPr id="47" name="Объект 46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005764" y="4437112"/>
                        <a:ext cx="266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8562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071664" y="1734795"/>
            <a:ext cx="8928992" cy="435850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 – свойства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2" y="1916832"/>
                <a:ext cx="8784976" cy="3660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Изоморфизм</a:t>
                </a:r>
              </a:p>
              <a:p>
                <a:pPr lvl="0">
                  <a:spcAft>
                    <a:spcPts val="1200"/>
                  </a:spcAft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Если два события в распределенном выполнении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и</a:t>
                </a:r>
                <a:r>
                  <a:rPr lang="en-US" sz="2200" i="1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i="1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имеют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векторные временные отметки </a:t>
                </a:r>
                <a14:m>
                  <m:oMath xmlns:m="http://schemas.openxmlformats.org/officeDocument/2006/math">
                    <m:r>
                      <a:rPr lang="ru-RU" sz="2400" b="1"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2400" b="1"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соответственно,</a:t>
                </a:r>
                <a:r>
                  <a:rPr lang="en-US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то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1"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ru-RU" sz="280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800" b="1">
                          <a:latin typeface="Cambria Math" panose="02040503050406030204" pitchFamily="18" charset="0"/>
                        </a:rPr>
                        <m:t>𝐕</m:t>
                      </m:r>
                      <m:d>
                        <m:dPr>
                          <m:ctrlPr>
                            <a:rPr lang="ru-RU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8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ru-RU" sz="2800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ru-RU" sz="28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ru-RU" sz="28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8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28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800" dirty="0"/>
              </a:p>
              <a:p>
                <a:pPr lvl="0" algn="ctr">
                  <a:spcBef>
                    <a:spcPts val="1200"/>
                  </a:spcBef>
                  <a:defRPr/>
                </a:pPr>
                <a14:m>
                  <m:oMath xmlns:m="http://schemas.openxmlformats.org/officeDocument/2006/math">
                    <m:r>
                      <a:rPr lang="ru-RU" sz="2800" b="1"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║</a:t>
                </a:r>
                <a:r>
                  <a:rPr lang="en-US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800" b="1"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ru-RU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sz="2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⇔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28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     </a:t>
                </a:r>
                <a:r>
                  <a:rPr lang="en-US" sz="2800" i="1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 </a:t>
                </a:r>
                <a:endParaRPr kumimoji="0" lang="ru-RU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Таким образом, существует</a:t>
                </a:r>
                <a:r>
                  <a:rPr kumimoji="0" lang="ru-RU" sz="22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изоморфизм между множеством частично упорядоченных событий распределенного выполнения  и множеством их векторных временных отметок.</a:t>
                </a: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1916832"/>
                <a:ext cx="8784976" cy="3660874"/>
              </a:xfrm>
              <a:prstGeom prst="rect">
                <a:avLst/>
              </a:prstGeom>
              <a:blipFill rotWithShape="0">
                <a:blip r:embed="rId3"/>
                <a:stretch>
                  <a:fillRect l="-902" t="-1664" r="-833" b="-2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0177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672" y="1772816"/>
            <a:ext cx="8712646" cy="46805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 – свойства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359696" y="1988840"/>
                <a:ext cx="8424614" cy="458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Строгая непротиворечивость</a:t>
                </a:r>
                <a:endParaRPr kumimoji="0" 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Изоморфизм векторного времени означает, что векторное время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удовлетворяет условию строгой непротиворечивости: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Основной недостаток векторного времени – необходимость хранения и пересылки векторов размерности </a:t>
                </a:r>
                <a:r>
                  <a:rPr kumimoji="0" lang="en-US" sz="2200" b="0" i="1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</a:t>
                </a:r>
                <a:endParaRPr kumimoji="0" lang="en-US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22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Было показано, что если события, происходящие в распределенном выполнении, отображать в часовое векторное пространство размерности </a:t>
                </a:r>
                <a:r>
                  <a:rPr lang="en-US" sz="2200" i="1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2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ru-RU" sz="2200" noProof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то для строгой непротиворечивости требуется 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sz="2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sz="2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2400" b="0" i="0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ru-RU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696" y="1988840"/>
                <a:ext cx="8424614" cy="4585871"/>
              </a:xfrm>
              <a:prstGeom prst="rect">
                <a:avLst/>
              </a:prstGeom>
              <a:blipFill>
                <a:blip r:embed="rId4"/>
                <a:stretch>
                  <a:fillRect l="-941" t="-13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259276"/>
              </p:ext>
            </p:extLst>
          </p:nvPr>
        </p:nvGraphicFramePr>
        <p:xfrm>
          <a:off x="6008688" y="3429000"/>
          <a:ext cx="3136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Equation" r:id="rId5" imgW="3136680" imgH="507960" progId="Equation.DSMT4">
                  <p:embed/>
                </p:oleObj>
              </mc:Choice>
              <mc:Fallback>
                <p:oleObj name="Equation" r:id="rId5" imgW="31366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08688" y="3429000"/>
                        <a:ext cx="3136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54031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672" y="1772816"/>
            <a:ext cx="8712646" cy="403324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 – свойства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1" y="2385462"/>
                <a:ext cx="8710477" cy="2498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Подсчет событий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𝑑</m:t>
                    </m:r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≡ 1</m:t>
                    </m:r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 то для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-</a:t>
                </a:r>
                <a:r>
                  <a:rPr kumimoji="0" lang="ru-RU" sz="2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го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процесса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n-US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[</m:t>
                    </m:r>
                    <m:r>
                      <a:rPr kumimoji="0" lang="en-US" sz="24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–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количество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событий в процессе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до настоящего момента. Значение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n-US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[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𝑗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] (</m:t>
                    </m:r>
                    <m:r>
                      <a:rPr kumimoji="0" lang="en-US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≠ 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𝑗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–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количество событий в процессе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причинно-следственно  предшествующих событию в процессе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с 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временной</a:t>
                </a:r>
                <a:b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отметкой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n-US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</a:t>
                </a:r>
                <a:endParaRPr kumimoji="0" lang="ru-R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1" y="2385462"/>
                <a:ext cx="8710477" cy="2498184"/>
              </a:xfrm>
              <a:prstGeom prst="rect">
                <a:avLst/>
              </a:prstGeom>
              <a:blipFill rotWithShape="0">
                <a:blip r:embed="rId3"/>
                <a:stretch>
                  <a:fillRect l="-910" t="-2439" b="-41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9131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672" y="1772816"/>
            <a:ext cx="8712646" cy="403324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</a:t>
            </a: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1" y="1988840"/>
                <a:ext cx="8710477" cy="352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Пример использования – банковская система</a:t>
                </a:r>
                <a:endParaRPr kumimoji="0" lang="ru-RU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Для скалярного времени </a:t>
                </a:r>
                <a:r>
                  <a:rPr kumimoji="0" lang="ru-RU" sz="22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Лэмпорта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момент</a:t>
                </a:r>
                <a:r>
                  <a:rPr kumimoji="0" lang="ru-RU" sz="22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логического времени, когда нужно создавать отчет, должен задаваться внешним образом, что не  всегда бывает удобно</a:t>
                </a:r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</a:t>
                </a:r>
                <a:endParaRPr kumimoji="0" lang="ru-RU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sz="2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При использовании</a:t>
                </a:r>
                <a:r>
                  <a:rPr kumimoji="0" lang="ru-RU" sz="22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векторного времени для любых двух процессов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ru-R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выполнено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n-US" sz="24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n-US" sz="2400" b="0" i="1" baseline="-25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 момент продвижения процессом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своего логического времени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n-US" sz="24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не существует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, для которого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n-US" sz="2400" b="0" i="1" baseline="-25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n-US" sz="2400" b="0" i="1" baseline="-25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ru-R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1" y="1988840"/>
                <a:ext cx="8710477" cy="3528851"/>
              </a:xfrm>
              <a:prstGeom prst="rect">
                <a:avLst/>
              </a:prstGeom>
              <a:blipFill>
                <a:blip r:embed="rId3"/>
                <a:stretch>
                  <a:fillRect l="-910" t="-1727" r="-1679" b="-15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1557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672" y="1772816"/>
            <a:ext cx="8712646" cy="403324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Векторное </a:t>
            </a: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1" y="1988840"/>
                <a:ext cx="8710477" cy="3888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Пример использования – банковская система</a:t>
                </a:r>
                <a:endParaRPr kumimoji="0" lang="ru-RU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  <a:defRPr/>
                </a:pP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</a:t>
                </a:r>
                <a:r>
                  <a:rPr kumimoji="0" lang="ru-RU" sz="2200" b="0" i="0" u="none" strike="noStrike" kern="1200" cap="none" spc="0" normalizeH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вычисляет время своего еще не наступивщего события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n-US" sz="24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0,…,0,</m:t>
                        </m:r>
                        <m: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  <m: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+1,0,…,0</m:t>
                        </m:r>
                      </m:e>
                    </m:d>
                  </m:oMath>
                </a14:m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и рассылает это время всем остальным процессам (одно событие)</a:t>
                </a: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marL="457200" lvl="0" indent="-457200">
                  <a:buFont typeface="+mj-lt"/>
                  <a:buAutoNum type="arabicPeriod"/>
                  <a:defRPr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ждет подтверждения от всех остальных процессов (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ru-R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US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событие)</a:t>
                </a:r>
                <a:r>
                  <a:rPr kumimoji="0" lang="en-US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ru-RU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  <a:defRPr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рассылает всем пустое сообщение, чтобы показания их логических векторных часов превзошли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en-US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  <a:defRPr/>
                </a:pP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Генерация отчета.</a:t>
                </a:r>
                <a:endParaRPr lang="ru-RU" sz="2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defRPr/>
                </a:pPr>
                <a:endParaRPr kumimoji="0" lang="ru-R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1" y="1988840"/>
                <a:ext cx="8710477" cy="3888372"/>
              </a:xfrm>
              <a:prstGeom prst="rect">
                <a:avLst/>
              </a:prstGeom>
              <a:blipFill>
                <a:blip r:embed="rId3"/>
                <a:stretch>
                  <a:fillRect l="-840" t="-15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10333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6800" y="1772816"/>
            <a:ext cx="8712646" cy="417646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551827" y="2473945"/>
                <a:ext cx="8424614" cy="2451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600"/>
                  </a:spcBef>
                  <a:defRPr/>
                </a:pP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Область </a:t>
                </a:r>
                <a:r>
                  <a:rPr lang="ru-RU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значения часовой функции </a:t>
                </a:r>
                <a:r>
                  <a:rPr lang="ru-RU" sz="2800" i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Θ</a:t>
                </a:r>
                <a:r>
                  <a:rPr lang="ru-RU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множество </a:t>
                </a: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квадратных матриц целых </a:t>
                </a:r>
                <a:r>
                  <a:rPr lang="ru-RU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неотрицательных </a:t>
                </a: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чисел размерностью </a:t>
                </a:r>
                <a:r>
                  <a:rPr lang="en-US" sz="2800" i="1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 </a:t>
                </a:r>
                <a:r>
                  <a:rPr lang="en-US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sz="2800" i="1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n-US" sz="2800" dirty="0" smtClean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  <a:spcBef>
                    <a:spcPts val="1800"/>
                  </a:spcBef>
                  <a:defRPr/>
                </a:pP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Отметку </a:t>
                </a:r>
                <a:r>
                  <a:rPr lang="ru-RU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времени события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b>
                        <m:r>
                          <a:rPr lang="en-US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обозначим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𝐌</m:t>
                    </m:r>
                    <m:d>
                      <m:dPr>
                        <m:ctrlPr>
                          <a:rPr lang="en-US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3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28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827" y="2473945"/>
                <a:ext cx="8424614" cy="2451697"/>
              </a:xfrm>
              <a:prstGeom prst="rect">
                <a:avLst/>
              </a:prstGeom>
              <a:blipFill rotWithShape="0">
                <a:blip r:embed="rId3"/>
                <a:stretch>
                  <a:fillRect t="-1244" b="-34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09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060000" y="1800000"/>
            <a:ext cx="9000717" cy="475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</a:t>
            </a: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2" y="1772816"/>
                <a:ext cx="8500932" cy="4492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Заведем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для каждого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1,</m:t>
                            </m:r>
                            <m:r>
                              <a:rPr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e>
                        </m:acc>
                      </m:e>
                    </m:d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матрицу</a:t>
                </a:r>
                <a:endParaRPr lang="en-US" sz="2400" dirty="0" smtClean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𝐌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ru-R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1…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,1…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</m:d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</m:oMath>
                  </m:oMathPara>
                </a14:m>
                <a:endParaRPr lang="ru-RU" sz="2400" dirty="0" smtClean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1200"/>
                  </a:spcBef>
                  <a:defRPr/>
                </a:pP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Элемент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показания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локальной части часов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spcBef>
                    <a:spcPts val="1200"/>
                  </a:spcBef>
                  <a:defRPr/>
                </a:pP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Элемент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e>
                    </m:d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последние сведения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полученные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о локальном времени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т.е. строка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 это векторное время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spcBef>
                    <a:spcPts val="1200"/>
                  </a:spcBef>
                  <a:defRPr/>
                </a:pP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Элемент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последние сведения, полученные процессом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</a:t>
                </a:r>
                <a:r>
                  <a:rPr 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том, какими знаниями обладает процесс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о локальном времени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sz="2400" i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1772816"/>
                <a:ext cx="8500932" cy="4492255"/>
              </a:xfrm>
              <a:prstGeom prst="rect">
                <a:avLst/>
              </a:prstGeom>
              <a:blipFill rotWithShape="0">
                <a:blip r:embed="rId3"/>
                <a:stretch>
                  <a:fillRect l="-1148" t="-950" r="-215" b="-2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4991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060000" y="1800000"/>
            <a:ext cx="9000717" cy="475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</a:t>
            </a: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2" y="2636912"/>
                <a:ext cx="850093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  <a:defRPr/>
                </a:pPr>
                <a:r>
                  <a:rPr lang="ru-RU" sz="3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Всю матрицу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можно рассматривать как локальное представление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не только о текущем глобальном логическом времени, но и о том, что процессы знают о локальном времени друг друга.</a:t>
                </a:r>
                <a:endParaRPr lang="en-US" sz="3200" dirty="0" smtClean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2636912"/>
                <a:ext cx="8500932" cy="2554545"/>
              </a:xfrm>
              <a:prstGeom prst="rect">
                <a:avLst/>
              </a:prstGeom>
              <a:blipFill rotWithShape="0">
                <a:blip r:embed="rId3"/>
                <a:stretch>
                  <a:fillRect l="-717" t="-3103" r="-2009" b="-69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8386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060000" y="1800000"/>
            <a:ext cx="9000000" cy="475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</a:t>
            </a:r>
            <a:r>
              <a:rPr kumimoji="0" lang="ru-RU" sz="30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431704" y="1908000"/>
                <a:ext cx="8424614" cy="4411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05000"/>
                  </a:lnSpc>
                  <a:defRPr/>
                </a:pPr>
                <a:r>
                  <a:rPr kumimoji="0" lang="ru-RU" sz="2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Правило 1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 Перед выполнением любого события процесс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увеличивает показания своих локальных часов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</a:t>
                </a:r>
              </a:p>
              <a:p>
                <a:pPr lvl="0" algn="ctr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где </a:t>
                </a: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&gt; 0.</a:t>
                </a:r>
              </a:p>
              <a:p>
                <a:pPr lvl="0">
                  <a:lnSpc>
                    <a:spcPct val="105000"/>
                  </a:lnSpc>
                  <a:spcBef>
                    <a:spcPts val="1200"/>
                  </a:spcBef>
                  <a:defRPr/>
                </a:pPr>
                <a:r>
                  <a:rPr kumimoji="0" lang="ru-RU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Правило 2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 В каждое передаваемое сообщение добавляется значение 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матричного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времени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процесса-отправителя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на момент отправки 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сообщения.</a:t>
                </a:r>
                <a:endParaRPr kumimoji="0" lang="en-US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lvl="0">
                  <a:lnSpc>
                    <a:spcPct val="105000"/>
                  </a:lnSpc>
                  <a:spcAft>
                    <a:spcPts val="600"/>
                  </a:spcAft>
                  <a:defRPr/>
                </a:pP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При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приеме сообщения с временной отметкой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𝑚𝑠𝑔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от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процессом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изменяются </a:t>
                </a:r>
                <a:r>
                  <a:rPr kumimoji="0" lang="ru-RU" sz="2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часы </a:t>
                </a:r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ru-RU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:</a:t>
                </a:r>
              </a:p>
              <a:p>
                <a:pPr lvl="0">
                  <a:spcBef>
                    <a:spcPts val="6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∀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,1≤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ru-RU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4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4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𝐌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2400" b="1" i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400" b="1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𝑚𝑠𝑔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US" sz="2400" b="0" i="1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>
                  <a:spcBef>
                    <a:spcPts val="6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∀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𝑙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,1≤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𝑙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ru-RU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𝐌</m:t>
                          </m:r>
                        </m:e>
                        <m:sub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</m:d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d>
                        <m:d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𝐌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4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𝐌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𝑚𝑠𝑔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ru-RU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1908000"/>
                <a:ext cx="8424614" cy="4411400"/>
              </a:xfrm>
              <a:prstGeom prst="rect">
                <a:avLst/>
              </a:prstGeom>
              <a:blipFill rotWithShape="0">
                <a:blip r:embed="rId3"/>
                <a:stretch>
                  <a:fillRect l="-941" t="-691" r="-4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426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143994" y="1772816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работы </a:t>
            </a:r>
            <a:r>
              <a:rPr lang="ru-RU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матричных </a:t>
            </a: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часов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7809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9421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509435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142768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431115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5454392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3095968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425710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5409232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188152"/>
            <a:ext cx="535688" cy="10847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188152"/>
            <a:ext cx="499696" cy="10847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203968"/>
            <a:ext cx="573872" cy="22210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4349288"/>
            <a:ext cx="571728" cy="10757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69962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56490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solidFill>
                <a:prstClr val="black"/>
              </a:solidFill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271389"/>
              </p:ext>
            </p:extLst>
          </p:nvPr>
        </p:nvGraphicFramePr>
        <p:xfrm>
          <a:off x="4113213" y="2357438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8" name="Equation" r:id="rId4" imgW="685800" imgH="711000" progId="Equation.DSMT4">
                  <p:embed/>
                </p:oleObj>
              </mc:Choice>
              <mc:Fallback>
                <p:oleObj name="Equation" r:id="rId4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3213" y="2357438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Объект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432029"/>
              </p:ext>
            </p:extLst>
          </p:nvPr>
        </p:nvGraphicFramePr>
        <p:xfrm>
          <a:off x="4473575" y="4446588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" name="Equation" r:id="rId6" imgW="685800" imgH="711000" progId="Equation.DSMT4">
                  <p:embed/>
                </p:oleObj>
              </mc:Choice>
              <mc:Fallback>
                <p:oleObj name="Equation" r:id="rId6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73575" y="4446588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Объект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295057"/>
              </p:ext>
            </p:extLst>
          </p:nvPr>
        </p:nvGraphicFramePr>
        <p:xfrm>
          <a:off x="4762500" y="5670550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" name="Equation" r:id="rId8" imgW="685800" imgH="711000" progId="Equation.DSMT4">
                  <p:embed/>
                </p:oleObj>
              </mc:Choice>
              <mc:Fallback>
                <p:oleObj name="Equation" r:id="rId8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62500" y="5670550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Объект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302988"/>
              </p:ext>
            </p:extLst>
          </p:nvPr>
        </p:nvGraphicFramePr>
        <p:xfrm>
          <a:off x="4762500" y="3357563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" name="Equation" r:id="rId10" imgW="685800" imgH="711000" progId="Equation.DSMT4">
                  <p:embed/>
                </p:oleObj>
              </mc:Choice>
              <mc:Fallback>
                <p:oleObj name="Equation" r:id="rId10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62500" y="3357563"/>
                        <a:ext cx="6858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Объект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22656"/>
              </p:ext>
            </p:extLst>
          </p:nvPr>
        </p:nvGraphicFramePr>
        <p:xfrm>
          <a:off x="5116513" y="2357438"/>
          <a:ext cx="698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" name="Equation" r:id="rId12" imgW="698400" imgH="711000" progId="Equation.DSMT4">
                  <p:embed/>
                </p:oleObj>
              </mc:Choice>
              <mc:Fallback>
                <p:oleObj name="Equation" r:id="rId12" imgW="698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16513" y="2357438"/>
                        <a:ext cx="698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Объект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419203"/>
              </p:ext>
            </p:extLst>
          </p:nvPr>
        </p:nvGraphicFramePr>
        <p:xfrm>
          <a:off x="5326063" y="4437063"/>
          <a:ext cx="698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3" name="Equation" r:id="rId14" imgW="698400" imgH="711000" progId="Equation.DSMT4">
                  <p:embed/>
                </p:oleObj>
              </mc:Choice>
              <mc:Fallback>
                <p:oleObj name="Equation" r:id="rId14" imgW="698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26063" y="4437063"/>
                        <a:ext cx="698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Объект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861992"/>
              </p:ext>
            </p:extLst>
          </p:nvPr>
        </p:nvGraphicFramePr>
        <p:xfrm>
          <a:off x="6744072" y="5661025"/>
          <a:ext cx="698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" name="Equation" r:id="rId16" imgW="698400" imgH="711000" progId="Equation.DSMT4">
                  <p:embed/>
                </p:oleObj>
              </mc:Choice>
              <mc:Fallback>
                <p:oleObj name="Equation" r:id="rId16" imgW="698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44072" y="5661025"/>
                        <a:ext cx="698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Объект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966257"/>
              </p:ext>
            </p:extLst>
          </p:nvPr>
        </p:nvGraphicFramePr>
        <p:xfrm>
          <a:off x="6130280" y="4437063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5" name="Equation" r:id="rId18" imgW="685800" imgH="711000" progId="Equation.DSMT4">
                  <p:embed/>
                </p:oleObj>
              </mc:Choice>
              <mc:Fallback>
                <p:oleObj name="Equation" r:id="rId18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30280" y="4437063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Объект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020669"/>
              </p:ext>
            </p:extLst>
          </p:nvPr>
        </p:nvGraphicFramePr>
        <p:xfrm>
          <a:off x="6240463" y="3357563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6" name="Equation" r:id="rId20" imgW="685800" imgH="711000" progId="Equation.DSMT4">
                  <p:embed/>
                </p:oleObj>
              </mc:Choice>
              <mc:Fallback>
                <p:oleObj name="Equation" r:id="rId20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240463" y="3357563"/>
                        <a:ext cx="6858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Объект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041846"/>
              </p:ext>
            </p:extLst>
          </p:nvPr>
        </p:nvGraphicFramePr>
        <p:xfrm>
          <a:off x="6483350" y="2349500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7" name="Equation" r:id="rId22" imgW="685800" imgH="711000" progId="Equation.DSMT4">
                  <p:embed/>
                </p:oleObj>
              </mc:Choice>
              <mc:Fallback>
                <p:oleObj name="Equation" r:id="rId22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483350" y="2349500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Объект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01465"/>
              </p:ext>
            </p:extLst>
          </p:nvPr>
        </p:nvGraphicFramePr>
        <p:xfrm>
          <a:off x="7275513" y="2349500"/>
          <a:ext cx="698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" name="Equation" r:id="rId24" imgW="698400" imgH="711000" progId="Equation.DSMT4">
                  <p:embed/>
                </p:oleObj>
              </mc:Choice>
              <mc:Fallback>
                <p:oleObj name="Equation" r:id="rId24" imgW="698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275513" y="2349500"/>
                        <a:ext cx="698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Объект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951371"/>
              </p:ext>
            </p:extLst>
          </p:nvPr>
        </p:nvGraphicFramePr>
        <p:xfrm>
          <a:off x="7536160" y="5661025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" name="Equation" r:id="rId26" imgW="685800" imgH="711000" progId="Equation.DSMT4">
                  <p:embed/>
                </p:oleObj>
              </mc:Choice>
              <mc:Fallback>
                <p:oleObj name="Equation" r:id="rId26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536160" y="5661025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Объект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935509"/>
              </p:ext>
            </p:extLst>
          </p:nvPr>
        </p:nvGraphicFramePr>
        <p:xfrm>
          <a:off x="7427913" y="3438525"/>
          <a:ext cx="698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0" name="Equation" r:id="rId28" imgW="698400" imgH="711000" progId="Equation.DSMT4">
                  <p:embed/>
                </p:oleObj>
              </mc:Choice>
              <mc:Fallback>
                <p:oleObj name="Equation" r:id="rId28" imgW="698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427913" y="3438525"/>
                        <a:ext cx="6985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Объект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262959"/>
              </p:ext>
            </p:extLst>
          </p:nvPr>
        </p:nvGraphicFramePr>
        <p:xfrm>
          <a:off x="8334375" y="5661025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1" name="Equation" r:id="rId30" imgW="685800" imgH="711000" progId="Equation.DSMT4">
                  <p:embed/>
                </p:oleObj>
              </mc:Choice>
              <mc:Fallback>
                <p:oleObj name="Equation" r:id="rId30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334375" y="5661025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Объект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474493"/>
              </p:ext>
            </p:extLst>
          </p:nvPr>
        </p:nvGraphicFramePr>
        <p:xfrm>
          <a:off x="8572500" y="4581525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2" name="Equation" r:id="rId32" imgW="685800" imgH="711000" progId="Equation.DSMT4">
                  <p:embed/>
                </p:oleObj>
              </mc:Choice>
              <mc:Fallback>
                <p:oleObj name="Equation" r:id="rId32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572500" y="4581525"/>
                        <a:ext cx="685800" cy="71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Объект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901466"/>
              </p:ext>
            </p:extLst>
          </p:nvPr>
        </p:nvGraphicFramePr>
        <p:xfrm>
          <a:off x="8904288" y="3357563"/>
          <a:ext cx="698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3" name="Equation" r:id="rId34" imgW="698400" imgH="711000" progId="Equation.DSMT4">
                  <p:embed/>
                </p:oleObj>
              </mc:Choice>
              <mc:Fallback>
                <p:oleObj name="Equation" r:id="rId34" imgW="698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904288" y="3357563"/>
                        <a:ext cx="698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Объект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971161"/>
              </p:ext>
            </p:extLst>
          </p:nvPr>
        </p:nvGraphicFramePr>
        <p:xfrm>
          <a:off x="9796463" y="4437063"/>
          <a:ext cx="685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4" name="Equation" r:id="rId36" imgW="685800" imgH="711000" progId="Equation.DSMT4">
                  <p:embed/>
                </p:oleObj>
              </mc:Choice>
              <mc:Fallback>
                <p:oleObj name="Equation" r:id="rId36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9796463" y="4437063"/>
                        <a:ext cx="685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14261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060000" y="1800000"/>
            <a:ext cx="9000717" cy="475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568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</a:t>
            </a: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время - свойства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14367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143672" y="2348880"/>
                <a:ext cx="8784976" cy="3633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  <a:defRPr/>
                </a:pP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Строка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обладает всеми свойствами векторных часов.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  <a:defRPr/>
                </a:pP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Если для матричного времени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верно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US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𝐌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d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≥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US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то по сведениям 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каждый из процессов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знает</a:t>
                </a:r>
                <a:r>
                  <a:rPr lang="en-US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о том, что локальное время процесса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достигло значения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или превосходит его.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  <a:defRPr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≡ 1</m:t>
                    </m:r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то элемент матрицы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ru-RU" sz="24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будет содержать число событий, произошедших в процессе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и известных процессу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настолько, насколько знает об этом процесс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2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2348880"/>
                <a:ext cx="8784976" cy="3633623"/>
              </a:xfrm>
              <a:prstGeom prst="rect">
                <a:avLst/>
              </a:prstGeom>
              <a:blipFill rotWithShape="0">
                <a:blip r:embed="rId3"/>
                <a:stretch>
                  <a:fillRect l="-833" t="-336" b="-25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0146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9475265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8657704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10094391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5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1931</Words>
  <Application>Microsoft Office PowerPoint</Application>
  <PresentationFormat>Широкоэкранный</PresentationFormat>
  <Paragraphs>739</Paragraphs>
  <Slides>49</Slides>
  <Notes>49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5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63" baseType="lpstr">
      <vt:lpstr>Arial</vt:lpstr>
      <vt:lpstr>Arial Black</vt:lpstr>
      <vt:lpstr>Arial Unicode MS</vt:lpstr>
      <vt:lpstr>Calibri</vt:lpstr>
      <vt:lpstr>Cambria Math</vt:lpstr>
      <vt:lpstr>Lucida Grande CY</vt:lpstr>
      <vt:lpstr>Symbol</vt:lpstr>
      <vt:lpstr>Wingdings</vt:lpstr>
      <vt:lpstr>1_Тема Office</vt:lpstr>
      <vt:lpstr>2_Тема Office</vt:lpstr>
      <vt:lpstr>Larissa-Design</vt:lpstr>
      <vt:lpstr>5_Тема Office</vt:lpstr>
      <vt:lpstr>Тема Office</vt:lpstr>
      <vt:lpstr>Equation</vt:lpstr>
      <vt:lpstr>Презентация PowerPoint</vt:lpstr>
      <vt:lpstr>Тема 5</vt:lpstr>
      <vt:lpstr>Логические часы </vt:lpstr>
      <vt:lpstr>Логические часы </vt:lpstr>
      <vt:lpstr>Логические часы </vt:lpstr>
      <vt:lpstr>Логические часы </vt:lpstr>
      <vt:lpstr>Логические часы </vt:lpstr>
      <vt:lpstr>Логические часы </vt:lpstr>
      <vt:lpstr>Логические часы </vt:lpstr>
      <vt:lpstr>Логические часы </vt:lpstr>
      <vt:lpstr>Логические часы </vt:lpstr>
      <vt:lpstr>Логические часы </vt:lpstr>
      <vt:lpstr>Презентация PowerPoint</vt:lpstr>
      <vt:lpstr>Логические часы </vt:lpstr>
      <vt:lpstr>Логические часы </vt:lpstr>
      <vt:lpstr>Логические часы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Логические часы </vt:lpstr>
      <vt:lpstr>Презентация PowerPoint</vt:lpstr>
      <vt:lpstr>Презентация PowerPoint</vt:lpstr>
      <vt:lpstr>Презентация PowerPoint</vt:lpstr>
      <vt:lpstr>Презентация PowerPoint</vt:lpstr>
      <vt:lpstr>Логические часы 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Презентация PowerPoint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2026-03-28T07:52:11Z</dcterms:modified>
</cp:coreProperties>
</file>