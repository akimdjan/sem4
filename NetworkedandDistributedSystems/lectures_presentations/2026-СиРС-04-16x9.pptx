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3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60" r:id="rId1"/>
    <p:sldMasterId id="2147483666" r:id="rId2"/>
    <p:sldMasterId id="2147483672" r:id="rId3"/>
    <p:sldMasterId id="2147483678" r:id="rId4"/>
  </p:sldMasterIdLst>
  <p:notesMasterIdLst>
    <p:notesMasterId r:id="rId38"/>
  </p:notesMasterIdLst>
  <p:sldIdLst>
    <p:sldId id="257" r:id="rId5"/>
    <p:sldId id="262" r:id="rId6"/>
    <p:sldId id="375" r:id="rId7"/>
    <p:sldId id="403" r:id="rId8"/>
    <p:sldId id="405" r:id="rId9"/>
    <p:sldId id="404" r:id="rId10"/>
    <p:sldId id="406" r:id="rId11"/>
    <p:sldId id="407" r:id="rId12"/>
    <p:sldId id="408" r:id="rId13"/>
    <p:sldId id="409" r:id="rId14"/>
    <p:sldId id="410" r:id="rId15"/>
    <p:sldId id="411" r:id="rId16"/>
    <p:sldId id="412" r:id="rId17"/>
    <p:sldId id="413" r:id="rId18"/>
    <p:sldId id="414" r:id="rId19"/>
    <p:sldId id="415" r:id="rId20"/>
    <p:sldId id="416" r:id="rId21"/>
    <p:sldId id="417" r:id="rId22"/>
    <p:sldId id="418" r:id="rId23"/>
    <p:sldId id="478" r:id="rId24"/>
    <p:sldId id="479" r:id="rId25"/>
    <p:sldId id="480" r:id="rId26"/>
    <p:sldId id="425" r:id="rId27"/>
    <p:sldId id="422" r:id="rId28"/>
    <p:sldId id="430" r:id="rId29"/>
    <p:sldId id="427" r:id="rId30"/>
    <p:sldId id="428" r:id="rId31"/>
    <p:sldId id="429" r:id="rId32"/>
    <p:sldId id="423" r:id="rId33"/>
    <p:sldId id="431" r:id="rId34"/>
    <p:sldId id="448" r:id="rId35"/>
    <p:sldId id="476" r:id="rId36"/>
    <p:sldId id="271" r:id="rId3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453404F6-AF45-403F-8B0B-E58FD8E18ED2}">
          <p14:sldIdLst>
            <p14:sldId id="257"/>
            <p14:sldId id="262"/>
            <p14:sldId id="375"/>
            <p14:sldId id="403"/>
            <p14:sldId id="405"/>
            <p14:sldId id="404"/>
            <p14:sldId id="406"/>
            <p14:sldId id="407"/>
            <p14:sldId id="408"/>
            <p14:sldId id="409"/>
            <p14:sldId id="410"/>
            <p14:sldId id="411"/>
            <p14:sldId id="412"/>
            <p14:sldId id="413"/>
            <p14:sldId id="414"/>
            <p14:sldId id="415"/>
            <p14:sldId id="416"/>
            <p14:sldId id="417"/>
            <p14:sldId id="418"/>
            <p14:sldId id="478"/>
            <p14:sldId id="479"/>
            <p14:sldId id="480"/>
            <p14:sldId id="425"/>
            <p14:sldId id="422"/>
            <p14:sldId id="430"/>
            <p14:sldId id="427"/>
            <p14:sldId id="428"/>
            <p14:sldId id="429"/>
            <p14:sldId id="423"/>
            <p14:sldId id="431"/>
            <p14:sldId id="448"/>
            <p14:sldId id="476"/>
            <p14:sldId id="27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61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060606"/>
    <a:srgbClr val="345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514" autoAdjust="0"/>
    <p:restoredTop sz="91335" autoAdjust="0"/>
  </p:normalViewPr>
  <p:slideViewPr>
    <p:cSldViewPr>
      <p:cViewPr varScale="1">
        <p:scale>
          <a:sx n="103" d="100"/>
          <a:sy n="103" d="100"/>
        </p:scale>
        <p:origin x="138" y="414"/>
      </p:cViewPr>
      <p:guideLst>
        <p:guide orient="horz" pos="3612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13" Type="http://schemas.openxmlformats.org/officeDocument/2006/relationships/image" Target="../media/image15.wmf"/><Relationship Id="rId3" Type="http://schemas.openxmlformats.org/officeDocument/2006/relationships/image" Target="../media/image5.wmf"/><Relationship Id="rId7" Type="http://schemas.openxmlformats.org/officeDocument/2006/relationships/image" Target="../media/image9.wmf"/><Relationship Id="rId12" Type="http://schemas.openxmlformats.org/officeDocument/2006/relationships/image" Target="../media/image14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6" Type="http://schemas.openxmlformats.org/officeDocument/2006/relationships/image" Target="../media/image8.wmf"/><Relationship Id="rId11" Type="http://schemas.openxmlformats.org/officeDocument/2006/relationships/image" Target="../media/image13.wmf"/><Relationship Id="rId5" Type="http://schemas.openxmlformats.org/officeDocument/2006/relationships/image" Target="../media/image7.wmf"/><Relationship Id="rId10" Type="http://schemas.openxmlformats.org/officeDocument/2006/relationships/image" Target="../media/image12.wmf"/><Relationship Id="rId4" Type="http://schemas.openxmlformats.org/officeDocument/2006/relationships/image" Target="../media/image6.wmf"/><Relationship Id="rId9" Type="http://schemas.openxmlformats.org/officeDocument/2006/relationships/image" Target="../media/image1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image" Target="../media/image20.wmf"/><Relationship Id="rId7" Type="http://schemas.openxmlformats.org/officeDocument/2006/relationships/image" Target="../media/image24.wmf"/><Relationship Id="rId2" Type="http://schemas.openxmlformats.org/officeDocument/2006/relationships/image" Target="../media/image19.wmf"/><Relationship Id="rId1" Type="http://schemas.openxmlformats.org/officeDocument/2006/relationships/image" Target="../media/image16.wmf"/><Relationship Id="rId6" Type="http://schemas.openxmlformats.org/officeDocument/2006/relationships/image" Target="../media/image23.wmf"/><Relationship Id="rId5" Type="http://schemas.openxmlformats.org/officeDocument/2006/relationships/image" Target="../media/image22.wmf"/><Relationship Id="rId4" Type="http://schemas.openxmlformats.org/officeDocument/2006/relationships/image" Target="../media/image21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3" Type="http://schemas.openxmlformats.org/officeDocument/2006/relationships/image" Target="../media/image27.wmf"/><Relationship Id="rId7" Type="http://schemas.openxmlformats.org/officeDocument/2006/relationships/image" Target="../media/image31.wmf"/><Relationship Id="rId2" Type="http://schemas.openxmlformats.org/officeDocument/2006/relationships/image" Target="../media/image26.wmf"/><Relationship Id="rId1" Type="http://schemas.openxmlformats.org/officeDocument/2006/relationships/image" Target="../media/image16.wmf"/><Relationship Id="rId6" Type="http://schemas.openxmlformats.org/officeDocument/2006/relationships/image" Target="../media/image30.wmf"/><Relationship Id="rId11" Type="http://schemas.openxmlformats.org/officeDocument/2006/relationships/image" Target="../media/image35.wmf"/><Relationship Id="rId5" Type="http://schemas.openxmlformats.org/officeDocument/2006/relationships/image" Target="../media/image29.wmf"/><Relationship Id="rId10" Type="http://schemas.openxmlformats.org/officeDocument/2006/relationships/image" Target="../media/image34.wmf"/><Relationship Id="rId4" Type="http://schemas.openxmlformats.org/officeDocument/2006/relationships/image" Target="../media/image28.wmf"/><Relationship Id="rId9" Type="http://schemas.openxmlformats.org/officeDocument/2006/relationships/image" Target="../media/image33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3" Type="http://schemas.openxmlformats.org/officeDocument/2006/relationships/image" Target="../media/image38.wmf"/><Relationship Id="rId7" Type="http://schemas.openxmlformats.org/officeDocument/2006/relationships/image" Target="../media/image42.wmf"/><Relationship Id="rId2" Type="http://schemas.openxmlformats.org/officeDocument/2006/relationships/image" Target="../media/image37.wmf"/><Relationship Id="rId1" Type="http://schemas.openxmlformats.org/officeDocument/2006/relationships/image" Target="../media/image36.wmf"/><Relationship Id="rId6" Type="http://schemas.openxmlformats.org/officeDocument/2006/relationships/image" Target="../media/image41.wmf"/><Relationship Id="rId5" Type="http://schemas.openxmlformats.org/officeDocument/2006/relationships/image" Target="../media/image40.wmf"/><Relationship Id="rId10" Type="http://schemas.openxmlformats.org/officeDocument/2006/relationships/image" Target="../media/image45.wmf"/><Relationship Id="rId4" Type="http://schemas.openxmlformats.org/officeDocument/2006/relationships/image" Target="../media/image39.wmf"/><Relationship Id="rId9" Type="http://schemas.openxmlformats.org/officeDocument/2006/relationships/image" Target="../media/image44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47.wmf"/><Relationship Id="rId1" Type="http://schemas.openxmlformats.org/officeDocument/2006/relationships/image" Target="../media/image46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50.wmf"/><Relationship Id="rId2" Type="http://schemas.openxmlformats.org/officeDocument/2006/relationships/image" Target="../media/image49.wmf"/><Relationship Id="rId1" Type="http://schemas.openxmlformats.org/officeDocument/2006/relationships/image" Target="../media/image48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51.wmf"/><Relationship Id="rId1" Type="http://schemas.openxmlformats.org/officeDocument/2006/relationships/image" Target="../media/image5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59AABB-C9C6-43AA-902A-833FEB3847CE}" type="datetimeFigureOut">
              <a:rPr lang="ru-RU" smtClean="0"/>
              <a:t>17.03.2026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FECF74-1CAC-4F88-AAFE-84C98DBB36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8468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defTabSz="914400"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42199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E823CC4-FED0-46D8-B338-6A49B477DF90}" type="slidenum">
              <a:rPr lang="ru-RU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75568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7168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31180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2182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1885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26410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56494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37772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93764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33591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08991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2885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53976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78596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91721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09880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86070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00106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fld id="{88D3C842-15F5-4118-93B3-B56D48F51314}" type="slidenum">
              <a:rPr lang="ru-RU" smtClean="0">
                <a:solidFill>
                  <a:prstClr val="black"/>
                </a:solidFill>
              </a:rPr>
              <a:pPr>
                <a:defRPr/>
              </a:pPr>
              <a:t>20</a:t>
            </a:fld>
            <a:endParaRPr lang="de-DE">
              <a:solidFill>
                <a:prstClr val="black"/>
              </a:solidFill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 fontAlgn="base">
              <a:spcBef>
                <a:spcPct val="0"/>
              </a:spcBef>
              <a:spcAft>
                <a:spcPct val="0"/>
              </a:spcAft>
              <a:defRPr/>
            </a:pPr>
            <a:fld id="{80EBC222-5CA9-45A5-916B-59235F528885}" type="slidenum">
              <a:rPr lang="en-GB" sz="1300">
                <a:solidFill>
                  <a:prstClr val="black"/>
                </a:solidFill>
                <a:cs typeface="Arial" pitchFamily="34" charset="0"/>
              </a:rPr>
              <a:pPr algn="r" defTabSz="947738" fontAlgn="base">
                <a:spcBef>
                  <a:spcPct val="0"/>
                </a:spcBef>
                <a:spcAft>
                  <a:spcPct val="0"/>
                </a:spcAft>
                <a:defRPr/>
              </a:pPr>
              <a:t>20</a:t>
            </a:fld>
            <a:endParaRPr lang="en-GB" sz="13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8787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fld id="{88D3C842-15F5-4118-93B3-B56D48F51314}" type="slidenum">
              <a:rPr lang="ru-RU" smtClean="0">
                <a:solidFill>
                  <a:prstClr val="black"/>
                </a:solidFill>
              </a:rPr>
              <a:pPr>
                <a:defRPr/>
              </a:pPr>
              <a:t>21</a:t>
            </a:fld>
            <a:endParaRPr lang="de-DE">
              <a:solidFill>
                <a:prstClr val="black"/>
              </a:solidFill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 fontAlgn="base">
              <a:spcBef>
                <a:spcPct val="0"/>
              </a:spcBef>
              <a:spcAft>
                <a:spcPct val="0"/>
              </a:spcAft>
              <a:defRPr/>
            </a:pPr>
            <a:fld id="{80EBC222-5CA9-45A5-916B-59235F528885}" type="slidenum">
              <a:rPr lang="en-GB" sz="1300">
                <a:solidFill>
                  <a:prstClr val="black"/>
                </a:solidFill>
                <a:cs typeface="Arial" pitchFamily="34" charset="0"/>
              </a:rPr>
              <a:pPr algn="r" defTabSz="947738" fontAlgn="base">
                <a:spcBef>
                  <a:spcPct val="0"/>
                </a:spcBef>
                <a:spcAft>
                  <a:spcPct val="0"/>
                </a:spcAft>
                <a:defRPr/>
              </a:pPr>
              <a:t>21</a:t>
            </a:fld>
            <a:endParaRPr lang="en-GB" sz="13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488956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fld id="{88D3C842-15F5-4118-93B3-B56D48F51314}" type="slidenum">
              <a:rPr lang="ru-RU" smtClean="0">
                <a:solidFill>
                  <a:prstClr val="black"/>
                </a:solidFill>
              </a:rPr>
              <a:pPr>
                <a:defRPr/>
              </a:pPr>
              <a:t>22</a:t>
            </a:fld>
            <a:endParaRPr lang="de-DE">
              <a:solidFill>
                <a:prstClr val="black"/>
              </a:solidFill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 fontAlgn="base">
              <a:spcBef>
                <a:spcPct val="0"/>
              </a:spcBef>
              <a:spcAft>
                <a:spcPct val="0"/>
              </a:spcAft>
              <a:defRPr/>
            </a:pPr>
            <a:fld id="{80EBC222-5CA9-45A5-916B-59235F528885}" type="slidenum">
              <a:rPr lang="en-GB" sz="1300">
                <a:solidFill>
                  <a:prstClr val="black"/>
                </a:solidFill>
                <a:cs typeface="Arial" pitchFamily="34" charset="0"/>
              </a:rPr>
              <a:pPr algn="r" defTabSz="947738" fontAlgn="base">
                <a:spcBef>
                  <a:spcPct val="0"/>
                </a:spcBef>
                <a:spcAft>
                  <a:spcPct val="0"/>
                </a:spcAft>
                <a:defRPr/>
              </a:pPr>
              <a:t>22</a:t>
            </a:fld>
            <a:endParaRPr lang="en-GB" sz="13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605757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35725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315229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199611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788326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547789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01458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073271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324357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117038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464858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40A90FD3-1104-4C0E-BD19-C04AAB04E560}" type="slidenum">
              <a:rPr lang="de-DE" altLang="ru-RU" smtClean="0">
                <a:solidFill>
                  <a:prstClr val="black"/>
                </a:solidFill>
              </a:rPr>
              <a:pPr/>
              <a:t>33</a:t>
            </a:fld>
            <a:endParaRPr lang="de-DE" altLang="ru-RU">
              <a:solidFill>
                <a:prstClr val="black"/>
              </a:solidFill>
            </a:endParaRPr>
          </a:p>
        </p:txBody>
      </p:sp>
      <p:sp>
        <p:nvSpPr>
          <p:cNvPr id="144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43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183" y="4343144"/>
            <a:ext cx="5029635" cy="4115019"/>
          </a:xfrm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kumimoji="0" lang="ru-RU" altLang="ru-RU" noProof="1"/>
          </a:p>
        </p:txBody>
      </p:sp>
    </p:spTree>
    <p:extLst>
      <p:ext uri="{BB962C8B-B14F-4D97-AF65-F5344CB8AC3E}">
        <p14:creationId xmlns:p14="http://schemas.microsoft.com/office/powerpoint/2010/main" val="4123936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0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de-DE" dirty="0"/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4E7C34D8-C312-4D46-ABF5-8CA01CE57B16}" type="slidenum">
              <a:rPr 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182032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6633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0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4E7C34D8-C312-4D46-ABF5-8CA01CE57B16}" type="slidenum">
              <a:rPr 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8070437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 descr="P:\JOBS ZUM BEARBEITEN\D2481_Strategietools\Grundlagen\table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gray">
          <a:xfrm>
            <a:off x="0" y="317500"/>
            <a:ext cx="12192000" cy="5627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 bwMode="gray">
          <a:xfrm>
            <a:off x="447413" y="1998133"/>
            <a:ext cx="8290187" cy="1416050"/>
          </a:xfrm>
        </p:spPr>
        <p:txBody>
          <a:bodyPr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 bwMode="gray">
          <a:xfrm>
            <a:off x="436229" y="4037202"/>
            <a:ext cx="8301372" cy="1271398"/>
          </a:xfrm>
        </p:spPr>
        <p:txBody>
          <a:bodyPr>
            <a:noAutofit/>
          </a:bodyPr>
          <a:lstStyle>
            <a:lvl1pPr marL="0" indent="0" algn="l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5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6" name="Нижний колонтитул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7" name="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 dirty="0">
                <a:solidFill>
                  <a:prstClr val="black"/>
                </a:solidFill>
              </a:rPr>
              <a:t>Стр. </a:t>
            </a:r>
            <a:fld id="{2CF74CB0-F0B5-41E9-BA71-20606D10B8F1}" type="slidenum">
              <a:rPr lang="de-DE" altLang="ru-RU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6430130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0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A4CED0C5-ED51-4CAE-B403-C2A41A79FC68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343371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3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56F2DCAE-80BF-45C3-B74A-3BA349CF89F6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8056435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A14F925C-88EF-41CE-A289-BD24C4C53697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5611339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3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4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A128D019-E771-49AB-93BA-BEA67AACC870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664407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3260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0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4E7C34D8-C312-4D46-ABF5-8CA01CE57B16}" type="slidenum">
              <a:rPr 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4292343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7171" name="Текст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292101" y="6410326"/>
            <a:ext cx="1987551" cy="365125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60000"/>
                  <a:lumOff val="40000"/>
                </a:schemeClr>
              </a:gs>
              <a:gs pos="50000">
                <a:schemeClr val="tx2">
                  <a:lumMod val="40000"/>
                  <a:lumOff val="6000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1"/>
            <a:tileRect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1" sz="1600">
                <a:solidFill>
                  <a:schemeClr val="bg1"/>
                </a:solidFill>
                <a:latin typeface="Arial" panose="020B0604020202020204" pitchFamily="34" charset="0"/>
                <a:ea typeface="Arial Unicode MS" pitchFamily="34" charset="-128"/>
                <a:cs typeface="Arial" panose="020B0604020202020204" pitchFamily="34" charset="0"/>
              </a:defRPr>
            </a:lvl1pPr>
          </a:lstStyle>
          <a:p>
            <a:pPr defTabSz="457200"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2470151" y="6410326"/>
            <a:ext cx="132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kumimoji="0" sz="16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827EB3EC-A0FC-4DD2-B272-B8CC7C9619E1}" type="slidenum">
              <a:rPr lang="ru-RU" smtClean="0">
                <a:solidFill>
                  <a:prstClr val="black"/>
                </a:solidFill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793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hf sldNum="0"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7171" name="Текст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292101" y="6410326"/>
            <a:ext cx="1987551" cy="365125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60000"/>
                  <a:lumOff val="40000"/>
                </a:schemeClr>
              </a:gs>
              <a:gs pos="50000">
                <a:schemeClr val="tx2">
                  <a:lumMod val="40000"/>
                  <a:lumOff val="6000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1"/>
            <a:tileRect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1" sz="1600">
                <a:solidFill>
                  <a:schemeClr val="bg1"/>
                </a:solidFill>
                <a:latin typeface="Arial" panose="020B0604020202020204" pitchFamily="34" charset="0"/>
                <a:ea typeface="Arial Unicode MS" pitchFamily="34" charset="-128"/>
                <a:cs typeface="Arial" panose="020B0604020202020204" pitchFamily="34" charset="0"/>
              </a:defRPr>
            </a:lvl1pPr>
          </a:lstStyle>
          <a:p>
            <a:pPr defTabSz="457200"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2470151" y="6410326"/>
            <a:ext cx="132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kumimoji="0" sz="16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827EB3EC-A0FC-4DD2-B272-B8CC7C9619E1}" type="slidenum">
              <a:rPr lang="ru-RU" smtClean="0">
                <a:solidFill>
                  <a:prstClr val="black"/>
                </a:solidFill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6273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</p:sldLayoutIdLst>
  <p:hf sldNum="0"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platzhalter 2"/>
          <p:cNvSpPr>
            <a:spLocks noGrp="1"/>
          </p:cNvSpPr>
          <p:nvPr>
            <p:ph type="body" idx="1"/>
          </p:nvPr>
        </p:nvSpPr>
        <p:spPr bwMode="gray">
          <a:xfrm>
            <a:off x="431800" y="1554163"/>
            <a:ext cx="11328400" cy="424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ru-RU"/>
              <a:t>Textmasterformate durch Klicken bearbeiten</a:t>
            </a:r>
          </a:p>
          <a:p>
            <a:pPr lvl="1"/>
            <a:r>
              <a:rPr lang="de-DE" altLang="ru-RU"/>
              <a:t>Zweite Ebene</a:t>
            </a:r>
          </a:p>
          <a:p>
            <a:pPr lvl="2"/>
            <a:r>
              <a:rPr lang="de-DE" altLang="ru-RU"/>
              <a:t>Dritte Ebene</a:t>
            </a:r>
          </a:p>
        </p:txBody>
      </p:sp>
      <p:sp>
        <p:nvSpPr>
          <p:cNvPr id="1027" name="Titelplatzhalter 1"/>
          <p:cNvSpPr>
            <a:spLocks noGrp="1"/>
          </p:cNvSpPr>
          <p:nvPr>
            <p:ph type="title"/>
          </p:nvPr>
        </p:nvSpPr>
        <p:spPr bwMode="gray">
          <a:xfrm>
            <a:off x="431800" y="1"/>
            <a:ext cx="11328400" cy="1090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ru-RU"/>
              <a:t>Titelmasterformat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 bwMode="gray">
          <a:xfrm>
            <a:off x="4318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kumimoji="0" sz="1200" smtClean="0">
                <a:solidFill>
                  <a:srgbClr val="898989"/>
                </a:solidFill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de-DE" altLang="ru-RU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gray">
          <a:xfrm>
            <a:off x="330201" y="6356351"/>
            <a:ext cx="1943100" cy="365125"/>
          </a:xfrm>
          <a:prstGeom prst="rect">
            <a:avLst/>
          </a:prstGeom>
          <a:gradFill>
            <a:gsLst>
              <a:gs pos="0">
                <a:srgbClr val="5F8ED9"/>
              </a:gs>
              <a:gs pos="50000">
                <a:srgbClr val="8EB4E3"/>
              </a:gs>
              <a:gs pos="100000">
                <a:srgbClr val="C6D9F1">
                  <a:alpha val="14902"/>
                </a:srgbClr>
              </a:gs>
            </a:gsLst>
            <a:lin ang="16200000" scaled="1"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600" dirty="0" smtClean="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gray">
          <a:xfrm>
            <a:off x="2292351" y="6356351"/>
            <a:ext cx="14859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kumimoji="0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42D759B2-9E95-43EC-A219-6234572FE2A1}" type="slidenum">
              <a:rPr lang="de-DE" altLang="ru-RU">
                <a:solidFill>
                  <a:prstClr val="black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3182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</p:sldLayoutIdLst>
  <p:transition spd="med">
    <p:fade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b="1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176213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360363" indent="-184150" algn="l" rtl="0" eaLnBrk="0" fontAlgn="base" hangingPunct="0">
        <a:spcBef>
          <a:spcPct val="20000"/>
        </a:spcBef>
        <a:spcAft>
          <a:spcPct val="0"/>
        </a:spcAft>
        <a:buFont typeface="Symbol" pitchFamily="18" charset="2"/>
        <a:buChar char="-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536575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720725" indent="-184150" algn="l" rtl="0" eaLnBrk="0" fontAlgn="base" hangingPunct="0">
        <a:spcBef>
          <a:spcPct val="20000"/>
        </a:spcBef>
        <a:spcAft>
          <a:spcPct val="0"/>
        </a:spcAft>
        <a:buFont typeface="Symbol" pitchFamily="18" charset="2"/>
        <a:buChar char="-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896938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7171" name="Текст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292101" y="6410326"/>
            <a:ext cx="1987551" cy="365125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60000"/>
                  <a:lumOff val="40000"/>
                </a:schemeClr>
              </a:gs>
              <a:gs pos="50000">
                <a:schemeClr val="tx2">
                  <a:lumMod val="40000"/>
                  <a:lumOff val="6000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1"/>
            <a:tileRect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1" sz="1600">
                <a:solidFill>
                  <a:schemeClr val="bg1"/>
                </a:solidFill>
                <a:latin typeface="Arial" panose="020B0604020202020204" pitchFamily="34" charset="0"/>
                <a:ea typeface="Arial Unicode MS" pitchFamily="34" charset="-128"/>
                <a:cs typeface="Arial" panose="020B0604020202020204" pitchFamily="34" charset="0"/>
              </a:defRPr>
            </a:lvl1pPr>
          </a:lstStyle>
          <a:p>
            <a:pPr defTabSz="457200"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2470151" y="6410326"/>
            <a:ext cx="132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kumimoji="0" sz="16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827EB3EC-A0FC-4DD2-B272-B8CC7C9619E1}" type="slidenum">
              <a:rPr lang="ru-RU" smtClean="0">
                <a:solidFill>
                  <a:prstClr val="black"/>
                </a:solidFill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8228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</p:sldLayoutIdLst>
  <p:hf sldNum="0"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www.presentationload.de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9.wmf"/><Relationship Id="rId26" Type="http://schemas.openxmlformats.org/officeDocument/2006/relationships/image" Target="../media/image13.wmf"/><Relationship Id="rId3" Type="http://schemas.openxmlformats.org/officeDocument/2006/relationships/notesSlide" Target="../notesSlides/notesSlide4.xml"/><Relationship Id="rId21" Type="http://schemas.openxmlformats.org/officeDocument/2006/relationships/oleObject" Target="../embeddings/oleObject10.bin"/><Relationship Id="rId7" Type="http://schemas.openxmlformats.org/officeDocument/2006/relationships/image" Target="../media/image4.wmf"/><Relationship Id="rId12" Type="http://schemas.openxmlformats.org/officeDocument/2006/relationships/image" Target="../media/image6.wmf"/><Relationship Id="rId17" Type="http://schemas.openxmlformats.org/officeDocument/2006/relationships/oleObject" Target="../embeddings/oleObject8.bin"/><Relationship Id="rId25" Type="http://schemas.openxmlformats.org/officeDocument/2006/relationships/oleObject" Target="../embeddings/oleObject12.bin"/><Relationship Id="rId2" Type="http://schemas.openxmlformats.org/officeDocument/2006/relationships/slideLayout" Target="../slideLayouts/slideLayout10.xml"/><Relationship Id="rId16" Type="http://schemas.openxmlformats.org/officeDocument/2006/relationships/image" Target="../media/image8.wmf"/><Relationship Id="rId20" Type="http://schemas.openxmlformats.org/officeDocument/2006/relationships/image" Target="../media/image10.wmf"/><Relationship Id="rId29" Type="http://schemas.openxmlformats.org/officeDocument/2006/relationships/oleObject" Target="../embeddings/oleObject14.bin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oleObject" Target="../embeddings/oleObject5.bin"/><Relationship Id="rId24" Type="http://schemas.openxmlformats.org/officeDocument/2006/relationships/image" Target="../media/image12.wmf"/><Relationship Id="rId5" Type="http://schemas.openxmlformats.org/officeDocument/2006/relationships/image" Target="../media/image3.wmf"/><Relationship Id="rId15" Type="http://schemas.openxmlformats.org/officeDocument/2006/relationships/oleObject" Target="../embeddings/oleObject7.bin"/><Relationship Id="rId23" Type="http://schemas.openxmlformats.org/officeDocument/2006/relationships/oleObject" Target="../embeddings/oleObject11.bin"/><Relationship Id="rId28" Type="http://schemas.openxmlformats.org/officeDocument/2006/relationships/image" Target="../media/image14.wmf"/><Relationship Id="rId10" Type="http://schemas.openxmlformats.org/officeDocument/2006/relationships/oleObject" Target="../embeddings/oleObject4.bin"/><Relationship Id="rId19" Type="http://schemas.openxmlformats.org/officeDocument/2006/relationships/oleObject" Target="../embeddings/oleObject9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5.wmf"/><Relationship Id="rId14" Type="http://schemas.openxmlformats.org/officeDocument/2006/relationships/image" Target="../media/image7.wmf"/><Relationship Id="rId22" Type="http://schemas.openxmlformats.org/officeDocument/2006/relationships/image" Target="../media/image11.wmf"/><Relationship Id="rId27" Type="http://schemas.openxmlformats.org/officeDocument/2006/relationships/oleObject" Target="../embeddings/oleObject13.bin"/><Relationship Id="rId30" Type="http://schemas.openxmlformats.org/officeDocument/2006/relationships/image" Target="../media/image15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7.wmf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16.bin"/><Relationship Id="rId5" Type="http://schemas.openxmlformats.org/officeDocument/2006/relationships/image" Target="../media/image16.wmf"/><Relationship Id="rId4" Type="http://schemas.openxmlformats.org/officeDocument/2006/relationships/oleObject" Target="../embeddings/oleObject15.bin"/><Relationship Id="rId9" Type="http://schemas.openxmlformats.org/officeDocument/2006/relationships/image" Target="../media/image18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13" Type="http://schemas.openxmlformats.org/officeDocument/2006/relationships/oleObject" Target="../embeddings/oleObject24.bin"/><Relationship Id="rId18" Type="http://schemas.openxmlformats.org/officeDocument/2006/relationships/image" Target="../media/image22.wmf"/><Relationship Id="rId3" Type="http://schemas.openxmlformats.org/officeDocument/2006/relationships/notesSlide" Target="../notesSlides/notesSlide6.xml"/><Relationship Id="rId21" Type="http://schemas.openxmlformats.org/officeDocument/2006/relationships/oleObject" Target="../embeddings/oleObject29.bin"/><Relationship Id="rId7" Type="http://schemas.openxmlformats.org/officeDocument/2006/relationships/image" Target="../media/image19.wmf"/><Relationship Id="rId12" Type="http://schemas.openxmlformats.org/officeDocument/2006/relationships/oleObject" Target="../embeddings/oleObject23.bin"/><Relationship Id="rId17" Type="http://schemas.openxmlformats.org/officeDocument/2006/relationships/oleObject" Target="../embeddings/oleObject27.bin"/><Relationship Id="rId2" Type="http://schemas.openxmlformats.org/officeDocument/2006/relationships/slideLayout" Target="../slideLayouts/slideLayout10.xml"/><Relationship Id="rId16" Type="http://schemas.openxmlformats.org/officeDocument/2006/relationships/image" Target="../media/image21.wmf"/><Relationship Id="rId20" Type="http://schemas.openxmlformats.org/officeDocument/2006/relationships/image" Target="../media/image23.wmf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9.bin"/><Relationship Id="rId11" Type="http://schemas.openxmlformats.org/officeDocument/2006/relationships/oleObject" Target="../embeddings/oleObject22.bin"/><Relationship Id="rId24" Type="http://schemas.openxmlformats.org/officeDocument/2006/relationships/image" Target="../media/image25.wmf"/><Relationship Id="rId5" Type="http://schemas.openxmlformats.org/officeDocument/2006/relationships/image" Target="../media/image16.wmf"/><Relationship Id="rId15" Type="http://schemas.openxmlformats.org/officeDocument/2006/relationships/oleObject" Target="../embeddings/oleObject26.bin"/><Relationship Id="rId23" Type="http://schemas.openxmlformats.org/officeDocument/2006/relationships/oleObject" Target="../embeddings/oleObject30.bin"/><Relationship Id="rId10" Type="http://schemas.openxmlformats.org/officeDocument/2006/relationships/image" Target="../media/image20.wmf"/><Relationship Id="rId19" Type="http://schemas.openxmlformats.org/officeDocument/2006/relationships/oleObject" Target="../embeddings/oleObject28.bin"/><Relationship Id="rId4" Type="http://schemas.openxmlformats.org/officeDocument/2006/relationships/oleObject" Target="../embeddings/oleObject18.bin"/><Relationship Id="rId9" Type="http://schemas.openxmlformats.org/officeDocument/2006/relationships/oleObject" Target="../embeddings/oleObject21.bin"/><Relationship Id="rId14" Type="http://schemas.openxmlformats.org/officeDocument/2006/relationships/oleObject" Target="../embeddings/oleObject25.bin"/><Relationship Id="rId22" Type="http://schemas.openxmlformats.org/officeDocument/2006/relationships/image" Target="../media/image24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.bin"/><Relationship Id="rId13" Type="http://schemas.openxmlformats.org/officeDocument/2006/relationships/image" Target="../media/image29.wmf"/><Relationship Id="rId18" Type="http://schemas.openxmlformats.org/officeDocument/2006/relationships/oleObject" Target="../embeddings/oleObject38.bin"/><Relationship Id="rId26" Type="http://schemas.openxmlformats.org/officeDocument/2006/relationships/image" Target="../media/image35.wmf"/><Relationship Id="rId3" Type="http://schemas.openxmlformats.org/officeDocument/2006/relationships/notesSlide" Target="../notesSlides/notesSlide7.xml"/><Relationship Id="rId21" Type="http://schemas.openxmlformats.org/officeDocument/2006/relationships/image" Target="../media/image33.wmf"/><Relationship Id="rId7" Type="http://schemas.openxmlformats.org/officeDocument/2006/relationships/image" Target="../media/image26.wmf"/><Relationship Id="rId12" Type="http://schemas.openxmlformats.org/officeDocument/2006/relationships/oleObject" Target="../embeddings/oleObject35.bin"/><Relationship Id="rId17" Type="http://schemas.openxmlformats.org/officeDocument/2006/relationships/image" Target="../media/image31.wmf"/><Relationship Id="rId25" Type="http://schemas.openxmlformats.org/officeDocument/2006/relationships/oleObject" Target="../embeddings/oleObject42.bin"/><Relationship Id="rId2" Type="http://schemas.openxmlformats.org/officeDocument/2006/relationships/slideLayout" Target="../slideLayouts/slideLayout10.xml"/><Relationship Id="rId16" Type="http://schemas.openxmlformats.org/officeDocument/2006/relationships/oleObject" Target="../embeddings/oleObject37.bin"/><Relationship Id="rId20" Type="http://schemas.openxmlformats.org/officeDocument/2006/relationships/oleObject" Target="../embeddings/oleObject39.bin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32.bin"/><Relationship Id="rId11" Type="http://schemas.openxmlformats.org/officeDocument/2006/relationships/image" Target="../media/image28.wmf"/><Relationship Id="rId24" Type="http://schemas.openxmlformats.org/officeDocument/2006/relationships/oleObject" Target="../embeddings/oleObject41.bin"/><Relationship Id="rId5" Type="http://schemas.openxmlformats.org/officeDocument/2006/relationships/image" Target="../media/image16.wmf"/><Relationship Id="rId15" Type="http://schemas.openxmlformats.org/officeDocument/2006/relationships/image" Target="../media/image30.wmf"/><Relationship Id="rId23" Type="http://schemas.openxmlformats.org/officeDocument/2006/relationships/image" Target="../media/image34.wmf"/><Relationship Id="rId10" Type="http://schemas.openxmlformats.org/officeDocument/2006/relationships/oleObject" Target="../embeddings/oleObject34.bin"/><Relationship Id="rId19" Type="http://schemas.openxmlformats.org/officeDocument/2006/relationships/image" Target="../media/image32.wmf"/><Relationship Id="rId4" Type="http://schemas.openxmlformats.org/officeDocument/2006/relationships/oleObject" Target="../embeddings/oleObject31.bin"/><Relationship Id="rId9" Type="http://schemas.openxmlformats.org/officeDocument/2006/relationships/image" Target="../media/image27.wmf"/><Relationship Id="rId14" Type="http://schemas.openxmlformats.org/officeDocument/2006/relationships/oleObject" Target="../embeddings/oleObject36.bin"/><Relationship Id="rId22" Type="http://schemas.openxmlformats.org/officeDocument/2006/relationships/oleObject" Target="../embeddings/oleObject40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5.bin"/><Relationship Id="rId13" Type="http://schemas.openxmlformats.org/officeDocument/2006/relationships/image" Target="../media/image40.wmf"/><Relationship Id="rId18" Type="http://schemas.openxmlformats.org/officeDocument/2006/relationships/oleObject" Target="../embeddings/oleObject50.bin"/><Relationship Id="rId3" Type="http://schemas.openxmlformats.org/officeDocument/2006/relationships/notesSlide" Target="../notesSlides/notesSlide8.xml"/><Relationship Id="rId21" Type="http://schemas.openxmlformats.org/officeDocument/2006/relationships/image" Target="../media/image44.wmf"/><Relationship Id="rId7" Type="http://schemas.openxmlformats.org/officeDocument/2006/relationships/image" Target="../media/image37.wmf"/><Relationship Id="rId12" Type="http://schemas.openxmlformats.org/officeDocument/2006/relationships/oleObject" Target="../embeddings/oleObject47.bin"/><Relationship Id="rId17" Type="http://schemas.openxmlformats.org/officeDocument/2006/relationships/image" Target="../media/image42.wmf"/><Relationship Id="rId2" Type="http://schemas.openxmlformats.org/officeDocument/2006/relationships/slideLayout" Target="../slideLayouts/slideLayout10.xml"/><Relationship Id="rId16" Type="http://schemas.openxmlformats.org/officeDocument/2006/relationships/oleObject" Target="../embeddings/oleObject49.bin"/><Relationship Id="rId20" Type="http://schemas.openxmlformats.org/officeDocument/2006/relationships/oleObject" Target="../embeddings/oleObject51.bin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44.bin"/><Relationship Id="rId11" Type="http://schemas.openxmlformats.org/officeDocument/2006/relationships/image" Target="../media/image39.wmf"/><Relationship Id="rId5" Type="http://schemas.openxmlformats.org/officeDocument/2006/relationships/image" Target="../media/image36.wmf"/><Relationship Id="rId15" Type="http://schemas.openxmlformats.org/officeDocument/2006/relationships/image" Target="../media/image41.wmf"/><Relationship Id="rId23" Type="http://schemas.openxmlformats.org/officeDocument/2006/relationships/image" Target="../media/image45.wmf"/><Relationship Id="rId10" Type="http://schemas.openxmlformats.org/officeDocument/2006/relationships/oleObject" Target="../embeddings/oleObject46.bin"/><Relationship Id="rId19" Type="http://schemas.openxmlformats.org/officeDocument/2006/relationships/image" Target="../media/image43.wmf"/><Relationship Id="rId4" Type="http://schemas.openxmlformats.org/officeDocument/2006/relationships/oleObject" Target="../embeddings/oleObject43.bin"/><Relationship Id="rId9" Type="http://schemas.openxmlformats.org/officeDocument/2006/relationships/image" Target="../media/image38.wmf"/><Relationship Id="rId14" Type="http://schemas.openxmlformats.org/officeDocument/2006/relationships/oleObject" Target="../embeddings/oleObject48.bin"/><Relationship Id="rId22" Type="http://schemas.openxmlformats.org/officeDocument/2006/relationships/oleObject" Target="../embeddings/oleObject52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7" Type="http://schemas.openxmlformats.org/officeDocument/2006/relationships/image" Target="../media/image47.wmf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54.bin"/><Relationship Id="rId5" Type="http://schemas.openxmlformats.org/officeDocument/2006/relationships/image" Target="../media/image46.wmf"/><Relationship Id="rId4" Type="http://schemas.openxmlformats.org/officeDocument/2006/relationships/oleObject" Target="../embeddings/oleObject53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7.bin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49.wmf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56.bin"/><Relationship Id="rId5" Type="http://schemas.openxmlformats.org/officeDocument/2006/relationships/image" Target="../media/image48.wmf"/><Relationship Id="rId4" Type="http://schemas.openxmlformats.org/officeDocument/2006/relationships/oleObject" Target="../embeddings/oleObject55.bin"/><Relationship Id="rId9" Type="http://schemas.openxmlformats.org/officeDocument/2006/relationships/image" Target="../media/image50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51.wmf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59.bin"/><Relationship Id="rId5" Type="http://schemas.openxmlformats.org/officeDocument/2006/relationships/image" Target="../media/image50.wmf"/><Relationship Id="rId4" Type="http://schemas.openxmlformats.org/officeDocument/2006/relationships/oleObject" Target="../embeddings/oleObject58.bin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7" descr="Neutral Abstract 7 V1 FB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-27384"/>
            <a:ext cx="1221668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Rechteck 19">
            <a:hlinkClick r:id="rId4"/>
          </p:cNvPr>
          <p:cNvSpPr/>
          <p:nvPr/>
        </p:nvSpPr>
        <p:spPr>
          <a:xfrm>
            <a:off x="9949730" y="6201967"/>
            <a:ext cx="2266950" cy="5810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244" name="Прямоугольник 3"/>
          <p:cNvSpPr>
            <a:spLocks noChangeArrowheads="1"/>
          </p:cNvSpPr>
          <p:nvPr/>
        </p:nvSpPr>
        <p:spPr bwMode="auto">
          <a:xfrm>
            <a:off x="3794993" y="2128442"/>
            <a:ext cx="7518400" cy="42473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5400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Сетевые и Распределенные Системы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540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sz="540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</a:br>
            <a:endParaRPr lang="ru-RU" sz="5400" dirty="0">
              <a:solidFill>
                <a:srgbClr val="80000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217594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Название 1"/>
          <p:cNvSpPr>
            <a:spLocks noGrp="1"/>
          </p:cNvSpPr>
          <p:nvPr>
            <p:ph type="title"/>
          </p:nvPr>
        </p:nvSpPr>
        <p:spPr>
          <a:xfrm>
            <a:off x="3359696" y="238125"/>
            <a:ext cx="8496300" cy="617538"/>
          </a:xfrm>
        </p:spPr>
        <p:txBody>
          <a:bodyPr/>
          <a:lstStyle/>
          <a:p>
            <a:pPr algn="l"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Тема</a:t>
            </a:r>
            <a:r>
              <a:rPr kumimoji="0" lang="en-US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 4</a:t>
            </a:r>
            <a:endParaRPr kumimoji="0" lang="ru-RU" sz="3600" b="1" dirty="0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3961360" y="1069975"/>
            <a:ext cx="8134225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4572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4000" dirty="0">
              <a:solidFill>
                <a:srgbClr val="003794"/>
              </a:solidFill>
              <a:latin typeface="Lucida Grande CY" pitchFamily="2" charset="-52"/>
              <a:cs typeface="Arial" pitchFamily="34" charset="0"/>
            </a:endParaRPr>
          </a:p>
          <a:p>
            <a:pPr marL="1440000" defTabSz="4572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ru-RU" sz="4000" dirty="0">
                <a:solidFill>
                  <a:srgbClr val="404040"/>
                </a:solidFill>
                <a:latin typeface="Arial" pitchFamily="34" charset="0"/>
                <a:cs typeface="Arial" pitchFamily="34" charset="0"/>
              </a:rPr>
              <a:t>Модель </a:t>
            </a:r>
            <a:br>
              <a:rPr lang="ru-RU" sz="4000" dirty="0">
                <a:solidFill>
                  <a:srgbClr val="404040"/>
                </a:solidFill>
                <a:latin typeface="Arial" pitchFamily="34" charset="0"/>
                <a:cs typeface="Arial" pitchFamily="34" charset="0"/>
              </a:rPr>
            </a:br>
            <a:r>
              <a:rPr lang="ru-RU" sz="4000" dirty="0">
                <a:solidFill>
                  <a:srgbClr val="404040"/>
                </a:solidFill>
                <a:latin typeface="Arial" pitchFamily="34" charset="0"/>
                <a:cs typeface="Arial" pitchFamily="34" charset="0"/>
              </a:rPr>
              <a:t>распределенной программы</a:t>
            </a:r>
          </a:p>
        </p:txBody>
      </p:sp>
    </p:spTree>
    <p:extLst>
      <p:ext uri="{BB962C8B-B14F-4D97-AF65-F5344CB8AC3E}">
        <p14:creationId xmlns:p14="http://schemas.microsoft.com/office/powerpoint/2010/main" val="2822487524"/>
      </p:ext>
    </p:extLst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215680" y="1772816"/>
            <a:ext cx="8640960" cy="4468186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288010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Основные предположения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3359697" y="1927860"/>
            <a:ext cx="8349095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  <a:defRPr/>
            </a:pPr>
            <a:r>
              <a:rPr lang="ru-RU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Рассматриваются асинхронные распределенные системы с асинхронными примитивами взаимодействия.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  <a:defRPr/>
            </a:pPr>
            <a:r>
              <a:rPr lang="ru-RU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Распределенная программа состоит из набора процессов и </a:t>
            </a:r>
            <a:r>
              <a:rPr lang="ru-RU" sz="200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каналов </a:t>
            </a:r>
            <a:r>
              <a:rPr lang="ru-RU" sz="200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связи, </a:t>
            </a:r>
            <a:r>
              <a:rPr lang="ru-RU" sz="200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обладающих внутренней памятью.</a:t>
            </a:r>
            <a:endParaRPr lang="ru-RU" sz="20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  <a:defRPr/>
            </a:pPr>
            <a:r>
              <a:rPr lang="ru-RU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Распределенная программа реализует распределенные вычисления.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  <a:defRPr/>
            </a:pPr>
            <a:r>
              <a:rPr lang="ru-RU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Распределенное вычисление есть совокупность дискретных событий, каждое из которых вызывает небольшое изменение состояния всей программы.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  <a:defRPr/>
            </a:pPr>
            <a:r>
              <a:rPr lang="ru-RU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Каждое событие изменяет локальное состояние одного процесса и, возможно, состояние одного канала связи.</a:t>
            </a:r>
          </a:p>
        </p:txBody>
      </p:sp>
      <p:sp>
        <p:nvSpPr>
          <p:cNvPr id="11" name="_h1"/>
          <p:cNvSpPr>
            <a:spLocks noGrp="1" noChangeArrowheads="1"/>
          </p:cNvSpPr>
          <p:nvPr>
            <p:ph type="title"/>
          </p:nvPr>
        </p:nvSpPr>
        <p:spPr>
          <a:xfrm>
            <a:off x="3216002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Модель распределенной программы </a:t>
            </a:r>
          </a:p>
        </p:txBody>
      </p:sp>
    </p:spTree>
    <p:extLst>
      <p:ext uri="{BB962C8B-B14F-4D97-AF65-F5344CB8AC3E}">
        <p14:creationId xmlns:p14="http://schemas.microsoft.com/office/powerpoint/2010/main" val="157665849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215680" y="1700808"/>
            <a:ext cx="8640960" cy="460851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288010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Топология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3359697" y="1855852"/>
            <a:ext cx="8349095" cy="27084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  <a:defRPr/>
            </a:pPr>
            <a:r>
              <a:rPr lang="ru-RU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Распределенная программа состоит из конечного набора взаимодействующих процессов                      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  <a:defRPr/>
            </a:pPr>
            <a:r>
              <a:rPr lang="ru-RU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Если процесс</a:t>
            </a:r>
            <a:r>
              <a:rPr lang="en-US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    </a:t>
            </a:r>
            <a:r>
              <a:rPr lang="ru-RU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может напрямую посылать сообщения процессу     , то между процессами       и      существует симплексный канал связи 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  <a:defRPr/>
            </a:pPr>
            <a:r>
              <a:rPr lang="ru-RU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Структура распределенной программы может быть представлена в виде ориентированного графа: вершины – это процессы, ребра – каналы связи.  </a:t>
            </a:r>
          </a:p>
        </p:txBody>
      </p:sp>
      <p:graphicFrame>
        <p:nvGraphicFramePr>
          <p:cNvPr id="2" name="Объект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3561008"/>
              </p:ext>
            </p:extLst>
          </p:nvPr>
        </p:nvGraphicFramePr>
        <p:xfrm>
          <a:off x="7752184" y="2204864"/>
          <a:ext cx="1549400" cy="4060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92" name="Equation" r:id="rId4" imgW="1549080" imgH="393480" progId="Equation.DSMT4">
                  <p:embed/>
                </p:oleObj>
              </mc:Choice>
              <mc:Fallback>
                <p:oleObj name="Equation" r:id="rId4" imgW="154908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752184" y="2204864"/>
                        <a:ext cx="1549400" cy="4060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Объект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794202"/>
              </p:ext>
            </p:extLst>
          </p:nvPr>
        </p:nvGraphicFramePr>
        <p:xfrm>
          <a:off x="5591944" y="2591992"/>
          <a:ext cx="228600" cy="3536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93" name="Equation" r:id="rId6" imgW="228600" imgH="342720" progId="Equation.DSMT4">
                  <p:embed/>
                </p:oleObj>
              </mc:Choice>
              <mc:Fallback>
                <p:oleObj name="Equation" r:id="rId6" imgW="2286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591944" y="2591992"/>
                        <a:ext cx="228600" cy="3536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Объект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9283598"/>
              </p:ext>
            </p:extLst>
          </p:nvPr>
        </p:nvGraphicFramePr>
        <p:xfrm>
          <a:off x="5056485" y="2896617"/>
          <a:ext cx="266700" cy="3929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94" name="Equation" r:id="rId8" imgW="266400" imgH="380880" progId="Equation.DSMT4">
                  <p:embed/>
                </p:oleObj>
              </mc:Choice>
              <mc:Fallback>
                <p:oleObj name="Equation" r:id="rId8" imgW="266400" imgH="380880" progId="Equation.DSMT4">
                  <p:embed/>
                  <p:pic>
                    <p:nvPicPr>
                      <p:cNvPr id="3" name="Объект 2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056485" y="2896617"/>
                        <a:ext cx="266700" cy="3929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Объект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4863331"/>
              </p:ext>
            </p:extLst>
          </p:nvPr>
        </p:nvGraphicFramePr>
        <p:xfrm>
          <a:off x="8171656" y="2897992"/>
          <a:ext cx="228600" cy="3536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95" name="Equation" r:id="rId10" imgW="228600" imgH="342720" progId="Equation.DSMT4">
                  <p:embed/>
                </p:oleObj>
              </mc:Choice>
              <mc:Fallback>
                <p:oleObj name="Equation" r:id="rId10" imgW="228600" imgH="342720" progId="Equation.DSMT4">
                  <p:embed/>
                  <p:pic>
                    <p:nvPicPr>
                      <p:cNvPr id="3" name="Объект 2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171656" y="2897992"/>
                        <a:ext cx="228600" cy="3536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Объект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6429142"/>
              </p:ext>
            </p:extLst>
          </p:nvPr>
        </p:nvGraphicFramePr>
        <p:xfrm>
          <a:off x="8741073" y="2897992"/>
          <a:ext cx="266700" cy="3929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96" name="Equation" r:id="rId11" imgW="266400" imgH="380880" progId="Equation.DSMT4">
                  <p:embed/>
                </p:oleObj>
              </mc:Choice>
              <mc:Fallback>
                <p:oleObj name="Equation" r:id="rId11" imgW="266400" imgH="380880" progId="Equation.DSMT4">
                  <p:embed/>
                  <p:pic>
                    <p:nvPicPr>
                      <p:cNvPr id="11" name="Объект 10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741073" y="2897992"/>
                        <a:ext cx="266700" cy="3929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Объект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9794903"/>
              </p:ext>
            </p:extLst>
          </p:nvPr>
        </p:nvGraphicFramePr>
        <p:xfrm>
          <a:off x="6999585" y="3204592"/>
          <a:ext cx="431800" cy="3929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97" name="Equation" r:id="rId13" imgW="431640" imgH="380880" progId="Equation.DSMT4">
                  <p:embed/>
                </p:oleObj>
              </mc:Choice>
              <mc:Fallback>
                <p:oleObj name="Equation" r:id="rId13" imgW="43164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999585" y="3204592"/>
                        <a:ext cx="431800" cy="3929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Овал 4"/>
          <p:cNvSpPr/>
          <p:nvPr/>
        </p:nvSpPr>
        <p:spPr>
          <a:xfrm>
            <a:off x="7068120" y="4581910"/>
            <a:ext cx="108000" cy="108000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Овал 13"/>
          <p:cNvSpPr/>
          <p:nvPr/>
        </p:nvSpPr>
        <p:spPr>
          <a:xfrm>
            <a:off x="7932216" y="4581910"/>
            <a:ext cx="108000" cy="108000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Овал 14"/>
          <p:cNvSpPr/>
          <p:nvPr/>
        </p:nvSpPr>
        <p:spPr>
          <a:xfrm>
            <a:off x="7932216" y="5445910"/>
            <a:ext cx="108000" cy="108000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Овал 15"/>
          <p:cNvSpPr/>
          <p:nvPr/>
        </p:nvSpPr>
        <p:spPr>
          <a:xfrm>
            <a:off x="7068120" y="5445910"/>
            <a:ext cx="108000" cy="108000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7" name="Прямая со стрелкой 6"/>
          <p:cNvCxnSpPr>
            <a:cxnSpLocks/>
            <a:stCxn id="5" idx="6"/>
            <a:endCxn id="14" idx="2"/>
          </p:cNvCxnSpPr>
          <p:nvPr/>
        </p:nvCxnSpPr>
        <p:spPr>
          <a:xfrm>
            <a:off x="7176120" y="4635910"/>
            <a:ext cx="756096" cy="0"/>
          </a:xfrm>
          <a:prstGeom prst="straightConnector1">
            <a:avLst/>
          </a:prstGeom>
          <a:ln w="12700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 стрелкой 20"/>
          <p:cNvCxnSpPr>
            <a:cxnSpLocks/>
            <a:stCxn id="16" idx="6"/>
            <a:endCxn id="15" idx="2"/>
          </p:cNvCxnSpPr>
          <p:nvPr/>
        </p:nvCxnSpPr>
        <p:spPr>
          <a:xfrm>
            <a:off x="7176120" y="5499910"/>
            <a:ext cx="756096" cy="0"/>
          </a:xfrm>
          <a:prstGeom prst="straightConnector1">
            <a:avLst/>
          </a:prstGeom>
          <a:ln w="12700"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 стрелкой 24"/>
          <p:cNvCxnSpPr>
            <a:stCxn id="16" idx="0"/>
            <a:endCxn id="5" idx="4"/>
          </p:cNvCxnSpPr>
          <p:nvPr/>
        </p:nvCxnSpPr>
        <p:spPr>
          <a:xfrm flipV="1">
            <a:off x="7122120" y="4689910"/>
            <a:ext cx="0" cy="756000"/>
          </a:xfrm>
          <a:prstGeom prst="straightConnector1">
            <a:avLst/>
          </a:prstGeom>
          <a:ln w="12700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 стрелкой 26"/>
          <p:cNvCxnSpPr>
            <a:cxnSpLocks/>
            <a:stCxn id="15" idx="0"/>
            <a:endCxn id="14" idx="4"/>
          </p:cNvCxnSpPr>
          <p:nvPr/>
        </p:nvCxnSpPr>
        <p:spPr>
          <a:xfrm flipV="1">
            <a:off x="7986216" y="4689910"/>
            <a:ext cx="0" cy="756000"/>
          </a:xfrm>
          <a:prstGeom prst="straightConnector1">
            <a:avLst/>
          </a:prstGeom>
          <a:ln w="12700"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0" name="Объект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5422411"/>
              </p:ext>
            </p:extLst>
          </p:nvPr>
        </p:nvGraphicFramePr>
        <p:xfrm>
          <a:off x="6852160" y="4473911"/>
          <a:ext cx="177800" cy="2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98" name="Equation" r:id="rId15" imgW="177480" imgH="279360" progId="Equation.DSMT4">
                  <p:embed/>
                </p:oleObj>
              </mc:Choice>
              <mc:Fallback>
                <p:oleObj name="Equation" r:id="rId15" imgW="177480" imgH="279360" progId="Equation.DSMT4">
                  <p:embed/>
                  <p:pic>
                    <p:nvPicPr>
                      <p:cNvPr id="11" name="Объект 10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852160" y="4473911"/>
                        <a:ext cx="177800" cy="2873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Объект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2347945"/>
              </p:ext>
            </p:extLst>
          </p:nvPr>
        </p:nvGraphicFramePr>
        <p:xfrm>
          <a:off x="8040160" y="4473910"/>
          <a:ext cx="203200" cy="28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99" name="Equation" r:id="rId17" imgW="203040" imgH="279360" progId="Equation.DSMT4">
                  <p:embed/>
                </p:oleObj>
              </mc:Choice>
              <mc:Fallback>
                <p:oleObj name="Equation" r:id="rId17" imgW="203040" imgH="279360" progId="Equation.DSMT4">
                  <p:embed/>
                  <p:pic>
                    <p:nvPicPr>
                      <p:cNvPr id="30" name="Объект 29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040160" y="4473910"/>
                        <a:ext cx="203200" cy="2873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Объект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4002134"/>
              </p:ext>
            </p:extLst>
          </p:nvPr>
        </p:nvGraphicFramePr>
        <p:xfrm>
          <a:off x="8040216" y="5373910"/>
          <a:ext cx="203200" cy="28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00" name="Equation" r:id="rId19" imgW="203040" imgH="279360" progId="Equation.DSMT4">
                  <p:embed/>
                </p:oleObj>
              </mc:Choice>
              <mc:Fallback>
                <p:oleObj name="Equation" r:id="rId19" imgW="203040" imgH="279360" progId="Equation.DSMT4">
                  <p:embed/>
                  <p:pic>
                    <p:nvPicPr>
                      <p:cNvPr id="31" name="Объект 30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8040216" y="5373910"/>
                        <a:ext cx="203200" cy="2873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Объект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6680970"/>
              </p:ext>
            </p:extLst>
          </p:nvPr>
        </p:nvGraphicFramePr>
        <p:xfrm>
          <a:off x="6852160" y="5373910"/>
          <a:ext cx="203200" cy="28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01" name="Equation" r:id="rId21" imgW="203040" imgH="279360" progId="Equation.DSMT4">
                  <p:embed/>
                </p:oleObj>
              </mc:Choice>
              <mc:Fallback>
                <p:oleObj name="Equation" r:id="rId21" imgW="203040" imgH="279360" progId="Equation.DSMT4">
                  <p:embed/>
                  <p:pic>
                    <p:nvPicPr>
                      <p:cNvPr id="32" name="Объект 31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6852160" y="5373910"/>
                        <a:ext cx="203200" cy="2873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Объект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127056"/>
              </p:ext>
            </p:extLst>
          </p:nvPr>
        </p:nvGraphicFramePr>
        <p:xfrm>
          <a:off x="7410160" y="4653910"/>
          <a:ext cx="279400" cy="28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02" name="Equation" r:id="rId23" imgW="279360" imgH="279360" progId="Equation.DSMT4">
                  <p:embed/>
                </p:oleObj>
              </mc:Choice>
              <mc:Fallback>
                <p:oleObj name="Equation" r:id="rId23" imgW="279360" imgH="279360" progId="Equation.DSMT4">
                  <p:embed/>
                  <p:pic>
                    <p:nvPicPr>
                      <p:cNvPr id="31" name="Объект 30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410160" y="4653910"/>
                        <a:ext cx="279400" cy="2873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Объект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6972121"/>
              </p:ext>
            </p:extLst>
          </p:nvPr>
        </p:nvGraphicFramePr>
        <p:xfrm>
          <a:off x="7410160" y="5193910"/>
          <a:ext cx="292100" cy="28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03" name="Equation" r:id="rId25" imgW="291960" imgH="279360" progId="Equation.DSMT4">
                  <p:embed/>
                </p:oleObj>
              </mc:Choice>
              <mc:Fallback>
                <p:oleObj name="Equation" r:id="rId25" imgW="291960" imgH="279360" progId="Equation.DSMT4">
                  <p:embed/>
                  <p:pic>
                    <p:nvPicPr>
                      <p:cNvPr id="34" name="Объект 33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7410160" y="5193910"/>
                        <a:ext cx="292100" cy="2873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Объект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0121208"/>
              </p:ext>
            </p:extLst>
          </p:nvPr>
        </p:nvGraphicFramePr>
        <p:xfrm>
          <a:off x="8033048" y="4905810"/>
          <a:ext cx="292100" cy="28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04" name="Equation" r:id="rId27" imgW="291960" imgH="279360" progId="Equation.DSMT4">
                  <p:embed/>
                </p:oleObj>
              </mc:Choice>
              <mc:Fallback>
                <p:oleObj name="Equation" r:id="rId27" imgW="291960" imgH="279360" progId="Equation.DSMT4">
                  <p:embed/>
                  <p:pic>
                    <p:nvPicPr>
                      <p:cNvPr id="34" name="Объект 33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8033048" y="4905810"/>
                        <a:ext cx="292100" cy="2873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Объект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5497163"/>
              </p:ext>
            </p:extLst>
          </p:nvPr>
        </p:nvGraphicFramePr>
        <p:xfrm>
          <a:off x="6780160" y="4905910"/>
          <a:ext cx="292100" cy="28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05" name="Equation" r:id="rId29" imgW="291960" imgH="279360" progId="Equation.DSMT4">
                  <p:embed/>
                </p:oleObj>
              </mc:Choice>
              <mc:Fallback>
                <p:oleObj name="Equation" r:id="rId29" imgW="291960" imgH="279360" progId="Equation.DSMT4">
                  <p:embed/>
                  <p:pic>
                    <p:nvPicPr>
                      <p:cNvPr id="36" name="Объект 35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6780160" y="4905910"/>
                        <a:ext cx="292100" cy="2873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3647728" y="5661248"/>
            <a:ext cx="77768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Такой  граф называют топологией распределенной программы.</a:t>
            </a:r>
          </a:p>
        </p:txBody>
      </p:sp>
      <p:sp>
        <p:nvSpPr>
          <p:cNvPr id="38" name="_h1"/>
          <p:cNvSpPr>
            <a:spLocks noGrp="1" noChangeArrowheads="1"/>
          </p:cNvSpPr>
          <p:nvPr>
            <p:ph type="title"/>
          </p:nvPr>
        </p:nvSpPr>
        <p:spPr>
          <a:xfrm>
            <a:off x="3216002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Модель распределенной программы </a:t>
            </a:r>
          </a:p>
        </p:txBody>
      </p:sp>
    </p:spTree>
    <p:extLst>
      <p:ext uri="{BB962C8B-B14F-4D97-AF65-F5344CB8AC3E}">
        <p14:creationId xmlns:p14="http://schemas.microsoft.com/office/powerpoint/2010/main" val="412552268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5" grpId="0" animBg="1"/>
      <p:bldP spid="14" grpId="0" animBg="1"/>
      <p:bldP spid="15" grpId="0" animBg="1"/>
      <p:bldP spid="16" grpId="0" animBg="1"/>
      <p:bldP spid="2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215680" y="1700808"/>
            <a:ext cx="8640960" cy="4176464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288010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Состояния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3359697" y="1855852"/>
            <a:ext cx="8349095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57200" indent="-457200">
              <a:spcBef>
                <a:spcPts val="600"/>
              </a:spcBef>
              <a:buFont typeface="+mj-lt"/>
              <a:buAutoNum type="arabicPeriod"/>
              <a:defRPr/>
            </a:pPr>
            <a:r>
              <a:rPr lang="ru-RU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Внутреннее состояние </a:t>
            </a:r>
            <a:r>
              <a:rPr lang="en-US" sz="2000" i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</a:t>
            </a:r>
            <a:r>
              <a:rPr lang="en-US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процесса    </a:t>
            </a:r>
            <a:r>
              <a:rPr lang="en-US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–</a:t>
            </a:r>
            <a:r>
              <a:rPr lang="ru-RU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в общем случае определяется текущими значениями его счетчика команд, регистров и переменных (регистровый контекст и часть пользовательского контекста).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  <a:defRPr/>
            </a:pPr>
            <a:r>
              <a:rPr lang="ru-RU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Можно ввести множество начальных внутренних состояний</a:t>
            </a:r>
            <a:r>
              <a:rPr lang="en-US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процесса и множество всех возможных состояний процесса.  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  <a:defRPr/>
            </a:pPr>
            <a:r>
              <a:rPr lang="ru-RU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Состояние </a:t>
            </a:r>
            <a:r>
              <a:rPr lang="el-GR" sz="2000" i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σ</a:t>
            </a:r>
            <a:r>
              <a:rPr lang="en-US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канала     </a:t>
            </a:r>
            <a:r>
              <a:rPr lang="en-US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– </a:t>
            </a:r>
            <a:r>
              <a:rPr lang="ru-RU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это совокупность всех сообщений, отправленных по каналу, но еще неполученных.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  <a:defRPr/>
            </a:pPr>
            <a:r>
              <a:rPr lang="ru-RU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Внутренние состояния процессов и состояния каналов  изменяются в результате событий,  происходящих в процессах.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  <a:defRPr/>
            </a:pPr>
            <a:endParaRPr lang="ru-RU" sz="20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8" name="Объект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6444625"/>
              </p:ext>
            </p:extLst>
          </p:nvPr>
        </p:nvGraphicFramePr>
        <p:xfrm>
          <a:off x="8027640" y="1926001"/>
          <a:ext cx="228600" cy="249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56" name="Equation" r:id="rId4" imgW="228600" imgH="241200" progId="Equation.DSMT4">
                  <p:embed/>
                </p:oleObj>
              </mc:Choice>
              <mc:Fallback>
                <p:oleObj name="Equation" r:id="rId4" imgW="228600" imgH="241200" progId="Equation.DSMT4">
                  <p:embed/>
                  <p:pic>
                    <p:nvPicPr>
                      <p:cNvPr id="8" name="Объект 7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027640" y="1926001"/>
                        <a:ext cx="228600" cy="2492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Объект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3894023"/>
              </p:ext>
            </p:extLst>
          </p:nvPr>
        </p:nvGraphicFramePr>
        <p:xfrm>
          <a:off x="6358756" y="3906001"/>
          <a:ext cx="241300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57" name="Equation" r:id="rId6" imgW="241200" imgH="266400" progId="Equation.DSMT4">
                  <p:embed/>
                </p:oleObj>
              </mc:Choice>
              <mc:Fallback>
                <p:oleObj name="Equation" r:id="rId6" imgW="241200" imgH="266400" progId="Equation.DSMT4">
                  <p:embed/>
                  <p:pic>
                    <p:nvPicPr>
                      <p:cNvPr id="4" name="Объект 3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358756" y="3906001"/>
                        <a:ext cx="241300" cy="276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Объект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4345706"/>
              </p:ext>
            </p:extLst>
          </p:nvPr>
        </p:nvGraphicFramePr>
        <p:xfrm>
          <a:off x="11064552" y="3212976"/>
          <a:ext cx="1905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58" name="Equation" r:id="rId8" imgW="190440" imgH="266400" progId="Equation.DSMT4">
                  <p:embed/>
                </p:oleObj>
              </mc:Choice>
              <mc:Fallback>
                <p:oleObj name="Equation" r:id="rId8" imgW="19044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1064552" y="3212976"/>
                        <a:ext cx="1905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_h1"/>
          <p:cNvSpPr>
            <a:spLocks noGrp="1" noChangeArrowheads="1"/>
          </p:cNvSpPr>
          <p:nvPr>
            <p:ph type="title"/>
          </p:nvPr>
        </p:nvSpPr>
        <p:spPr>
          <a:xfrm>
            <a:off x="3216002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Модель распределенной программы </a:t>
            </a:r>
          </a:p>
        </p:txBody>
      </p:sp>
    </p:spTree>
    <p:extLst>
      <p:ext uri="{BB962C8B-B14F-4D97-AF65-F5344CB8AC3E}">
        <p14:creationId xmlns:p14="http://schemas.microsoft.com/office/powerpoint/2010/main" val="54110984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215680" y="1700808"/>
            <a:ext cx="8640960" cy="496855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288010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События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3359697" y="1855853"/>
            <a:ext cx="8349095" cy="42473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57200" indent="-457200">
              <a:spcBef>
                <a:spcPts val="600"/>
              </a:spcBef>
              <a:buFont typeface="+mj-lt"/>
              <a:buAutoNum type="arabicPeriod"/>
              <a:defRPr/>
            </a:pPr>
            <a:r>
              <a:rPr lang="ru-RU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Событие    , происходящее в процессе    </a:t>
            </a:r>
            <a:r>
              <a:rPr lang="en-US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, – </a:t>
            </a:r>
            <a:r>
              <a:rPr lang="ru-RU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это атомарная операция, которая может изменить внутреннее состояние процесса      и связанных (инцидентных) с ним каналов.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  <a:defRPr/>
            </a:pPr>
            <a:r>
              <a:rPr lang="ru-RU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События бывают:</a:t>
            </a:r>
          </a:p>
          <a:p>
            <a:pPr marL="800100" lvl="1" indent="-342900">
              <a:buFontTx/>
              <a:buChar char="-"/>
              <a:defRPr/>
            </a:pPr>
            <a:r>
              <a:rPr lang="ru-RU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внутренние </a:t>
            </a:r>
            <a:r>
              <a:rPr lang="en-US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ru-RU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не меняют состояние каналов</a:t>
            </a:r>
            <a:r>
              <a:rPr lang="en-US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)</a:t>
            </a:r>
            <a:r>
              <a:rPr lang="ru-RU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; </a:t>
            </a:r>
          </a:p>
          <a:p>
            <a:pPr marL="800100" lvl="1" indent="-342900">
              <a:buFontTx/>
              <a:buChar char="-"/>
              <a:defRPr/>
            </a:pPr>
            <a:r>
              <a:rPr lang="ru-RU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отправки сообщения;</a:t>
            </a:r>
          </a:p>
          <a:p>
            <a:pPr marL="800100" lvl="1" indent="-342900">
              <a:buFontTx/>
              <a:buChar char="-"/>
              <a:defRPr/>
            </a:pPr>
            <a:r>
              <a:rPr lang="ru-RU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приема сообщения.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  <a:defRPr/>
            </a:pPr>
            <a:r>
              <a:rPr lang="ru-RU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Событие </a:t>
            </a:r>
            <a:r>
              <a:rPr lang="en-US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   </a:t>
            </a:r>
            <a:r>
              <a:rPr lang="ru-RU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определяется:</a:t>
            </a:r>
          </a:p>
          <a:p>
            <a:pPr marL="800100" lvl="1" indent="-342900">
              <a:buFontTx/>
              <a:buChar char="-"/>
              <a:defRPr/>
            </a:pPr>
            <a:r>
              <a:rPr lang="ru-RU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процессом    , в котором оно произошло:</a:t>
            </a:r>
          </a:p>
          <a:p>
            <a:pPr marL="800100" lvl="1" indent="-342900">
              <a:buFontTx/>
              <a:buChar char="-"/>
              <a:defRPr/>
            </a:pPr>
            <a:r>
              <a:rPr lang="ru-RU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состоянием </a:t>
            </a:r>
            <a:r>
              <a:rPr lang="en-US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</a:t>
            </a:r>
            <a:r>
              <a:rPr lang="ru-RU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процесса </a:t>
            </a:r>
            <a:r>
              <a:rPr lang="en-US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</a:t>
            </a:r>
            <a:r>
              <a:rPr lang="ru-RU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</a:t>
            </a:r>
            <a:r>
              <a:rPr lang="ru-RU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прямо перед событием;</a:t>
            </a:r>
          </a:p>
          <a:p>
            <a:pPr marL="800100" lvl="1" indent="-342900">
              <a:buFontTx/>
              <a:buChar char="-"/>
              <a:defRPr/>
            </a:pPr>
            <a:r>
              <a:rPr lang="ru-RU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состоянием </a:t>
            </a:r>
            <a:r>
              <a:rPr lang="en-US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</a:t>
            </a:r>
            <a:r>
              <a:rPr lang="ru-RU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процесса </a:t>
            </a:r>
            <a:r>
              <a:rPr lang="en-US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</a:t>
            </a:r>
            <a:r>
              <a:rPr lang="ru-RU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</a:t>
            </a:r>
            <a:r>
              <a:rPr lang="ru-RU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прямо после события;</a:t>
            </a:r>
          </a:p>
          <a:p>
            <a:pPr marL="800100" lvl="1" indent="-342900">
              <a:buFontTx/>
              <a:buChar char="-"/>
              <a:defRPr/>
            </a:pPr>
            <a:r>
              <a:rPr lang="ru-RU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каналом, состояние которого  меняется в результате </a:t>
            </a:r>
            <a:r>
              <a:rPr lang="en-US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</a:t>
            </a:r>
          </a:p>
          <a:p>
            <a:pPr marL="800100" lvl="1" indent="-342900">
              <a:buFontTx/>
              <a:buChar char="-"/>
              <a:defRPr/>
            </a:pPr>
            <a:r>
              <a:rPr lang="ru-RU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отправленным или полученным сообщением </a:t>
            </a:r>
            <a:r>
              <a:rPr lang="en-US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   </a:t>
            </a:r>
            <a:endParaRPr lang="ru-RU" sz="20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38" name="Объект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2610962"/>
              </p:ext>
            </p:extLst>
          </p:nvPr>
        </p:nvGraphicFramePr>
        <p:xfrm>
          <a:off x="8531696" y="1916833"/>
          <a:ext cx="228600" cy="249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51" name="Equation" r:id="rId4" imgW="228600" imgH="241200" progId="Equation.DSMT4">
                  <p:embed/>
                </p:oleObj>
              </mc:Choice>
              <mc:Fallback>
                <p:oleObj name="Equation" r:id="rId4" imgW="228600" imgH="241200" progId="Equation.DSMT4">
                  <p:embed/>
                  <p:pic>
                    <p:nvPicPr>
                      <p:cNvPr id="11" name="Объект 10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531696" y="1916833"/>
                        <a:ext cx="228600" cy="2492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Объект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0735989"/>
              </p:ext>
            </p:extLst>
          </p:nvPr>
        </p:nvGraphicFramePr>
        <p:xfrm>
          <a:off x="5067598" y="1970833"/>
          <a:ext cx="165100" cy="211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52" name="Equation" r:id="rId6" imgW="164880" imgH="203040" progId="Equation.DSMT4">
                  <p:embed/>
                </p:oleObj>
              </mc:Choice>
              <mc:Fallback>
                <p:oleObj name="Equation" r:id="rId6" imgW="164880" imgH="203040" progId="Equation.DSMT4">
                  <p:embed/>
                  <p:pic>
                    <p:nvPicPr>
                      <p:cNvPr id="13" name="Объект 12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067598" y="1970833"/>
                        <a:ext cx="165100" cy="211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Объект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2604195"/>
              </p:ext>
            </p:extLst>
          </p:nvPr>
        </p:nvGraphicFramePr>
        <p:xfrm>
          <a:off x="5087888" y="2522820"/>
          <a:ext cx="228600" cy="249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53" name="Equation" r:id="rId8" imgW="228600" imgH="241200" progId="Equation.DSMT4">
                  <p:embed/>
                </p:oleObj>
              </mc:Choice>
              <mc:Fallback>
                <p:oleObj name="Equation" r:id="rId8" imgW="228600" imgH="241200" progId="Equation.DSMT4">
                  <p:embed/>
                  <p:pic>
                    <p:nvPicPr>
                      <p:cNvPr id="14" name="Объект 1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87888" y="2522820"/>
                        <a:ext cx="228600" cy="2492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Объект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9383033"/>
              </p:ext>
            </p:extLst>
          </p:nvPr>
        </p:nvGraphicFramePr>
        <p:xfrm>
          <a:off x="4727848" y="6103169"/>
          <a:ext cx="2108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54" name="Equation" r:id="rId9" imgW="2108160" imgH="431640" progId="Equation.DSMT4">
                  <p:embed/>
                </p:oleObj>
              </mc:Choice>
              <mc:Fallback>
                <p:oleObj name="Equation" r:id="rId9" imgW="210816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727848" y="6103169"/>
                        <a:ext cx="21082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Объект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1524969"/>
              </p:ext>
            </p:extLst>
          </p:nvPr>
        </p:nvGraphicFramePr>
        <p:xfrm>
          <a:off x="5052160" y="4248001"/>
          <a:ext cx="165100" cy="211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55" name="Equation" r:id="rId11" imgW="164880" imgH="203040" progId="Equation.DSMT4">
                  <p:embed/>
                </p:oleObj>
              </mc:Choice>
              <mc:Fallback>
                <p:oleObj name="Equation" r:id="rId11" imgW="164880" imgH="203040" progId="Equation.DSMT4">
                  <p:embed/>
                  <p:pic>
                    <p:nvPicPr>
                      <p:cNvPr id="39" name="Объект 38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052160" y="4248001"/>
                        <a:ext cx="165100" cy="211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Объект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9006709"/>
              </p:ext>
            </p:extLst>
          </p:nvPr>
        </p:nvGraphicFramePr>
        <p:xfrm>
          <a:off x="5651376" y="4518001"/>
          <a:ext cx="228600" cy="249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56" name="Equation" r:id="rId12" imgW="228600" imgH="241200" progId="Equation.DSMT4">
                  <p:embed/>
                </p:oleObj>
              </mc:Choice>
              <mc:Fallback>
                <p:oleObj name="Equation" r:id="rId12" imgW="228600" imgH="241200" progId="Equation.DSMT4">
                  <p:embed/>
                  <p:pic>
                    <p:nvPicPr>
                      <p:cNvPr id="40" name="Объект 3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651376" y="4518001"/>
                        <a:ext cx="228600" cy="2492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Объект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5341149"/>
              </p:ext>
            </p:extLst>
          </p:nvPr>
        </p:nvGraphicFramePr>
        <p:xfrm>
          <a:off x="7176120" y="4806001"/>
          <a:ext cx="228600" cy="249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57" name="Equation" r:id="rId13" imgW="228600" imgH="241200" progId="Equation.DSMT4">
                  <p:embed/>
                </p:oleObj>
              </mc:Choice>
              <mc:Fallback>
                <p:oleObj name="Equation" r:id="rId13" imgW="228600" imgH="241200" progId="Equation.DSMT4">
                  <p:embed/>
                  <p:pic>
                    <p:nvPicPr>
                      <p:cNvPr id="13" name="Объект 1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176120" y="4806001"/>
                        <a:ext cx="228600" cy="2492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Объект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4816372"/>
              </p:ext>
            </p:extLst>
          </p:nvPr>
        </p:nvGraphicFramePr>
        <p:xfrm>
          <a:off x="7176120" y="5130001"/>
          <a:ext cx="228600" cy="249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58" name="Equation" r:id="rId14" imgW="228600" imgH="241200" progId="Equation.DSMT4">
                  <p:embed/>
                </p:oleObj>
              </mc:Choice>
              <mc:Fallback>
                <p:oleObj name="Equation" r:id="rId14" imgW="228600" imgH="241200" progId="Equation.DSMT4">
                  <p:embed/>
                  <p:pic>
                    <p:nvPicPr>
                      <p:cNvPr id="14" name="Объект 1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176120" y="5130001"/>
                        <a:ext cx="228600" cy="2492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Объект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8905105"/>
              </p:ext>
            </p:extLst>
          </p:nvPr>
        </p:nvGraphicFramePr>
        <p:xfrm>
          <a:off x="10535220" y="5472001"/>
          <a:ext cx="241300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59" name="Equation" r:id="rId15" imgW="241200" imgH="266400" progId="Equation.DSMT4">
                  <p:embed/>
                </p:oleObj>
              </mc:Choice>
              <mc:Fallback>
                <p:oleObj name="Equation" r:id="rId15" imgW="241200" imgH="266400" progId="Equation.DSMT4">
                  <p:embed/>
                  <p:pic>
                    <p:nvPicPr>
                      <p:cNvPr id="11" name="Объект 10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0535220" y="5472001"/>
                        <a:ext cx="241300" cy="276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Объект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5869797"/>
              </p:ext>
            </p:extLst>
          </p:nvPr>
        </p:nvGraphicFramePr>
        <p:xfrm>
          <a:off x="5735935" y="4878000"/>
          <a:ext cx="1651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60" name="Equation" r:id="rId17" imgW="164880" imgH="203040" progId="Equation.DSMT4">
                  <p:embed/>
                </p:oleObj>
              </mc:Choice>
              <mc:Fallback>
                <p:oleObj name="Equation" r:id="rId17" imgW="164880" imgH="203040" progId="Equation.DSMT4">
                  <p:embed/>
                  <p:pic>
                    <p:nvPicPr>
                      <p:cNvPr id="6" name="Объект 5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735935" y="4878000"/>
                        <a:ext cx="1651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Объект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3959067"/>
              </p:ext>
            </p:extLst>
          </p:nvPr>
        </p:nvGraphicFramePr>
        <p:xfrm>
          <a:off x="5735960" y="5094000"/>
          <a:ext cx="2413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61" name="Equation" r:id="rId19" imgW="241200" imgH="291960" progId="Equation.DSMT4">
                  <p:embed/>
                </p:oleObj>
              </mc:Choice>
              <mc:Fallback>
                <p:oleObj name="Equation" r:id="rId19" imgW="241200" imgH="291960" progId="Equation.DSMT4">
                  <p:embed/>
                  <p:pic>
                    <p:nvPicPr>
                      <p:cNvPr id="17" name="Объект 16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735960" y="5094000"/>
                        <a:ext cx="241300" cy="292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Объект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2732323"/>
              </p:ext>
            </p:extLst>
          </p:nvPr>
        </p:nvGraphicFramePr>
        <p:xfrm>
          <a:off x="9679632" y="5796000"/>
          <a:ext cx="304800" cy="211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62" name="Equation" r:id="rId21" imgW="304560" imgH="203040" progId="Equation.DSMT4">
                  <p:embed/>
                </p:oleObj>
              </mc:Choice>
              <mc:Fallback>
                <p:oleObj name="Equation" r:id="rId21" imgW="304560" imgH="203040" progId="Equation.DSMT4">
                  <p:embed/>
                  <p:pic>
                    <p:nvPicPr>
                      <p:cNvPr id="16" name="Объект 15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9679632" y="5796000"/>
                        <a:ext cx="304800" cy="2111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_h1"/>
          <p:cNvSpPr>
            <a:spLocks noGrp="1" noChangeArrowheads="1"/>
          </p:cNvSpPr>
          <p:nvPr>
            <p:ph type="title"/>
          </p:nvPr>
        </p:nvSpPr>
        <p:spPr>
          <a:xfrm>
            <a:off x="3216002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Модель распределенной программы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60096" y="6093296"/>
            <a:ext cx="6480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или</a:t>
            </a:r>
          </a:p>
        </p:txBody>
      </p:sp>
      <p:graphicFrame>
        <p:nvGraphicFramePr>
          <p:cNvPr id="23" name="Объект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6232874"/>
              </p:ext>
            </p:extLst>
          </p:nvPr>
        </p:nvGraphicFramePr>
        <p:xfrm>
          <a:off x="7602835" y="6092825"/>
          <a:ext cx="26543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63" name="Equation" r:id="rId23" imgW="2654280" imgH="431640" progId="Equation.DSMT4">
                  <p:embed/>
                </p:oleObj>
              </mc:Choice>
              <mc:Fallback>
                <p:oleObj name="Equation" r:id="rId23" imgW="2654280" imgH="431640" progId="Equation.DSMT4">
                  <p:embed/>
                  <p:pic>
                    <p:nvPicPr>
                      <p:cNvPr id="6" name="Объект 5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602835" y="6092825"/>
                        <a:ext cx="26543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0867404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071664" y="1700808"/>
            <a:ext cx="8928992" cy="496855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288010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Выполнение процесса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Text Box 5"/>
          <p:cNvSpPr txBox="1">
            <a:spLocks noChangeArrowheads="1"/>
          </p:cNvSpPr>
          <p:nvPr/>
        </p:nvSpPr>
        <p:spPr bwMode="auto">
          <a:xfrm>
            <a:off x="3143672" y="1855852"/>
            <a:ext cx="8640638" cy="41703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/>
            </a:pPr>
            <a:r>
              <a:rPr lang="ru-RU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Множество событий процесса      линейно упорядочено по порядку их наступления.</a:t>
            </a:r>
          </a:p>
          <a:p>
            <a:pPr>
              <a:spcBef>
                <a:spcPts val="600"/>
              </a:spcBef>
              <a:defRPr/>
            </a:pPr>
            <a:r>
              <a:rPr lang="ru-RU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Введем обозначение:      </a:t>
            </a:r>
            <a:r>
              <a:rPr lang="en-US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–</a:t>
            </a:r>
            <a:r>
              <a:rPr lang="ru-RU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  </a:t>
            </a:r>
            <a:r>
              <a:rPr lang="en-US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-</a:t>
            </a:r>
            <a:r>
              <a:rPr lang="ru-RU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е по порядку событие в процессе</a:t>
            </a:r>
          </a:p>
          <a:p>
            <a:pPr>
              <a:spcBef>
                <a:spcPts val="600"/>
              </a:spcBef>
              <a:defRPr/>
            </a:pPr>
            <a:r>
              <a:rPr lang="ru-RU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Если                                       , то запишем</a:t>
            </a:r>
          </a:p>
          <a:p>
            <a:pPr>
              <a:spcBef>
                <a:spcPts val="600"/>
              </a:spcBef>
              <a:defRPr/>
            </a:pPr>
            <a:endParaRPr lang="ru-RU" sz="20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>
              <a:spcBef>
                <a:spcPts val="600"/>
              </a:spcBef>
              <a:defRPr/>
            </a:pPr>
            <a:r>
              <a:rPr lang="ru-RU" sz="20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Выполнением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процесса      называется упорядоченный набор событий</a:t>
            </a:r>
          </a:p>
          <a:p>
            <a:pPr>
              <a:spcBef>
                <a:spcPts val="600"/>
              </a:spcBef>
              <a:defRPr/>
            </a:pPr>
            <a:endParaRPr lang="ru-RU" sz="2000" dirty="0">
              <a:latin typeface="Arial" pitchFamily="34" charset="0"/>
              <a:cs typeface="Arial" pitchFamily="34" charset="0"/>
            </a:endParaRPr>
          </a:p>
          <a:p>
            <a:pPr>
              <a:spcBef>
                <a:spcPts val="600"/>
              </a:spcBef>
              <a:defRPr/>
            </a:pPr>
            <a:r>
              <a:rPr lang="ru-RU" sz="2000" dirty="0">
                <a:latin typeface="Arial" pitchFamily="34" charset="0"/>
                <a:cs typeface="Arial" pitchFamily="34" charset="0"/>
              </a:rPr>
              <a:t>последовательно  переводящий процесс из состояния      в состояния</a:t>
            </a:r>
          </a:p>
          <a:p>
            <a:pPr>
              <a:spcBef>
                <a:spcPts val="600"/>
              </a:spcBef>
              <a:defRPr/>
            </a:pPr>
            <a:endParaRPr lang="ru-RU" sz="2000" dirty="0">
              <a:latin typeface="Arial" pitchFamily="34" charset="0"/>
              <a:cs typeface="Arial" pitchFamily="34" charset="0"/>
            </a:endParaRPr>
          </a:p>
          <a:p>
            <a:pPr>
              <a:spcBef>
                <a:spcPts val="600"/>
              </a:spcBef>
              <a:defRPr/>
            </a:pPr>
            <a:r>
              <a:rPr lang="ru-RU" sz="2000" dirty="0">
                <a:latin typeface="Arial" pitchFamily="34" charset="0"/>
                <a:cs typeface="Arial" pitchFamily="34" charset="0"/>
              </a:rPr>
              <a:t>где     принадлежит к множеству начальных состояний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 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i="1" dirty="0" err="1">
                <a:latin typeface="Arial" pitchFamily="34" charset="0"/>
                <a:cs typeface="Arial" pitchFamily="34" charset="0"/>
              </a:rPr>
              <a:t>i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-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го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процесса.</a:t>
            </a:r>
          </a:p>
          <a:p>
            <a:pPr>
              <a:spcBef>
                <a:spcPts val="600"/>
              </a:spcBef>
              <a:defRPr/>
            </a:pPr>
            <a:endParaRPr lang="ru-RU" sz="20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21" name="Объект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6096309"/>
              </p:ext>
            </p:extLst>
          </p:nvPr>
        </p:nvGraphicFramePr>
        <p:xfrm>
          <a:off x="6888088" y="1916833"/>
          <a:ext cx="228600" cy="249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66" name="Equation" r:id="rId4" imgW="228600" imgH="241200" progId="Equation.DSMT4">
                  <p:embed/>
                </p:oleObj>
              </mc:Choice>
              <mc:Fallback>
                <p:oleObj name="Equation" r:id="rId4" imgW="228600" imgH="241200" progId="Equation.DSMT4">
                  <p:embed/>
                  <p:pic>
                    <p:nvPicPr>
                      <p:cNvPr id="38" name="Объект 37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888088" y="1916833"/>
                        <a:ext cx="228600" cy="2492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Объект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1929309"/>
              </p:ext>
            </p:extLst>
          </p:nvPr>
        </p:nvGraphicFramePr>
        <p:xfrm>
          <a:off x="5888608" y="2538000"/>
          <a:ext cx="2794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67" name="Equation" r:id="rId6" imgW="279360" imgH="419040" progId="Equation.DSMT4">
                  <p:embed/>
                </p:oleObj>
              </mc:Choice>
              <mc:Fallback>
                <p:oleObj name="Equation" r:id="rId6" imgW="27936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888608" y="2538000"/>
                        <a:ext cx="2794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Объект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7411626"/>
              </p:ext>
            </p:extLst>
          </p:nvPr>
        </p:nvGraphicFramePr>
        <p:xfrm>
          <a:off x="6481564" y="2674800"/>
          <a:ext cx="1905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68" name="Equation" r:id="rId8" imgW="190440" imgH="203040" progId="Equation.DSMT4">
                  <p:embed/>
                </p:oleObj>
              </mc:Choice>
              <mc:Fallback>
                <p:oleObj name="Equation" r:id="rId8" imgW="1904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481564" y="2674800"/>
                        <a:ext cx="1905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Объект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1806107"/>
              </p:ext>
            </p:extLst>
          </p:nvPr>
        </p:nvGraphicFramePr>
        <p:xfrm>
          <a:off x="10730656" y="2525300"/>
          <a:ext cx="1270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69" name="Equation" r:id="rId10" imgW="1269720" imgH="431640" progId="Equation.DSMT4">
                  <p:embed/>
                </p:oleObj>
              </mc:Choice>
              <mc:Fallback>
                <p:oleObj name="Equation" r:id="rId10" imgW="126972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0730656" y="2525300"/>
                        <a:ext cx="12700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Объект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089146"/>
              </p:ext>
            </p:extLst>
          </p:nvPr>
        </p:nvGraphicFramePr>
        <p:xfrm>
          <a:off x="3935760" y="2880000"/>
          <a:ext cx="26289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70" name="Equation" r:id="rId12" imgW="2628720" imgH="507960" progId="Equation.DSMT4">
                  <p:embed/>
                </p:oleObj>
              </mc:Choice>
              <mc:Fallback>
                <p:oleObj name="Equation" r:id="rId12" imgW="2628720" imgH="507960" progId="Equation.DSMT4">
                  <p:embed/>
                  <p:pic>
                    <p:nvPicPr>
                      <p:cNvPr id="6" name="Объект 5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935760" y="2880000"/>
                        <a:ext cx="26289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Объект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8672180"/>
              </p:ext>
            </p:extLst>
          </p:nvPr>
        </p:nvGraphicFramePr>
        <p:xfrm>
          <a:off x="8189416" y="2880000"/>
          <a:ext cx="1651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71" name="Equation" r:id="rId14" imgW="1650960" imgH="507960" progId="Equation.DSMT4">
                  <p:embed/>
                </p:oleObj>
              </mc:Choice>
              <mc:Fallback>
                <p:oleObj name="Equation" r:id="rId14" imgW="1650960" imgH="507960" progId="Equation.DSMT4">
                  <p:embed/>
                  <p:pic>
                    <p:nvPicPr>
                      <p:cNvPr id="23" name="Объект 22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8189416" y="2880000"/>
                        <a:ext cx="16510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Объект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8053787"/>
              </p:ext>
            </p:extLst>
          </p:nvPr>
        </p:nvGraphicFramePr>
        <p:xfrm>
          <a:off x="6155432" y="3744000"/>
          <a:ext cx="228600" cy="354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72" name="Equation" r:id="rId16" imgW="228600" imgH="342720" progId="Equation.DSMT4">
                  <p:embed/>
                </p:oleObj>
              </mc:Choice>
              <mc:Fallback>
                <p:oleObj name="Equation" r:id="rId16" imgW="228600" imgH="342720" progId="Equation.DSMT4">
                  <p:embed/>
                  <p:pic>
                    <p:nvPicPr>
                      <p:cNvPr id="21" name="Объект 20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6155432" y="3744000"/>
                        <a:ext cx="228600" cy="3540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Объект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4858249"/>
              </p:ext>
            </p:extLst>
          </p:nvPr>
        </p:nvGraphicFramePr>
        <p:xfrm>
          <a:off x="5762923" y="4090020"/>
          <a:ext cx="2286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73" name="Equation" r:id="rId18" imgW="2286000" imgH="419040" progId="Equation.DSMT4">
                  <p:embed/>
                </p:oleObj>
              </mc:Choice>
              <mc:Fallback>
                <p:oleObj name="Equation" r:id="rId18" imgW="228600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5762923" y="4090020"/>
                        <a:ext cx="22860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Объект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4861019"/>
              </p:ext>
            </p:extLst>
          </p:nvPr>
        </p:nvGraphicFramePr>
        <p:xfrm>
          <a:off x="9768408" y="4437112"/>
          <a:ext cx="2667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74" name="Equation" r:id="rId20" imgW="266400" imgH="419040" progId="Equation.DSMT4">
                  <p:embed/>
                </p:oleObj>
              </mc:Choice>
              <mc:Fallback>
                <p:oleObj name="Equation" r:id="rId20" imgW="266400" imgH="419040" progId="Equation.DSMT4">
                  <p:embed/>
                  <p:pic>
                    <p:nvPicPr>
                      <p:cNvPr id="2" name="Объект 1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9768408" y="4437112"/>
                        <a:ext cx="2667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Объект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1489543"/>
              </p:ext>
            </p:extLst>
          </p:nvPr>
        </p:nvGraphicFramePr>
        <p:xfrm>
          <a:off x="5735960" y="4810100"/>
          <a:ext cx="19304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75" name="Equation" r:id="rId22" imgW="1930320" imgH="419040" progId="Equation.DSMT4">
                  <p:embed/>
                </p:oleObj>
              </mc:Choice>
              <mc:Fallback>
                <p:oleObj name="Equation" r:id="rId22" imgW="1930320" imgH="419040" progId="Equation.DSMT4">
                  <p:embed/>
                  <p:pic>
                    <p:nvPicPr>
                      <p:cNvPr id="26" name="Объект 25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5735960" y="4810100"/>
                        <a:ext cx="19304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Объект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2507803"/>
              </p:ext>
            </p:extLst>
          </p:nvPr>
        </p:nvGraphicFramePr>
        <p:xfrm>
          <a:off x="3647728" y="5220000"/>
          <a:ext cx="2667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76" name="Equation" r:id="rId24" imgW="266400" imgH="419040" progId="Equation.DSMT4">
                  <p:embed/>
                </p:oleObj>
              </mc:Choice>
              <mc:Fallback>
                <p:oleObj name="Equation" r:id="rId24" imgW="266400" imgH="419040" progId="Equation.DSMT4">
                  <p:embed/>
                  <p:pic>
                    <p:nvPicPr>
                      <p:cNvPr id="31" name="Объект 30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3647728" y="5220000"/>
                        <a:ext cx="2667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Объект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2293659"/>
              </p:ext>
            </p:extLst>
          </p:nvPr>
        </p:nvGraphicFramePr>
        <p:xfrm>
          <a:off x="9755832" y="5238000"/>
          <a:ext cx="228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77" name="Equation" r:id="rId25" imgW="228600" imgH="380880" progId="Equation.DSMT4">
                  <p:embed/>
                </p:oleObj>
              </mc:Choice>
              <mc:Fallback>
                <p:oleObj name="Equation" r:id="rId25" imgW="22860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9755832" y="5238000"/>
                        <a:ext cx="2286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_h1"/>
          <p:cNvSpPr>
            <a:spLocks noGrp="1" noChangeArrowheads="1"/>
          </p:cNvSpPr>
          <p:nvPr>
            <p:ph type="title"/>
          </p:nvPr>
        </p:nvSpPr>
        <p:spPr>
          <a:xfrm>
            <a:off x="3216002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Модель распределенной программы </a:t>
            </a:r>
          </a:p>
        </p:txBody>
      </p:sp>
    </p:spTree>
    <p:extLst>
      <p:ext uri="{BB962C8B-B14F-4D97-AF65-F5344CB8AC3E}">
        <p14:creationId xmlns:p14="http://schemas.microsoft.com/office/powerpoint/2010/main" val="172313228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_h1"/>
          <p:cNvSpPr>
            <a:spLocks noGrp="1" noChangeArrowheads="1"/>
          </p:cNvSpPr>
          <p:nvPr>
            <p:ph type="title"/>
          </p:nvPr>
        </p:nvSpPr>
        <p:spPr>
          <a:xfrm>
            <a:off x="3216002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Модель распределенной программы </a:t>
            </a:r>
          </a:p>
        </p:txBody>
      </p:sp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215680" y="1700808"/>
            <a:ext cx="8640960" cy="496855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288010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Выполнение процесса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359696" y="1916833"/>
            <a:ext cx="8352928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Выполнение процесса      будем обозначать через </a:t>
            </a:r>
          </a:p>
          <a:p>
            <a:pPr>
              <a:lnSpc>
                <a:spcPct val="140000"/>
              </a:lnSpc>
            </a:pP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4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где                 </a:t>
            </a:r>
            <a:r>
              <a:rPr lang="en-US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–</a:t>
            </a:r>
            <a:r>
              <a:rPr lang="ru-RU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множество событий процесса       а бинарное отношение        задает линейный порядок на этом множестве согласно порядку наступления событий.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ru-RU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Запись                означает, что событие      предшествует событию     при выполнении процесса    </a:t>
            </a:r>
          </a:p>
          <a:p>
            <a:pPr>
              <a:spcBef>
                <a:spcPts val="1200"/>
              </a:spcBef>
            </a:pPr>
            <a:r>
              <a:rPr lang="ru-RU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8" name="Объект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9901569"/>
              </p:ext>
            </p:extLst>
          </p:nvPr>
        </p:nvGraphicFramePr>
        <p:xfrm>
          <a:off x="6168008" y="1962000"/>
          <a:ext cx="228600" cy="354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29" name="Equation" r:id="rId4" imgW="228600" imgH="342720" progId="Equation.DSMT4">
                  <p:embed/>
                </p:oleObj>
              </mc:Choice>
              <mc:Fallback>
                <p:oleObj name="Equation" r:id="rId4" imgW="228600" imgH="342720" progId="Equation.DSMT4">
                  <p:embed/>
                  <p:pic>
                    <p:nvPicPr>
                      <p:cNvPr id="32" name="Объект 3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168008" y="1962000"/>
                        <a:ext cx="228600" cy="3540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Объект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0807801"/>
              </p:ext>
            </p:extLst>
          </p:nvPr>
        </p:nvGraphicFramePr>
        <p:xfrm>
          <a:off x="9480376" y="1962000"/>
          <a:ext cx="381000" cy="354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30" name="Equation" r:id="rId6" imgW="380880" imgH="342720" progId="Equation.DSMT4">
                  <p:embed/>
                </p:oleObj>
              </mc:Choice>
              <mc:Fallback>
                <p:oleObj name="Equation" r:id="rId6" imgW="380880" imgH="342720" progId="Equation.DSMT4">
                  <p:embed/>
                  <p:pic>
                    <p:nvPicPr>
                      <p:cNvPr id="18" name="Объект 17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480376" y="1962000"/>
                        <a:ext cx="381000" cy="3540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Объект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127213"/>
              </p:ext>
            </p:extLst>
          </p:nvPr>
        </p:nvGraphicFramePr>
        <p:xfrm>
          <a:off x="6757764" y="2322000"/>
          <a:ext cx="1714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31" name="Equation" r:id="rId8" imgW="1714320" imgH="431640" progId="Equation.DSMT4">
                  <p:embed/>
                </p:oleObj>
              </mc:Choice>
              <mc:Fallback>
                <p:oleObj name="Equation" r:id="rId8" imgW="171432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757764" y="2322000"/>
                        <a:ext cx="17145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Объект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0211625"/>
              </p:ext>
            </p:extLst>
          </p:nvPr>
        </p:nvGraphicFramePr>
        <p:xfrm>
          <a:off x="3863752" y="2718000"/>
          <a:ext cx="10922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32" name="Equation" r:id="rId10" imgW="1091880" imgH="545760" progId="Equation.DSMT4">
                  <p:embed/>
                </p:oleObj>
              </mc:Choice>
              <mc:Fallback>
                <p:oleObj name="Equation" r:id="rId10" imgW="1091880" imgH="5457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863752" y="2718000"/>
                        <a:ext cx="1092200" cy="546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Объект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4159400"/>
              </p:ext>
            </p:extLst>
          </p:nvPr>
        </p:nvGraphicFramePr>
        <p:xfrm>
          <a:off x="8787110" y="2772001"/>
          <a:ext cx="317500" cy="354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33" name="Equation" r:id="rId12" imgW="317160" imgH="342720" progId="Equation.DSMT4">
                  <p:embed/>
                </p:oleObj>
              </mc:Choice>
              <mc:Fallback>
                <p:oleObj name="Equation" r:id="rId12" imgW="317160" imgH="342720" progId="Equation.DSMT4">
                  <p:embed/>
                  <p:pic>
                    <p:nvPicPr>
                      <p:cNvPr id="18" name="Объект 17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8787110" y="2772001"/>
                        <a:ext cx="317500" cy="3540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Объект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6016250"/>
              </p:ext>
            </p:extLst>
          </p:nvPr>
        </p:nvGraphicFramePr>
        <p:xfrm>
          <a:off x="4838204" y="3168000"/>
          <a:ext cx="393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34" name="Equation" r:id="rId14" imgW="393480" imgH="380880" progId="Equation.DSMT4">
                  <p:embed/>
                </p:oleObj>
              </mc:Choice>
              <mc:Fallback>
                <p:oleObj name="Equation" r:id="rId14" imgW="39348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838204" y="3168000"/>
                        <a:ext cx="3937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Объект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1256461"/>
              </p:ext>
            </p:extLst>
          </p:nvPr>
        </p:nvGraphicFramePr>
        <p:xfrm>
          <a:off x="4367808" y="4128120"/>
          <a:ext cx="965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35" name="Equation" r:id="rId16" imgW="965160" imgH="380880" progId="Equation.DSMT4">
                  <p:embed/>
                </p:oleObj>
              </mc:Choice>
              <mc:Fallback>
                <p:oleObj name="Equation" r:id="rId16" imgW="9651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367808" y="4128120"/>
                        <a:ext cx="9652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Объект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7113493"/>
              </p:ext>
            </p:extLst>
          </p:nvPr>
        </p:nvGraphicFramePr>
        <p:xfrm>
          <a:off x="8112224" y="4128120"/>
          <a:ext cx="2159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36" name="Equation" r:id="rId18" imgW="215640" imgH="380880" progId="Equation.DSMT4">
                  <p:embed/>
                </p:oleObj>
              </mc:Choice>
              <mc:Fallback>
                <p:oleObj name="Equation" r:id="rId18" imgW="215640" imgH="380880" progId="Equation.DSMT4">
                  <p:embed/>
                  <p:pic>
                    <p:nvPicPr>
                      <p:cNvPr id="11" name="Объект 10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8112224" y="4128120"/>
                        <a:ext cx="2159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Объект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5952413"/>
              </p:ext>
            </p:extLst>
          </p:nvPr>
        </p:nvGraphicFramePr>
        <p:xfrm>
          <a:off x="11268373" y="4127500"/>
          <a:ext cx="241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37" name="Equation" r:id="rId20" imgW="241200" imgH="380880" progId="Equation.DSMT4">
                  <p:embed/>
                </p:oleObj>
              </mc:Choice>
              <mc:Fallback>
                <p:oleObj name="Equation" r:id="rId20" imgW="241200" imgH="380880" progId="Equation.DSMT4">
                  <p:embed/>
                  <p:pic>
                    <p:nvPicPr>
                      <p:cNvPr id="27" name="Объект 26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1268373" y="4127500"/>
                        <a:ext cx="2413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Объект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3459711"/>
              </p:ext>
            </p:extLst>
          </p:nvPr>
        </p:nvGraphicFramePr>
        <p:xfrm>
          <a:off x="6612235" y="4536001"/>
          <a:ext cx="292100" cy="354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38" name="Equation" r:id="rId22" imgW="291960" imgH="342720" progId="Equation.DSMT4">
                  <p:embed/>
                </p:oleObj>
              </mc:Choice>
              <mc:Fallback>
                <p:oleObj name="Equation" r:id="rId22" imgW="291960" imgH="342720" progId="Equation.DSMT4">
                  <p:embed/>
                  <p:pic>
                    <p:nvPicPr>
                      <p:cNvPr id="22" name="Объект 21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6612235" y="4536001"/>
                        <a:ext cx="292100" cy="3540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58911575"/>
      </p:ext>
    </p:extLst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215680" y="1700808"/>
            <a:ext cx="8640960" cy="496855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288010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Глобальное состояние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359696" y="1916833"/>
            <a:ext cx="8352928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Глобальное состояние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>
                <a:latin typeface="Arial" panose="020B0604020202020204" pitchFamily="34" charset="0"/>
                <a:cs typeface="Arial" panose="020B0604020202020204" pitchFamily="34" charset="0"/>
              </a:rPr>
              <a:t>распределенной программы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определяется состояниями всех процессов и всех каналов, входящих в ее состав:</a:t>
            </a:r>
          </a:p>
          <a:p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Начальными глобальными состояниями считаются те глобальные состояния, в которых каждый процесс находится в своем начальном состоянии, а все каналы связи – пусты.</a:t>
            </a:r>
          </a:p>
          <a:p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_h1"/>
          <p:cNvSpPr>
            <a:spLocks noGrp="1" noChangeArrowheads="1"/>
          </p:cNvSpPr>
          <p:nvPr>
            <p:ph type="title"/>
          </p:nvPr>
        </p:nvSpPr>
        <p:spPr>
          <a:xfrm>
            <a:off x="3216002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Модель распределенной программы </a:t>
            </a:r>
          </a:p>
        </p:txBody>
      </p:sp>
      <p:graphicFrame>
        <p:nvGraphicFramePr>
          <p:cNvPr id="4" name="Объект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271282"/>
              </p:ext>
            </p:extLst>
          </p:nvPr>
        </p:nvGraphicFramePr>
        <p:xfrm>
          <a:off x="6196310" y="2708275"/>
          <a:ext cx="26797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15" name="Equation" r:id="rId4" imgW="2679480" imgH="787320" progId="Equation.DSMT4">
                  <p:embed/>
                </p:oleObj>
              </mc:Choice>
              <mc:Fallback>
                <p:oleObj name="Equation" r:id="rId4" imgW="267948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196310" y="2708275"/>
                        <a:ext cx="26797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Объект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7687856"/>
              </p:ext>
            </p:extLst>
          </p:nvPr>
        </p:nvGraphicFramePr>
        <p:xfrm>
          <a:off x="4183360" y="4594225"/>
          <a:ext cx="6705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16" name="Equation" r:id="rId6" imgW="6705360" imgH="419040" progId="Equation.DSMT4">
                  <p:embed/>
                </p:oleObj>
              </mc:Choice>
              <mc:Fallback>
                <p:oleObj name="Equation" r:id="rId6" imgW="670536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183360" y="4594225"/>
                        <a:ext cx="67056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49197303"/>
      </p:ext>
    </p:extLst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215680" y="1700808"/>
            <a:ext cx="8640960" cy="496855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288010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Глобальное состояние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359696" y="1916833"/>
            <a:ext cx="8352928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Обозначим через                  множество всех событий, происходящих при выполнении распределенной программы.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Событие           ,  такое что                                 , называется допустимым в глобальном состоянии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, если:</a:t>
            </a:r>
          </a:p>
          <a:p>
            <a:pPr>
              <a:spcBef>
                <a:spcPts val="1200"/>
              </a:spcBef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	1) в глобальном состоянии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процесс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находится в 	состоянии 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 и</a:t>
            </a:r>
          </a:p>
          <a:p>
            <a:pPr>
              <a:spcBef>
                <a:spcPts val="1200"/>
              </a:spcBef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	2) либо </a:t>
            </a:r>
            <a:r>
              <a:rPr lang="ru-RU" sz="2000" i="1" dirty="0">
                <a:latin typeface="Arial" panose="020B0604020202020204" pitchFamily="34" charset="0"/>
                <a:cs typeface="Arial" panose="020B0604020202020204" pitchFamily="34" charset="0"/>
              </a:rPr>
              <a:t>С ==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null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b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	    либо </a:t>
            </a:r>
            <a:r>
              <a:rPr lang="ru-RU" sz="2000" i="1" dirty="0">
                <a:latin typeface="Arial" panose="020B0604020202020204" pitchFamily="34" charset="0"/>
                <a:cs typeface="Arial" panose="020B0604020202020204" pitchFamily="34" charset="0"/>
              </a:rPr>
              <a:t>С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- канал, отходящий от процесса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   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либо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– канал, входящий в процесс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, и он содержит 	    сообщение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, доступное для чтения.</a:t>
            </a:r>
          </a:p>
          <a:p>
            <a:pPr>
              <a:lnSpc>
                <a:spcPct val="150000"/>
              </a:lnSpc>
            </a:pP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_h1"/>
          <p:cNvSpPr>
            <a:spLocks noGrp="1" noChangeArrowheads="1"/>
          </p:cNvSpPr>
          <p:nvPr>
            <p:ph type="title"/>
          </p:nvPr>
        </p:nvSpPr>
        <p:spPr>
          <a:xfrm>
            <a:off x="3216002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Модель распределенной программы </a:t>
            </a:r>
          </a:p>
        </p:txBody>
      </p:sp>
      <p:graphicFrame>
        <p:nvGraphicFramePr>
          <p:cNvPr id="2" name="Объект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9488037"/>
              </p:ext>
            </p:extLst>
          </p:nvPr>
        </p:nvGraphicFramePr>
        <p:xfrm>
          <a:off x="5591944" y="2034000"/>
          <a:ext cx="10414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61" name="Equation" r:id="rId4" imgW="1041120" imgH="507960" progId="Equation.DSMT4">
                  <p:embed/>
                </p:oleObj>
              </mc:Choice>
              <mc:Fallback>
                <p:oleObj name="Equation" r:id="rId4" imgW="1041120" imgH="507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591944" y="2034000"/>
                        <a:ext cx="10414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Объект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7395784"/>
              </p:ext>
            </p:extLst>
          </p:nvPr>
        </p:nvGraphicFramePr>
        <p:xfrm>
          <a:off x="4630812" y="3132000"/>
          <a:ext cx="6731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62" name="Equation" r:id="rId6" imgW="672840" imgH="279360" progId="Equation.DSMT4">
                  <p:embed/>
                </p:oleObj>
              </mc:Choice>
              <mc:Fallback>
                <p:oleObj name="Equation" r:id="rId6" imgW="67284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630812" y="3132000"/>
                        <a:ext cx="6731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Объект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8174134"/>
              </p:ext>
            </p:extLst>
          </p:nvPr>
        </p:nvGraphicFramePr>
        <p:xfrm>
          <a:off x="6796112" y="3085200"/>
          <a:ext cx="2108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63" name="Equation" r:id="rId8" imgW="2108160" imgH="431640" progId="Equation.DSMT4">
                  <p:embed/>
                </p:oleObj>
              </mc:Choice>
              <mc:Fallback>
                <p:oleObj name="Equation" r:id="rId8" imgW="2108160" imgH="431640" progId="Equation.DSMT4">
                  <p:embed/>
                  <p:pic>
                    <p:nvPicPr>
                      <p:cNvPr id="6" name="Объект 5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796112" y="3085200"/>
                        <a:ext cx="21082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6544243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215680" y="1700808"/>
            <a:ext cx="8640960" cy="496855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288010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Глобальное состояние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359696" y="1772817"/>
            <a:ext cx="8352928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Обозначим через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e(S)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глобальное состояние распределенной программы непосредственно после наступления события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в глобальном состоянии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1200"/>
              </a:spcBef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Глобальное состояние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e(S)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определено только тогда, когда событие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является допустимым для глобального состояния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Если                                 - допустимое событие для состояния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, то</a:t>
            </a:r>
          </a:p>
          <a:p>
            <a:pPr marL="457200" indent="-457200">
              <a:buAutoNum type="arabicPeriod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В глобальном состоянии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e(S)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процесс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будет находиться в состоянии  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AutoNum type="arabicPeriod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Если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канал, входящий в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, то в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e(S)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состояние канала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совпадает с состоянием канала в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за исключением удаленного из канала сообщения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57200" indent="-457200">
              <a:buFontTx/>
              <a:buAutoNum type="arabicPeriod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Если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C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канал, исходящий из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, то в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e(S)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состояние канала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совпадает с состоянием канала в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за исключением добавленного в канал сообщения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_h1"/>
          <p:cNvSpPr>
            <a:spLocks noGrp="1" noChangeArrowheads="1"/>
          </p:cNvSpPr>
          <p:nvPr>
            <p:ph type="title"/>
          </p:nvPr>
        </p:nvSpPr>
        <p:spPr>
          <a:xfrm>
            <a:off x="3216002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Модель распределенной программы </a:t>
            </a:r>
          </a:p>
        </p:txBody>
      </p:sp>
      <p:graphicFrame>
        <p:nvGraphicFramePr>
          <p:cNvPr id="12" name="Объект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2149810"/>
              </p:ext>
            </p:extLst>
          </p:nvPr>
        </p:nvGraphicFramePr>
        <p:xfrm>
          <a:off x="4151784" y="3564000"/>
          <a:ext cx="2108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91" name="Equation" r:id="rId4" imgW="2108160" imgH="431640" progId="Equation.DSMT4">
                  <p:embed/>
                </p:oleObj>
              </mc:Choice>
              <mc:Fallback>
                <p:oleObj name="Equation" r:id="rId4" imgW="2108160" imgH="431640" progId="Equation.DSMT4">
                  <p:embed/>
                  <p:pic>
                    <p:nvPicPr>
                      <p:cNvPr id="11" name="Объект 10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151784" y="3564000"/>
                        <a:ext cx="21082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Объект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3864769"/>
              </p:ext>
            </p:extLst>
          </p:nvPr>
        </p:nvGraphicFramePr>
        <p:xfrm>
          <a:off x="5155828" y="4248000"/>
          <a:ext cx="2921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92" name="Equation" r:id="rId6" imgW="291960" imgH="291960" progId="Equation.DSMT4">
                  <p:embed/>
                </p:oleObj>
              </mc:Choice>
              <mc:Fallback>
                <p:oleObj name="Equation" r:id="rId6" imgW="29196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155828" y="4248000"/>
                        <a:ext cx="292100" cy="292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6980706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215680" y="1700808"/>
            <a:ext cx="8640960" cy="496855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288010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Выполнение распределенной программы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359696" y="1772817"/>
            <a:ext cx="835292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Последовательность событий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2000" i="1" baseline="30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, e</a:t>
            </a:r>
            <a:r>
              <a:rPr lang="en-US" sz="2000" i="1" baseline="30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, … e</a:t>
            </a:r>
            <a:r>
              <a:rPr lang="en-US" sz="2000" i="1" baseline="300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, e</a:t>
            </a:r>
            <a:r>
              <a:rPr lang="en-US" sz="2000" i="1" baseline="30000" dirty="0">
                <a:latin typeface="Arial" panose="020B0604020202020204" pitchFamily="34" charset="0"/>
                <a:cs typeface="Arial" panose="020B0604020202020204" pitchFamily="34" charset="0"/>
              </a:rPr>
              <a:t>x+1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, …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называется выполнением распределенной программы, если для любого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≥ 0 событие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2000" i="1" baseline="300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допустимо в глобальном состоянии </a:t>
            </a:r>
            <a:r>
              <a:rPr lang="en-US" sz="2000" i="1" dirty="0" err="1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2000" i="1" baseline="30000" dirty="0" err="1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2000" i="1" baseline="30000" dirty="0">
                <a:latin typeface="Arial" panose="020B0604020202020204" pitchFamily="34" charset="0"/>
                <a:cs typeface="Arial" panose="020B0604020202020204" pitchFamily="34" charset="0"/>
              </a:rPr>
              <a:t>x+1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 = e</a:t>
            </a:r>
            <a:r>
              <a:rPr lang="en-US" sz="2000" i="1" baseline="300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000" i="1" dirty="0" err="1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2000" i="1" baseline="30000" dirty="0" err="1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и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2000" i="1" baseline="30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начальное глобальное состояние распределенной программы.</a:t>
            </a:r>
          </a:p>
          <a:p>
            <a:pPr>
              <a:spcBef>
                <a:spcPts val="1200"/>
              </a:spcBef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Выполнение распределенной программы обозначается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1200"/>
              </a:spcBef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Глобальное состояние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называется достижимым в выполнении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, если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S = S</a:t>
            </a:r>
            <a:r>
              <a:rPr lang="en-US" sz="2000" i="1" baseline="30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ru-RU" sz="2000" i="1" baseline="30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или для этой последовательности событий существует такое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≥ 0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, что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S = </a:t>
            </a:r>
            <a:r>
              <a:rPr lang="en-US" sz="2000" i="1" dirty="0" err="1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2000" i="1" baseline="30000" dirty="0" err="1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000" i="1" dirty="0" err="1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2000" i="1" baseline="30000" dirty="0" err="1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_h1"/>
          <p:cNvSpPr>
            <a:spLocks noGrp="1" noChangeArrowheads="1"/>
          </p:cNvSpPr>
          <p:nvPr>
            <p:ph type="title"/>
          </p:nvPr>
        </p:nvSpPr>
        <p:spPr>
          <a:xfrm>
            <a:off x="3216002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Модель распределенной программы </a:t>
            </a:r>
          </a:p>
        </p:txBody>
      </p:sp>
    </p:spTree>
    <p:extLst>
      <p:ext uri="{BB962C8B-B14F-4D97-AF65-F5344CB8AC3E}">
        <p14:creationId xmlns:p14="http://schemas.microsoft.com/office/powerpoint/2010/main" val="3826742905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215680" y="1700808"/>
            <a:ext cx="8640960" cy="496855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288010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Примеры выполнения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59696" y="1772817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Передача маркера</a:t>
            </a:r>
          </a:p>
        </p:txBody>
      </p:sp>
      <p:sp>
        <p:nvSpPr>
          <p:cNvPr id="20" name="_h1"/>
          <p:cNvSpPr>
            <a:spLocks noGrp="1" noChangeArrowheads="1"/>
          </p:cNvSpPr>
          <p:nvPr>
            <p:ph type="title"/>
          </p:nvPr>
        </p:nvSpPr>
        <p:spPr>
          <a:xfrm>
            <a:off x="3216002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Модель распределенной программы </a:t>
            </a:r>
          </a:p>
        </p:txBody>
      </p:sp>
      <p:sp>
        <p:nvSpPr>
          <p:cNvPr id="2" name="Овал 1"/>
          <p:cNvSpPr/>
          <p:nvPr/>
        </p:nvSpPr>
        <p:spPr>
          <a:xfrm>
            <a:off x="3719736" y="2564904"/>
            <a:ext cx="1080120" cy="115212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ru-RU" baseline="-25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6096000" y="2564904"/>
            <a:ext cx="1080120" cy="115212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ru-RU" baseline="-25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239718" y="2771636"/>
            <a:ext cx="568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endParaRPr lang="ru-RU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231904" y="3140968"/>
            <a:ext cx="568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21</a:t>
            </a:r>
            <a:endParaRPr lang="ru-RU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80176" y="2596262"/>
            <a:ext cx="3824238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Состояния процессов:</a:t>
            </a:r>
          </a:p>
          <a:p>
            <a:pPr marL="360000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не владеет маркером;</a:t>
            </a:r>
          </a:p>
          <a:p>
            <a:pPr marL="360000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ru-RU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владеет маркером;</a:t>
            </a:r>
          </a:p>
          <a:p>
            <a:pPr>
              <a:spcBef>
                <a:spcPts val="600"/>
              </a:spcBef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Начальные состояния процессов:</a:t>
            </a:r>
          </a:p>
          <a:p>
            <a:pPr marL="360000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для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– s</a:t>
            </a:r>
            <a:r>
              <a:rPr lang="ru-RU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для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ru-RU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– s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600"/>
              </a:spcBef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События:</a:t>
            </a:r>
          </a:p>
          <a:p>
            <a:pPr marL="360000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- отправка маркера по каналу с  переходом из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ru-RU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ru-RU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в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ru-RU" baseline="30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360000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- прием маркера из канала с  переходом из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ru-RU" baseline="30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ru-RU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в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ru-RU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151784" y="4005709"/>
            <a:ext cx="2736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Топология программы</a:t>
            </a:r>
          </a:p>
        </p:txBody>
      </p:sp>
      <p:sp>
        <p:nvSpPr>
          <p:cNvPr id="16" name="Овал 15"/>
          <p:cNvSpPr/>
          <p:nvPr/>
        </p:nvSpPr>
        <p:spPr>
          <a:xfrm>
            <a:off x="3791744" y="4715207"/>
            <a:ext cx="1080120" cy="115212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baseline="30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ru-RU" baseline="30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Овал 16"/>
          <p:cNvSpPr/>
          <p:nvPr/>
        </p:nvSpPr>
        <p:spPr>
          <a:xfrm>
            <a:off x="6168008" y="4715207"/>
            <a:ext cx="1080120" cy="115212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baseline="30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ru-RU" baseline="30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8" name="Соединитель: изогнутый 17"/>
          <p:cNvCxnSpPr>
            <a:stCxn id="16" idx="7"/>
            <a:endCxn id="17" idx="1"/>
          </p:cNvCxnSpPr>
          <p:nvPr/>
        </p:nvCxnSpPr>
        <p:spPr>
          <a:xfrm rot="5400000" flipH="1" flipV="1">
            <a:off x="5519936" y="4077680"/>
            <a:ext cx="12700" cy="1612504"/>
          </a:xfrm>
          <a:prstGeom prst="curvedConnector3">
            <a:avLst>
              <a:gd name="adj1" fmla="val 312854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Соединитель: изогнутый 18"/>
          <p:cNvCxnSpPr>
            <a:stCxn id="17" idx="3"/>
            <a:endCxn id="16" idx="5"/>
          </p:cNvCxnSpPr>
          <p:nvPr/>
        </p:nvCxnSpPr>
        <p:spPr>
          <a:xfrm rot="5400000">
            <a:off x="5519936" y="4892358"/>
            <a:ext cx="12700" cy="1612504"/>
          </a:xfrm>
          <a:prstGeom prst="curvedConnector3">
            <a:avLst>
              <a:gd name="adj1" fmla="val 312854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087888" y="4509121"/>
            <a:ext cx="7920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aseline="-25000" dirty="0">
                <a:latin typeface="Arial" panose="020B0604020202020204" pitchFamily="34" charset="0"/>
                <a:cs typeface="Arial" panose="020B0604020202020204" pitchFamily="34" charset="0"/>
              </a:rPr>
              <a:t>Прием маркера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75720" y="6156012"/>
            <a:ext cx="3960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Диаграмма состояний процесса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87888" y="5559624"/>
            <a:ext cx="864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aseline="-25000" dirty="0">
                <a:latin typeface="Arial" panose="020B0604020202020204" pitchFamily="34" charset="0"/>
                <a:cs typeface="Arial" panose="020B0604020202020204" pitchFamily="34" charset="0"/>
              </a:rPr>
              <a:t>Отправка маркера</a:t>
            </a:r>
          </a:p>
        </p:txBody>
      </p:sp>
      <p:cxnSp>
        <p:nvCxnSpPr>
          <p:cNvPr id="25" name="Прямая со стрелкой 24"/>
          <p:cNvCxnSpPr>
            <a:stCxn id="7" idx="3"/>
            <a:endCxn id="2" idx="5"/>
          </p:cNvCxnSpPr>
          <p:nvPr/>
        </p:nvCxnSpPr>
        <p:spPr>
          <a:xfrm flipH="1">
            <a:off x="4641676" y="3548307"/>
            <a:ext cx="161250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 стрелкой 26"/>
          <p:cNvCxnSpPr>
            <a:stCxn id="2" idx="7"/>
            <a:endCxn id="7" idx="1"/>
          </p:cNvCxnSpPr>
          <p:nvPr/>
        </p:nvCxnSpPr>
        <p:spPr>
          <a:xfrm>
            <a:off x="4641676" y="2733629"/>
            <a:ext cx="161250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147338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5" grpId="0"/>
      <p:bldP spid="2" grpId="0" animBg="1"/>
      <p:bldP spid="7" grpId="0" animBg="1"/>
      <p:bldP spid="11" grpId="0"/>
      <p:bldP spid="13" grpId="0"/>
      <p:bldP spid="14" grpId="0"/>
      <p:bldP spid="16" grpId="0" animBg="1"/>
      <p:bldP spid="17" grpId="0" animBg="1"/>
      <p:bldP spid="21" grpId="0"/>
      <p:bldP spid="23" grpId="0"/>
      <p:bldP spid="2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215680" y="1700808"/>
            <a:ext cx="8640960" cy="496855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288010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Примеры выполнения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59696" y="1700809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Передача маркера</a:t>
            </a:r>
          </a:p>
        </p:txBody>
      </p:sp>
      <p:sp>
        <p:nvSpPr>
          <p:cNvPr id="20" name="_h1"/>
          <p:cNvSpPr>
            <a:spLocks noGrp="1" noChangeArrowheads="1"/>
          </p:cNvSpPr>
          <p:nvPr>
            <p:ph type="title"/>
          </p:nvPr>
        </p:nvSpPr>
        <p:spPr>
          <a:xfrm>
            <a:off x="3216002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Модель распределенной программы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6160" y="2132856"/>
            <a:ext cx="68407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Диаграмма глобальных состояний программы</a:t>
            </a:r>
          </a:p>
        </p:txBody>
      </p:sp>
      <p:sp>
        <p:nvSpPr>
          <p:cNvPr id="3" name="Овал 2"/>
          <p:cNvSpPr/>
          <p:nvPr/>
        </p:nvSpPr>
        <p:spPr>
          <a:xfrm>
            <a:off x="3935760" y="2852936"/>
            <a:ext cx="828000" cy="82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ru-RU" baseline="-25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Овал 21"/>
          <p:cNvSpPr/>
          <p:nvPr/>
        </p:nvSpPr>
        <p:spPr>
          <a:xfrm>
            <a:off x="6096080" y="2852936"/>
            <a:ext cx="828000" cy="82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baseline="-25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ru-RU" baseline="-25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Овал 26"/>
          <p:cNvSpPr/>
          <p:nvPr/>
        </p:nvSpPr>
        <p:spPr>
          <a:xfrm>
            <a:off x="4043840" y="2961017"/>
            <a:ext cx="612000" cy="612000"/>
          </a:xfrm>
          <a:prstGeom prst="ellipse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ru-RU" baseline="-25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5" name="Прямая со стрелкой 14"/>
          <p:cNvCxnSpPr>
            <a:stCxn id="3" idx="7"/>
            <a:endCxn id="22" idx="1"/>
          </p:cNvCxnSpPr>
          <p:nvPr/>
        </p:nvCxnSpPr>
        <p:spPr>
          <a:xfrm>
            <a:off x="4642502" y="2974194"/>
            <a:ext cx="157483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 стрелкой 25"/>
          <p:cNvCxnSpPr>
            <a:stCxn id="22" idx="3"/>
            <a:endCxn id="3" idx="5"/>
          </p:cNvCxnSpPr>
          <p:nvPr/>
        </p:nvCxnSpPr>
        <p:spPr>
          <a:xfrm flipH="1">
            <a:off x="4642502" y="3559678"/>
            <a:ext cx="157483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871864" y="3573017"/>
            <a:ext cx="115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Канал пуст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71864" y="2636913"/>
            <a:ext cx="115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Канал пуст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55672" y="2636912"/>
            <a:ext cx="468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ru-RU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ru-RU" baseline="30000" dirty="0"/>
          </a:p>
        </p:txBody>
      </p:sp>
      <p:sp>
        <p:nvSpPr>
          <p:cNvPr id="34" name="TextBox 33"/>
          <p:cNvSpPr txBox="1"/>
          <p:nvPr/>
        </p:nvSpPr>
        <p:spPr>
          <a:xfrm>
            <a:off x="6708000" y="2636912"/>
            <a:ext cx="468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ru-RU" baseline="30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ru-RU" baseline="30000" dirty="0"/>
          </a:p>
        </p:txBody>
      </p:sp>
      <p:sp>
        <p:nvSpPr>
          <p:cNvPr id="35" name="Прямоугольник 34"/>
          <p:cNvSpPr/>
          <p:nvPr/>
        </p:nvSpPr>
        <p:spPr>
          <a:xfrm>
            <a:off x="3755672" y="2594522"/>
            <a:ext cx="3420448" cy="1605081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TextBox 35"/>
          <p:cNvSpPr txBox="1"/>
          <p:nvPr/>
        </p:nvSpPr>
        <p:spPr>
          <a:xfrm>
            <a:off x="4628572" y="3861048"/>
            <a:ext cx="1944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1600" baseline="30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Маркер в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ru-RU" sz="16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Овал 47"/>
          <p:cNvSpPr/>
          <p:nvPr/>
        </p:nvSpPr>
        <p:spPr>
          <a:xfrm>
            <a:off x="3935760" y="4962654"/>
            <a:ext cx="828000" cy="82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ru-RU" baseline="-25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Овал 48"/>
          <p:cNvSpPr/>
          <p:nvPr/>
        </p:nvSpPr>
        <p:spPr>
          <a:xfrm>
            <a:off x="6096080" y="4962654"/>
            <a:ext cx="828000" cy="82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baseline="-25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ru-RU" baseline="-25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1" name="Прямая со стрелкой 50"/>
          <p:cNvCxnSpPr>
            <a:stCxn id="48" idx="7"/>
            <a:endCxn id="49" idx="1"/>
          </p:cNvCxnSpPr>
          <p:nvPr/>
        </p:nvCxnSpPr>
        <p:spPr>
          <a:xfrm>
            <a:off x="4642502" y="5083912"/>
            <a:ext cx="157483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Прямая со стрелкой 51"/>
          <p:cNvCxnSpPr>
            <a:stCxn id="49" idx="3"/>
            <a:endCxn id="48" idx="5"/>
          </p:cNvCxnSpPr>
          <p:nvPr/>
        </p:nvCxnSpPr>
        <p:spPr>
          <a:xfrm flipH="1">
            <a:off x="4642502" y="5669396"/>
            <a:ext cx="157483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4871864" y="4725145"/>
            <a:ext cx="115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Канал пуст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755672" y="4746630"/>
            <a:ext cx="468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ru-RU" baseline="30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ru-RU" baseline="30000" dirty="0"/>
          </a:p>
        </p:txBody>
      </p:sp>
      <p:sp>
        <p:nvSpPr>
          <p:cNvPr id="56" name="TextBox 55"/>
          <p:cNvSpPr txBox="1"/>
          <p:nvPr/>
        </p:nvSpPr>
        <p:spPr>
          <a:xfrm>
            <a:off x="6708000" y="4746630"/>
            <a:ext cx="468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ru-RU" baseline="30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ru-RU" baseline="30000" dirty="0"/>
          </a:p>
        </p:txBody>
      </p:sp>
      <p:sp>
        <p:nvSpPr>
          <p:cNvPr id="57" name="Прямоугольник 56"/>
          <p:cNvSpPr/>
          <p:nvPr/>
        </p:nvSpPr>
        <p:spPr>
          <a:xfrm>
            <a:off x="3755672" y="4725145"/>
            <a:ext cx="3420448" cy="158417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8" name="TextBox 57"/>
          <p:cNvSpPr txBox="1"/>
          <p:nvPr/>
        </p:nvSpPr>
        <p:spPr>
          <a:xfrm>
            <a:off x="4628572" y="5970766"/>
            <a:ext cx="1944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ru-RU" sz="1600" baseline="30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Маркер в С</a:t>
            </a:r>
            <a:r>
              <a:rPr lang="ru-RU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21</a:t>
            </a:r>
          </a:p>
        </p:txBody>
      </p:sp>
      <p:sp>
        <p:nvSpPr>
          <p:cNvPr id="60" name="Овал 59"/>
          <p:cNvSpPr/>
          <p:nvPr/>
        </p:nvSpPr>
        <p:spPr>
          <a:xfrm>
            <a:off x="8076288" y="4962654"/>
            <a:ext cx="828000" cy="82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ru-RU" baseline="-25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Овал 60"/>
          <p:cNvSpPr/>
          <p:nvPr/>
        </p:nvSpPr>
        <p:spPr>
          <a:xfrm>
            <a:off x="10236608" y="4962654"/>
            <a:ext cx="828000" cy="82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baseline="-25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ru-RU" baseline="-25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Овал 61"/>
          <p:cNvSpPr/>
          <p:nvPr/>
        </p:nvSpPr>
        <p:spPr>
          <a:xfrm>
            <a:off x="10344472" y="5070735"/>
            <a:ext cx="612000" cy="612000"/>
          </a:xfrm>
          <a:prstGeom prst="ellipse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ru-RU" baseline="-25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3" name="Прямая со стрелкой 62"/>
          <p:cNvCxnSpPr>
            <a:stCxn id="60" idx="7"/>
            <a:endCxn id="61" idx="1"/>
          </p:cNvCxnSpPr>
          <p:nvPr/>
        </p:nvCxnSpPr>
        <p:spPr>
          <a:xfrm>
            <a:off x="8783030" y="5083912"/>
            <a:ext cx="157483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Прямая со стрелкой 63"/>
          <p:cNvCxnSpPr>
            <a:stCxn id="61" idx="3"/>
            <a:endCxn id="60" idx="5"/>
          </p:cNvCxnSpPr>
          <p:nvPr/>
        </p:nvCxnSpPr>
        <p:spPr>
          <a:xfrm flipH="1">
            <a:off x="8783030" y="5669396"/>
            <a:ext cx="157483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9012392" y="5682735"/>
            <a:ext cx="115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Канал пуст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12392" y="4725145"/>
            <a:ext cx="115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Канал пуст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896200" y="4746630"/>
            <a:ext cx="468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ru-RU" baseline="30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ru-RU" baseline="30000" dirty="0"/>
          </a:p>
        </p:txBody>
      </p:sp>
      <p:sp>
        <p:nvSpPr>
          <p:cNvPr id="68" name="TextBox 67"/>
          <p:cNvSpPr txBox="1"/>
          <p:nvPr/>
        </p:nvSpPr>
        <p:spPr>
          <a:xfrm>
            <a:off x="10848528" y="4746630"/>
            <a:ext cx="468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ru-RU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ru-RU" baseline="30000" dirty="0"/>
          </a:p>
        </p:txBody>
      </p:sp>
      <p:sp>
        <p:nvSpPr>
          <p:cNvPr id="69" name="Прямоугольник 68"/>
          <p:cNvSpPr/>
          <p:nvPr/>
        </p:nvSpPr>
        <p:spPr>
          <a:xfrm>
            <a:off x="7896200" y="4725938"/>
            <a:ext cx="3420448" cy="158338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0" name="TextBox 69"/>
          <p:cNvSpPr txBox="1"/>
          <p:nvPr/>
        </p:nvSpPr>
        <p:spPr>
          <a:xfrm>
            <a:off x="8769100" y="5970766"/>
            <a:ext cx="1944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16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Маркер в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ru-RU" sz="16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Овал 70"/>
          <p:cNvSpPr/>
          <p:nvPr/>
        </p:nvSpPr>
        <p:spPr>
          <a:xfrm>
            <a:off x="8076288" y="2852936"/>
            <a:ext cx="828000" cy="82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ru-RU" baseline="-25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Овал 71"/>
          <p:cNvSpPr/>
          <p:nvPr/>
        </p:nvSpPr>
        <p:spPr>
          <a:xfrm>
            <a:off x="10236608" y="2852936"/>
            <a:ext cx="828000" cy="82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baseline="-25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ru-RU" baseline="-25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4" name="Прямая со стрелкой 73"/>
          <p:cNvCxnSpPr>
            <a:stCxn id="71" idx="7"/>
            <a:endCxn id="72" idx="1"/>
          </p:cNvCxnSpPr>
          <p:nvPr/>
        </p:nvCxnSpPr>
        <p:spPr>
          <a:xfrm>
            <a:off x="8783030" y="2974194"/>
            <a:ext cx="157483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Прямая со стрелкой 74"/>
          <p:cNvCxnSpPr>
            <a:stCxn id="72" idx="3"/>
            <a:endCxn id="71" idx="5"/>
          </p:cNvCxnSpPr>
          <p:nvPr/>
        </p:nvCxnSpPr>
        <p:spPr>
          <a:xfrm flipH="1">
            <a:off x="8783030" y="3559678"/>
            <a:ext cx="157483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9012392" y="3573017"/>
            <a:ext cx="115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Канал пуст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896200" y="2636912"/>
            <a:ext cx="468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ru-RU" baseline="30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ru-RU" baseline="30000" dirty="0"/>
          </a:p>
        </p:txBody>
      </p:sp>
      <p:sp>
        <p:nvSpPr>
          <p:cNvPr id="79" name="TextBox 78"/>
          <p:cNvSpPr txBox="1"/>
          <p:nvPr/>
        </p:nvSpPr>
        <p:spPr>
          <a:xfrm>
            <a:off x="10848528" y="2636912"/>
            <a:ext cx="468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ru-RU" baseline="30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ru-RU" baseline="30000" dirty="0"/>
          </a:p>
        </p:txBody>
      </p:sp>
      <p:sp>
        <p:nvSpPr>
          <p:cNvPr id="80" name="Прямоугольник 79"/>
          <p:cNvSpPr/>
          <p:nvPr/>
        </p:nvSpPr>
        <p:spPr>
          <a:xfrm>
            <a:off x="7896200" y="2594522"/>
            <a:ext cx="3420448" cy="1605081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1" name="TextBox 80"/>
          <p:cNvSpPr txBox="1"/>
          <p:nvPr/>
        </p:nvSpPr>
        <p:spPr>
          <a:xfrm>
            <a:off x="8769100" y="3861048"/>
            <a:ext cx="1944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ru-RU" sz="1600" baseline="30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Маркер в С</a:t>
            </a:r>
            <a:r>
              <a:rPr lang="en-US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ru-RU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73" name="Овал 72"/>
          <p:cNvSpPr/>
          <p:nvPr/>
        </p:nvSpPr>
        <p:spPr>
          <a:xfrm>
            <a:off x="9300424" y="2636912"/>
            <a:ext cx="612000" cy="612000"/>
          </a:xfrm>
          <a:prstGeom prst="ellipse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aseline="-25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Овал 49"/>
          <p:cNvSpPr/>
          <p:nvPr/>
        </p:nvSpPr>
        <p:spPr>
          <a:xfrm>
            <a:off x="5152859" y="5339815"/>
            <a:ext cx="612000" cy="612000"/>
          </a:xfrm>
          <a:prstGeom prst="ellipse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aseline="-25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" name="Стрелка: вправо 81"/>
          <p:cNvSpPr/>
          <p:nvPr/>
        </p:nvSpPr>
        <p:spPr>
          <a:xfrm>
            <a:off x="7320136" y="3140968"/>
            <a:ext cx="504056" cy="418710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3" name="Стрелка: вниз 82"/>
          <p:cNvSpPr/>
          <p:nvPr/>
        </p:nvSpPr>
        <p:spPr>
          <a:xfrm>
            <a:off x="9480376" y="4251448"/>
            <a:ext cx="432048" cy="374567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4" name="Стрелка: вверх 83"/>
          <p:cNvSpPr/>
          <p:nvPr/>
        </p:nvSpPr>
        <p:spPr>
          <a:xfrm>
            <a:off x="5152859" y="4251448"/>
            <a:ext cx="484632" cy="374567"/>
          </a:xfrm>
          <a:prstGeom prst="up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5" name="Стрелка: влево 84"/>
          <p:cNvSpPr/>
          <p:nvPr/>
        </p:nvSpPr>
        <p:spPr>
          <a:xfrm>
            <a:off x="7302100" y="5148416"/>
            <a:ext cx="504056" cy="456476"/>
          </a:xfrm>
          <a:prstGeom prst="lef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298552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2" grpId="0" animBg="1"/>
      <p:bldP spid="27" grpId="0" animBg="1"/>
      <p:bldP spid="31" grpId="0"/>
      <p:bldP spid="32" grpId="0"/>
      <p:bldP spid="33" grpId="0"/>
      <p:bldP spid="34" grpId="0"/>
      <p:bldP spid="35" grpId="0" animBg="1"/>
      <p:bldP spid="36" grpId="0"/>
      <p:bldP spid="48" grpId="0" animBg="1"/>
      <p:bldP spid="49" grpId="0" animBg="1"/>
      <p:bldP spid="54" grpId="0"/>
      <p:bldP spid="55" grpId="0"/>
      <p:bldP spid="56" grpId="0"/>
      <p:bldP spid="57" grpId="0" animBg="1"/>
      <p:bldP spid="58" grpId="0"/>
      <p:bldP spid="60" grpId="0" animBg="1"/>
      <p:bldP spid="61" grpId="0" animBg="1"/>
      <p:bldP spid="62" grpId="0" animBg="1"/>
      <p:bldP spid="65" grpId="0"/>
      <p:bldP spid="66" grpId="0"/>
      <p:bldP spid="67" grpId="0"/>
      <p:bldP spid="68" grpId="0"/>
      <p:bldP spid="69" grpId="0" animBg="1"/>
      <p:bldP spid="70" grpId="0"/>
      <p:bldP spid="71" grpId="0" animBg="1"/>
      <p:bldP spid="72" grpId="0" animBg="1"/>
      <p:bldP spid="76" grpId="0"/>
      <p:bldP spid="78" grpId="0"/>
      <p:bldP spid="79" grpId="0"/>
      <p:bldP spid="80" grpId="0" animBg="1"/>
      <p:bldP spid="81" grpId="0"/>
      <p:bldP spid="73" grpId="0" animBg="1"/>
      <p:bldP spid="50" grpId="0" animBg="1"/>
      <p:bldP spid="82" grpId="0" animBg="1"/>
      <p:bldP spid="83" grpId="0" animBg="1"/>
      <p:bldP spid="84" grpId="0" animBg="1"/>
      <p:bldP spid="8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215680" y="1700808"/>
            <a:ext cx="8640960" cy="496855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288010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Примеры выполнения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59696" y="1700809"/>
            <a:ext cx="80648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Обмен сообщениями</a:t>
            </a:r>
          </a:p>
        </p:txBody>
      </p:sp>
      <p:sp>
        <p:nvSpPr>
          <p:cNvPr id="20" name="_h1"/>
          <p:cNvSpPr>
            <a:spLocks noGrp="1" noChangeArrowheads="1"/>
          </p:cNvSpPr>
          <p:nvPr>
            <p:ph type="title"/>
          </p:nvPr>
        </p:nvSpPr>
        <p:spPr>
          <a:xfrm>
            <a:off x="3216002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Модель распределенной программы </a:t>
            </a:r>
          </a:p>
        </p:txBody>
      </p:sp>
      <p:sp>
        <p:nvSpPr>
          <p:cNvPr id="2" name="Овал 1"/>
          <p:cNvSpPr/>
          <p:nvPr/>
        </p:nvSpPr>
        <p:spPr>
          <a:xfrm>
            <a:off x="3719736" y="3356992"/>
            <a:ext cx="1080120" cy="115212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ru-RU" baseline="-25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6096000" y="3356992"/>
            <a:ext cx="1080120" cy="115212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ru-RU" baseline="-25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239718" y="3563724"/>
            <a:ext cx="568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endParaRPr lang="ru-RU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231904" y="3933056"/>
            <a:ext cx="568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21</a:t>
            </a:r>
            <a:endParaRPr lang="ru-RU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151784" y="4797797"/>
            <a:ext cx="2736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Топология программы</a:t>
            </a:r>
          </a:p>
        </p:txBody>
      </p:sp>
      <p:sp>
        <p:nvSpPr>
          <p:cNvPr id="16" name="Овал 15"/>
          <p:cNvSpPr/>
          <p:nvPr/>
        </p:nvSpPr>
        <p:spPr>
          <a:xfrm>
            <a:off x="7824192" y="2430696"/>
            <a:ext cx="1080120" cy="115212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ru-RU" baseline="30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7" name="Овал 16"/>
          <p:cNvSpPr/>
          <p:nvPr/>
        </p:nvSpPr>
        <p:spPr>
          <a:xfrm>
            <a:off x="10200456" y="2430696"/>
            <a:ext cx="1080120" cy="115212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ru-RU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ru-RU" baseline="30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cxnSp>
        <p:nvCxnSpPr>
          <p:cNvPr id="18" name="Соединитель: изогнутый 17"/>
          <p:cNvCxnSpPr>
            <a:stCxn id="16" idx="7"/>
            <a:endCxn id="17" idx="1"/>
          </p:cNvCxnSpPr>
          <p:nvPr/>
        </p:nvCxnSpPr>
        <p:spPr>
          <a:xfrm rot="5400000" flipH="1" flipV="1">
            <a:off x="9552384" y="1793169"/>
            <a:ext cx="12700" cy="1612504"/>
          </a:xfrm>
          <a:prstGeom prst="curvedConnector3">
            <a:avLst>
              <a:gd name="adj1" fmla="val 312854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Соединитель: изогнутый 18"/>
          <p:cNvCxnSpPr>
            <a:stCxn id="17" idx="3"/>
            <a:endCxn id="16" idx="5"/>
          </p:cNvCxnSpPr>
          <p:nvPr/>
        </p:nvCxnSpPr>
        <p:spPr>
          <a:xfrm rot="5400000">
            <a:off x="9552384" y="2607847"/>
            <a:ext cx="12700" cy="1612504"/>
          </a:xfrm>
          <a:prstGeom prst="curvedConnector3">
            <a:avLst>
              <a:gd name="adj1" fmla="val 312854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760296" y="3448746"/>
            <a:ext cx="15841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Прием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ru-RU" sz="14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536160" y="3871501"/>
            <a:ext cx="4176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Диаграмма состояний процесса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832304" y="2348881"/>
            <a:ext cx="14606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Отправка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ru-RU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5" name="Прямая со стрелкой 24"/>
          <p:cNvCxnSpPr>
            <a:stCxn id="7" idx="3"/>
            <a:endCxn id="2" idx="5"/>
          </p:cNvCxnSpPr>
          <p:nvPr/>
        </p:nvCxnSpPr>
        <p:spPr>
          <a:xfrm flipH="1">
            <a:off x="4641676" y="4340395"/>
            <a:ext cx="161250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 стрелкой 26"/>
          <p:cNvCxnSpPr>
            <a:stCxn id="2" idx="7"/>
            <a:endCxn id="7" idx="1"/>
          </p:cNvCxnSpPr>
          <p:nvPr/>
        </p:nvCxnSpPr>
        <p:spPr>
          <a:xfrm>
            <a:off x="4641676" y="3525717"/>
            <a:ext cx="161250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Овал 21"/>
          <p:cNvSpPr/>
          <p:nvPr/>
        </p:nvSpPr>
        <p:spPr>
          <a:xfrm>
            <a:off x="7824192" y="4590936"/>
            <a:ext cx="1080120" cy="115212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ru-RU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ru-RU" baseline="30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6" name="Овал 25"/>
          <p:cNvSpPr/>
          <p:nvPr/>
        </p:nvSpPr>
        <p:spPr>
          <a:xfrm>
            <a:off x="10200456" y="4590936"/>
            <a:ext cx="1080120" cy="115212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ru-RU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ru-RU" baseline="30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cxnSp>
        <p:nvCxnSpPr>
          <p:cNvPr id="28" name="Соединитель: изогнутый 27"/>
          <p:cNvCxnSpPr>
            <a:stCxn id="22" idx="7"/>
            <a:endCxn id="26" idx="1"/>
          </p:cNvCxnSpPr>
          <p:nvPr/>
        </p:nvCxnSpPr>
        <p:spPr>
          <a:xfrm rot="5400000" flipH="1" flipV="1">
            <a:off x="9552384" y="3953409"/>
            <a:ext cx="12700" cy="1612504"/>
          </a:xfrm>
          <a:prstGeom prst="curvedConnector3">
            <a:avLst>
              <a:gd name="adj1" fmla="val 312854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Соединитель: изогнутый 28"/>
          <p:cNvCxnSpPr>
            <a:stCxn id="26" idx="3"/>
            <a:endCxn id="22" idx="5"/>
          </p:cNvCxnSpPr>
          <p:nvPr/>
        </p:nvCxnSpPr>
        <p:spPr>
          <a:xfrm rot="5400000">
            <a:off x="9552384" y="4768087"/>
            <a:ext cx="12700" cy="1612504"/>
          </a:xfrm>
          <a:prstGeom prst="curvedConnector3">
            <a:avLst>
              <a:gd name="adj1" fmla="val 312854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760296" y="5608986"/>
            <a:ext cx="15841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Прием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ru-RU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36160" y="6031741"/>
            <a:ext cx="4176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Диаграмма состояний процесса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ru-RU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832304" y="4509121"/>
            <a:ext cx="14606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Отправка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ru-RU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8189580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  <p:bldP spid="11" grpId="0"/>
      <p:bldP spid="13" grpId="0"/>
      <p:bldP spid="14" grpId="0"/>
      <p:bldP spid="16" grpId="0" animBg="1"/>
      <p:bldP spid="17" grpId="0" animBg="1"/>
      <p:bldP spid="21" grpId="0"/>
      <p:bldP spid="23" grpId="0"/>
      <p:bldP spid="24" grpId="0"/>
      <p:bldP spid="22" grpId="0" animBg="1"/>
      <p:bldP spid="26" grpId="0" animBg="1"/>
      <p:bldP spid="30" grpId="0"/>
      <p:bldP spid="31" grpId="0"/>
      <p:bldP spid="3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215680" y="1700808"/>
            <a:ext cx="8640960" cy="496855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288010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Примеры выполнения</a:t>
            </a:r>
          </a:p>
        </p:txBody>
      </p:sp>
      <p:sp>
        <p:nvSpPr>
          <p:cNvPr id="20" name="_h1"/>
          <p:cNvSpPr>
            <a:spLocks noGrp="1" noChangeArrowheads="1"/>
          </p:cNvSpPr>
          <p:nvPr>
            <p:ph type="title"/>
          </p:nvPr>
        </p:nvSpPr>
        <p:spPr>
          <a:xfrm>
            <a:off x="3216002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Модель распределенной программы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6160" y="2132856"/>
            <a:ext cx="68407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Пример выполнения (состояния и переходы)</a:t>
            </a:r>
          </a:p>
        </p:txBody>
      </p:sp>
      <p:sp>
        <p:nvSpPr>
          <p:cNvPr id="3" name="Овал 2"/>
          <p:cNvSpPr/>
          <p:nvPr/>
        </p:nvSpPr>
        <p:spPr>
          <a:xfrm>
            <a:off x="3935760" y="2852936"/>
            <a:ext cx="828000" cy="82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ru-RU" baseline="-25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Овал 21"/>
          <p:cNvSpPr/>
          <p:nvPr/>
        </p:nvSpPr>
        <p:spPr>
          <a:xfrm>
            <a:off x="6096080" y="2852936"/>
            <a:ext cx="828000" cy="82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baseline="-25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ru-RU" baseline="-25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5" name="Прямая со стрелкой 14"/>
          <p:cNvCxnSpPr>
            <a:stCxn id="3" idx="7"/>
            <a:endCxn id="22" idx="1"/>
          </p:cNvCxnSpPr>
          <p:nvPr/>
        </p:nvCxnSpPr>
        <p:spPr>
          <a:xfrm>
            <a:off x="4642502" y="2974194"/>
            <a:ext cx="157483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 стрелкой 25"/>
          <p:cNvCxnSpPr>
            <a:stCxn id="22" idx="3"/>
            <a:endCxn id="3" idx="5"/>
          </p:cNvCxnSpPr>
          <p:nvPr/>
        </p:nvCxnSpPr>
        <p:spPr>
          <a:xfrm flipH="1">
            <a:off x="4642502" y="3559678"/>
            <a:ext cx="157483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871864" y="3573017"/>
            <a:ext cx="115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Канал пуст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71864" y="2636913"/>
            <a:ext cx="115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Канал пуст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55672" y="2636912"/>
            <a:ext cx="468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ru-RU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ru-RU" baseline="30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ru-RU" baseline="30000" dirty="0"/>
          </a:p>
        </p:txBody>
      </p:sp>
      <p:sp>
        <p:nvSpPr>
          <p:cNvPr id="34" name="TextBox 33"/>
          <p:cNvSpPr txBox="1"/>
          <p:nvPr/>
        </p:nvSpPr>
        <p:spPr>
          <a:xfrm>
            <a:off x="6708000" y="2636912"/>
            <a:ext cx="468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ru-RU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ru-RU" baseline="30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ru-RU" baseline="30000" dirty="0"/>
          </a:p>
        </p:txBody>
      </p:sp>
      <p:sp>
        <p:nvSpPr>
          <p:cNvPr id="35" name="Прямоугольник 34"/>
          <p:cNvSpPr/>
          <p:nvPr/>
        </p:nvSpPr>
        <p:spPr>
          <a:xfrm>
            <a:off x="3755672" y="2594522"/>
            <a:ext cx="3420448" cy="1605081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TextBox 35"/>
          <p:cNvSpPr txBox="1"/>
          <p:nvPr/>
        </p:nvSpPr>
        <p:spPr>
          <a:xfrm>
            <a:off x="4628572" y="3861048"/>
            <a:ext cx="1944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1600" baseline="30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Начальное</a:t>
            </a:r>
            <a:endParaRPr lang="ru-RU" sz="16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Овал 47"/>
          <p:cNvSpPr/>
          <p:nvPr/>
        </p:nvSpPr>
        <p:spPr>
          <a:xfrm>
            <a:off x="3935760" y="4962654"/>
            <a:ext cx="828000" cy="82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ru-RU" baseline="-25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Овал 48"/>
          <p:cNvSpPr/>
          <p:nvPr/>
        </p:nvSpPr>
        <p:spPr>
          <a:xfrm>
            <a:off x="6096080" y="4962654"/>
            <a:ext cx="828000" cy="82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baseline="-25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ru-RU" baseline="-25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1" name="Прямая со стрелкой 50"/>
          <p:cNvCxnSpPr>
            <a:stCxn id="48" idx="7"/>
            <a:endCxn id="49" idx="1"/>
          </p:cNvCxnSpPr>
          <p:nvPr/>
        </p:nvCxnSpPr>
        <p:spPr>
          <a:xfrm>
            <a:off x="4642502" y="5083912"/>
            <a:ext cx="157483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Прямая со стрелкой 51"/>
          <p:cNvCxnSpPr>
            <a:stCxn id="49" idx="3"/>
            <a:endCxn id="48" idx="5"/>
          </p:cNvCxnSpPr>
          <p:nvPr/>
        </p:nvCxnSpPr>
        <p:spPr>
          <a:xfrm flipH="1">
            <a:off x="4642502" y="5669396"/>
            <a:ext cx="157483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4871864" y="5661249"/>
            <a:ext cx="115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Канал пуст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755672" y="4746630"/>
            <a:ext cx="468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ru-RU" baseline="30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ru-RU" baseline="30000" dirty="0"/>
          </a:p>
        </p:txBody>
      </p:sp>
      <p:sp>
        <p:nvSpPr>
          <p:cNvPr id="56" name="TextBox 55"/>
          <p:cNvSpPr txBox="1"/>
          <p:nvPr/>
        </p:nvSpPr>
        <p:spPr>
          <a:xfrm>
            <a:off x="6708000" y="4746630"/>
            <a:ext cx="468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ru-RU" baseline="30000" dirty="0"/>
          </a:p>
        </p:txBody>
      </p:sp>
      <p:sp>
        <p:nvSpPr>
          <p:cNvPr id="57" name="Прямоугольник 56"/>
          <p:cNvSpPr/>
          <p:nvPr/>
        </p:nvSpPr>
        <p:spPr>
          <a:xfrm>
            <a:off x="3755672" y="4725145"/>
            <a:ext cx="3420448" cy="158417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8" name="TextBox 57"/>
          <p:cNvSpPr txBox="1"/>
          <p:nvPr/>
        </p:nvSpPr>
        <p:spPr>
          <a:xfrm>
            <a:off x="4628572" y="5970766"/>
            <a:ext cx="1944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ru-RU" sz="1600" baseline="30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ru-RU" sz="16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Овал 59"/>
          <p:cNvSpPr/>
          <p:nvPr/>
        </p:nvSpPr>
        <p:spPr>
          <a:xfrm>
            <a:off x="8076288" y="4962654"/>
            <a:ext cx="828000" cy="82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ru-RU" baseline="-25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Овал 60"/>
          <p:cNvSpPr/>
          <p:nvPr/>
        </p:nvSpPr>
        <p:spPr>
          <a:xfrm>
            <a:off x="10236608" y="4962654"/>
            <a:ext cx="828000" cy="82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baseline="-25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ru-RU" baseline="-25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3" name="Прямая со стрелкой 62"/>
          <p:cNvCxnSpPr>
            <a:stCxn id="60" idx="7"/>
            <a:endCxn id="61" idx="1"/>
          </p:cNvCxnSpPr>
          <p:nvPr/>
        </p:nvCxnSpPr>
        <p:spPr>
          <a:xfrm>
            <a:off x="8783030" y="5083912"/>
            <a:ext cx="157483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Прямая со стрелкой 63"/>
          <p:cNvCxnSpPr>
            <a:stCxn id="61" idx="3"/>
            <a:endCxn id="60" idx="5"/>
          </p:cNvCxnSpPr>
          <p:nvPr/>
        </p:nvCxnSpPr>
        <p:spPr>
          <a:xfrm flipH="1">
            <a:off x="8783030" y="5669396"/>
            <a:ext cx="157483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7896200" y="4746630"/>
            <a:ext cx="468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ru-RU" baseline="30000" dirty="0"/>
          </a:p>
        </p:txBody>
      </p:sp>
      <p:sp>
        <p:nvSpPr>
          <p:cNvPr id="68" name="TextBox 67"/>
          <p:cNvSpPr txBox="1"/>
          <p:nvPr/>
        </p:nvSpPr>
        <p:spPr>
          <a:xfrm>
            <a:off x="10848528" y="4746630"/>
            <a:ext cx="468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ru-RU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ru-RU" baseline="30000" dirty="0"/>
          </a:p>
        </p:txBody>
      </p:sp>
      <p:sp>
        <p:nvSpPr>
          <p:cNvPr id="69" name="Прямоугольник 68"/>
          <p:cNvSpPr/>
          <p:nvPr/>
        </p:nvSpPr>
        <p:spPr>
          <a:xfrm>
            <a:off x="7896200" y="4725938"/>
            <a:ext cx="3420448" cy="158338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0" name="TextBox 69"/>
          <p:cNvSpPr txBox="1"/>
          <p:nvPr/>
        </p:nvSpPr>
        <p:spPr>
          <a:xfrm>
            <a:off x="8769100" y="5970766"/>
            <a:ext cx="1944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16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ru-RU" sz="16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Овал 70"/>
          <p:cNvSpPr/>
          <p:nvPr/>
        </p:nvSpPr>
        <p:spPr>
          <a:xfrm>
            <a:off x="8076288" y="2852936"/>
            <a:ext cx="828000" cy="82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ru-RU" baseline="-25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Овал 71"/>
          <p:cNvSpPr/>
          <p:nvPr/>
        </p:nvSpPr>
        <p:spPr>
          <a:xfrm>
            <a:off x="10236608" y="2852936"/>
            <a:ext cx="828000" cy="82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baseline="-25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ru-RU" baseline="-25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4" name="Прямая со стрелкой 73"/>
          <p:cNvCxnSpPr>
            <a:stCxn id="71" idx="7"/>
            <a:endCxn id="72" idx="1"/>
          </p:cNvCxnSpPr>
          <p:nvPr/>
        </p:nvCxnSpPr>
        <p:spPr>
          <a:xfrm>
            <a:off x="8783030" y="2974194"/>
            <a:ext cx="157483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Прямая со стрелкой 74"/>
          <p:cNvCxnSpPr>
            <a:stCxn id="72" idx="3"/>
            <a:endCxn id="71" idx="5"/>
          </p:cNvCxnSpPr>
          <p:nvPr/>
        </p:nvCxnSpPr>
        <p:spPr>
          <a:xfrm flipH="1">
            <a:off x="8783030" y="3559678"/>
            <a:ext cx="157483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9012392" y="3573017"/>
            <a:ext cx="115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Канал пуст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896200" y="2636912"/>
            <a:ext cx="468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ru-RU" baseline="30000" dirty="0"/>
          </a:p>
        </p:txBody>
      </p:sp>
      <p:sp>
        <p:nvSpPr>
          <p:cNvPr id="79" name="TextBox 78"/>
          <p:cNvSpPr txBox="1"/>
          <p:nvPr/>
        </p:nvSpPr>
        <p:spPr>
          <a:xfrm>
            <a:off x="10848528" y="2636912"/>
            <a:ext cx="468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ru-RU" baseline="30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ru-RU" baseline="30000" dirty="0"/>
          </a:p>
        </p:txBody>
      </p:sp>
      <p:sp>
        <p:nvSpPr>
          <p:cNvPr id="80" name="Прямоугольник 79"/>
          <p:cNvSpPr/>
          <p:nvPr/>
        </p:nvSpPr>
        <p:spPr>
          <a:xfrm>
            <a:off x="7896200" y="2594522"/>
            <a:ext cx="3420448" cy="1605081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1" name="TextBox 80"/>
          <p:cNvSpPr txBox="1"/>
          <p:nvPr/>
        </p:nvSpPr>
        <p:spPr>
          <a:xfrm>
            <a:off x="8769100" y="3861048"/>
            <a:ext cx="1944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ru-RU" sz="1600" baseline="30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ru-RU" sz="16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" name="Стрелка: вправо 81"/>
          <p:cNvSpPr/>
          <p:nvPr/>
        </p:nvSpPr>
        <p:spPr>
          <a:xfrm>
            <a:off x="7320136" y="3140968"/>
            <a:ext cx="504056" cy="418710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3" name="Стрелка: вниз 82"/>
          <p:cNvSpPr/>
          <p:nvPr/>
        </p:nvSpPr>
        <p:spPr>
          <a:xfrm>
            <a:off x="9480376" y="4251448"/>
            <a:ext cx="432048" cy="374567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5" name="Стрелка: влево 84"/>
          <p:cNvSpPr/>
          <p:nvPr/>
        </p:nvSpPr>
        <p:spPr>
          <a:xfrm>
            <a:off x="7302100" y="5148416"/>
            <a:ext cx="504056" cy="456476"/>
          </a:xfrm>
          <a:prstGeom prst="lef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3" name="TextBox 52"/>
          <p:cNvSpPr txBox="1"/>
          <p:nvPr/>
        </p:nvSpPr>
        <p:spPr>
          <a:xfrm>
            <a:off x="3359696" y="1700809"/>
            <a:ext cx="80648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Обмен сообщениями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9354504" y="2774668"/>
            <a:ext cx="467984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ru-RU" sz="1400" baseline="30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59" name="Прямоугольник 58"/>
          <p:cNvSpPr/>
          <p:nvPr/>
        </p:nvSpPr>
        <p:spPr>
          <a:xfrm>
            <a:off x="9336360" y="4941168"/>
            <a:ext cx="467984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ru-RU" sz="1400" baseline="30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7" name="Прямоугольник 76"/>
          <p:cNvSpPr/>
          <p:nvPr/>
        </p:nvSpPr>
        <p:spPr>
          <a:xfrm>
            <a:off x="9336360" y="5517232"/>
            <a:ext cx="467984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sz="1400" baseline="30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ru-RU" sz="1400" baseline="30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" name="Прямоугольник 85"/>
          <p:cNvSpPr/>
          <p:nvPr/>
        </p:nvSpPr>
        <p:spPr>
          <a:xfrm>
            <a:off x="5195968" y="4941168"/>
            <a:ext cx="467984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ru-RU" sz="1400" baseline="30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50" name="Стрелка: вверх 49">
            <a:extLst>
              <a:ext uri="{FF2B5EF4-FFF2-40B4-BE49-F238E27FC236}">
                <a16:creationId xmlns="" xmlns:a16="http://schemas.microsoft.com/office/drawing/2014/main" id="{4142114E-97A3-476F-AF7B-A7C8A838B9D7}"/>
              </a:ext>
            </a:extLst>
          </p:cNvPr>
          <p:cNvSpPr/>
          <p:nvPr/>
        </p:nvSpPr>
        <p:spPr>
          <a:xfrm>
            <a:off x="5152859" y="4251448"/>
            <a:ext cx="484632" cy="374567"/>
          </a:xfrm>
          <a:prstGeom prst="up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600642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2" grpId="0" animBg="1"/>
      <p:bldP spid="31" grpId="0"/>
      <p:bldP spid="32" grpId="0"/>
      <p:bldP spid="33" grpId="0"/>
      <p:bldP spid="34" grpId="0"/>
      <p:bldP spid="35" grpId="0" animBg="1"/>
      <p:bldP spid="36" grpId="0"/>
      <p:bldP spid="48" grpId="0" animBg="1"/>
      <p:bldP spid="49" grpId="0" animBg="1"/>
      <p:bldP spid="54" grpId="0"/>
      <p:bldP spid="55" grpId="0"/>
      <p:bldP spid="56" grpId="0"/>
      <p:bldP spid="57" grpId="0" animBg="1"/>
      <p:bldP spid="58" grpId="0"/>
      <p:bldP spid="60" grpId="0" animBg="1"/>
      <p:bldP spid="61" grpId="0" animBg="1"/>
      <p:bldP spid="67" grpId="0"/>
      <p:bldP spid="68" grpId="0"/>
      <p:bldP spid="69" grpId="0" animBg="1"/>
      <p:bldP spid="70" grpId="0"/>
      <p:bldP spid="71" grpId="0" animBg="1"/>
      <p:bldP spid="72" grpId="0" animBg="1"/>
      <p:bldP spid="76" grpId="0"/>
      <p:bldP spid="78" grpId="0"/>
      <p:bldP spid="79" grpId="0"/>
      <p:bldP spid="80" grpId="0" animBg="1"/>
      <p:bldP spid="81" grpId="0"/>
      <p:bldP spid="82" grpId="0" animBg="1"/>
      <p:bldP spid="83" grpId="0" animBg="1"/>
      <p:bldP spid="85" grpId="0" animBg="1"/>
      <p:bldP spid="2" grpId="0" animBg="1"/>
      <p:bldP spid="59" grpId="0" animBg="1"/>
      <p:bldP spid="77" grpId="0" animBg="1"/>
      <p:bldP spid="86" grpId="0" animBg="1"/>
      <p:bldP spid="5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215680" y="1700808"/>
            <a:ext cx="8640960" cy="496855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288010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Выполнение распределенной программы</a:t>
            </a:r>
          </a:p>
        </p:txBody>
      </p:sp>
      <p:sp>
        <p:nvSpPr>
          <p:cNvPr id="20" name="_h1"/>
          <p:cNvSpPr>
            <a:spLocks noGrp="1" noChangeArrowheads="1"/>
          </p:cNvSpPr>
          <p:nvPr>
            <p:ph type="title"/>
          </p:nvPr>
        </p:nvSpPr>
        <p:spPr>
          <a:xfrm>
            <a:off x="3216002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Модель распределенной программы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59696" y="1700808"/>
            <a:ext cx="835292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Справедливость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(fair execution)</a:t>
            </a:r>
          </a:p>
          <a:p>
            <a:pPr>
              <a:spcBef>
                <a:spcPts val="600"/>
              </a:spcBef>
            </a:pPr>
            <a:r>
              <a:rPr lang="ru-RU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Слабая справедливость</a:t>
            </a:r>
          </a:p>
          <a:p>
            <a:pPr>
              <a:spcBef>
                <a:spcPts val="600"/>
              </a:spcBef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Не рассматриваются выполнения, в которых некоторые события оказываются постоянно допустимыми для бесконечного числа идущих подряд глобальных состояний, но при этом ни разу не происходят из-за того, что всякий раз выполнение продолжается за счет других допустимых событий.</a:t>
            </a:r>
          </a:p>
          <a:p>
            <a:pPr>
              <a:spcBef>
                <a:spcPts val="600"/>
              </a:spcBef>
            </a:pPr>
            <a:r>
              <a:rPr lang="ru-RU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Сильная справедливость</a:t>
            </a:r>
          </a:p>
          <a:p>
            <a:pPr>
              <a:spcBef>
                <a:spcPts val="600"/>
              </a:spcBef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Не рассматриваются выполнения, в которых некоторые события оказываются бесконечно часто допустимыми, но при этом ни разу не происходят из-за того, что всякий раз выполнение продолжается за счет других допустимых событий.</a:t>
            </a:r>
          </a:p>
        </p:txBody>
      </p:sp>
    </p:spTree>
    <p:extLst>
      <p:ext uri="{BB962C8B-B14F-4D97-AF65-F5344CB8AC3E}">
        <p14:creationId xmlns:p14="http://schemas.microsoft.com/office/powerpoint/2010/main" val="387986611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215680" y="1700808"/>
            <a:ext cx="8640960" cy="496855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288010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Выполнение распределенной программы</a:t>
            </a:r>
          </a:p>
        </p:txBody>
      </p:sp>
      <p:sp>
        <p:nvSpPr>
          <p:cNvPr id="20" name="_h1"/>
          <p:cNvSpPr>
            <a:spLocks noGrp="1" noChangeArrowheads="1"/>
          </p:cNvSpPr>
          <p:nvPr>
            <p:ph type="title"/>
          </p:nvPr>
        </p:nvSpPr>
        <p:spPr>
          <a:xfrm>
            <a:off x="3216002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Модель распределенной программы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59696" y="1700809"/>
            <a:ext cx="8352928" cy="3216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Безопасность (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safety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600"/>
              </a:spcBef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Условие безопасности требует, чтобы определенное утверждение оставалось истинным </a:t>
            </a:r>
            <a:r>
              <a:rPr lang="ru-RU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 каждом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достижимом глобальном состоянии </a:t>
            </a:r>
            <a:r>
              <a:rPr lang="ru-RU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 любом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выполнении – ничего «плохого» не происходит.</a:t>
            </a:r>
          </a:p>
          <a:p>
            <a:pPr algn="ctr">
              <a:spcBef>
                <a:spcPts val="600"/>
              </a:spcBef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Живость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(liveness)</a:t>
            </a:r>
          </a:p>
          <a:p>
            <a:pPr>
              <a:spcBef>
                <a:spcPts val="600"/>
              </a:spcBef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Условие живости требует, чтобы определенное утверждение становилось истинным </a:t>
            </a:r>
            <a:r>
              <a:rPr lang="ru-RU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хотя бы в одном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достижимом глобальном состоянии </a:t>
            </a:r>
            <a:r>
              <a:rPr lang="ru-RU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 любом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выполнении – что-то «хорошее» рано или поздно случится.</a:t>
            </a:r>
          </a:p>
        </p:txBody>
      </p:sp>
    </p:spTree>
    <p:extLst>
      <p:ext uri="{BB962C8B-B14F-4D97-AF65-F5344CB8AC3E}">
        <p14:creationId xmlns:p14="http://schemas.microsoft.com/office/powerpoint/2010/main" val="271526910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216002" y="1700808"/>
            <a:ext cx="8712646" cy="496855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288010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Причинно-следственный порядок</a:t>
            </a:r>
          </a:p>
        </p:txBody>
      </p:sp>
      <p:sp>
        <p:nvSpPr>
          <p:cNvPr id="20" name="_h1"/>
          <p:cNvSpPr>
            <a:spLocks noGrp="1" noChangeArrowheads="1"/>
          </p:cNvSpPr>
          <p:nvPr>
            <p:ph type="title"/>
          </p:nvPr>
        </p:nvSpPr>
        <p:spPr>
          <a:xfrm>
            <a:off x="3216002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Модель распределенной программы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59696" y="1700808"/>
            <a:ext cx="8424614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Пусть задано выполнение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 =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2000" b="0" i="1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e</a:t>
            </a:r>
            <a:r>
              <a:rPr kumimoji="0" lang="en-US" sz="2000" b="0" i="1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… e</a:t>
            </a:r>
            <a:r>
              <a:rPr kumimoji="0" lang="en-US" sz="2000" b="0" i="1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e</a:t>
            </a:r>
            <a:r>
              <a:rPr kumimoji="0" lang="en-US" sz="2000" b="0" i="1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x+1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…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).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Будем говорить, что событие </a:t>
            </a:r>
            <a:r>
              <a:rPr kumimoji="0" lang="en-US" sz="20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2000" b="0" i="1" u="none" strike="noStrike" kern="1200" cap="none" spc="0" normalizeH="0" baseline="30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наступает раньше события </a:t>
            </a:r>
            <a:r>
              <a:rPr kumimoji="0" lang="en-US" sz="20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2000" b="0" i="1" u="none" strike="noStrike" kern="1200" cap="none" spc="0" normalizeH="0" baseline="30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если в выполнении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событие </a:t>
            </a:r>
            <a:r>
              <a:rPr kumimoji="0" lang="en-US" sz="20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2000" b="0" i="1" u="none" strike="noStrike" kern="1200" cap="none" spc="0" normalizeH="0" baseline="30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предшествует событию </a:t>
            </a:r>
            <a:r>
              <a:rPr kumimoji="0" lang="en-US" sz="20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2000" b="0" i="1" u="none" strike="noStrike" kern="1200" cap="none" spc="0" normalizeH="0" baseline="30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С последовательностью событий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связана последовательность глобальных состояний (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</a:t>
            </a:r>
            <a:r>
              <a:rPr kumimoji="0" lang="en-US" sz="2000" b="0" i="1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S</a:t>
            </a:r>
            <a:r>
              <a:rPr kumimoji="0" lang="en-US" sz="2000" b="0" i="1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,… </a:t>
            </a:r>
            <a:r>
              <a:rPr kumimoji="0" lang="en-US" sz="20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</a:t>
            </a:r>
            <a:r>
              <a:rPr kumimoji="0" lang="en-US" sz="2000" b="0" i="1" u="none" strike="noStrike" kern="1200" cap="none" spc="0" normalizeH="0" baseline="30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S</a:t>
            </a:r>
            <a:r>
              <a:rPr kumimoji="0" lang="en-US" sz="2000" b="0" i="1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x+1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…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такая что для любого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/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 ≥ 0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</a:t>
            </a:r>
            <a:r>
              <a:rPr kumimoji="0" lang="en-US" sz="2000" b="0" i="1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x+1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= e</a:t>
            </a:r>
            <a:r>
              <a:rPr kumimoji="0" lang="en-US" sz="2000" b="0" i="1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</a:t>
            </a:r>
            <a:r>
              <a:rPr kumimoji="0" lang="en-US" sz="20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</a:t>
            </a:r>
            <a:r>
              <a:rPr kumimoji="0" lang="en-US" sz="2000" b="0" i="1" u="none" strike="noStrike" kern="1200" cap="none" spc="0" normalizeH="0" baseline="30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не всегда однозначно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определяет последовательность глобальных состояний.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Если в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содержится хотя бы одно событие для каждого процесса, то начальное глобальное состояние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</a:t>
            </a:r>
            <a:r>
              <a:rPr kumimoji="0" lang="en-US" sz="2000" b="0" i="1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определяется однозначно  и вся последовательность (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</a:t>
            </a:r>
            <a:r>
              <a:rPr kumimoji="0" lang="en-US" sz="2000" b="0" i="1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S</a:t>
            </a:r>
            <a:r>
              <a:rPr kumimoji="0" lang="en-US" sz="2000" b="0" i="1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,… </a:t>
            </a:r>
            <a:r>
              <a:rPr kumimoji="0" lang="en-US" sz="20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</a:t>
            </a:r>
            <a:r>
              <a:rPr kumimoji="0" lang="en-US" sz="2000" b="0" i="1" u="none" strike="noStrike" kern="1200" cap="none" spc="0" normalizeH="0" baseline="30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S</a:t>
            </a:r>
            <a:r>
              <a:rPr kumimoji="0" lang="en-US" sz="2000" b="0" i="1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x+1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…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определяется однозначно.</a:t>
            </a:r>
          </a:p>
        </p:txBody>
      </p:sp>
    </p:spTree>
    <p:extLst>
      <p:ext uri="{BB962C8B-B14F-4D97-AF65-F5344CB8AC3E}">
        <p14:creationId xmlns:p14="http://schemas.microsoft.com/office/powerpoint/2010/main" val="214929537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216002" y="1700808"/>
            <a:ext cx="8712646" cy="496855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288010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Причинно-следственный порядок</a:t>
            </a:r>
          </a:p>
        </p:txBody>
      </p:sp>
      <p:sp>
        <p:nvSpPr>
          <p:cNvPr id="20" name="_h1"/>
          <p:cNvSpPr>
            <a:spLocks noGrp="1" noChangeArrowheads="1"/>
          </p:cNvSpPr>
          <p:nvPr>
            <p:ph type="title"/>
          </p:nvPr>
        </p:nvSpPr>
        <p:spPr>
          <a:xfrm>
            <a:off x="3216002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Модель распределенной программы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59696" y="1844825"/>
            <a:ext cx="84246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ru-RU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Пространственно-временные диаграммы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575720" y="3068960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baseline="-25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ru-RU" baseline="-25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75720" y="3789040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baseline="-25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ru-RU" baseline="-25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575720" y="4509120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baseline="-25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ru-RU" baseline="-25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575720" y="521990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endParaRPr lang="ru-RU" baseline="-25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Прямая со стрелкой 3"/>
          <p:cNvCxnSpPr>
            <a:cxnSpLocks/>
          </p:cNvCxnSpPr>
          <p:nvPr/>
        </p:nvCxnSpPr>
        <p:spPr>
          <a:xfrm>
            <a:off x="4007768" y="3430800"/>
            <a:ext cx="6840760" cy="0"/>
          </a:xfrm>
          <a:prstGeom prst="straightConnector1">
            <a:avLst/>
          </a:prstGeom>
          <a:ln w="12700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>
            <a:cxnSpLocks/>
          </p:cNvCxnSpPr>
          <p:nvPr/>
        </p:nvCxnSpPr>
        <p:spPr>
          <a:xfrm>
            <a:off x="4007768" y="4149080"/>
            <a:ext cx="6840760" cy="0"/>
          </a:xfrm>
          <a:prstGeom prst="straightConnector1">
            <a:avLst/>
          </a:prstGeom>
          <a:ln w="12700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>
            <a:cxnSpLocks/>
          </p:cNvCxnSpPr>
          <p:nvPr/>
        </p:nvCxnSpPr>
        <p:spPr>
          <a:xfrm>
            <a:off x="4007768" y="4869160"/>
            <a:ext cx="6840760" cy="0"/>
          </a:xfrm>
          <a:prstGeom prst="straightConnector1">
            <a:avLst/>
          </a:prstGeom>
          <a:ln w="12700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/>
          <p:cNvCxnSpPr>
            <a:cxnSpLocks/>
          </p:cNvCxnSpPr>
          <p:nvPr/>
        </p:nvCxnSpPr>
        <p:spPr>
          <a:xfrm>
            <a:off x="4007768" y="5589240"/>
            <a:ext cx="6840760" cy="0"/>
          </a:xfrm>
          <a:prstGeom prst="straightConnector1">
            <a:avLst/>
          </a:prstGeom>
          <a:ln w="15875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Овал 11"/>
          <p:cNvSpPr/>
          <p:nvPr/>
        </p:nvSpPr>
        <p:spPr>
          <a:xfrm>
            <a:off x="4475832" y="338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prstClr val="white"/>
              </a:solidFill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5447928" y="338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prstClr val="white"/>
              </a:solidFill>
            </a:endParaRPr>
          </a:p>
        </p:txBody>
      </p:sp>
      <p:sp>
        <p:nvSpPr>
          <p:cNvPr id="19" name="Овал 18"/>
          <p:cNvSpPr/>
          <p:nvPr/>
        </p:nvSpPr>
        <p:spPr>
          <a:xfrm>
            <a:off x="6852096" y="338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prstClr val="white"/>
              </a:solidFill>
            </a:endParaRPr>
          </a:p>
        </p:txBody>
      </p:sp>
      <p:sp>
        <p:nvSpPr>
          <p:cNvPr id="21" name="Овал 20"/>
          <p:cNvSpPr/>
          <p:nvPr/>
        </p:nvSpPr>
        <p:spPr>
          <a:xfrm>
            <a:off x="7644184" y="338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prstClr val="white"/>
              </a:solidFill>
            </a:endParaRPr>
          </a:p>
        </p:txBody>
      </p:sp>
      <p:sp>
        <p:nvSpPr>
          <p:cNvPr id="22" name="Овал 21"/>
          <p:cNvSpPr/>
          <p:nvPr/>
        </p:nvSpPr>
        <p:spPr>
          <a:xfrm>
            <a:off x="4835872" y="410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prstClr val="white"/>
              </a:solidFill>
            </a:endParaRPr>
          </a:p>
        </p:txBody>
      </p:sp>
      <p:sp>
        <p:nvSpPr>
          <p:cNvPr id="23" name="Овал 22"/>
          <p:cNvSpPr/>
          <p:nvPr/>
        </p:nvSpPr>
        <p:spPr>
          <a:xfrm>
            <a:off x="5699968" y="410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prstClr val="white"/>
              </a:solidFill>
            </a:endParaRPr>
          </a:p>
        </p:txBody>
      </p:sp>
      <p:sp>
        <p:nvSpPr>
          <p:cNvPr id="24" name="Овал 23"/>
          <p:cNvSpPr/>
          <p:nvPr/>
        </p:nvSpPr>
        <p:spPr>
          <a:xfrm>
            <a:off x="6276032" y="410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prstClr val="white"/>
              </a:solidFill>
            </a:endParaRPr>
          </a:p>
        </p:txBody>
      </p:sp>
      <p:sp>
        <p:nvSpPr>
          <p:cNvPr id="25" name="Овал 24"/>
          <p:cNvSpPr/>
          <p:nvPr/>
        </p:nvSpPr>
        <p:spPr>
          <a:xfrm>
            <a:off x="9264376" y="410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prstClr val="white"/>
              </a:solidFill>
            </a:endParaRPr>
          </a:p>
        </p:txBody>
      </p:sp>
      <p:sp>
        <p:nvSpPr>
          <p:cNvPr id="26" name="Овал 25"/>
          <p:cNvSpPr/>
          <p:nvPr/>
        </p:nvSpPr>
        <p:spPr>
          <a:xfrm>
            <a:off x="10164464" y="410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prstClr val="white"/>
              </a:solidFill>
            </a:endParaRPr>
          </a:p>
        </p:txBody>
      </p:sp>
      <p:sp>
        <p:nvSpPr>
          <p:cNvPr id="27" name="Овал 26"/>
          <p:cNvSpPr/>
          <p:nvPr/>
        </p:nvSpPr>
        <p:spPr>
          <a:xfrm>
            <a:off x="5123904" y="482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prstClr val="white"/>
              </a:solidFill>
            </a:endParaRPr>
          </a:p>
        </p:txBody>
      </p:sp>
      <p:sp>
        <p:nvSpPr>
          <p:cNvPr id="28" name="Овал 27"/>
          <p:cNvSpPr/>
          <p:nvPr/>
        </p:nvSpPr>
        <p:spPr>
          <a:xfrm>
            <a:off x="7248128" y="482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prstClr val="white"/>
              </a:solidFill>
            </a:endParaRPr>
          </a:p>
        </p:txBody>
      </p:sp>
      <p:sp>
        <p:nvSpPr>
          <p:cNvPr id="29" name="Овал 28"/>
          <p:cNvSpPr/>
          <p:nvPr/>
        </p:nvSpPr>
        <p:spPr>
          <a:xfrm>
            <a:off x="8256240" y="482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prstClr val="white"/>
              </a:solidFill>
            </a:endParaRPr>
          </a:p>
        </p:txBody>
      </p:sp>
      <p:sp>
        <p:nvSpPr>
          <p:cNvPr id="30" name="Овал 29"/>
          <p:cNvSpPr/>
          <p:nvPr/>
        </p:nvSpPr>
        <p:spPr>
          <a:xfrm>
            <a:off x="8616280" y="482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prstClr val="white"/>
              </a:solidFill>
            </a:endParaRPr>
          </a:p>
        </p:txBody>
      </p:sp>
      <p:cxnSp>
        <p:nvCxnSpPr>
          <p:cNvPr id="17" name="Прямая со стрелкой 16"/>
          <p:cNvCxnSpPr>
            <a:stCxn id="22" idx="7"/>
            <a:endCxn id="18" idx="3"/>
          </p:cNvCxnSpPr>
          <p:nvPr/>
        </p:nvCxnSpPr>
        <p:spPr>
          <a:xfrm flipV="1">
            <a:off x="4928056" y="3476184"/>
            <a:ext cx="535688" cy="6436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/>
          <p:cNvCxnSpPr>
            <a:stCxn id="24" idx="7"/>
            <a:endCxn id="19" idx="3"/>
          </p:cNvCxnSpPr>
          <p:nvPr/>
        </p:nvCxnSpPr>
        <p:spPr>
          <a:xfrm flipV="1">
            <a:off x="6368216" y="3476184"/>
            <a:ext cx="499696" cy="6436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/>
          <p:cNvCxnSpPr>
            <a:cxnSpLocks/>
            <a:stCxn id="21" idx="4"/>
            <a:endCxn id="29" idx="1"/>
          </p:cNvCxnSpPr>
          <p:nvPr/>
        </p:nvCxnSpPr>
        <p:spPr>
          <a:xfrm>
            <a:off x="7698184" y="3492000"/>
            <a:ext cx="573872" cy="134781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/>
          <p:cNvCxnSpPr>
            <a:stCxn id="30" idx="7"/>
            <a:endCxn id="25" idx="3"/>
          </p:cNvCxnSpPr>
          <p:nvPr/>
        </p:nvCxnSpPr>
        <p:spPr>
          <a:xfrm flipV="1">
            <a:off x="8708464" y="4196184"/>
            <a:ext cx="571728" cy="6436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0632504" y="2987660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время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5800" y="2852936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endParaRPr lang="ru-RU" dirty="0">
              <a:solidFill>
                <a:prstClr val="black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295800" y="306896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ru-RU" sz="1400" baseline="-25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ru-RU" sz="1400" baseline="30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03912" y="306896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ru-RU" sz="1400" baseline="-25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1400" baseline="30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ru-RU" sz="1400" baseline="30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672064" y="306896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ru-RU" sz="1400" baseline="-25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1400" baseline="30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ru-RU" sz="1400" baseline="30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464152" y="306896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ru-RU" sz="1400" baseline="-25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1400" baseline="30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ru-RU" sz="1400" baseline="30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583832" y="378904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1400" baseline="-25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ru-RU" sz="1400" baseline="30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19936" y="378904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1400" baseline="-25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1400" baseline="30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ru-RU" sz="1400" baseline="30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023992" y="378904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1400" baseline="-25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1400" baseline="30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ru-RU" sz="1400" baseline="30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048328" y="378904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1400" baseline="-25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1400" baseline="30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ru-RU" sz="1400" baseline="30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9912424" y="378904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1400" baseline="-25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1400" baseline="30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ru-RU" sz="1400" baseline="30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943872" y="4921424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1400" baseline="-25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ru-RU" sz="1400" baseline="30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04112" y="4921424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1400" baseline="-25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1400" baseline="30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ru-RU" sz="1400" baseline="30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8040216" y="4921424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1400" baseline="-25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1400" baseline="30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ru-RU" sz="1400" baseline="30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544272" y="494116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1400" baseline="-25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1400" baseline="30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ru-RU" sz="1400" baseline="30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7" name="Прямая соединительная линия 56"/>
          <p:cNvCxnSpPr/>
          <p:nvPr/>
        </p:nvCxnSpPr>
        <p:spPr>
          <a:xfrm flipV="1">
            <a:off x="4530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единительная линия 57"/>
          <p:cNvCxnSpPr/>
          <p:nvPr/>
        </p:nvCxnSpPr>
        <p:spPr>
          <a:xfrm flipV="1">
            <a:off x="4890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/>
          <p:cNvCxnSpPr/>
          <p:nvPr/>
        </p:nvCxnSpPr>
        <p:spPr>
          <a:xfrm flipV="1">
            <a:off x="5178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Прямая соединительная линия 59"/>
          <p:cNvCxnSpPr/>
          <p:nvPr/>
        </p:nvCxnSpPr>
        <p:spPr>
          <a:xfrm flipV="1">
            <a:off x="5502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единительная линия 60"/>
          <p:cNvCxnSpPr/>
          <p:nvPr/>
        </p:nvCxnSpPr>
        <p:spPr>
          <a:xfrm flipV="1">
            <a:off x="5754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единительная линия 61"/>
          <p:cNvCxnSpPr/>
          <p:nvPr/>
        </p:nvCxnSpPr>
        <p:spPr>
          <a:xfrm flipV="1">
            <a:off x="6330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единительная линия 62"/>
          <p:cNvCxnSpPr/>
          <p:nvPr/>
        </p:nvCxnSpPr>
        <p:spPr>
          <a:xfrm flipV="1">
            <a:off x="6906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Прямая соединительная линия 63"/>
          <p:cNvCxnSpPr/>
          <p:nvPr/>
        </p:nvCxnSpPr>
        <p:spPr>
          <a:xfrm flipV="1">
            <a:off x="7302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единительная линия 64"/>
          <p:cNvCxnSpPr/>
          <p:nvPr/>
        </p:nvCxnSpPr>
        <p:spPr>
          <a:xfrm flipV="1">
            <a:off x="7698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единительная линия 65"/>
          <p:cNvCxnSpPr/>
          <p:nvPr/>
        </p:nvCxnSpPr>
        <p:spPr>
          <a:xfrm flipV="1">
            <a:off x="8310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Прямая соединительная линия 66"/>
          <p:cNvCxnSpPr/>
          <p:nvPr/>
        </p:nvCxnSpPr>
        <p:spPr>
          <a:xfrm flipV="1">
            <a:off x="8670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Прямая соединительная линия 67"/>
          <p:cNvCxnSpPr/>
          <p:nvPr/>
        </p:nvCxnSpPr>
        <p:spPr>
          <a:xfrm flipV="1">
            <a:off x="9318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Прямая соединительная линия 68"/>
          <p:cNvCxnSpPr/>
          <p:nvPr/>
        </p:nvCxnSpPr>
        <p:spPr>
          <a:xfrm flipV="1">
            <a:off x="10218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4295800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ru-RU" sz="1400" baseline="-25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ru-RU" sz="1400" baseline="30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655840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1400" baseline="-25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ru-RU" sz="1400" baseline="30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015880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1400" baseline="-25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ru-RU" sz="1400" baseline="30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03912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1400" baseline="-25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1400" baseline="30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ru-RU" sz="1400" baseline="30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5591944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1400" baseline="-25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1400" baseline="30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ru-RU" sz="1400" baseline="30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6096000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1400" baseline="-25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1400" baseline="30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ru-RU" sz="1400" baseline="30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6672064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1400" baseline="-25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1400" baseline="30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ru-RU" sz="1400" baseline="30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7104112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1400" baseline="-25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1400" baseline="30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ru-RU" sz="1400" baseline="30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7536160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1400" baseline="-25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1400" baseline="30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ru-RU" sz="1400" baseline="30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8040216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1400" baseline="-25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1400" baseline="30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ru-RU" sz="1400" baseline="30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8472264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1400" baseline="-25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1400" baseline="30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ru-RU" sz="1400" baseline="30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9120336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1400" baseline="-25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1400" baseline="30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ru-RU" sz="1400" baseline="30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9984432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1400" baseline="-25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1400" baseline="30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ru-RU" sz="1400" baseline="30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Овал 82"/>
          <p:cNvSpPr/>
          <p:nvPr/>
        </p:nvSpPr>
        <p:spPr>
          <a:xfrm>
            <a:off x="4475832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prstClr val="white"/>
              </a:solidFill>
            </a:endParaRPr>
          </a:p>
        </p:txBody>
      </p:sp>
      <p:sp>
        <p:nvSpPr>
          <p:cNvPr id="84" name="Овал 83"/>
          <p:cNvSpPr/>
          <p:nvPr/>
        </p:nvSpPr>
        <p:spPr>
          <a:xfrm>
            <a:off x="4835872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prstClr val="white"/>
              </a:solidFill>
            </a:endParaRPr>
          </a:p>
        </p:txBody>
      </p:sp>
      <p:sp>
        <p:nvSpPr>
          <p:cNvPr id="85" name="Овал 84"/>
          <p:cNvSpPr/>
          <p:nvPr/>
        </p:nvSpPr>
        <p:spPr>
          <a:xfrm>
            <a:off x="5123904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prstClr val="white"/>
              </a:solidFill>
            </a:endParaRPr>
          </a:p>
        </p:txBody>
      </p:sp>
      <p:sp>
        <p:nvSpPr>
          <p:cNvPr id="86" name="Овал 85"/>
          <p:cNvSpPr/>
          <p:nvPr/>
        </p:nvSpPr>
        <p:spPr>
          <a:xfrm>
            <a:off x="5447928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prstClr val="white"/>
              </a:solidFill>
            </a:endParaRPr>
          </a:p>
        </p:txBody>
      </p:sp>
      <p:sp>
        <p:nvSpPr>
          <p:cNvPr id="87" name="Овал 86"/>
          <p:cNvSpPr/>
          <p:nvPr/>
        </p:nvSpPr>
        <p:spPr>
          <a:xfrm>
            <a:off x="5699968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prstClr val="white"/>
              </a:solidFill>
            </a:endParaRPr>
          </a:p>
        </p:txBody>
      </p:sp>
      <p:sp>
        <p:nvSpPr>
          <p:cNvPr id="88" name="Овал 87"/>
          <p:cNvSpPr/>
          <p:nvPr/>
        </p:nvSpPr>
        <p:spPr>
          <a:xfrm>
            <a:off x="6276032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prstClr val="white"/>
              </a:solidFill>
            </a:endParaRPr>
          </a:p>
        </p:txBody>
      </p:sp>
      <p:sp>
        <p:nvSpPr>
          <p:cNvPr id="89" name="Овал 88"/>
          <p:cNvSpPr/>
          <p:nvPr/>
        </p:nvSpPr>
        <p:spPr>
          <a:xfrm>
            <a:off x="6852096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prstClr val="white"/>
              </a:solidFill>
            </a:endParaRPr>
          </a:p>
        </p:txBody>
      </p:sp>
      <p:sp>
        <p:nvSpPr>
          <p:cNvPr id="90" name="Овал 89"/>
          <p:cNvSpPr/>
          <p:nvPr/>
        </p:nvSpPr>
        <p:spPr>
          <a:xfrm>
            <a:off x="7248128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prstClr val="white"/>
              </a:solidFill>
            </a:endParaRPr>
          </a:p>
        </p:txBody>
      </p:sp>
      <p:sp>
        <p:nvSpPr>
          <p:cNvPr id="91" name="Овал 90"/>
          <p:cNvSpPr/>
          <p:nvPr/>
        </p:nvSpPr>
        <p:spPr>
          <a:xfrm>
            <a:off x="7644184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prstClr val="white"/>
              </a:solidFill>
            </a:endParaRPr>
          </a:p>
        </p:txBody>
      </p:sp>
      <p:sp>
        <p:nvSpPr>
          <p:cNvPr id="92" name="Овал 91"/>
          <p:cNvSpPr/>
          <p:nvPr/>
        </p:nvSpPr>
        <p:spPr>
          <a:xfrm>
            <a:off x="8256240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prstClr val="white"/>
              </a:solidFill>
            </a:endParaRPr>
          </a:p>
        </p:txBody>
      </p:sp>
      <p:sp>
        <p:nvSpPr>
          <p:cNvPr id="93" name="Овал 92"/>
          <p:cNvSpPr/>
          <p:nvPr/>
        </p:nvSpPr>
        <p:spPr>
          <a:xfrm>
            <a:off x="8616280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prstClr val="white"/>
              </a:solidFill>
            </a:endParaRPr>
          </a:p>
        </p:txBody>
      </p:sp>
      <p:sp>
        <p:nvSpPr>
          <p:cNvPr id="94" name="Овал 93"/>
          <p:cNvSpPr/>
          <p:nvPr/>
        </p:nvSpPr>
        <p:spPr>
          <a:xfrm>
            <a:off x="9264352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prstClr val="white"/>
              </a:solidFill>
            </a:endParaRPr>
          </a:p>
        </p:txBody>
      </p:sp>
      <p:sp>
        <p:nvSpPr>
          <p:cNvPr id="95" name="Овал 94"/>
          <p:cNvSpPr/>
          <p:nvPr/>
        </p:nvSpPr>
        <p:spPr>
          <a:xfrm>
            <a:off x="10164464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9411615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7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2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8" grpId="0"/>
      <p:bldP spid="11" grpId="0"/>
      <p:bldP spid="12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7" grpId="0"/>
      <p:bldP spid="38" grpId="0"/>
      <p:bldP spid="42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4" grpId="0"/>
      <p:bldP spid="55" grpId="0"/>
      <p:bldP spid="56" grpId="0"/>
      <p:bldP spid="70" grpId="0"/>
      <p:bldP spid="71" grpId="0"/>
      <p:bldP spid="72" grpId="0"/>
      <p:bldP spid="73" grpId="0"/>
      <p:bldP spid="74" grpId="0"/>
      <p:bldP spid="75" grpId="0"/>
      <p:bldP spid="76" grpId="0"/>
      <p:bldP spid="77" grpId="0"/>
      <p:bldP spid="78" grpId="0"/>
      <p:bldP spid="79" grpId="0"/>
      <p:bldP spid="80" grpId="0"/>
      <p:bldP spid="81" grpId="0"/>
      <p:bldP spid="82" grpId="0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216002" y="1700808"/>
            <a:ext cx="8712646" cy="496855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288010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Причинно-следственный порядок</a:t>
            </a:r>
          </a:p>
        </p:txBody>
      </p:sp>
      <p:sp>
        <p:nvSpPr>
          <p:cNvPr id="20" name="_h1"/>
          <p:cNvSpPr>
            <a:spLocks noGrp="1" noChangeArrowheads="1"/>
          </p:cNvSpPr>
          <p:nvPr>
            <p:ph type="title"/>
          </p:nvPr>
        </p:nvSpPr>
        <p:spPr>
          <a:xfrm>
            <a:off x="3216002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Модель распределенной программы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59696" y="1700809"/>
            <a:ext cx="8424614" cy="40780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Независимые события</a:t>
            </a:r>
          </a:p>
          <a:p>
            <a:pPr>
              <a:spcBef>
                <a:spcPts val="600"/>
              </a:spcBef>
            </a:pP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Происходящие события влияют только на часть глобального состояния программы.</a:t>
            </a:r>
          </a:p>
          <a:p>
            <a:pPr>
              <a:spcBef>
                <a:spcPts val="600"/>
              </a:spcBef>
            </a:pP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Два события, идущие друг за другом в выполнении и влияющие на различные части глобального состояния программы могут происходить в другом порядке, т.е. являются независимыми.</a:t>
            </a:r>
          </a:p>
          <a:p>
            <a:pPr>
              <a:spcBef>
                <a:spcPts val="600"/>
              </a:spcBef>
            </a:pP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Пусть </a:t>
            </a: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глобальное состояние программы, и пусть </a:t>
            </a:r>
            <a:r>
              <a:rPr lang="en-US" sz="2000" i="1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2000" i="1" baseline="-250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 </a:t>
            </a:r>
            <a:r>
              <a:rPr lang="en-US" sz="2000" i="1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2000" i="1" baseline="-250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два события, которые следуют друг за другом в выполнении и происходят в разных процессах </a:t>
            </a:r>
            <a:r>
              <a:rPr lang="en-US" sz="2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000" i="1" baseline="-25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и </a:t>
            </a:r>
            <a:r>
              <a:rPr lang="en-US" sz="2000" i="1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000" i="1" baseline="-250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соответственно, и при этом оба события допустимы в глобальном состоянии </a:t>
            </a:r>
            <a:r>
              <a:rPr lang="en-US" sz="2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Тогда событие </a:t>
            </a:r>
            <a:r>
              <a:rPr lang="en-US" sz="2000" i="1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2000" i="1" baseline="-250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допустимо в глобальном состоянии </a:t>
            </a:r>
            <a:r>
              <a:rPr lang="en-US" sz="2000" i="1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2000" i="1" baseline="-250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n-US" sz="2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(S)</a:t>
            </a: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 событие </a:t>
            </a:r>
            <a:r>
              <a:rPr lang="en-US" sz="2000" i="1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2000" i="1" baseline="-250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n-US" sz="2000" baseline="-25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 глобальном состоянии </a:t>
            </a:r>
            <a:r>
              <a:rPr lang="en-US" sz="2000" i="1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2000" i="1" baseline="-250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(S)</a:t>
            </a: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и </a:t>
            </a:r>
            <a:r>
              <a:rPr lang="en-US" sz="2000" i="1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2000" i="1" baseline="-250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000" i="1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2000" i="1" baseline="-250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n-US" sz="2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(S)) = </a:t>
            </a:r>
            <a:r>
              <a:rPr lang="en-US" sz="2000" i="1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2000" i="1" baseline="-250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n-US" sz="2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000" i="1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2000" i="1" baseline="-250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(S))</a:t>
            </a: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856908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216002" y="1700808"/>
            <a:ext cx="8712646" cy="496855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288010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Причинно-следственный порядок</a:t>
            </a:r>
          </a:p>
        </p:txBody>
      </p:sp>
      <p:sp>
        <p:nvSpPr>
          <p:cNvPr id="20" name="_h1"/>
          <p:cNvSpPr>
            <a:spLocks noGrp="1" noChangeArrowheads="1"/>
          </p:cNvSpPr>
          <p:nvPr>
            <p:ph type="title"/>
          </p:nvPr>
        </p:nvSpPr>
        <p:spPr>
          <a:xfrm>
            <a:off x="3216002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Модель распределенной программы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59696" y="1700808"/>
            <a:ext cx="842461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Независимые события</a:t>
            </a:r>
          </a:p>
          <a:p>
            <a:pPr>
              <a:spcBef>
                <a:spcPts val="600"/>
              </a:spcBef>
            </a:pP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События </a:t>
            </a:r>
            <a:r>
              <a:rPr lang="en-US" sz="2000" i="1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2000" i="1" baseline="-250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 </a:t>
            </a:r>
            <a:r>
              <a:rPr lang="en-US" sz="2000" i="1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2000" i="1" baseline="-250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следующие в выполнении друг за другом, нельзя переставить местами только в двух случаях:</a:t>
            </a:r>
          </a:p>
          <a:p>
            <a:pPr marL="457200" indent="-457200">
              <a:spcBef>
                <a:spcPts val="600"/>
              </a:spcBef>
              <a:buFontTx/>
              <a:buAutoNum type="arabicPeriod"/>
            </a:pP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Если </a:t>
            </a:r>
            <a:r>
              <a:rPr lang="en-US" sz="20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j</a:t>
            </a: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т.е. события </a:t>
            </a:r>
            <a:r>
              <a:rPr lang="en-US" sz="2000" i="1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2000" i="1" baseline="-250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 </a:t>
            </a:r>
            <a:r>
              <a:rPr lang="en-US" sz="2000" i="1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2000" i="1" baseline="-250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происходят в одном и том же процессе.</a:t>
            </a:r>
          </a:p>
          <a:p>
            <a:pPr marL="457200" indent="-457200">
              <a:spcBef>
                <a:spcPts val="600"/>
              </a:spcBef>
              <a:buFontTx/>
              <a:buAutoNum type="arabicPeriod"/>
            </a:pP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Если </a:t>
            </a:r>
            <a:r>
              <a:rPr lang="en-US" sz="2000" i="1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2000" i="1" baseline="-250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 </a:t>
            </a:r>
            <a:r>
              <a:rPr lang="en-US" sz="2000" i="1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2000" i="1" baseline="-250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взаимосвязанные события отправки и получения одного и того же сообщения.</a:t>
            </a:r>
          </a:p>
          <a:p>
            <a:pPr>
              <a:spcBef>
                <a:spcPts val="600"/>
              </a:spcBef>
            </a:pP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 остальных случаях порядок можно поменять и в результате будет достигнуто то же самое глобальное состояние. При этом переход в это состояние будет происходить разными путями.   </a:t>
            </a:r>
          </a:p>
        </p:txBody>
      </p:sp>
    </p:spTree>
    <p:extLst>
      <p:ext uri="{BB962C8B-B14F-4D97-AF65-F5344CB8AC3E}">
        <p14:creationId xmlns:p14="http://schemas.microsoft.com/office/powerpoint/2010/main" val="306071174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216002" y="1700808"/>
            <a:ext cx="8712646" cy="496855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288010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Причинно-следственный порядок</a:t>
            </a:r>
          </a:p>
        </p:txBody>
      </p:sp>
      <p:sp>
        <p:nvSpPr>
          <p:cNvPr id="20" name="_h1"/>
          <p:cNvSpPr>
            <a:spLocks noGrp="1" noChangeArrowheads="1"/>
          </p:cNvSpPr>
          <p:nvPr>
            <p:ph type="title"/>
          </p:nvPr>
        </p:nvSpPr>
        <p:spPr>
          <a:xfrm>
            <a:off x="3216002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Модель распределенной программы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59696" y="1844825"/>
            <a:ext cx="84246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Пространственно-временные диаграммы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575720" y="3068960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endParaRPr kumimoji="0" lang="ru-RU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75720" y="3789040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575720" y="4509120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575720" y="521990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</a:t>
            </a:r>
            <a:endParaRPr kumimoji="0" lang="ru-RU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4" name="Прямая со стрелкой 3"/>
          <p:cNvCxnSpPr>
            <a:cxnSpLocks/>
          </p:cNvCxnSpPr>
          <p:nvPr/>
        </p:nvCxnSpPr>
        <p:spPr>
          <a:xfrm>
            <a:off x="4007768" y="3430800"/>
            <a:ext cx="6840760" cy="0"/>
          </a:xfrm>
          <a:prstGeom prst="straightConnector1">
            <a:avLst/>
          </a:prstGeom>
          <a:ln w="12700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>
            <a:cxnSpLocks/>
          </p:cNvCxnSpPr>
          <p:nvPr/>
        </p:nvCxnSpPr>
        <p:spPr>
          <a:xfrm>
            <a:off x="4007768" y="4149080"/>
            <a:ext cx="6840760" cy="0"/>
          </a:xfrm>
          <a:prstGeom prst="straightConnector1">
            <a:avLst/>
          </a:prstGeom>
          <a:ln w="12700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>
            <a:cxnSpLocks/>
          </p:cNvCxnSpPr>
          <p:nvPr/>
        </p:nvCxnSpPr>
        <p:spPr>
          <a:xfrm>
            <a:off x="4007768" y="4869160"/>
            <a:ext cx="6840760" cy="0"/>
          </a:xfrm>
          <a:prstGeom prst="straightConnector1">
            <a:avLst/>
          </a:prstGeom>
          <a:ln w="12700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/>
          <p:cNvCxnSpPr>
            <a:cxnSpLocks/>
          </p:cNvCxnSpPr>
          <p:nvPr/>
        </p:nvCxnSpPr>
        <p:spPr>
          <a:xfrm>
            <a:off x="4007768" y="5589240"/>
            <a:ext cx="6840760" cy="0"/>
          </a:xfrm>
          <a:prstGeom prst="straightConnector1">
            <a:avLst/>
          </a:prstGeom>
          <a:ln w="15875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Овал 11"/>
          <p:cNvSpPr/>
          <p:nvPr/>
        </p:nvSpPr>
        <p:spPr>
          <a:xfrm>
            <a:off x="4475832" y="338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Овал 18"/>
          <p:cNvSpPr/>
          <p:nvPr/>
        </p:nvSpPr>
        <p:spPr>
          <a:xfrm>
            <a:off x="6852096" y="338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Овал 20"/>
          <p:cNvSpPr/>
          <p:nvPr/>
        </p:nvSpPr>
        <p:spPr>
          <a:xfrm>
            <a:off x="7644184" y="338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Овал 21"/>
          <p:cNvSpPr/>
          <p:nvPr/>
        </p:nvSpPr>
        <p:spPr>
          <a:xfrm>
            <a:off x="4835872" y="410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Овал 23"/>
          <p:cNvSpPr/>
          <p:nvPr/>
        </p:nvSpPr>
        <p:spPr>
          <a:xfrm>
            <a:off x="6276032" y="410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Овал 24"/>
          <p:cNvSpPr/>
          <p:nvPr/>
        </p:nvSpPr>
        <p:spPr>
          <a:xfrm>
            <a:off x="9264376" y="410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Овал 25"/>
          <p:cNvSpPr/>
          <p:nvPr/>
        </p:nvSpPr>
        <p:spPr>
          <a:xfrm>
            <a:off x="10164464" y="410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Овал 26"/>
          <p:cNvSpPr/>
          <p:nvPr/>
        </p:nvSpPr>
        <p:spPr>
          <a:xfrm>
            <a:off x="5123904" y="482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Овал 27"/>
          <p:cNvSpPr/>
          <p:nvPr/>
        </p:nvSpPr>
        <p:spPr>
          <a:xfrm>
            <a:off x="7248128" y="482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Овал 28"/>
          <p:cNvSpPr/>
          <p:nvPr/>
        </p:nvSpPr>
        <p:spPr>
          <a:xfrm>
            <a:off x="8256240" y="482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Овал 29"/>
          <p:cNvSpPr/>
          <p:nvPr/>
        </p:nvSpPr>
        <p:spPr>
          <a:xfrm>
            <a:off x="8616280" y="482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7" name="Прямая со стрелкой 16"/>
          <p:cNvCxnSpPr>
            <a:stCxn id="22" idx="7"/>
            <a:endCxn id="18" idx="3"/>
          </p:cNvCxnSpPr>
          <p:nvPr/>
        </p:nvCxnSpPr>
        <p:spPr>
          <a:xfrm flipV="1">
            <a:off x="4928056" y="3476184"/>
            <a:ext cx="535688" cy="6436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/>
          <p:cNvCxnSpPr>
            <a:stCxn id="24" idx="7"/>
            <a:endCxn id="19" idx="3"/>
          </p:cNvCxnSpPr>
          <p:nvPr/>
        </p:nvCxnSpPr>
        <p:spPr>
          <a:xfrm flipV="1">
            <a:off x="6368216" y="3476184"/>
            <a:ext cx="499696" cy="6436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/>
          <p:cNvCxnSpPr>
            <a:cxnSpLocks/>
            <a:stCxn id="21" idx="4"/>
            <a:endCxn id="29" idx="1"/>
          </p:cNvCxnSpPr>
          <p:nvPr/>
        </p:nvCxnSpPr>
        <p:spPr>
          <a:xfrm>
            <a:off x="7698184" y="3492000"/>
            <a:ext cx="573872" cy="134781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/>
          <p:cNvCxnSpPr>
            <a:stCxn id="30" idx="7"/>
            <a:endCxn id="25" idx="3"/>
          </p:cNvCxnSpPr>
          <p:nvPr/>
        </p:nvCxnSpPr>
        <p:spPr>
          <a:xfrm flipV="1">
            <a:off x="8708464" y="4196184"/>
            <a:ext cx="571728" cy="6436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0632504" y="2987660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время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5800" y="2852936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295800" y="306896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ru-RU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ru-RU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03912" y="306896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ru-RU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672064" y="306896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ru-RU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464152" y="306896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ru-RU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583832" y="378904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ru-RU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19936" y="378904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023992" y="378904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048328" y="378904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9912424" y="378904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5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943872" y="4921424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ru-RU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04112" y="4921424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8040216" y="4921424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544272" y="494116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57" name="Прямая соединительная линия 56"/>
          <p:cNvCxnSpPr/>
          <p:nvPr/>
        </p:nvCxnSpPr>
        <p:spPr>
          <a:xfrm flipV="1">
            <a:off x="4530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единительная линия 57"/>
          <p:cNvCxnSpPr/>
          <p:nvPr/>
        </p:nvCxnSpPr>
        <p:spPr>
          <a:xfrm flipV="1">
            <a:off x="4890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/>
          <p:cNvCxnSpPr/>
          <p:nvPr/>
        </p:nvCxnSpPr>
        <p:spPr>
          <a:xfrm flipV="1">
            <a:off x="5178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Прямая соединительная линия 59"/>
          <p:cNvCxnSpPr/>
          <p:nvPr/>
        </p:nvCxnSpPr>
        <p:spPr>
          <a:xfrm flipV="1">
            <a:off x="5502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единительная линия 60"/>
          <p:cNvCxnSpPr/>
          <p:nvPr/>
        </p:nvCxnSpPr>
        <p:spPr>
          <a:xfrm flipV="1">
            <a:off x="5754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единительная линия 61"/>
          <p:cNvCxnSpPr/>
          <p:nvPr/>
        </p:nvCxnSpPr>
        <p:spPr>
          <a:xfrm flipV="1">
            <a:off x="6330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единительная линия 62"/>
          <p:cNvCxnSpPr/>
          <p:nvPr/>
        </p:nvCxnSpPr>
        <p:spPr>
          <a:xfrm flipV="1">
            <a:off x="6906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Прямая соединительная линия 63"/>
          <p:cNvCxnSpPr/>
          <p:nvPr/>
        </p:nvCxnSpPr>
        <p:spPr>
          <a:xfrm flipV="1">
            <a:off x="7302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единительная линия 64"/>
          <p:cNvCxnSpPr/>
          <p:nvPr/>
        </p:nvCxnSpPr>
        <p:spPr>
          <a:xfrm flipV="1">
            <a:off x="7698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единительная линия 65"/>
          <p:cNvCxnSpPr/>
          <p:nvPr/>
        </p:nvCxnSpPr>
        <p:spPr>
          <a:xfrm flipV="1">
            <a:off x="8310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Прямая соединительная линия 66"/>
          <p:cNvCxnSpPr/>
          <p:nvPr/>
        </p:nvCxnSpPr>
        <p:spPr>
          <a:xfrm flipV="1">
            <a:off x="8670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Прямая соединительная линия 67"/>
          <p:cNvCxnSpPr/>
          <p:nvPr/>
        </p:nvCxnSpPr>
        <p:spPr>
          <a:xfrm flipV="1">
            <a:off x="9318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Прямая соединительная линия 68"/>
          <p:cNvCxnSpPr/>
          <p:nvPr/>
        </p:nvCxnSpPr>
        <p:spPr>
          <a:xfrm flipV="1">
            <a:off x="10218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4295800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ru-RU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ru-RU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655840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ru-RU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015880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ru-RU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03912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5591944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6096000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6672064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7104112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7536160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8040216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8472264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9120336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9984432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5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3" name="Овал 82"/>
          <p:cNvSpPr/>
          <p:nvPr/>
        </p:nvSpPr>
        <p:spPr>
          <a:xfrm>
            <a:off x="4475832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4" name="Овал 83"/>
          <p:cNvSpPr/>
          <p:nvPr/>
        </p:nvSpPr>
        <p:spPr>
          <a:xfrm>
            <a:off x="4835872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5" name="Овал 84"/>
          <p:cNvSpPr/>
          <p:nvPr/>
        </p:nvSpPr>
        <p:spPr>
          <a:xfrm>
            <a:off x="5123904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6" name="Овал 85"/>
          <p:cNvSpPr/>
          <p:nvPr/>
        </p:nvSpPr>
        <p:spPr>
          <a:xfrm>
            <a:off x="5447928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7" name="Овал 86"/>
          <p:cNvSpPr/>
          <p:nvPr/>
        </p:nvSpPr>
        <p:spPr>
          <a:xfrm>
            <a:off x="5699968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8" name="Овал 87"/>
          <p:cNvSpPr/>
          <p:nvPr/>
        </p:nvSpPr>
        <p:spPr>
          <a:xfrm>
            <a:off x="6276032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9" name="Овал 88"/>
          <p:cNvSpPr/>
          <p:nvPr/>
        </p:nvSpPr>
        <p:spPr>
          <a:xfrm>
            <a:off x="6852096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0" name="Овал 89"/>
          <p:cNvSpPr/>
          <p:nvPr/>
        </p:nvSpPr>
        <p:spPr>
          <a:xfrm>
            <a:off x="7248128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1" name="Овал 90"/>
          <p:cNvSpPr/>
          <p:nvPr/>
        </p:nvSpPr>
        <p:spPr>
          <a:xfrm>
            <a:off x="7644184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2" name="Овал 91"/>
          <p:cNvSpPr/>
          <p:nvPr/>
        </p:nvSpPr>
        <p:spPr>
          <a:xfrm>
            <a:off x="8256240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3" name="Овал 92"/>
          <p:cNvSpPr/>
          <p:nvPr/>
        </p:nvSpPr>
        <p:spPr>
          <a:xfrm>
            <a:off x="8616280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4" name="Овал 93"/>
          <p:cNvSpPr/>
          <p:nvPr/>
        </p:nvSpPr>
        <p:spPr>
          <a:xfrm>
            <a:off x="9264352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5" name="Овал 94"/>
          <p:cNvSpPr/>
          <p:nvPr/>
        </p:nvSpPr>
        <p:spPr>
          <a:xfrm>
            <a:off x="10164464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97" name="Прямая со стрелкой 96"/>
          <p:cNvCxnSpPr>
            <a:cxnSpLocks/>
            <a:stCxn id="22" idx="7"/>
            <a:endCxn id="96" idx="3"/>
          </p:cNvCxnSpPr>
          <p:nvPr/>
        </p:nvCxnSpPr>
        <p:spPr>
          <a:xfrm flipV="1">
            <a:off x="4928056" y="3476184"/>
            <a:ext cx="787728" cy="6436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5591944" y="306896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ru-RU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5231904" y="378904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5591944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5303912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5447928" y="338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6" name="Овал 95"/>
          <p:cNvSpPr/>
          <p:nvPr/>
        </p:nvSpPr>
        <p:spPr>
          <a:xfrm>
            <a:off x="5699968" y="3384000"/>
            <a:ext cx="108000" cy="108000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9" name="Овал 98"/>
          <p:cNvSpPr/>
          <p:nvPr/>
        </p:nvSpPr>
        <p:spPr>
          <a:xfrm>
            <a:off x="5447928" y="4104000"/>
            <a:ext cx="108000" cy="108000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Овал 22"/>
          <p:cNvSpPr/>
          <p:nvPr/>
        </p:nvSpPr>
        <p:spPr>
          <a:xfrm>
            <a:off x="5699968" y="410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2661565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4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9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9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8" grpId="0"/>
      <p:bldP spid="73" grpId="0"/>
      <p:bldP spid="74" grpId="0"/>
      <p:bldP spid="86" grpId="0" animBg="1"/>
      <p:bldP spid="87" grpId="0" animBg="1"/>
      <p:bldP spid="98" grpId="0"/>
      <p:bldP spid="100" grpId="0"/>
      <p:bldP spid="101" grpId="0"/>
      <p:bldP spid="102" grpId="0"/>
      <p:bldP spid="18" grpId="0" animBg="1"/>
      <p:bldP spid="18" grpId="1" animBg="1"/>
      <p:bldP spid="96" grpId="0" animBg="1"/>
      <p:bldP spid="99" grpId="0" animBg="1"/>
      <p:bldP spid="23" grpId="0" animBg="1"/>
      <p:bldP spid="23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216002" y="1700808"/>
            <a:ext cx="8712646" cy="496855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288010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Причинно-следственный порядок</a:t>
            </a:r>
          </a:p>
        </p:txBody>
      </p:sp>
      <p:sp>
        <p:nvSpPr>
          <p:cNvPr id="20" name="_h1"/>
          <p:cNvSpPr>
            <a:spLocks noGrp="1" noChangeArrowheads="1"/>
          </p:cNvSpPr>
          <p:nvPr>
            <p:ph type="title"/>
          </p:nvPr>
        </p:nvSpPr>
        <p:spPr>
          <a:xfrm>
            <a:off x="3216002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Модель распределенной программы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59696" y="1700809"/>
            <a:ext cx="8424614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Зависимые события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Если два соседних события нельзя поменять местами в выполнении, то говорят, что эти события связаны отношением причинно-следственной зависимости.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Это отношение можно распространить на все множество событий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введя причинно-следственное отношение частичного порядка.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Отношением причинно-следственного порядка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-&gt; (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«произошло раньше») называется отношение, удовлетворяющее следующим условиям: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Если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20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2000" b="0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и </a:t>
            </a:r>
            <a:r>
              <a:rPr kumimoji="0" lang="en-US" sz="20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2000" b="0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  <a:r>
              <a:rPr kumimoji="0" lang="en-US" sz="2000" b="0" i="1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~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- два разных события одного и того же процесса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kumimoji="0" lang="en-US" sz="20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и при этом </a:t>
            </a:r>
            <a:r>
              <a:rPr kumimoji="0" lang="en-US" sz="20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2000" b="0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-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&gt;</a:t>
            </a:r>
            <a:r>
              <a:rPr kumimoji="0" lang="en-US" sz="20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20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2000" b="0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  <a:r>
              <a:rPr kumimoji="0" lang="en-US" sz="2000" b="0" i="1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~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то </a:t>
            </a:r>
            <a:r>
              <a:rPr kumimoji="0" lang="en-US" sz="20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2000" b="0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-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&gt; </a:t>
            </a:r>
            <a:r>
              <a:rPr kumimoji="0" lang="en-US" sz="20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2000" b="0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  <a:r>
              <a:rPr kumimoji="0" lang="en-US" sz="2000" b="0" i="1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~</a:t>
            </a:r>
            <a:r>
              <a:rPr kumimoji="0" lang="ru-RU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Если </a:t>
            </a:r>
            <a:r>
              <a:rPr kumimoji="0" lang="en-US" sz="20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2000" b="0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и </a:t>
            </a:r>
            <a:r>
              <a:rPr kumimoji="0" lang="en-US" sz="20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2000" b="0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j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- взаимосвязанные события отправки и получения одного и того же сообщения, то </a:t>
            </a:r>
            <a:r>
              <a:rPr kumimoji="0" lang="en-US" sz="20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2000" b="0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-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&gt; </a:t>
            </a:r>
            <a:r>
              <a:rPr kumimoji="0" lang="en-US" sz="20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2000" b="0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j</a:t>
            </a:r>
            <a:r>
              <a:rPr kumimoji="0" lang="ru-RU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Если </a:t>
            </a:r>
            <a:r>
              <a:rPr kumimoji="0" lang="en-US" sz="20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2000" b="0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-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&gt; </a:t>
            </a:r>
            <a:r>
              <a:rPr kumimoji="0" lang="en-US" sz="20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2000" b="0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j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и </a:t>
            </a:r>
            <a:r>
              <a:rPr kumimoji="0" lang="en-US" sz="2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2000" b="0" i="1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j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-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&gt; </a:t>
            </a:r>
            <a:r>
              <a:rPr kumimoji="0" lang="en-US" sz="20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2000" b="0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то </a:t>
            </a:r>
            <a:r>
              <a:rPr kumimoji="0" lang="en-US" sz="20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2000" b="0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-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&gt; </a:t>
            </a:r>
            <a:r>
              <a:rPr kumimoji="0" lang="en-US" sz="20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2000" b="0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6084978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216002" y="1700808"/>
            <a:ext cx="8712646" cy="496855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288010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Причинно-следственный порядок</a:t>
            </a:r>
          </a:p>
        </p:txBody>
      </p:sp>
      <p:sp>
        <p:nvSpPr>
          <p:cNvPr id="20" name="_h1"/>
          <p:cNvSpPr>
            <a:spLocks noGrp="1" noChangeArrowheads="1"/>
          </p:cNvSpPr>
          <p:nvPr>
            <p:ph type="title"/>
          </p:nvPr>
        </p:nvSpPr>
        <p:spPr>
          <a:xfrm>
            <a:off x="3216002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Модель распределенной программы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59696" y="1844825"/>
            <a:ext cx="84246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Пространственно-временные диаграммы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575720" y="3068960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endParaRPr kumimoji="0" lang="ru-RU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75720" y="3789040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575720" y="4509120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575720" y="521990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</a:t>
            </a:r>
            <a:endParaRPr kumimoji="0" lang="ru-RU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4" name="Прямая со стрелкой 3"/>
          <p:cNvCxnSpPr>
            <a:cxnSpLocks/>
          </p:cNvCxnSpPr>
          <p:nvPr/>
        </p:nvCxnSpPr>
        <p:spPr>
          <a:xfrm>
            <a:off x="4007768" y="3430800"/>
            <a:ext cx="6840760" cy="0"/>
          </a:xfrm>
          <a:prstGeom prst="straightConnector1">
            <a:avLst/>
          </a:prstGeom>
          <a:ln w="12700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>
            <a:cxnSpLocks/>
          </p:cNvCxnSpPr>
          <p:nvPr/>
        </p:nvCxnSpPr>
        <p:spPr>
          <a:xfrm>
            <a:off x="4007768" y="4149080"/>
            <a:ext cx="6840760" cy="0"/>
          </a:xfrm>
          <a:prstGeom prst="straightConnector1">
            <a:avLst/>
          </a:prstGeom>
          <a:ln w="12700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>
            <a:cxnSpLocks/>
          </p:cNvCxnSpPr>
          <p:nvPr/>
        </p:nvCxnSpPr>
        <p:spPr>
          <a:xfrm>
            <a:off x="4007768" y="4869160"/>
            <a:ext cx="6840760" cy="0"/>
          </a:xfrm>
          <a:prstGeom prst="straightConnector1">
            <a:avLst/>
          </a:prstGeom>
          <a:ln w="12700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/>
          <p:cNvCxnSpPr>
            <a:cxnSpLocks/>
          </p:cNvCxnSpPr>
          <p:nvPr/>
        </p:nvCxnSpPr>
        <p:spPr>
          <a:xfrm>
            <a:off x="4007768" y="5589240"/>
            <a:ext cx="6840760" cy="0"/>
          </a:xfrm>
          <a:prstGeom prst="straightConnector1">
            <a:avLst/>
          </a:prstGeom>
          <a:ln w="15875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Овал 11"/>
          <p:cNvSpPr/>
          <p:nvPr/>
        </p:nvSpPr>
        <p:spPr>
          <a:xfrm>
            <a:off x="4475832" y="338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5447928" y="338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Овал 18"/>
          <p:cNvSpPr/>
          <p:nvPr/>
        </p:nvSpPr>
        <p:spPr>
          <a:xfrm>
            <a:off x="6852096" y="338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Овал 20"/>
          <p:cNvSpPr/>
          <p:nvPr/>
        </p:nvSpPr>
        <p:spPr>
          <a:xfrm>
            <a:off x="7644184" y="338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Овал 21"/>
          <p:cNvSpPr/>
          <p:nvPr/>
        </p:nvSpPr>
        <p:spPr>
          <a:xfrm>
            <a:off x="4835872" y="410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Овал 22"/>
          <p:cNvSpPr/>
          <p:nvPr/>
        </p:nvSpPr>
        <p:spPr>
          <a:xfrm>
            <a:off x="5699968" y="410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Овал 23"/>
          <p:cNvSpPr/>
          <p:nvPr/>
        </p:nvSpPr>
        <p:spPr>
          <a:xfrm>
            <a:off x="6276032" y="410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Овал 24"/>
          <p:cNvSpPr/>
          <p:nvPr/>
        </p:nvSpPr>
        <p:spPr>
          <a:xfrm>
            <a:off x="9264376" y="410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Овал 25"/>
          <p:cNvSpPr/>
          <p:nvPr/>
        </p:nvSpPr>
        <p:spPr>
          <a:xfrm>
            <a:off x="10164464" y="410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Овал 28"/>
          <p:cNvSpPr/>
          <p:nvPr/>
        </p:nvSpPr>
        <p:spPr>
          <a:xfrm>
            <a:off x="8256240" y="482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Овал 29"/>
          <p:cNvSpPr/>
          <p:nvPr/>
        </p:nvSpPr>
        <p:spPr>
          <a:xfrm>
            <a:off x="8616280" y="482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7" name="Прямая со стрелкой 16"/>
          <p:cNvCxnSpPr>
            <a:stCxn id="22" idx="7"/>
            <a:endCxn id="18" idx="3"/>
          </p:cNvCxnSpPr>
          <p:nvPr/>
        </p:nvCxnSpPr>
        <p:spPr>
          <a:xfrm flipV="1">
            <a:off x="4928056" y="3476184"/>
            <a:ext cx="535688" cy="6436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/>
          <p:cNvCxnSpPr>
            <a:stCxn id="24" idx="7"/>
            <a:endCxn id="19" idx="3"/>
          </p:cNvCxnSpPr>
          <p:nvPr/>
        </p:nvCxnSpPr>
        <p:spPr>
          <a:xfrm flipV="1">
            <a:off x="6368216" y="3476184"/>
            <a:ext cx="499696" cy="6436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/>
          <p:cNvCxnSpPr>
            <a:cxnSpLocks/>
            <a:stCxn id="21" idx="4"/>
            <a:endCxn id="29" idx="1"/>
          </p:cNvCxnSpPr>
          <p:nvPr/>
        </p:nvCxnSpPr>
        <p:spPr>
          <a:xfrm>
            <a:off x="7698184" y="3492000"/>
            <a:ext cx="573872" cy="134781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/>
          <p:cNvCxnSpPr>
            <a:stCxn id="30" idx="7"/>
            <a:endCxn id="25" idx="3"/>
          </p:cNvCxnSpPr>
          <p:nvPr/>
        </p:nvCxnSpPr>
        <p:spPr>
          <a:xfrm flipV="1">
            <a:off x="8708464" y="4196184"/>
            <a:ext cx="571728" cy="6436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0632504" y="2987660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время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5800" y="2852936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295800" y="306896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ru-RU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ru-RU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03912" y="306896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ru-RU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672064" y="306896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ru-RU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464152" y="306896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ru-RU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583832" y="378904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ru-RU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19936" y="378904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023992" y="378904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048328" y="378904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9912424" y="378904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5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943872" y="4921424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ru-RU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04112" y="4921424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8040216" y="4921424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544272" y="494116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57" name="Прямая соединительная линия 56"/>
          <p:cNvCxnSpPr/>
          <p:nvPr/>
        </p:nvCxnSpPr>
        <p:spPr>
          <a:xfrm flipV="1">
            <a:off x="4530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единительная линия 57"/>
          <p:cNvCxnSpPr/>
          <p:nvPr/>
        </p:nvCxnSpPr>
        <p:spPr>
          <a:xfrm flipV="1">
            <a:off x="4890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/>
          <p:cNvCxnSpPr/>
          <p:nvPr/>
        </p:nvCxnSpPr>
        <p:spPr>
          <a:xfrm flipV="1">
            <a:off x="5178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Прямая соединительная линия 59"/>
          <p:cNvCxnSpPr/>
          <p:nvPr/>
        </p:nvCxnSpPr>
        <p:spPr>
          <a:xfrm flipV="1">
            <a:off x="5502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единительная линия 60"/>
          <p:cNvCxnSpPr/>
          <p:nvPr/>
        </p:nvCxnSpPr>
        <p:spPr>
          <a:xfrm flipV="1">
            <a:off x="5754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единительная линия 61"/>
          <p:cNvCxnSpPr/>
          <p:nvPr/>
        </p:nvCxnSpPr>
        <p:spPr>
          <a:xfrm flipV="1">
            <a:off x="6330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единительная линия 62"/>
          <p:cNvCxnSpPr/>
          <p:nvPr/>
        </p:nvCxnSpPr>
        <p:spPr>
          <a:xfrm flipV="1">
            <a:off x="6906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единительная линия 64"/>
          <p:cNvCxnSpPr/>
          <p:nvPr/>
        </p:nvCxnSpPr>
        <p:spPr>
          <a:xfrm flipV="1">
            <a:off x="7698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единительная линия 65"/>
          <p:cNvCxnSpPr/>
          <p:nvPr/>
        </p:nvCxnSpPr>
        <p:spPr>
          <a:xfrm flipV="1">
            <a:off x="8310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Прямая соединительная линия 66"/>
          <p:cNvCxnSpPr/>
          <p:nvPr/>
        </p:nvCxnSpPr>
        <p:spPr>
          <a:xfrm flipV="1">
            <a:off x="8670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Прямая соединительная линия 67"/>
          <p:cNvCxnSpPr/>
          <p:nvPr/>
        </p:nvCxnSpPr>
        <p:spPr>
          <a:xfrm flipV="1">
            <a:off x="9318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Прямая соединительная линия 68"/>
          <p:cNvCxnSpPr/>
          <p:nvPr/>
        </p:nvCxnSpPr>
        <p:spPr>
          <a:xfrm flipV="1">
            <a:off x="10218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4295800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ru-RU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ru-RU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655840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ru-RU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015880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ru-RU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03912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5591944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6096000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6672064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7104112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7536160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8040216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8472264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9120336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9984432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5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3" name="Овал 82"/>
          <p:cNvSpPr/>
          <p:nvPr/>
        </p:nvSpPr>
        <p:spPr>
          <a:xfrm>
            <a:off x="4475832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4" name="Овал 83"/>
          <p:cNvSpPr/>
          <p:nvPr/>
        </p:nvSpPr>
        <p:spPr>
          <a:xfrm>
            <a:off x="4835872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5" name="Овал 84"/>
          <p:cNvSpPr/>
          <p:nvPr/>
        </p:nvSpPr>
        <p:spPr>
          <a:xfrm>
            <a:off x="5123904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6" name="Овал 85"/>
          <p:cNvSpPr/>
          <p:nvPr/>
        </p:nvSpPr>
        <p:spPr>
          <a:xfrm>
            <a:off x="5447928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7" name="Овал 86"/>
          <p:cNvSpPr/>
          <p:nvPr/>
        </p:nvSpPr>
        <p:spPr>
          <a:xfrm>
            <a:off x="5699968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8" name="Овал 87"/>
          <p:cNvSpPr/>
          <p:nvPr/>
        </p:nvSpPr>
        <p:spPr>
          <a:xfrm>
            <a:off x="6276032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9" name="Овал 88"/>
          <p:cNvSpPr/>
          <p:nvPr/>
        </p:nvSpPr>
        <p:spPr>
          <a:xfrm>
            <a:off x="6852096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0" name="Овал 89"/>
          <p:cNvSpPr/>
          <p:nvPr/>
        </p:nvSpPr>
        <p:spPr>
          <a:xfrm>
            <a:off x="7248128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1" name="Овал 90"/>
          <p:cNvSpPr/>
          <p:nvPr/>
        </p:nvSpPr>
        <p:spPr>
          <a:xfrm>
            <a:off x="7644184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2" name="Овал 91"/>
          <p:cNvSpPr/>
          <p:nvPr/>
        </p:nvSpPr>
        <p:spPr>
          <a:xfrm>
            <a:off x="8256240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3" name="Овал 92"/>
          <p:cNvSpPr/>
          <p:nvPr/>
        </p:nvSpPr>
        <p:spPr>
          <a:xfrm>
            <a:off x="8616280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4" name="Овал 93"/>
          <p:cNvSpPr/>
          <p:nvPr/>
        </p:nvSpPr>
        <p:spPr>
          <a:xfrm>
            <a:off x="9264352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5" name="Овал 94"/>
          <p:cNvSpPr/>
          <p:nvPr/>
        </p:nvSpPr>
        <p:spPr>
          <a:xfrm>
            <a:off x="10164464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Овал 26"/>
          <p:cNvSpPr/>
          <p:nvPr/>
        </p:nvSpPr>
        <p:spPr>
          <a:xfrm>
            <a:off x="5123904" y="482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64" name="Прямая соединительная линия 63"/>
          <p:cNvCxnSpPr/>
          <p:nvPr/>
        </p:nvCxnSpPr>
        <p:spPr>
          <a:xfrm flipV="1">
            <a:off x="7302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Овал 27"/>
          <p:cNvSpPr/>
          <p:nvPr/>
        </p:nvSpPr>
        <p:spPr>
          <a:xfrm>
            <a:off x="7248128" y="482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3395004"/>
      </p:ext>
    </p:extLst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216002" y="1700808"/>
            <a:ext cx="8712646" cy="496855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288010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Причинно-следственный порядок</a:t>
            </a:r>
          </a:p>
        </p:txBody>
      </p:sp>
      <p:sp>
        <p:nvSpPr>
          <p:cNvPr id="20" name="_h1"/>
          <p:cNvSpPr>
            <a:spLocks noGrp="1" noChangeArrowheads="1"/>
          </p:cNvSpPr>
          <p:nvPr>
            <p:ph type="title"/>
          </p:nvPr>
        </p:nvSpPr>
        <p:spPr>
          <a:xfrm>
            <a:off x="3216002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Модель распределенной программы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59696" y="1844825"/>
            <a:ext cx="84246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Пространственно-временные диаграммы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575720" y="3068960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endParaRPr kumimoji="0" lang="ru-RU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75720" y="3789040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575720" y="4509120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575720" y="521990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</a:t>
            </a:r>
            <a:endParaRPr kumimoji="0" lang="ru-RU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4" name="Прямая со стрелкой 3"/>
          <p:cNvCxnSpPr>
            <a:cxnSpLocks/>
          </p:cNvCxnSpPr>
          <p:nvPr/>
        </p:nvCxnSpPr>
        <p:spPr>
          <a:xfrm>
            <a:off x="4007768" y="3430800"/>
            <a:ext cx="6840760" cy="0"/>
          </a:xfrm>
          <a:prstGeom prst="straightConnector1">
            <a:avLst/>
          </a:prstGeom>
          <a:ln w="12700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>
            <a:cxnSpLocks/>
          </p:cNvCxnSpPr>
          <p:nvPr/>
        </p:nvCxnSpPr>
        <p:spPr>
          <a:xfrm>
            <a:off x="4007768" y="4149080"/>
            <a:ext cx="6840760" cy="0"/>
          </a:xfrm>
          <a:prstGeom prst="straightConnector1">
            <a:avLst/>
          </a:prstGeom>
          <a:ln w="12700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>
            <a:cxnSpLocks/>
          </p:cNvCxnSpPr>
          <p:nvPr/>
        </p:nvCxnSpPr>
        <p:spPr>
          <a:xfrm>
            <a:off x="4007768" y="4869160"/>
            <a:ext cx="6840760" cy="0"/>
          </a:xfrm>
          <a:prstGeom prst="straightConnector1">
            <a:avLst/>
          </a:prstGeom>
          <a:ln w="12700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/>
          <p:cNvCxnSpPr>
            <a:cxnSpLocks/>
          </p:cNvCxnSpPr>
          <p:nvPr/>
        </p:nvCxnSpPr>
        <p:spPr>
          <a:xfrm>
            <a:off x="4007768" y="5589240"/>
            <a:ext cx="6840760" cy="0"/>
          </a:xfrm>
          <a:prstGeom prst="straightConnector1">
            <a:avLst/>
          </a:prstGeom>
          <a:ln w="15875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Овал 11"/>
          <p:cNvSpPr/>
          <p:nvPr/>
        </p:nvSpPr>
        <p:spPr>
          <a:xfrm>
            <a:off x="4475832" y="338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5447928" y="338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Овал 18"/>
          <p:cNvSpPr/>
          <p:nvPr/>
        </p:nvSpPr>
        <p:spPr>
          <a:xfrm>
            <a:off x="6852096" y="338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Овал 20"/>
          <p:cNvSpPr/>
          <p:nvPr/>
        </p:nvSpPr>
        <p:spPr>
          <a:xfrm>
            <a:off x="7644184" y="338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Овал 21"/>
          <p:cNvSpPr/>
          <p:nvPr/>
        </p:nvSpPr>
        <p:spPr>
          <a:xfrm>
            <a:off x="4835872" y="410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Овал 22"/>
          <p:cNvSpPr/>
          <p:nvPr/>
        </p:nvSpPr>
        <p:spPr>
          <a:xfrm>
            <a:off x="5699968" y="410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Овал 23"/>
          <p:cNvSpPr/>
          <p:nvPr/>
        </p:nvSpPr>
        <p:spPr>
          <a:xfrm>
            <a:off x="6276032" y="410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Овал 24"/>
          <p:cNvSpPr/>
          <p:nvPr/>
        </p:nvSpPr>
        <p:spPr>
          <a:xfrm>
            <a:off x="9264376" y="410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Овал 25"/>
          <p:cNvSpPr/>
          <p:nvPr/>
        </p:nvSpPr>
        <p:spPr>
          <a:xfrm>
            <a:off x="10164464" y="410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Овал 28"/>
          <p:cNvSpPr/>
          <p:nvPr/>
        </p:nvSpPr>
        <p:spPr>
          <a:xfrm>
            <a:off x="8256240" y="482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Овал 29"/>
          <p:cNvSpPr/>
          <p:nvPr/>
        </p:nvSpPr>
        <p:spPr>
          <a:xfrm>
            <a:off x="8616280" y="482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7" name="Прямая со стрелкой 16"/>
          <p:cNvCxnSpPr>
            <a:stCxn id="22" idx="7"/>
            <a:endCxn id="18" idx="3"/>
          </p:cNvCxnSpPr>
          <p:nvPr/>
        </p:nvCxnSpPr>
        <p:spPr>
          <a:xfrm flipV="1">
            <a:off x="4928056" y="3476184"/>
            <a:ext cx="535688" cy="6436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/>
          <p:cNvCxnSpPr>
            <a:stCxn id="24" idx="7"/>
            <a:endCxn id="19" idx="3"/>
          </p:cNvCxnSpPr>
          <p:nvPr/>
        </p:nvCxnSpPr>
        <p:spPr>
          <a:xfrm flipV="1">
            <a:off x="6368216" y="3476184"/>
            <a:ext cx="499696" cy="6436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/>
          <p:cNvCxnSpPr>
            <a:cxnSpLocks/>
            <a:stCxn id="21" idx="4"/>
            <a:endCxn id="29" idx="1"/>
          </p:cNvCxnSpPr>
          <p:nvPr/>
        </p:nvCxnSpPr>
        <p:spPr>
          <a:xfrm>
            <a:off x="7698184" y="3492000"/>
            <a:ext cx="573872" cy="134781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/>
          <p:cNvCxnSpPr>
            <a:stCxn id="30" idx="7"/>
            <a:endCxn id="25" idx="3"/>
          </p:cNvCxnSpPr>
          <p:nvPr/>
        </p:nvCxnSpPr>
        <p:spPr>
          <a:xfrm flipV="1">
            <a:off x="8708464" y="4196184"/>
            <a:ext cx="571728" cy="6436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0632504" y="2987660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время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5800" y="2852936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295800" y="306896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ru-RU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ru-RU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03912" y="306896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ru-RU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672064" y="306896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ru-RU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464152" y="306896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ru-RU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583832" y="378904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ru-RU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19936" y="378904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023992" y="378904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048328" y="378904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9912424" y="378904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5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943872" y="4921424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ru-RU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04112" y="4921424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8040216" y="4921424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544272" y="494116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57" name="Прямая соединительная линия 56"/>
          <p:cNvCxnSpPr/>
          <p:nvPr/>
        </p:nvCxnSpPr>
        <p:spPr>
          <a:xfrm flipV="1">
            <a:off x="4530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единительная линия 57"/>
          <p:cNvCxnSpPr/>
          <p:nvPr/>
        </p:nvCxnSpPr>
        <p:spPr>
          <a:xfrm flipV="1">
            <a:off x="4890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/>
          <p:cNvCxnSpPr/>
          <p:nvPr/>
        </p:nvCxnSpPr>
        <p:spPr>
          <a:xfrm flipV="1">
            <a:off x="5178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Прямая соединительная линия 59"/>
          <p:cNvCxnSpPr/>
          <p:nvPr/>
        </p:nvCxnSpPr>
        <p:spPr>
          <a:xfrm flipV="1">
            <a:off x="5502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единительная линия 60"/>
          <p:cNvCxnSpPr/>
          <p:nvPr/>
        </p:nvCxnSpPr>
        <p:spPr>
          <a:xfrm flipV="1">
            <a:off x="5754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единительная линия 61"/>
          <p:cNvCxnSpPr/>
          <p:nvPr/>
        </p:nvCxnSpPr>
        <p:spPr>
          <a:xfrm flipV="1">
            <a:off x="6330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единительная линия 62"/>
          <p:cNvCxnSpPr/>
          <p:nvPr/>
        </p:nvCxnSpPr>
        <p:spPr>
          <a:xfrm flipV="1">
            <a:off x="6906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Прямая соединительная линия 63"/>
          <p:cNvCxnSpPr/>
          <p:nvPr/>
        </p:nvCxnSpPr>
        <p:spPr>
          <a:xfrm flipV="1">
            <a:off x="7302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единительная линия 64"/>
          <p:cNvCxnSpPr/>
          <p:nvPr/>
        </p:nvCxnSpPr>
        <p:spPr>
          <a:xfrm flipV="1">
            <a:off x="7698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единительная линия 65"/>
          <p:cNvCxnSpPr/>
          <p:nvPr/>
        </p:nvCxnSpPr>
        <p:spPr>
          <a:xfrm flipV="1">
            <a:off x="8310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Прямая соединительная линия 66"/>
          <p:cNvCxnSpPr/>
          <p:nvPr/>
        </p:nvCxnSpPr>
        <p:spPr>
          <a:xfrm flipV="1">
            <a:off x="8670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Прямая соединительная линия 67"/>
          <p:cNvCxnSpPr/>
          <p:nvPr/>
        </p:nvCxnSpPr>
        <p:spPr>
          <a:xfrm flipV="1">
            <a:off x="9318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Прямая соединительная линия 68"/>
          <p:cNvCxnSpPr/>
          <p:nvPr/>
        </p:nvCxnSpPr>
        <p:spPr>
          <a:xfrm flipV="1">
            <a:off x="10218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4295800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ru-RU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ru-RU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655840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ru-RU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015880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ru-RU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03912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5591944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6096000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6672064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7104112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7536160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8040216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8472264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9120336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9984432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5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5" name="Прямая соединительная линия 4"/>
          <p:cNvCxnSpPr>
            <a:cxnSpLocks/>
          </p:cNvCxnSpPr>
          <p:nvPr/>
        </p:nvCxnSpPr>
        <p:spPr>
          <a:xfrm>
            <a:off x="5177904" y="4869160"/>
            <a:ext cx="2124224" cy="0"/>
          </a:xfrm>
          <a:prstGeom prst="line">
            <a:avLst/>
          </a:prstGeom>
          <a:ln w="12700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Овал 82"/>
          <p:cNvSpPr/>
          <p:nvPr/>
        </p:nvSpPr>
        <p:spPr>
          <a:xfrm>
            <a:off x="4475832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4" name="Овал 83"/>
          <p:cNvSpPr/>
          <p:nvPr/>
        </p:nvSpPr>
        <p:spPr>
          <a:xfrm>
            <a:off x="4835872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5" name="Овал 84"/>
          <p:cNvSpPr/>
          <p:nvPr/>
        </p:nvSpPr>
        <p:spPr>
          <a:xfrm>
            <a:off x="5123904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6" name="Овал 85"/>
          <p:cNvSpPr/>
          <p:nvPr/>
        </p:nvSpPr>
        <p:spPr>
          <a:xfrm>
            <a:off x="5447928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7" name="Овал 86"/>
          <p:cNvSpPr/>
          <p:nvPr/>
        </p:nvSpPr>
        <p:spPr>
          <a:xfrm>
            <a:off x="5699968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8" name="Овал 87"/>
          <p:cNvSpPr/>
          <p:nvPr/>
        </p:nvSpPr>
        <p:spPr>
          <a:xfrm>
            <a:off x="6276032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9" name="Овал 88"/>
          <p:cNvSpPr/>
          <p:nvPr/>
        </p:nvSpPr>
        <p:spPr>
          <a:xfrm>
            <a:off x="6852096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0" name="Овал 89"/>
          <p:cNvSpPr/>
          <p:nvPr/>
        </p:nvSpPr>
        <p:spPr>
          <a:xfrm>
            <a:off x="7248128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1" name="Овал 90"/>
          <p:cNvSpPr/>
          <p:nvPr/>
        </p:nvSpPr>
        <p:spPr>
          <a:xfrm>
            <a:off x="7644184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2" name="Овал 91"/>
          <p:cNvSpPr/>
          <p:nvPr/>
        </p:nvSpPr>
        <p:spPr>
          <a:xfrm>
            <a:off x="8256240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3" name="Овал 92"/>
          <p:cNvSpPr/>
          <p:nvPr/>
        </p:nvSpPr>
        <p:spPr>
          <a:xfrm>
            <a:off x="8616280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4" name="Овал 93"/>
          <p:cNvSpPr/>
          <p:nvPr/>
        </p:nvSpPr>
        <p:spPr>
          <a:xfrm>
            <a:off x="9264352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5" name="Овал 94"/>
          <p:cNvSpPr/>
          <p:nvPr/>
        </p:nvSpPr>
        <p:spPr>
          <a:xfrm>
            <a:off x="10164464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Овал 26"/>
          <p:cNvSpPr/>
          <p:nvPr/>
        </p:nvSpPr>
        <p:spPr>
          <a:xfrm>
            <a:off x="5123904" y="482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Овал 27"/>
          <p:cNvSpPr/>
          <p:nvPr/>
        </p:nvSpPr>
        <p:spPr>
          <a:xfrm>
            <a:off x="7248128" y="482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687071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C3312"/>
                                      </p:to>
                                    </p:animClr>
                                    <p:animClr clrSpc="rgb" dir="cw">
                                      <p:cBhvr>
                                        <p:cTn id="2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C3312"/>
                                      </p:to>
                                    </p:animClr>
                                    <p:set>
                                      <p:cBhvr>
                                        <p:cTn id="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 animBg="1"/>
      <p:bldP spid="90" grpId="0" animBg="1"/>
      <p:bldP spid="27" grpId="0" animBg="1"/>
      <p:bldP spid="2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216002" y="1700808"/>
            <a:ext cx="8712646" cy="496855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288010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Причинно-следственный порядок</a:t>
            </a:r>
          </a:p>
        </p:txBody>
      </p:sp>
      <p:sp>
        <p:nvSpPr>
          <p:cNvPr id="20" name="_h1"/>
          <p:cNvSpPr>
            <a:spLocks noGrp="1" noChangeArrowheads="1"/>
          </p:cNvSpPr>
          <p:nvPr>
            <p:ph type="title"/>
          </p:nvPr>
        </p:nvSpPr>
        <p:spPr>
          <a:xfrm>
            <a:off x="3216002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Модель распределенной программы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59696" y="1844825"/>
            <a:ext cx="84246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Пространственно-временные диаграммы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575720" y="3068960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endParaRPr kumimoji="0" lang="ru-RU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75720" y="3789040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575720" y="4509120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575720" y="521990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</a:t>
            </a:r>
            <a:endParaRPr kumimoji="0" lang="ru-RU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4" name="Прямая со стрелкой 3"/>
          <p:cNvCxnSpPr>
            <a:cxnSpLocks/>
          </p:cNvCxnSpPr>
          <p:nvPr/>
        </p:nvCxnSpPr>
        <p:spPr>
          <a:xfrm>
            <a:off x="4007768" y="3430800"/>
            <a:ext cx="6840760" cy="0"/>
          </a:xfrm>
          <a:prstGeom prst="straightConnector1">
            <a:avLst/>
          </a:prstGeom>
          <a:ln w="12700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>
            <a:cxnSpLocks/>
          </p:cNvCxnSpPr>
          <p:nvPr/>
        </p:nvCxnSpPr>
        <p:spPr>
          <a:xfrm>
            <a:off x="4007768" y="4149080"/>
            <a:ext cx="6840760" cy="0"/>
          </a:xfrm>
          <a:prstGeom prst="straightConnector1">
            <a:avLst/>
          </a:prstGeom>
          <a:ln w="12700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>
            <a:cxnSpLocks/>
          </p:cNvCxnSpPr>
          <p:nvPr/>
        </p:nvCxnSpPr>
        <p:spPr>
          <a:xfrm>
            <a:off x="4007768" y="4869160"/>
            <a:ext cx="6840760" cy="0"/>
          </a:xfrm>
          <a:prstGeom prst="straightConnector1">
            <a:avLst/>
          </a:prstGeom>
          <a:ln w="12700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/>
          <p:cNvCxnSpPr>
            <a:cxnSpLocks/>
          </p:cNvCxnSpPr>
          <p:nvPr/>
        </p:nvCxnSpPr>
        <p:spPr>
          <a:xfrm>
            <a:off x="4007768" y="5589240"/>
            <a:ext cx="6840760" cy="0"/>
          </a:xfrm>
          <a:prstGeom prst="straightConnector1">
            <a:avLst/>
          </a:prstGeom>
          <a:ln w="15875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Овал 11"/>
          <p:cNvSpPr/>
          <p:nvPr/>
        </p:nvSpPr>
        <p:spPr>
          <a:xfrm>
            <a:off x="4475832" y="338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5447928" y="338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Овал 20"/>
          <p:cNvSpPr/>
          <p:nvPr/>
        </p:nvSpPr>
        <p:spPr>
          <a:xfrm>
            <a:off x="7644184" y="338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Овал 21"/>
          <p:cNvSpPr/>
          <p:nvPr/>
        </p:nvSpPr>
        <p:spPr>
          <a:xfrm>
            <a:off x="4835872" y="410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Овал 22"/>
          <p:cNvSpPr/>
          <p:nvPr/>
        </p:nvSpPr>
        <p:spPr>
          <a:xfrm>
            <a:off x="5699968" y="410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Овал 24"/>
          <p:cNvSpPr/>
          <p:nvPr/>
        </p:nvSpPr>
        <p:spPr>
          <a:xfrm>
            <a:off x="9264376" y="410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Овал 25"/>
          <p:cNvSpPr/>
          <p:nvPr/>
        </p:nvSpPr>
        <p:spPr>
          <a:xfrm>
            <a:off x="10164464" y="410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Овал 26"/>
          <p:cNvSpPr/>
          <p:nvPr/>
        </p:nvSpPr>
        <p:spPr>
          <a:xfrm>
            <a:off x="5123904" y="482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Овал 27"/>
          <p:cNvSpPr/>
          <p:nvPr/>
        </p:nvSpPr>
        <p:spPr>
          <a:xfrm>
            <a:off x="7248128" y="482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Овал 28"/>
          <p:cNvSpPr/>
          <p:nvPr/>
        </p:nvSpPr>
        <p:spPr>
          <a:xfrm>
            <a:off x="8256240" y="482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Овал 29"/>
          <p:cNvSpPr/>
          <p:nvPr/>
        </p:nvSpPr>
        <p:spPr>
          <a:xfrm>
            <a:off x="8616280" y="482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7" name="Прямая со стрелкой 16"/>
          <p:cNvCxnSpPr>
            <a:stCxn id="22" idx="7"/>
            <a:endCxn id="18" idx="3"/>
          </p:cNvCxnSpPr>
          <p:nvPr/>
        </p:nvCxnSpPr>
        <p:spPr>
          <a:xfrm flipV="1">
            <a:off x="4928056" y="3476184"/>
            <a:ext cx="535688" cy="6436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/>
          <p:cNvCxnSpPr>
            <a:stCxn id="24" idx="7"/>
            <a:endCxn id="19" idx="3"/>
          </p:cNvCxnSpPr>
          <p:nvPr/>
        </p:nvCxnSpPr>
        <p:spPr>
          <a:xfrm flipV="1">
            <a:off x="6368216" y="3476184"/>
            <a:ext cx="499696" cy="6436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/>
          <p:cNvCxnSpPr>
            <a:cxnSpLocks/>
            <a:stCxn id="21" idx="4"/>
            <a:endCxn id="29" idx="1"/>
          </p:cNvCxnSpPr>
          <p:nvPr/>
        </p:nvCxnSpPr>
        <p:spPr>
          <a:xfrm>
            <a:off x="7698184" y="3492000"/>
            <a:ext cx="573872" cy="134781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/>
          <p:cNvCxnSpPr>
            <a:stCxn id="30" idx="7"/>
            <a:endCxn id="25" idx="3"/>
          </p:cNvCxnSpPr>
          <p:nvPr/>
        </p:nvCxnSpPr>
        <p:spPr>
          <a:xfrm flipV="1">
            <a:off x="8708464" y="4196184"/>
            <a:ext cx="571728" cy="6436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0632504" y="2987660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время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5800" y="2852936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295800" y="306896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ru-RU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ru-RU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03912" y="306896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ru-RU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672064" y="306896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ru-RU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464152" y="306896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ru-RU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583832" y="378904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ru-RU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19936" y="378904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023992" y="378904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048328" y="378904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9912424" y="378904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5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943872" y="4921424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ru-RU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04112" y="4921424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8040216" y="4921424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544272" y="494116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57" name="Прямая соединительная линия 56"/>
          <p:cNvCxnSpPr/>
          <p:nvPr/>
        </p:nvCxnSpPr>
        <p:spPr>
          <a:xfrm flipV="1">
            <a:off x="4530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единительная линия 57"/>
          <p:cNvCxnSpPr/>
          <p:nvPr/>
        </p:nvCxnSpPr>
        <p:spPr>
          <a:xfrm flipV="1">
            <a:off x="4890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/>
          <p:cNvCxnSpPr/>
          <p:nvPr/>
        </p:nvCxnSpPr>
        <p:spPr>
          <a:xfrm flipV="1">
            <a:off x="5178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Прямая соединительная линия 59"/>
          <p:cNvCxnSpPr/>
          <p:nvPr/>
        </p:nvCxnSpPr>
        <p:spPr>
          <a:xfrm flipV="1">
            <a:off x="5502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единительная линия 60"/>
          <p:cNvCxnSpPr/>
          <p:nvPr/>
        </p:nvCxnSpPr>
        <p:spPr>
          <a:xfrm flipV="1">
            <a:off x="5754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единительная линия 61"/>
          <p:cNvCxnSpPr/>
          <p:nvPr/>
        </p:nvCxnSpPr>
        <p:spPr>
          <a:xfrm flipV="1">
            <a:off x="6330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единительная линия 62"/>
          <p:cNvCxnSpPr/>
          <p:nvPr/>
        </p:nvCxnSpPr>
        <p:spPr>
          <a:xfrm flipV="1">
            <a:off x="6906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Прямая соединительная линия 63"/>
          <p:cNvCxnSpPr/>
          <p:nvPr/>
        </p:nvCxnSpPr>
        <p:spPr>
          <a:xfrm flipV="1">
            <a:off x="7302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единительная линия 64"/>
          <p:cNvCxnSpPr/>
          <p:nvPr/>
        </p:nvCxnSpPr>
        <p:spPr>
          <a:xfrm flipV="1">
            <a:off x="7698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единительная линия 65"/>
          <p:cNvCxnSpPr/>
          <p:nvPr/>
        </p:nvCxnSpPr>
        <p:spPr>
          <a:xfrm flipV="1">
            <a:off x="8310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Прямая соединительная линия 66"/>
          <p:cNvCxnSpPr/>
          <p:nvPr/>
        </p:nvCxnSpPr>
        <p:spPr>
          <a:xfrm flipV="1">
            <a:off x="8670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Прямая соединительная линия 67"/>
          <p:cNvCxnSpPr/>
          <p:nvPr/>
        </p:nvCxnSpPr>
        <p:spPr>
          <a:xfrm flipV="1">
            <a:off x="9318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Прямая соединительная линия 68"/>
          <p:cNvCxnSpPr/>
          <p:nvPr/>
        </p:nvCxnSpPr>
        <p:spPr>
          <a:xfrm flipV="1">
            <a:off x="10218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4295800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ru-RU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ru-RU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655840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ru-RU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015880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ru-RU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03912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5591944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6096000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6672064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7104112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7536160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8040216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8472264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9120336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9984432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5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3" name="Овал 82"/>
          <p:cNvSpPr/>
          <p:nvPr/>
        </p:nvSpPr>
        <p:spPr>
          <a:xfrm>
            <a:off x="4475832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4" name="Овал 83"/>
          <p:cNvSpPr/>
          <p:nvPr/>
        </p:nvSpPr>
        <p:spPr>
          <a:xfrm>
            <a:off x="4835872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5" name="Овал 84"/>
          <p:cNvSpPr/>
          <p:nvPr/>
        </p:nvSpPr>
        <p:spPr>
          <a:xfrm>
            <a:off x="5123904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6" name="Овал 85"/>
          <p:cNvSpPr/>
          <p:nvPr/>
        </p:nvSpPr>
        <p:spPr>
          <a:xfrm>
            <a:off x="5447928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7" name="Овал 86"/>
          <p:cNvSpPr/>
          <p:nvPr/>
        </p:nvSpPr>
        <p:spPr>
          <a:xfrm>
            <a:off x="5699968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8" name="Овал 87"/>
          <p:cNvSpPr/>
          <p:nvPr/>
        </p:nvSpPr>
        <p:spPr>
          <a:xfrm>
            <a:off x="6276032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9" name="Овал 88"/>
          <p:cNvSpPr/>
          <p:nvPr/>
        </p:nvSpPr>
        <p:spPr>
          <a:xfrm>
            <a:off x="6852096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0" name="Овал 89"/>
          <p:cNvSpPr/>
          <p:nvPr/>
        </p:nvSpPr>
        <p:spPr>
          <a:xfrm>
            <a:off x="7248128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1" name="Овал 90"/>
          <p:cNvSpPr/>
          <p:nvPr/>
        </p:nvSpPr>
        <p:spPr>
          <a:xfrm>
            <a:off x="7644184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2" name="Овал 91"/>
          <p:cNvSpPr/>
          <p:nvPr/>
        </p:nvSpPr>
        <p:spPr>
          <a:xfrm>
            <a:off x="8256240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3" name="Овал 92"/>
          <p:cNvSpPr/>
          <p:nvPr/>
        </p:nvSpPr>
        <p:spPr>
          <a:xfrm>
            <a:off x="8616280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4" name="Овал 93"/>
          <p:cNvSpPr/>
          <p:nvPr/>
        </p:nvSpPr>
        <p:spPr>
          <a:xfrm>
            <a:off x="9264352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5" name="Овал 94"/>
          <p:cNvSpPr/>
          <p:nvPr/>
        </p:nvSpPr>
        <p:spPr>
          <a:xfrm>
            <a:off x="10164464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Овал 23"/>
          <p:cNvSpPr/>
          <p:nvPr/>
        </p:nvSpPr>
        <p:spPr>
          <a:xfrm>
            <a:off x="6276032" y="410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Овал 18"/>
          <p:cNvSpPr/>
          <p:nvPr/>
        </p:nvSpPr>
        <p:spPr>
          <a:xfrm>
            <a:off x="6852096" y="338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148555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 animBg="1"/>
      <p:bldP spid="89" grpId="0" animBg="1"/>
      <p:bldP spid="24" grpId="0" animBg="1"/>
      <p:bldP spid="1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216002" y="1700808"/>
            <a:ext cx="8712646" cy="496855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288010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Причинно-следственный порядок</a:t>
            </a:r>
          </a:p>
        </p:txBody>
      </p:sp>
      <p:sp>
        <p:nvSpPr>
          <p:cNvPr id="20" name="_h1"/>
          <p:cNvSpPr>
            <a:spLocks noGrp="1" noChangeArrowheads="1"/>
          </p:cNvSpPr>
          <p:nvPr>
            <p:ph type="title"/>
          </p:nvPr>
        </p:nvSpPr>
        <p:spPr>
          <a:xfrm>
            <a:off x="3216002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Модель распределенной программы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59696" y="1844825"/>
            <a:ext cx="84246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Пространственно-временные диаграммы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575720" y="3068960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endParaRPr kumimoji="0" lang="ru-RU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75720" y="3789040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575720" y="4509120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575720" y="521990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</a:t>
            </a:r>
            <a:endParaRPr kumimoji="0" lang="ru-RU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4" name="Прямая со стрелкой 3"/>
          <p:cNvCxnSpPr>
            <a:cxnSpLocks/>
          </p:cNvCxnSpPr>
          <p:nvPr/>
        </p:nvCxnSpPr>
        <p:spPr>
          <a:xfrm>
            <a:off x="4007768" y="3430800"/>
            <a:ext cx="6840760" cy="0"/>
          </a:xfrm>
          <a:prstGeom prst="straightConnector1">
            <a:avLst/>
          </a:prstGeom>
          <a:ln w="12700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>
            <a:cxnSpLocks/>
          </p:cNvCxnSpPr>
          <p:nvPr/>
        </p:nvCxnSpPr>
        <p:spPr>
          <a:xfrm>
            <a:off x="4007768" y="4149080"/>
            <a:ext cx="6840760" cy="0"/>
          </a:xfrm>
          <a:prstGeom prst="straightConnector1">
            <a:avLst/>
          </a:prstGeom>
          <a:ln w="12700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>
            <a:cxnSpLocks/>
          </p:cNvCxnSpPr>
          <p:nvPr/>
        </p:nvCxnSpPr>
        <p:spPr>
          <a:xfrm>
            <a:off x="4007768" y="4869160"/>
            <a:ext cx="6840760" cy="0"/>
          </a:xfrm>
          <a:prstGeom prst="straightConnector1">
            <a:avLst/>
          </a:prstGeom>
          <a:ln w="12700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/>
          <p:cNvCxnSpPr>
            <a:cxnSpLocks/>
          </p:cNvCxnSpPr>
          <p:nvPr/>
        </p:nvCxnSpPr>
        <p:spPr>
          <a:xfrm>
            <a:off x="4007768" y="5589240"/>
            <a:ext cx="6840760" cy="0"/>
          </a:xfrm>
          <a:prstGeom prst="straightConnector1">
            <a:avLst/>
          </a:prstGeom>
          <a:ln w="15875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Овал 17"/>
          <p:cNvSpPr/>
          <p:nvPr/>
        </p:nvSpPr>
        <p:spPr>
          <a:xfrm>
            <a:off x="5447928" y="338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Овал 18"/>
          <p:cNvSpPr/>
          <p:nvPr/>
        </p:nvSpPr>
        <p:spPr>
          <a:xfrm>
            <a:off x="6852096" y="338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Овал 20"/>
          <p:cNvSpPr/>
          <p:nvPr/>
        </p:nvSpPr>
        <p:spPr>
          <a:xfrm>
            <a:off x="7644184" y="338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Овал 21"/>
          <p:cNvSpPr/>
          <p:nvPr/>
        </p:nvSpPr>
        <p:spPr>
          <a:xfrm>
            <a:off x="4835872" y="410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Овал 22"/>
          <p:cNvSpPr/>
          <p:nvPr/>
        </p:nvSpPr>
        <p:spPr>
          <a:xfrm>
            <a:off x="5699968" y="410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Овал 23"/>
          <p:cNvSpPr/>
          <p:nvPr/>
        </p:nvSpPr>
        <p:spPr>
          <a:xfrm>
            <a:off x="6276032" y="410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Овал 24"/>
          <p:cNvSpPr/>
          <p:nvPr/>
        </p:nvSpPr>
        <p:spPr>
          <a:xfrm>
            <a:off x="9264376" y="410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Овал 25"/>
          <p:cNvSpPr/>
          <p:nvPr/>
        </p:nvSpPr>
        <p:spPr>
          <a:xfrm>
            <a:off x="10164464" y="410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Овал 26"/>
          <p:cNvSpPr/>
          <p:nvPr/>
        </p:nvSpPr>
        <p:spPr>
          <a:xfrm>
            <a:off x="5123904" y="482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Овал 27"/>
          <p:cNvSpPr/>
          <p:nvPr/>
        </p:nvSpPr>
        <p:spPr>
          <a:xfrm>
            <a:off x="7248128" y="482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Овал 29"/>
          <p:cNvSpPr/>
          <p:nvPr/>
        </p:nvSpPr>
        <p:spPr>
          <a:xfrm>
            <a:off x="8616280" y="482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7" name="Прямая со стрелкой 16"/>
          <p:cNvCxnSpPr>
            <a:stCxn id="22" idx="7"/>
            <a:endCxn id="18" idx="3"/>
          </p:cNvCxnSpPr>
          <p:nvPr/>
        </p:nvCxnSpPr>
        <p:spPr>
          <a:xfrm flipV="1">
            <a:off x="4928056" y="3476184"/>
            <a:ext cx="535688" cy="6436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/>
          <p:cNvCxnSpPr>
            <a:stCxn id="24" idx="7"/>
            <a:endCxn id="19" idx="3"/>
          </p:cNvCxnSpPr>
          <p:nvPr/>
        </p:nvCxnSpPr>
        <p:spPr>
          <a:xfrm flipV="1">
            <a:off x="6368216" y="3476184"/>
            <a:ext cx="499696" cy="6436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/>
          <p:cNvCxnSpPr>
            <a:cxnSpLocks/>
            <a:stCxn id="21" idx="4"/>
            <a:endCxn id="29" idx="1"/>
          </p:cNvCxnSpPr>
          <p:nvPr/>
        </p:nvCxnSpPr>
        <p:spPr>
          <a:xfrm>
            <a:off x="7698184" y="3492000"/>
            <a:ext cx="573872" cy="134781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/>
          <p:cNvCxnSpPr>
            <a:stCxn id="30" idx="7"/>
            <a:endCxn id="25" idx="3"/>
          </p:cNvCxnSpPr>
          <p:nvPr/>
        </p:nvCxnSpPr>
        <p:spPr>
          <a:xfrm flipV="1">
            <a:off x="8708464" y="4196184"/>
            <a:ext cx="571728" cy="6436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0632504" y="2987660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время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5800" y="2852936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295800" y="306896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ru-RU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ru-RU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03912" y="306896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ru-RU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672064" y="306896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ru-RU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464152" y="306896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ru-RU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583832" y="378904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ru-RU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19936" y="378904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023992" y="378904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048328" y="378904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9912424" y="378904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5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943872" y="4921424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ru-RU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04112" y="4921424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8040216" y="4921424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544272" y="494116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57" name="Прямая соединительная линия 56"/>
          <p:cNvCxnSpPr/>
          <p:nvPr/>
        </p:nvCxnSpPr>
        <p:spPr>
          <a:xfrm flipV="1">
            <a:off x="4530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единительная линия 57"/>
          <p:cNvCxnSpPr/>
          <p:nvPr/>
        </p:nvCxnSpPr>
        <p:spPr>
          <a:xfrm flipV="1">
            <a:off x="4890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/>
          <p:cNvCxnSpPr/>
          <p:nvPr/>
        </p:nvCxnSpPr>
        <p:spPr>
          <a:xfrm flipV="1">
            <a:off x="5178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Прямая соединительная линия 59"/>
          <p:cNvCxnSpPr/>
          <p:nvPr/>
        </p:nvCxnSpPr>
        <p:spPr>
          <a:xfrm flipV="1">
            <a:off x="5502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единительная линия 60"/>
          <p:cNvCxnSpPr/>
          <p:nvPr/>
        </p:nvCxnSpPr>
        <p:spPr>
          <a:xfrm flipV="1">
            <a:off x="5754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единительная линия 61"/>
          <p:cNvCxnSpPr/>
          <p:nvPr/>
        </p:nvCxnSpPr>
        <p:spPr>
          <a:xfrm flipV="1">
            <a:off x="6330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единительная линия 62"/>
          <p:cNvCxnSpPr/>
          <p:nvPr/>
        </p:nvCxnSpPr>
        <p:spPr>
          <a:xfrm flipV="1">
            <a:off x="6906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Прямая соединительная линия 63"/>
          <p:cNvCxnSpPr/>
          <p:nvPr/>
        </p:nvCxnSpPr>
        <p:spPr>
          <a:xfrm flipV="1">
            <a:off x="7302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единительная линия 64"/>
          <p:cNvCxnSpPr/>
          <p:nvPr/>
        </p:nvCxnSpPr>
        <p:spPr>
          <a:xfrm flipV="1">
            <a:off x="7698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единительная линия 65"/>
          <p:cNvCxnSpPr/>
          <p:nvPr/>
        </p:nvCxnSpPr>
        <p:spPr>
          <a:xfrm flipV="1">
            <a:off x="8310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Прямая соединительная линия 66"/>
          <p:cNvCxnSpPr/>
          <p:nvPr/>
        </p:nvCxnSpPr>
        <p:spPr>
          <a:xfrm flipV="1">
            <a:off x="8670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Прямая соединительная линия 67"/>
          <p:cNvCxnSpPr/>
          <p:nvPr/>
        </p:nvCxnSpPr>
        <p:spPr>
          <a:xfrm flipV="1">
            <a:off x="9318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Прямая соединительная линия 68"/>
          <p:cNvCxnSpPr/>
          <p:nvPr/>
        </p:nvCxnSpPr>
        <p:spPr>
          <a:xfrm flipV="1">
            <a:off x="10218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4295800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ru-RU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ru-RU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655840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ru-RU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015880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ru-RU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03912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5591944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6096000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6672064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7104112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7536160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8040216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8472264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9120336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9984432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5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6" name="Прямая соединительная линия 5"/>
          <p:cNvCxnSpPr>
            <a:cxnSpLocks/>
          </p:cNvCxnSpPr>
          <p:nvPr/>
        </p:nvCxnSpPr>
        <p:spPr>
          <a:xfrm>
            <a:off x="4529832" y="3429000"/>
            <a:ext cx="3168352" cy="0"/>
          </a:xfrm>
          <a:prstGeom prst="line">
            <a:avLst/>
          </a:prstGeom>
          <a:ln w="12700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Овал 82"/>
          <p:cNvSpPr/>
          <p:nvPr/>
        </p:nvSpPr>
        <p:spPr>
          <a:xfrm>
            <a:off x="4475832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4" name="Овал 83"/>
          <p:cNvSpPr/>
          <p:nvPr/>
        </p:nvSpPr>
        <p:spPr>
          <a:xfrm>
            <a:off x="4835872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5" name="Овал 84"/>
          <p:cNvSpPr/>
          <p:nvPr/>
        </p:nvSpPr>
        <p:spPr>
          <a:xfrm>
            <a:off x="5123904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6" name="Овал 85"/>
          <p:cNvSpPr/>
          <p:nvPr/>
        </p:nvSpPr>
        <p:spPr>
          <a:xfrm>
            <a:off x="5447928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7" name="Овал 86"/>
          <p:cNvSpPr/>
          <p:nvPr/>
        </p:nvSpPr>
        <p:spPr>
          <a:xfrm>
            <a:off x="5699968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8" name="Овал 87"/>
          <p:cNvSpPr/>
          <p:nvPr/>
        </p:nvSpPr>
        <p:spPr>
          <a:xfrm>
            <a:off x="6276032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9" name="Овал 88"/>
          <p:cNvSpPr/>
          <p:nvPr/>
        </p:nvSpPr>
        <p:spPr>
          <a:xfrm>
            <a:off x="6852096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0" name="Овал 89"/>
          <p:cNvSpPr/>
          <p:nvPr/>
        </p:nvSpPr>
        <p:spPr>
          <a:xfrm>
            <a:off x="7248128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1" name="Овал 90"/>
          <p:cNvSpPr/>
          <p:nvPr/>
        </p:nvSpPr>
        <p:spPr>
          <a:xfrm>
            <a:off x="7644184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2" name="Овал 91"/>
          <p:cNvSpPr/>
          <p:nvPr/>
        </p:nvSpPr>
        <p:spPr>
          <a:xfrm>
            <a:off x="8256240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3" name="Овал 92"/>
          <p:cNvSpPr/>
          <p:nvPr/>
        </p:nvSpPr>
        <p:spPr>
          <a:xfrm>
            <a:off x="8616280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4" name="Овал 93"/>
          <p:cNvSpPr/>
          <p:nvPr/>
        </p:nvSpPr>
        <p:spPr>
          <a:xfrm>
            <a:off x="9264352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5" name="Овал 94"/>
          <p:cNvSpPr/>
          <p:nvPr/>
        </p:nvSpPr>
        <p:spPr>
          <a:xfrm>
            <a:off x="10164464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96" name="Прямая со стрелкой 95"/>
          <p:cNvCxnSpPr>
            <a:cxnSpLocks/>
          </p:cNvCxnSpPr>
          <p:nvPr/>
        </p:nvCxnSpPr>
        <p:spPr>
          <a:xfrm>
            <a:off x="7698160" y="3438292"/>
            <a:ext cx="576064" cy="140152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Овал 28"/>
          <p:cNvSpPr/>
          <p:nvPr/>
        </p:nvSpPr>
        <p:spPr>
          <a:xfrm>
            <a:off x="8256240" y="482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Овал 11"/>
          <p:cNvSpPr/>
          <p:nvPr/>
        </p:nvSpPr>
        <p:spPr>
          <a:xfrm>
            <a:off x="4475832" y="338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499662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 animBg="1"/>
      <p:bldP spid="92" grpId="0" animBg="1"/>
      <p:bldP spid="29" grpId="0" animBg="1"/>
      <p:bldP spid="1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216002" y="1700808"/>
            <a:ext cx="8712646" cy="496855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288010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Причинно-следственный порядок</a:t>
            </a:r>
          </a:p>
        </p:txBody>
      </p:sp>
      <p:sp>
        <p:nvSpPr>
          <p:cNvPr id="20" name="_h1"/>
          <p:cNvSpPr>
            <a:spLocks noGrp="1" noChangeArrowheads="1"/>
          </p:cNvSpPr>
          <p:nvPr>
            <p:ph type="title"/>
          </p:nvPr>
        </p:nvSpPr>
        <p:spPr>
          <a:xfrm>
            <a:off x="3216002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Модель распределенной программы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59696" y="2380405"/>
            <a:ext cx="8424614" cy="3308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Параллельные события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Не все события в выполнении программы связаны отношением «произошло раньше».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Если два события </a:t>
            </a:r>
            <a:r>
              <a:rPr kumimoji="0" lang="en-US" sz="20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2000" b="0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и </a:t>
            </a:r>
            <a:r>
              <a:rPr kumimoji="0" lang="en-US" sz="20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2000" b="0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j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не связаны таким отношением, то говорят, что они параллельны (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concurrent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- </a:t>
            </a:r>
            <a:r>
              <a:rPr kumimoji="0" lang="en-US" sz="20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2000" b="0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║ </a:t>
            </a:r>
            <a:r>
              <a:rPr kumimoji="0" lang="en-US" sz="20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2000" b="0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j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Отношение параллельности не является транзитивным: из </a:t>
            </a:r>
            <a:r>
              <a:rPr kumimoji="0" lang="en-US" sz="20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2000" b="0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║ </a:t>
            </a:r>
            <a:r>
              <a:rPr kumimoji="0" lang="en-US" sz="20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2000" b="0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j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b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и </a:t>
            </a:r>
            <a:r>
              <a:rPr kumimoji="0" lang="en-US" sz="20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2000" b="0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j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║ </a:t>
            </a:r>
            <a:r>
              <a:rPr kumimoji="0" lang="en-US" sz="20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2000" b="0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не следует </a:t>
            </a:r>
            <a:r>
              <a:rPr kumimoji="0" lang="en-US" sz="20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2000" b="0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║ </a:t>
            </a:r>
            <a:r>
              <a:rPr kumimoji="0" lang="en-US" sz="20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2000" b="0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0736591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216002" y="1700808"/>
            <a:ext cx="8712646" cy="496855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288010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Причинно-следственный порядок</a:t>
            </a:r>
          </a:p>
        </p:txBody>
      </p:sp>
      <p:sp>
        <p:nvSpPr>
          <p:cNvPr id="20" name="_h1"/>
          <p:cNvSpPr>
            <a:spLocks noGrp="1" noChangeArrowheads="1"/>
          </p:cNvSpPr>
          <p:nvPr>
            <p:ph type="title"/>
          </p:nvPr>
        </p:nvSpPr>
        <p:spPr>
          <a:xfrm>
            <a:off x="3216002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Модель распределенной программы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59696" y="1844825"/>
            <a:ext cx="84246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Пространственно-временные диаграммы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575720" y="2924944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endParaRPr kumimoji="0" lang="ru-RU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75720" y="3645024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575720" y="4365104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575720" y="5075892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</a:t>
            </a:r>
            <a:endParaRPr kumimoji="0" lang="ru-RU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4" name="Прямая со стрелкой 3"/>
          <p:cNvCxnSpPr>
            <a:cxnSpLocks/>
          </p:cNvCxnSpPr>
          <p:nvPr/>
        </p:nvCxnSpPr>
        <p:spPr>
          <a:xfrm>
            <a:off x="4007768" y="3286784"/>
            <a:ext cx="6840760" cy="0"/>
          </a:xfrm>
          <a:prstGeom prst="straightConnector1">
            <a:avLst/>
          </a:prstGeom>
          <a:ln w="12700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>
            <a:cxnSpLocks/>
          </p:cNvCxnSpPr>
          <p:nvPr/>
        </p:nvCxnSpPr>
        <p:spPr>
          <a:xfrm>
            <a:off x="4007768" y="4005064"/>
            <a:ext cx="6840760" cy="0"/>
          </a:xfrm>
          <a:prstGeom prst="straightConnector1">
            <a:avLst/>
          </a:prstGeom>
          <a:ln w="12700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>
            <a:cxnSpLocks/>
          </p:cNvCxnSpPr>
          <p:nvPr/>
        </p:nvCxnSpPr>
        <p:spPr>
          <a:xfrm>
            <a:off x="4007768" y="4725144"/>
            <a:ext cx="6840760" cy="0"/>
          </a:xfrm>
          <a:prstGeom prst="straightConnector1">
            <a:avLst/>
          </a:prstGeom>
          <a:ln w="12700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/>
          <p:cNvCxnSpPr>
            <a:cxnSpLocks/>
          </p:cNvCxnSpPr>
          <p:nvPr/>
        </p:nvCxnSpPr>
        <p:spPr>
          <a:xfrm>
            <a:off x="4007768" y="5445224"/>
            <a:ext cx="6840760" cy="0"/>
          </a:xfrm>
          <a:prstGeom prst="straightConnector1">
            <a:avLst/>
          </a:prstGeom>
          <a:ln w="15875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Овал 11"/>
          <p:cNvSpPr/>
          <p:nvPr/>
        </p:nvSpPr>
        <p:spPr>
          <a:xfrm>
            <a:off x="4475832" y="323998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Овал 18"/>
          <p:cNvSpPr/>
          <p:nvPr/>
        </p:nvSpPr>
        <p:spPr>
          <a:xfrm>
            <a:off x="6852096" y="323998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Овал 20"/>
          <p:cNvSpPr/>
          <p:nvPr/>
        </p:nvSpPr>
        <p:spPr>
          <a:xfrm>
            <a:off x="7644184" y="323998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Овал 21"/>
          <p:cNvSpPr/>
          <p:nvPr/>
        </p:nvSpPr>
        <p:spPr>
          <a:xfrm>
            <a:off x="4835872" y="395998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Овал 22"/>
          <p:cNvSpPr/>
          <p:nvPr/>
        </p:nvSpPr>
        <p:spPr>
          <a:xfrm>
            <a:off x="5699968" y="395998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Овал 24"/>
          <p:cNvSpPr/>
          <p:nvPr/>
        </p:nvSpPr>
        <p:spPr>
          <a:xfrm>
            <a:off x="9264376" y="395998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Овал 25"/>
          <p:cNvSpPr/>
          <p:nvPr/>
        </p:nvSpPr>
        <p:spPr>
          <a:xfrm>
            <a:off x="10164464" y="395998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Овал 26"/>
          <p:cNvSpPr/>
          <p:nvPr/>
        </p:nvSpPr>
        <p:spPr>
          <a:xfrm>
            <a:off x="5123904" y="467998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Овал 27"/>
          <p:cNvSpPr/>
          <p:nvPr/>
        </p:nvSpPr>
        <p:spPr>
          <a:xfrm>
            <a:off x="7248128" y="467998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Овал 28"/>
          <p:cNvSpPr/>
          <p:nvPr/>
        </p:nvSpPr>
        <p:spPr>
          <a:xfrm>
            <a:off x="8256240" y="467998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Овал 29"/>
          <p:cNvSpPr/>
          <p:nvPr/>
        </p:nvSpPr>
        <p:spPr>
          <a:xfrm>
            <a:off x="8616280" y="467998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7" name="Прямая со стрелкой 16"/>
          <p:cNvCxnSpPr>
            <a:stCxn id="22" idx="7"/>
            <a:endCxn id="18" idx="3"/>
          </p:cNvCxnSpPr>
          <p:nvPr/>
        </p:nvCxnSpPr>
        <p:spPr>
          <a:xfrm flipV="1">
            <a:off x="4928056" y="3332168"/>
            <a:ext cx="535688" cy="6436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/>
          <p:cNvCxnSpPr>
            <a:stCxn id="24" idx="7"/>
            <a:endCxn id="19" idx="3"/>
          </p:cNvCxnSpPr>
          <p:nvPr/>
        </p:nvCxnSpPr>
        <p:spPr>
          <a:xfrm flipV="1">
            <a:off x="6368216" y="3332168"/>
            <a:ext cx="499696" cy="6436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/>
          <p:cNvCxnSpPr>
            <a:cxnSpLocks/>
            <a:stCxn id="21" idx="4"/>
            <a:endCxn id="29" idx="1"/>
          </p:cNvCxnSpPr>
          <p:nvPr/>
        </p:nvCxnSpPr>
        <p:spPr>
          <a:xfrm>
            <a:off x="7698184" y="3347984"/>
            <a:ext cx="573872" cy="134781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/>
          <p:cNvCxnSpPr>
            <a:stCxn id="30" idx="7"/>
            <a:endCxn id="25" idx="3"/>
          </p:cNvCxnSpPr>
          <p:nvPr/>
        </p:nvCxnSpPr>
        <p:spPr>
          <a:xfrm flipV="1">
            <a:off x="8708464" y="4052168"/>
            <a:ext cx="571728" cy="6436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0632504" y="2843644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время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5800" y="2708920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295800" y="292494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ru-RU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ru-RU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03912" y="292494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ru-RU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672064" y="292494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ru-RU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464152" y="292494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ru-RU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583832" y="364502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ru-RU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19936" y="364502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023992" y="364502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048328" y="364502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9912424" y="364502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5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943872" y="4777408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ru-RU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04112" y="4777408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8040216" y="4777408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544272" y="479715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57" name="Прямая соединительная линия 56"/>
          <p:cNvCxnSpPr/>
          <p:nvPr/>
        </p:nvCxnSpPr>
        <p:spPr>
          <a:xfrm flipV="1">
            <a:off x="4530160" y="3167984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единительная линия 57"/>
          <p:cNvCxnSpPr/>
          <p:nvPr/>
        </p:nvCxnSpPr>
        <p:spPr>
          <a:xfrm flipV="1">
            <a:off x="4890160" y="3167984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/>
          <p:cNvCxnSpPr/>
          <p:nvPr/>
        </p:nvCxnSpPr>
        <p:spPr>
          <a:xfrm flipV="1">
            <a:off x="5178160" y="3167984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Прямая соединительная линия 59"/>
          <p:cNvCxnSpPr/>
          <p:nvPr/>
        </p:nvCxnSpPr>
        <p:spPr>
          <a:xfrm flipV="1">
            <a:off x="5502160" y="3167984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единительная линия 60"/>
          <p:cNvCxnSpPr/>
          <p:nvPr/>
        </p:nvCxnSpPr>
        <p:spPr>
          <a:xfrm flipV="1">
            <a:off x="5754160" y="3167984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единительная линия 61"/>
          <p:cNvCxnSpPr/>
          <p:nvPr/>
        </p:nvCxnSpPr>
        <p:spPr>
          <a:xfrm flipV="1">
            <a:off x="6330160" y="3167984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единительная линия 62"/>
          <p:cNvCxnSpPr/>
          <p:nvPr/>
        </p:nvCxnSpPr>
        <p:spPr>
          <a:xfrm flipV="1">
            <a:off x="6906160" y="3167984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Прямая соединительная линия 63"/>
          <p:cNvCxnSpPr/>
          <p:nvPr/>
        </p:nvCxnSpPr>
        <p:spPr>
          <a:xfrm flipV="1">
            <a:off x="7302160" y="3167984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единительная линия 64"/>
          <p:cNvCxnSpPr/>
          <p:nvPr/>
        </p:nvCxnSpPr>
        <p:spPr>
          <a:xfrm flipV="1">
            <a:off x="7698160" y="3167984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единительная линия 65"/>
          <p:cNvCxnSpPr/>
          <p:nvPr/>
        </p:nvCxnSpPr>
        <p:spPr>
          <a:xfrm flipV="1">
            <a:off x="8310160" y="3167984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Прямая соединительная линия 66"/>
          <p:cNvCxnSpPr/>
          <p:nvPr/>
        </p:nvCxnSpPr>
        <p:spPr>
          <a:xfrm flipV="1">
            <a:off x="8670160" y="3167984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Прямая соединительная линия 67"/>
          <p:cNvCxnSpPr/>
          <p:nvPr/>
        </p:nvCxnSpPr>
        <p:spPr>
          <a:xfrm flipV="1">
            <a:off x="9318160" y="3167984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Прямая соединительная линия 68"/>
          <p:cNvCxnSpPr/>
          <p:nvPr/>
        </p:nvCxnSpPr>
        <p:spPr>
          <a:xfrm flipV="1">
            <a:off x="10218160" y="3167984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4295800" y="551723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ru-RU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ru-RU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655840" y="551723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ru-RU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015880" y="551723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ru-RU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03912" y="551723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5591944" y="551723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6096000" y="551723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6672064" y="551723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7104112" y="551723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7536160" y="551723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8040216" y="551723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8472264" y="551723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9120336" y="551723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9984432" y="551723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5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3" name="Овал 82"/>
          <p:cNvSpPr/>
          <p:nvPr/>
        </p:nvSpPr>
        <p:spPr>
          <a:xfrm>
            <a:off x="4475832" y="539998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4" name="Овал 83"/>
          <p:cNvSpPr/>
          <p:nvPr/>
        </p:nvSpPr>
        <p:spPr>
          <a:xfrm>
            <a:off x="4835872" y="539998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5" name="Овал 84"/>
          <p:cNvSpPr/>
          <p:nvPr/>
        </p:nvSpPr>
        <p:spPr>
          <a:xfrm>
            <a:off x="5123904" y="539998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6" name="Овал 85"/>
          <p:cNvSpPr/>
          <p:nvPr/>
        </p:nvSpPr>
        <p:spPr>
          <a:xfrm>
            <a:off x="5447928" y="539998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7" name="Овал 86"/>
          <p:cNvSpPr/>
          <p:nvPr/>
        </p:nvSpPr>
        <p:spPr>
          <a:xfrm>
            <a:off x="5699968" y="539998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8" name="Овал 87"/>
          <p:cNvSpPr/>
          <p:nvPr/>
        </p:nvSpPr>
        <p:spPr>
          <a:xfrm>
            <a:off x="6276032" y="539998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9" name="Овал 88"/>
          <p:cNvSpPr/>
          <p:nvPr/>
        </p:nvSpPr>
        <p:spPr>
          <a:xfrm>
            <a:off x="6852096" y="539998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0" name="Овал 89"/>
          <p:cNvSpPr/>
          <p:nvPr/>
        </p:nvSpPr>
        <p:spPr>
          <a:xfrm>
            <a:off x="7248128" y="539998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1" name="Овал 90"/>
          <p:cNvSpPr/>
          <p:nvPr/>
        </p:nvSpPr>
        <p:spPr>
          <a:xfrm>
            <a:off x="7644184" y="539998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2" name="Овал 91"/>
          <p:cNvSpPr/>
          <p:nvPr/>
        </p:nvSpPr>
        <p:spPr>
          <a:xfrm>
            <a:off x="8256240" y="539998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3" name="Овал 92"/>
          <p:cNvSpPr/>
          <p:nvPr/>
        </p:nvSpPr>
        <p:spPr>
          <a:xfrm>
            <a:off x="8616280" y="539998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4" name="Овал 93"/>
          <p:cNvSpPr/>
          <p:nvPr/>
        </p:nvSpPr>
        <p:spPr>
          <a:xfrm>
            <a:off x="9264352" y="539998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5" name="Овал 94"/>
          <p:cNvSpPr/>
          <p:nvPr/>
        </p:nvSpPr>
        <p:spPr>
          <a:xfrm>
            <a:off x="10164464" y="539998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="" xmlns:a16="http://schemas.microsoft.com/office/drawing/2014/main" id="{07EC2757-581F-4A0B-9892-70EFABC1ABB4}"/>
              </a:ext>
            </a:extLst>
          </p:cNvPr>
          <p:cNvSpPr txBox="1"/>
          <p:nvPr/>
        </p:nvSpPr>
        <p:spPr>
          <a:xfrm>
            <a:off x="3359696" y="5991671"/>
            <a:ext cx="84246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События параллельны</a:t>
            </a:r>
          </a:p>
        </p:txBody>
      </p:sp>
      <p:sp>
        <p:nvSpPr>
          <p:cNvPr id="18" name="Овал 17"/>
          <p:cNvSpPr/>
          <p:nvPr/>
        </p:nvSpPr>
        <p:spPr>
          <a:xfrm>
            <a:off x="5447928" y="323998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Овал 23"/>
          <p:cNvSpPr/>
          <p:nvPr/>
        </p:nvSpPr>
        <p:spPr>
          <a:xfrm>
            <a:off x="6276032" y="395998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299577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4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86" grpId="0" animBg="1"/>
      <p:bldP spid="90" grpId="0" animBg="1"/>
      <p:bldP spid="96" grpId="0"/>
      <p:bldP spid="1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216002" y="1700808"/>
            <a:ext cx="8712646" cy="496855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288010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Причинно-следственный порядок</a:t>
            </a:r>
          </a:p>
        </p:txBody>
      </p:sp>
      <p:sp>
        <p:nvSpPr>
          <p:cNvPr id="20" name="_h1"/>
          <p:cNvSpPr>
            <a:spLocks noGrp="1" noChangeArrowheads="1"/>
          </p:cNvSpPr>
          <p:nvPr>
            <p:ph type="title"/>
          </p:nvPr>
        </p:nvSpPr>
        <p:spPr>
          <a:xfrm>
            <a:off x="3216002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Модель распределенной программы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59696" y="1844825"/>
            <a:ext cx="84246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Пространственно-временные диаграммы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575720" y="2924944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endParaRPr kumimoji="0" lang="ru-RU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75720" y="3645024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575720" y="4365104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575720" y="5075892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</a:t>
            </a:r>
            <a:endParaRPr kumimoji="0" lang="ru-RU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4" name="Прямая со стрелкой 3"/>
          <p:cNvCxnSpPr>
            <a:cxnSpLocks/>
          </p:cNvCxnSpPr>
          <p:nvPr/>
        </p:nvCxnSpPr>
        <p:spPr>
          <a:xfrm>
            <a:off x="4007768" y="3286784"/>
            <a:ext cx="6840760" cy="0"/>
          </a:xfrm>
          <a:prstGeom prst="straightConnector1">
            <a:avLst/>
          </a:prstGeom>
          <a:ln w="12700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>
            <a:cxnSpLocks/>
          </p:cNvCxnSpPr>
          <p:nvPr/>
        </p:nvCxnSpPr>
        <p:spPr>
          <a:xfrm>
            <a:off x="4007768" y="4005064"/>
            <a:ext cx="6840760" cy="0"/>
          </a:xfrm>
          <a:prstGeom prst="straightConnector1">
            <a:avLst/>
          </a:prstGeom>
          <a:ln w="12700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>
            <a:cxnSpLocks/>
          </p:cNvCxnSpPr>
          <p:nvPr/>
        </p:nvCxnSpPr>
        <p:spPr>
          <a:xfrm>
            <a:off x="4007768" y="4725144"/>
            <a:ext cx="6840760" cy="0"/>
          </a:xfrm>
          <a:prstGeom prst="straightConnector1">
            <a:avLst/>
          </a:prstGeom>
          <a:ln w="12700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/>
          <p:cNvCxnSpPr>
            <a:cxnSpLocks/>
          </p:cNvCxnSpPr>
          <p:nvPr/>
        </p:nvCxnSpPr>
        <p:spPr>
          <a:xfrm>
            <a:off x="4007768" y="5445224"/>
            <a:ext cx="6840760" cy="0"/>
          </a:xfrm>
          <a:prstGeom prst="straightConnector1">
            <a:avLst/>
          </a:prstGeom>
          <a:ln w="15875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Овал 11"/>
          <p:cNvSpPr/>
          <p:nvPr/>
        </p:nvSpPr>
        <p:spPr>
          <a:xfrm>
            <a:off x="4475832" y="323998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5447928" y="323998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Овал 18"/>
          <p:cNvSpPr/>
          <p:nvPr/>
        </p:nvSpPr>
        <p:spPr>
          <a:xfrm>
            <a:off x="6852096" y="323998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Овал 21"/>
          <p:cNvSpPr/>
          <p:nvPr/>
        </p:nvSpPr>
        <p:spPr>
          <a:xfrm>
            <a:off x="4835872" y="395998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Овал 22"/>
          <p:cNvSpPr/>
          <p:nvPr/>
        </p:nvSpPr>
        <p:spPr>
          <a:xfrm>
            <a:off x="5699968" y="395998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Овал 23"/>
          <p:cNvSpPr/>
          <p:nvPr/>
        </p:nvSpPr>
        <p:spPr>
          <a:xfrm>
            <a:off x="6276032" y="395998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Овал 24"/>
          <p:cNvSpPr/>
          <p:nvPr/>
        </p:nvSpPr>
        <p:spPr>
          <a:xfrm>
            <a:off x="9264376" y="395998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Овал 25"/>
          <p:cNvSpPr/>
          <p:nvPr/>
        </p:nvSpPr>
        <p:spPr>
          <a:xfrm>
            <a:off x="10164464" y="395998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Овал 26"/>
          <p:cNvSpPr/>
          <p:nvPr/>
        </p:nvSpPr>
        <p:spPr>
          <a:xfrm>
            <a:off x="5123904" y="467998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Овал 28"/>
          <p:cNvSpPr/>
          <p:nvPr/>
        </p:nvSpPr>
        <p:spPr>
          <a:xfrm>
            <a:off x="8256240" y="467998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Овал 29"/>
          <p:cNvSpPr/>
          <p:nvPr/>
        </p:nvSpPr>
        <p:spPr>
          <a:xfrm>
            <a:off x="8616280" y="467998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7" name="Прямая со стрелкой 16"/>
          <p:cNvCxnSpPr>
            <a:stCxn id="22" idx="7"/>
            <a:endCxn id="18" idx="3"/>
          </p:cNvCxnSpPr>
          <p:nvPr/>
        </p:nvCxnSpPr>
        <p:spPr>
          <a:xfrm flipV="1">
            <a:off x="4928056" y="3332168"/>
            <a:ext cx="535688" cy="6436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/>
          <p:cNvCxnSpPr>
            <a:stCxn id="24" idx="7"/>
            <a:endCxn id="19" idx="3"/>
          </p:cNvCxnSpPr>
          <p:nvPr/>
        </p:nvCxnSpPr>
        <p:spPr>
          <a:xfrm flipV="1">
            <a:off x="6368216" y="3332168"/>
            <a:ext cx="499696" cy="6436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/>
          <p:cNvCxnSpPr>
            <a:cxnSpLocks/>
            <a:stCxn id="21" idx="4"/>
            <a:endCxn id="29" idx="1"/>
          </p:cNvCxnSpPr>
          <p:nvPr/>
        </p:nvCxnSpPr>
        <p:spPr>
          <a:xfrm>
            <a:off x="7698184" y="3347984"/>
            <a:ext cx="573872" cy="134781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/>
          <p:cNvCxnSpPr>
            <a:stCxn id="30" idx="7"/>
            <a:endCxn id="25" idx="3"/>
          </p:cNvCxnSpPr>
          <p:nvPr/>
        </p:nvCxnSpPr>
        <p:spPr>
          <a:xfrm flipV="1">
            <a:off x="8708464" y="4052168"/>
            <a:ext cx="571728" cy="6436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0632504" y="2843644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время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5800" y="2708920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295800" y="292494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ru-RU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ru-RU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03912" y="292494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ru-RU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672064" y="292494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ru-RU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464152" y="292494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ru-RU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583832" y="364502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ru-RU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19936" y="364502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023992" y="364502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048328" y="364502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9912424" y="364502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5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943872" y="4777408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ru-RU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04112" y="4777408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8040216" y="4777408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544272" y="479715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57" name="Прямая соединительная линия 56"/>
          <p:cNvCxnSpPr/>
          <p:nvPr/>
        </p:nvCxnSpPr>
        <p:spPr>
          <a:xfrm flipV="1">
            <a:off x="4530160" y="3167984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единительная линия 57"/>
          <p:cNvCxnSpPr/>
          <p:nvPr/>
        </p:nvCxnSpPr>
        <p:spPr>
          <a:xfrm flipV="1">
            <a:off x="4890160" y="3167984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/>
          <p:cNvCxnSpPr/>
          <p:nvPr/>
        </p:nvCxnSpPr>
        <p:spPr>
          <a:xfrm flipV="1">
            <a:off x="5178160" y="3167984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Прямая соединительная линия 59"/>
          <p:cNvCxnSpPr/>
          <p:nvPr/>
        </p:nvCxnSpPr>
        <p:spPr>
          <a:xfrm flipV="1">
            <a:off x="5502160" y="3167984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единительная линия 60"/>
          <p:cNvCxnSpPr/>
          <p:nvPr/>
        </p:nvCxnSpPr>
        <p:spPr>
          <a:xfrm flipV="1">
            <a:off x="5754160" y="3167984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единительная линия 61"/>
          <p:cNvCxnSpPr/>
          <p:nvPr/>
        </p:nvCxnSpPr>
        <p:spPr>
          <a:xfrm flipV="1">
            <a:off x="6330160" y="3167984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единительная линия 62"/>
          <p:cNvCxnSpPr/>
          <p:nvPr/>
        </p:nvCxnSpPr>
        <p:spPr>
          <a:xfrm flipV="1">
            <a:off x="6906160" y="3167984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Прямая соединительная линия 63"/>
          <p:cNvCxnSpPr/>
          <p:nvPr/>
        </p:nvCxnSpPr>
        <p:spPr>
          <a:xfrm flipV="1">
            <a:off x="7302160" y="3167984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единительная линия 64"/>
          <p:cNvCxnSpPr/>
          <p:nvPr/>
        </p:nvCxnSpPr>
        <p:spPr>
          <a:xfrm flipV="1">
            <a:off x="7698160" y="3167984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единительная линия 65"/>
          <p:cNvCxnSpPr/>
          <p:nvPr/>
        </p:nvCxnSpPr>
        <p:spPr>
          <a:xfrm flipV="1">
            <a:off x="8310160" y="3167984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Прямая соединительная линия 66"/>
          <p:cNvCxnSpPr/>
          <p:nvPr/>
        </p:nvCxnSpPr>
        <p:spPr>
          <a:xfrm flipV="1">
            <a:off x="8670160" y="3167984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Прямая соединительная линия 67"/>
          <p:cNvCxnSpPr/>
          <p:nvPr/>
        </p:nvCxnSpPr>
        <p:spPr>
          <a:xfrm flipV="1">
            <a:off x="9318160" y="3167984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Прямая соединительная линия 68"/>
          <p:cNvCxnSpPr/>
          <p:nvPr/>
        </p:nvCxnSpPr>
        <p:spPr>
          <a:xfrm flipV="1">
            <a:off x="10218160" y="3167984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4295800" y="551723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ru-RU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ru-RU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655840" y="551723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ru-RU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015880" y="551723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ru-RU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03912" y="551723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5591944" y="551723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6096000" y="551723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6672064" y="551723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7104112" y="551723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7536160" y="551723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8040216" y="551723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8472264" y="551723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9120336" y="551723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9984432" y="551723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5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3" name="Овал 82"/>
          <p:cNvSpPr/>
          <p:nvPr/>
        </p:nvSpPr>
        <p:spPr>
          <a:xfrm>
            <a:off x="4475832" y="539998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4" name="Овал 83"/>
          <p:cNvSpPr/>
          <p:nvPr/>
        </p:nvSpPr>
        <p:spPr>
          <a:xfrm>
            <a:off x="4835872" y="539998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5" name="Овал 84"/>
          <p:cNvSpPr/>
          <p:nvPr/>
        </p:nvSpPr>
        <p:spPr>
          <a:xfrm>
            <a:off x="5123904" y="539998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6" name="Овал 85"/>
          <p:cNvSpPr/>
          <p:nvPr/>
        </p:nvSpPr>
        <p:spPr>
          <a:xfrm>
            <a:off x="5447928" y="539998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7" name="Овал 86"/>
          <p:cNvSpPr/>
          <p:nvPr/>
        </p:nvSpPr>
        <p:spPr>
          <a:xfrm>
            <a:off x="5699968" y="539998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8" name="Овал 87"/>
          <p:cNvSpPr/>
          <p:nvPr/>
        </p:nvSpPr>
        <p:spPr>
          <a:xfrm>
            <a:off x="6276032" y="539998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9" name="Овал 88"/>
          <p:cNvSpPr/>
          <p:nvPr/>
        </p:nvSpPr>
        <p:spPr>
          <a:xfrm>
            <a:off x="6852096" y="539998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0" name="Овал 89"/>
          <p:cNvSpPr/>
          <p:nvPr/>
        </p:nvSpPr>
        <p:spPr>
          <a:xfrm>
            <a:off x="7248128" y="539998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1" name="Овал 90"/>
          <p:cNvSpPr/>
          <p:nvPr/>
        </p:nvSpPr>
        <p:spPr>
          <a:xfrm>
            <a:off x="7644184" y="539998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2" name="Овал 91"/>
          <p:cNvSpPr/>
          <p:nvPr/>
        </p:nvSpPr>
        <p:spPr>
          <a:xfrm>
            <a:off x="8256240" y="539998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3" name="Овал 92"/>
          <p:cNvSpPr/>
          <p:nvPr/>
        </p:nvSpPr>
        <p:spPr>
          <a:xfrm>
            <a:off x="8616280" y="539998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4" name="Овал 93"/>
          <p:cNvSpPr/>
          <p:nvPr/>
        </p:nvSpPr>
        <p:spPr>
          <a:xfrm>
            <a:off x="9264352" y="539998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5" name="Овал 94"/>
          <p:cNvSpPr/>
          <p:nvPr/>
        </p:nvSpPr>
        <p:spPr>
          <a:xfrm>
            <a:off x="10164464" y="539998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="" xmlns:a16="http://schemas.microsoft.com/office/drawing/2014/main" id="{0FEC967A-263F-418E-B071-E33B550535A8}"/>
              </a:ext>
            </a:extLst>
          </p:cNvPr>
          <p:cNvSpPr txBox="1"/>
          <p:nvPr/>
        </p:nvSpPr>
        <p:spPr>
          <a:xfrm>
            <a:off x="3359696" y="5991671"/>
            <a:ext cx="84246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События параллельны</a:t>
            </a:r>
          </a:p>
        </p:txBody>
      </p:sp>
      <p:sp>
        <p:nvSpPr>
          <p:cNvPr id="28" name="Овал 27"/>
          <p:cNvSpPr/>
          <p:nvPr/>
        </p:nvSpPr>
        <p:spPr>
          <a:xfrm>
            <a:off x="7248128" y="467998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Овал 20"/>
          <p:cNvSpPr/>
          <p:nvPr/>
        </p:nvSpPr>
        <p:spPr>
          <a:xfrm>
            <a:off x="7644184" y="323998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1830015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14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2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 animBg="1"/>
      <p:bldP spid="91" grpId="0" animBg="1"/>
      <p:bldP spid="96" grpId="0"/>
      <p:bldP spid="28" grpId="0" animBg="1"/>
      <p:bldP spid="2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216002" y="1700808"/>
            <a:ext cx="8712646" cy="496855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288010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Причинно-следственный порядок</a:t>
            </a:r>
          </a:p>
        </p:txBody>
      </p:sp>
      <p:sp>
        <p:nvSpPr>
          <p:cNvPr id="20" name="_h1"/>
          <p:cNvSpPr>
            <a:spLocks noGrp="1" noChangeArrowheads="1"/>
          </p:cNvSpPr>
          <p:nvPr>
            <p:ph type="title"/>
          </p:nvPr>
        </p:nvSpPr>
        <p:spPr>
          <a:xfrm>
            <a:off x="3216002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Модель распределенной программы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59696" y="1844825"/>
            <a:ext cx="84246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Пространственно-временные диаграммы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575720" y="2924944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endParaRPr kumimoji="0" lang="ru-RU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75720" y="3645024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575720" y="4365104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575720" y="5075892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</a:t>
            </a:r>
            <a:endParaRPr kumimoji="0" lang="ru-RU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4" name="Прямая со стрелкой 3"/>
          <p:cNvCxnSpPr>
            <a:cxnSpLocks/>
          </p:cNvCxnSpPr>
          <p:nvPr/>
        </p:nvCxnSpPr>
        <p:spPr>
          <a:xfrm>
            <a:off x="4007768" y="3286784"/>
            <a:ext cx="6840760" cy="0"/>
          </a:xfrm>
          <a:prstGeom prst="straightConnector1">
            <a:avLst/>
          </a:prstGeom>
          <a:ln w="12700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>
            <a:cxnSpLocks/>
          </p:cNvCxnSpPr>
          <p:nvPr/>
        </p:nvCxnSpPr>
        <p:spPr>
          <a:xfrm>
            <a:off x="4007768" y="4005064"/>
            <a:ext cx="6840760" cy="0"/>
          </a:xfrm>
          <a:prstGeom prst="straightConnector1">
            <a:avLst/>
          </a:prstGeom>
          <a:ln w="12700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>
            <a:cxnSpLocks/>
          </p:cNvCxnSpPr>
          <p:nvPr/>
        </p:nvCxnSpPr>
        <p:spPr>
          <a:xfrm>
            <a:off x="4007768" y="4725144"/>
            <a:ext cx="6840760" cy="0"/>
          </a:xfrm>
          <a:prstGeom prst="straightConnector1">
            <a:avLst/>
          </a:prstGeom>
          <a:ln w="12700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/>
          <p:cNvCxnSpPr>
            <a:cxnSpLocks/>
          </p:cNvCxnSpPr>
          <p:nvPr/>
        </p:nvCxnSpPr>
        <p:spPr>
          <a:xfrm>
            <a:off x="4007768" y="5445224"/>
            <a:ext cx="6840760" cy="0"/>
          </a:xfrm>
          <a:prstGeom prst="straightConnector1">
            <a:avLst/>
          </a:prstGeom>
          <a:ln w="15875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Овал 11"/>
          <p:cNvSpPr/>
          <p:nvPr/>
        </p:nvSpPr>
        <p:spPr>
          <a:xfrm>
            <a:off x="4475832" y="323998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Овал 18"/>
          <p:cNvSpPr/>
          <p:nvPr/>
        </p:nvSpPr>
        <p:spPr>
          <a:xfrm>
            <a:off x="6852096" y="323998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Овал 21"/>
          <p:cNvSpPr/>
          <p:nvPr/>
        </p:nvSpPr>
        <p:spPr>
          <a:xfrm>
            <a:off x="4835872" y="395998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Овал 22"/>
          <p:cNvSpPr/>
          <p:nvPr/>
        </p:nvSpPr>
        <p:spPr>
          <a:xfrm>
            <a:off x="5699968" y="395998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Овал 23"/>
          <p:cNvSpPr/>
          <p:nvPr/>
        </p:nvSpPr>
        <p:spPr>
          <a:xfrm>
            <a:off x="6276032" y="395998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Овал 24"/>
          <p:cNvSpPr/>
          <p:nvPr/>
        </p:nvSpPr>
        <p:spPr>
          <a:xfrm>
            <a:off x="9264376" y="395998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Овал 25"/>
          <p:cNvSpPr/>
          <p:nvPr/>
        </p:nvSpPr>
        <p:spPr>
          <a:xfrm>
            <a:off x="10164464" y="395998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Овал 26"/>
          <p:cNvSpPr/>
          <p:nvPr/>
        </p:nvSpPr>
        <p:spPr>
          <a:xfrm>
            <a:off x="5123904" y="467998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Овал 27"/>
          <p:cNvSpPr/>
          <p:nvPr/>
        </p:nvSpPr>
        <p:spPr>
          <a:xfrm>
            <a:off x="7248128" y="467998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Овал 28"/>
          <p:cNvSpPr/>
          <p:nvPr/>
        </p:nvSpPr>
        <p:spPr>
          <a:xfrm>
            <a:off x="8256240" y="467998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Овал 29"/>
          <p:cNvSpPr/>
          <p:nvPr/>
        </p:nvSpPr>
        <p:spPr>
          <a:xfrm>
            <a:off x="8616280" y="467998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7" name="Прямая со стрелкой 16"/>
          <p:cNvCxnSpPr>
            <a:stCxn id="22" idx="7"/>
            <a:endCxn id="18" idx="3"/>
          </p:cNvCxnSpPr>
          <p:nvPr/>
        </p:nvCxnSpPr>
        <p:spPr>
          <a:xfrm flipV="1">
            <a:off x="4928056" y="3332168"/>
            <a:ext cx="535688" cy="6436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/>
          <p:cNvCxnSpPr>
            <a:stCxn id="24" idx="7"/>
            <a:endCxn id="19" idx="3"/>
          </p:cNvCxnSpPr>
          <p:nvPr/>
        </p:nvCxnSpPr>
        <p:spPr>
          <a:xfrm flipV="1">
            <a:off x="6368216" y="3332168"/>
            <a:ext cx="499696" cy="6436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/>
          <p:cNvCxnSpPr>
            <a:cxnSpLocks/>
            <a:stCxn id="21" idx="4"/>
            <a:endCxn id="29" idx="1"/>
          </p:cNvCxnSpPr>
          <p:nvPr/>
        </p:nvCxnSpPr>
        <p:spPr>
          <a:xfrm>
            <a:off x="7698184" y="3347984"/>
            <a:ext cx="573872" cy="134781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/>
          <p:cNvCxnSpPr>
            <a:stCxn id="30" idx="7"/>
            <a:endCxn id="25" idx="3"/>
          </p:cNvCxnSpPr>
          <p:nvPr/>
        </p:nvCxnSpPr>
        <p:spPr>
          <a:xfrm flipV="1">
            <a:off x="8708464" y="4052168"/>
            <a:ext cx="571728" cy="6436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0632504" y="2843644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время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5800" y="2708920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295800" y="292494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ru-RU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ru-RU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03912" y="292494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ru-RU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672064" y="292494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ru-RU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464152" y="292494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ru-RU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583832" y="364502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ru-RU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19936" y="364502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023992" y="364502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048328" y="364502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9912424" y="3645025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5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943872" y="4777408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ru-RU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04112" y="4777408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8040216" y="4777408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544272" y="479715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57" name="Прямая соединительная линия 56"/>
          <p:cNvCxnSpPr/>
          <p:nvPr/>
        </p:nvCxnSpPr>
        <p:spPr>
          <a:xfrm flipV="1">
            <a:off x="4530160" y="3167984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единительная линия 57"/>
          <p:cNvCxnSpPr/>
          <p:nvPr/>
        </p:nvCxnSpPr>
        <p:spPr>
          <a:xfrm flipV="1">
            <a:off x="4890160" y="3167984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/>
          <p:cNvCxnSpPr/>
          <p:nvPr/>
        </p:nvCxnSpPr>
        <p:spPr>
          <a:xfrm flipV="1">
            <a:off x="5178160" y="3167984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Прямая соединительная линия 59"/>
          <p:cNvCxnSpPr/>
          <p:nvPr/>
        </p:nvCxnSpPr>
        <p:spPr>
          <a:xfrm flipV="1">
            <a:off x="5502160" y="3167984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единительная линия 60"/>
          <p:cNvCxnSpPr/>
          <p:nvPr/>
        </p:nvCxnSpPr>
        <p:spPr>
          <a:xfrm flipV="1">
            <a:off x="5754160" y="3167984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единительная линия 61"/>
          <p:cNvCxnSpPr/>
          <p:nvPr/>
        </p:nvCxnSpPr>
        <p:spPr>
          <a:xfrm flipV="1">
            <a:off x="6330160" y="3167984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единительная линия 62"/>
          <p:cNvCxnSpPr/>
          <p:nvPr/>
        </p:nvCxnSpPr>
        <p:spPr>
          <a:xfrm flipV="1">
            <a:off x="6906160" y="3167984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Прямая соединительная линия 63"/>
          <p:cNvCxnSpPr/>
          <p:nvPr/>
        </p:nvCxnSpPr>
        <p:spPr>
          <a:xfrm flipV="1">
            <a:off x="7302160" y="3167984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единительная линия 64"/>
          <p:cNvCxnSpPr/>
          <p:nvPr/>
        </p:nvCxnSpPr>
        <p:spPr>
          <a:xfrm flipV="1">
            <a:off x="7698160" y="3167984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единительная линия 65"/>
          <p:cNvCxnSpPr/>
          <p:nvPr/>
        </p:nvCxnSpPr>
        <p:spPr>
          <a:xfrm flipV="1">
            <a:off x="8310160" y="3167984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Прямая соединительная линия 66"/>
          <p:cNvCxnSpPr/>
          <p:nvPr/>
        </p:nvCxnSpPr>
        <p:spPr>
          <a:xfrm flipV="1">
            <a:off x="8670160" y="3167984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Прямая соединительная линия 67"/>
          <p:cNvCxnSpPr/>
          <p:nvPr/>
        </p:nvCxnSpPr>
        <p:spPr>
          <a:xfrm flipV="1">
            <a:off x="9318160" y="3167984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Прямая соединительная линия 68"/>
          <p:cNvCxnSpPr/>
          <p:nvPr/>
        </p:nvCxnSpPr>
        <p:spPr>
          <a:xfrm flipV="1">
            <a:off x="10218160" y="3167984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4295800" y="551723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ru-RU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ru-RU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655840" y="551723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ru-RU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015880" y="551723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ru-RU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03912" y="551723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5591944" y="551723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6096000" y="551723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6672064" y="551723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7104112" y="551723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7536160" y="551723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8040216" y="551723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8472264" y="551723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9120336" y="551723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9984432" y="551723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5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3" name="Овал 82"/>
          <p:cNvSpPr/>
          <p:nvPr/>
        </p:nvSpPr>
        <p:spPr>
          <a:xfrm>
            <a:off x="4475832" y="539998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4" name="Овал 83"/>
          <p:cNvSpPr/>
          <p:nvPr/>
        </p:nvSpPr>
        <p:spPr>
          <a:xfrm>
            <a:off x="4835872" y="539998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5" name="Овал 84"/>
          <p:cNvSpPr/>
          <p:nvPr/>
        </p:nvSpPr>
        <p:spPr>
          <a:xfrm>
            <a:off x="5123904" y="539998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6" name="Овал 85"/>
          <p:cNvSpPr/>
          <p:nvPr/>
        </p:nvSpPr>
        <p:spPr>
          <a:xfrm>
            <a:off x="5447928" y="539998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7" name="Овал 86"/>
          <p:cNvSpPr/>
          <p:nvPr/>
        </p:nvSpPr>
        <p:spPr>
          <a:xfrm>
            <a:off x="5699968" y="539998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8" name="Овал 87"/>
          <p:cNvSpPr/>
          <p:nvPr/>
        </p:nvSpPr>
        <p:spPr>
          <a:xfrm>
            <a:off x="6276032" y="539998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9" name="Овал 88"/>
          <p:cNvSpPr/>
          <p:nvPr/>
        </p:nvSpPr>
        <p:spPr>
          <a:xfrm>
            <a:off x="6852096" y="539998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0" name="Овал 89"/>
          <p:cNvSpPr/>
          <p:nvPr/>
        </p:nvSpPr>
        <p:spPr>
          <a:xfrm>
            <a:off x="7248128" y="539998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1" name="Овал 90"/>
          <p:cNvSpPr/>
          <p:nvPr/>
        </p:nvSpPr>
        <p:spPr>
          <a:xfrm>
            <a:off x="7644184" y="539998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2" name="Овал 91"/>
          <p:cNvSpPr/>
          <p:nvPr/>
        </p:nvSpPr>
        <p:spPr>
          <a:xfrm>
            <a:off x="8256240" y="539998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3" name="Овал 92"/>
          <p:cNvSpPr/>
          <p:nvPr/>
        </p:nvSpPr>
        <p:spPr>
          <a:xfrm>
            <a:off x="8616280" y="539998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4" name="Овал 93"/>
          <p:cNvSpPr/>
          <p:nvPr/>
        </p:nvSpPr>
        <p:spPr>
          <a:xfrm>
            <a:off x="9264352" y="539998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5" name="Овал 94"/>
          <p:cNvSpPr/>
          <p:nvPr/>
        </p:nvSpPr>
        <p:spPr>
          <a:xfrm>
            <a:off x="10164464" y="539998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="" xmlns:a16="http://schemas.microsoft.com/office/drawing/2014/main" id="{0FEC967A-263F-418E-B071-E33B550535A8}"/>
              </a:ext>
            </a:extLst>
          </p:cNvPr>
          <p:cNvSpPr txBox="1"/>
          <p:nvPr/>
        </p:nvSpPr>
        <p:spPr>
          <a:xfrm>
            <a:off x="3359696" y="5991671"/>
            <a:ext cx="84246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События зависимы</a:t>
            </a:r>
          </a:p>
        </p:txBody>
      </p:sp>
      <p:cxnSp>
        <p:nvCxnSpPr>
          <p:cNvPr id="97" name="Прямая соединительная линия 96">
            <a:extLst>
              <a:ext uri="{FF2B5EF4-FFF2-40B4-BE49-F238E27FC236}">
                <a16:creationId xmlns="" xmlns:a16="http://schemas.microsoft.com/office/drawing/2014/main" id="{96954D32-F9B7-43FD-BAC1-2F2EF781DCF7}"/>
              </a:ext>
            </a:extLst>
          </p:cNvPr>
          <p:cNvCxnSpPr>
            <a:cxnSpLocks/>
            <a:stCxn id="18" idx="6"/>
            <a:endCxn id="21" idx="2"/>
          </p:cNvCxnSpPr>
          <p:nvPr/>
        </p:nvCxnSpPr>
        <p:spPr>
          <a:xfrm>
            <a:off x="5555928" y="3293984"/>
            <a:ext cx="2088256" cy="0"/>
          </a:xfrm>
          <a:prstGeom prst="line">
            <a:avLst/>
          </a:prstGeom>
          <a:ln w="12700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Овал 20"/>
          <p:cNvSpPr/>
          <p:nvPr/>
        </p:nvSpPr>
        <p:spPr>
          <a:xfrm>
            <a:off x="7644184" y="323998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5447928" y="3239984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576760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14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2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 animBg="1"/>
      <p:bldP spid="91" grpId="0" animBg="1"/>
      <p:bldP spid="96" grpId="0"/>
      <p:bldP spid="21" grpId="0" animBg="1"/>
      <p:bldP spid="1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1" name="WordArt 3"/>
          <p:cNvSpPr>
            <a:spLocks noChangeArrowheads="1" noChangeShapeType="1" noTextEdit="1"/>
          </p:cNvSpPr>
          <p:nvPr/>
        </p:nvSpPr>
        <p:spPr bwMode="gray">
          <a:xfrm>
            <a:off x="8755185" y="1585914"/>
            <a:ext cx="1322388" cy="21669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ru-RU" sz="3600" kern="10">
                <a:ln w="28575">
                  <a:solidFill>
                    <a:srgbClr val="FFFF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C0C0C0"/>
                    </a:gs>
                    <a:gs pos="100000">
                      <a:srgbClr val="484848"/>
                    </a:gs>
                  </a:gsLst>
                  <a:lin ang="5400000" scaled="1"/>
                </a:gradFill>
                <a:effectLst>
                  <a:outerShdw dist="63500" dir="2212194" algn="ctr" rotWithShape="0">
                    <a:srgbClr val="808080">
                      <a:alpha val="50000"/>
                    </a:srgbClr>
                  </a:outerShdw>
                </a:effectLst>
                <a:latin typeface="Arial Black"/>
                <a:cs typeface="Arial" charset="0"/>
              </a:rPr>
              <a:t>?</a:t>
            </a:r>
          </a:p>
        </p:txBody>
      </p:sp>
      <p:sp>
        <p:nvSpPr>
          <p:cNvPr id="143362" name="WordArt 8"/>
          <p:cNvSpPr>
            <a:spLocks noChangeArrowheads="1" noChangeShapeType="1" noTextEdit="1"/>
          </p:cNvSpPr>
          <p:nvPr/>
        </p:nvSpPr>
        <p:spPr bwMode="gray">
          <a:xfrm>
            <a:off x="7937624" y="2536826"/>
            <a:ext cx="1004887" cy="16478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ru-RU" sz="3600" kern="10">
                <a:ln w="28575">
                  <a:solidFill>
                    <a:srgbClr val="FFFF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FFFFFF"/>
                    </a:gs>
                    <a:gs pos="100000">
                      <a:srgbClr val="B4B4B4"/>
                    </a:gs>
                  </a:gsLst>
                  <a:lin ang="5400000" scaled="1"/>
                </a:gradFill>
                <a:effectLst>
                  <a:outerShdw dist="63500" dir="2212194" algn="ctr" rotWithShape="0">
                    <a:srgbClr val="808080">
                      <a:alpha val="50000"/>
                    </a:srgbClr>
                  </a:outerShdw>
                </a:effectLst>
                <a:latin typeface="Arial Black"/>
                <a:cs typeface="Arial" charset="0"/>
              </a:rPr>
              <a:t>?</a:t>
            </a:r>
          </a:p>
        </p:txBody>
      </p:sp>
      <p:sp>
        <p:nvSpPr>
          <p:cNvPr id="143363" name="WordArt 9"/>
          <p:cNvSpPr>
            <a:spLocks noChangeArrowheads="1" noChangeShapeType="1" noTextEdit="1"/>
          </p:cNvSpPr>
          <p:nvPr/>
        </p:nvSpPr>
        <p:spPr bwMode="gray">
          <a:xfrm>
            <a:off x="9374311" y="2484439"/>
            <a:ext cx="1546225" cy="25352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ru-RU" sz="3600" kern="10">
                <a:ln w="28575">
                  <a:solidFill>
                    <a:srgbClr val="FFFF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A1C4FF"/>
                    </a:gs>
                    <a:gs pos="100000">
                      <a:srgbClr val="2A79FF"/>
                    </a:gs>
                  </a:gsLst>
                  <a:lin ang="5400000" scaled="1"/>
                </a:gradFill>
                <a:effectLst>
                  <a:outerShdw dist="63500" dir="2212194" algn="ctr" rotWithShape="0">
                    <a:srgbClr val="808080">
                      <a:alpha val="50000"/>
                    </a:srgbClr>
                  </a:outerShdw>
                </a:effectLst>
                <a:latin typeface="Arial Black"/>
                <a:cs typeface="Arial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556595197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1_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2_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gradFill rotWithShape="0">
          <a:gsLst>
            <a:gs pos="0">
              <a:srgbClr val="FFFFFF"/>
            </a:gs>
            <a:gs pos="100000">
              <a:srgbClr val="D9D9D9"/>
            </a:gs>
          </a:gsLst>
          <a:lin ang="5400000" scaled="1"/>
        </a:gradFill>
        <a:ln w="12700">
          <a:solidFill>
            <a:srgbClr val="C0C0C0"/>
          </a:solidFill>
          <a:miter lim="800000"/>
          <a:headEnd/>
          <a:tailEnd/>
        </a:ln>
        <a:effectLst>
          <a:outerShdw dist="38100" dir="2700000" algn="tl" rotWithShape="0">
            <a:srgbClr val="808080">
              <a:alpha val="39999"/>
            </a:srgbClr>
          </a:outerShdw>
        </a:effectLst>
      </a:spPr>
      <a:bodyPr lIns="216000" tIns="36000" rIns="216000" bIns="36000" anchor="ctr"/>
      <a:lstStyle>
        <a:defPPr defTabSz="457200" fontAlgn="base">
          <a:spcBef>
            <a:spcPct val="0"/>
          </a:spcBef>
          <a:spcAft>
            <a:spcPct val="0"/>
          </a:spcAft>
          <a:defRPr sz="2400" dirty="0">
            <a:solidFill>
              <a:prstClr val="black"/>
            </a:solidFill>
            <a:latin typeface="Arial" pitchFamily="34" charset="0"/>
            <a:cs typeface="Arial" pitchFamily="34" charset="0"/>
          </a:defRPr>
        </a:defPPr>
      </a:lstStyle>
    </a:spDef>
    <a:lnDef>
      <a:spPr>
        <a:ln w="50800">
          <a:solidFill>
            <a:srgbClr val="FF0000"/>
          </a:solidFill>
          <a:tailEnd type="arrow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Larissa-Design">
  <a:themeElements>
    <a:clrScheme name="Standard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2A79FF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74747"/>
      </a:accent6>
      <a:hlink>
        <a:srgbClr val="C00000"/>
      </a:hlink>
      <a:folHlink>
        <a:srgbClr val="FFC0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>
          <a:solidFill>
            <a:srgbClr val="A50021"/>
          </a:solidFill>
          <a:round/>
          <a:headEnd/>
          <a:tailEnd/>
        </a:ln>
      </a:spPr>
      <a:bodyPr/>
      <a:lstStyle>
        <a:defPPr>
          <a:defRPr dirty="0"/>
        </a:defPPr>
      </a:lstStyle>
    </a:spDef>
  </a:objectDefaults>
  <a:extraClrSchemeLst/>
</a:theme>
</file>

<file path=ppt/theme/theme4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2085</Words>
  <Application>Microsoft Office PowerPoint</Application>
  <PresentationFormat>Широкоэкранный</PresentationFormat>
  <Paragraphs>649</Paragraphs>
  <Slides>33</Slides>
  <Notes>33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4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33</vt:i4>
      </vt:variant>
    </vt:vector>
  </HeadingPairs>
  <TitlesOfParts>
    <vt:vector size="45" baseType="lpstr">
      <vt:lpstr>Arial Unicode MS</vt:lpstr>
      <vt:lpstr>Arial</vt:lpstr>
      <vt:lpstr>Arial Black</vt:lpstr>
      <vt:lpstr>Calibri</vt:lpstr>
      <vt:lpstr>Lucida Grande CY</vt:lpstr>
      <vt:lpstr>Symbol</vt:lpstr>
      <vt:lpstr>Wingdings</vt:lpstr>
      <vt:lpstr>1_Тема Office</vt:lpstr>
      <vt:lpstr>2_Тема Office</vt:lpstr>
      <vt:lpstr>Larissa-Design</vt:lpstr>
      <vt:lpstr>Тема Office</vt:lpstr>
      <vt:lpstr>Equation</vt:lpstr>
      <vt:lpstr>Презентация PowerPoint</vt:lpstr>
      <vt:lpstr>Тема 4</vt:lpstr>
      <vt:lpstr>Модель распределенной программы </vt:lpstr>
      <vt:lpstr>Модель распределенной программы </vt:lpstr>
      <vt:lpstr>Модель распределенной программы </vt:lpstr>
      <vt:lpstr>Модель распределенной программы </vt:lpstr>
      <vt:lpstr>Модель распределенной программы </vt:lpstr>
      <vt:lpstr>Модель распределенной программы </vt:lpstr>
      <vt:lpstr>Модель распределенной программы </vt:lpstr>
      <vt:lpstr>Модель распределенной программы </vt:lpstr>
      <vt:lpstr>Модель распределенной программы </vt:lpstr>
      <vt:lpstr>Модель распределенной программы </vt:lpstr>
      <vt:lpstr>Модель распределенной программы </vt:lpstr>
      <vt:lpstr>Модель распределенной программы </vt:lpstr>
      <vt:lpstr>Модель распределенной программы </vt:lpstr>
      <vt:lpstr>Модель распределенной программы </vt:lpstr>
      <vt:lpstr>Модель распределенной программы </vt:lpstr>
      <vt:lpstr>Модель распределенной программы </vt:lpstr>
      <vt:lpstr>Модель распределенной программы </vt:lpstr>
      <vt:lpstr>Модель распределенной программы </vt:lpstr>
      <vt:lpstr>Модель распределенной программы </vt:lpstr>
      <vt:lpstr>Модель распределенной программы </vt:lpstr>
      <vt:lpstr>Модель распределенной программы </vt:lpstr>
      <vt:lpstr>Модель распределенной программы </vt:lpstr>
      <vt:lpstr>Модель распределенной программы </vt:lpstr>
      <vt:lpstr>Модель распределенной программы </vt:lpstr>
      <vt:lpstr>Модель распределенной программы </vt:lpstr>
      <vt:lpstr>Модель распределенной программы </vt:lpstr>
      <vt:lpstr>Модель распределенной программы </vt:lpstr>
      <vt:lpstr>Модель распределенной программы </vt:lpstr>
      <vt:lpstr>Модель распределенной программы </vt:lpstr>
      <vt:lpstr>Модель распределенной программы 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Операционные системы лекция 7</dc:title>
  <dc:creator/>
  <cp:lastModifiedBy/>
  <cp:revision>1</cp:revision>
  <dcterms:created xsi:type="dcterms:W3CDTF">2016-02-27T09:01:20Z</dcterms:created>
  <dcterms:modified xsi:type="dcterms:W3CDTF">2026-03-17T03:37:21Z</dcterms:modified>
</cp:coreProperties>
</file>