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3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660" r:id="rId1"/>
    <p:sldMasterId id="2147483666" r:id="rId2"/>
    <p:sldMasterId id="2147483672" r:id="rId3"/>
    <p:sldMasterId id="2147483678" r:id="rId4"/>
    <p:sldMasterId id="2147483681" r:id="rId5"/>
  </p:sldMasterIdLst>
  <p:notesMasterIdLst>
    <p:notesMasterId r:id="rId50"/>
  </p:notesMasterIdLst>
  <p:sldIdLst>
    <p:sldId id="257" r:id="rId6"/>
    <p:sldId id="455" r:id="rId7"/>
    <p:sldId id="456" r:id="rId8"/>
    <p:sldId id="457" r:id="rId9"/>
    <p:sldId id="376" r:id="rId10"/>
    <p:sldId id="377" r:id="rId11"/>
    <p:sldId id="378" r:id="rId12"/>
    <p:sldId id="368" r:id="rId13"/>
    <p:sldId id="379" r:id="rId14"/>
    <p:sldId id="380" r:id="rId15"/>
    <p:sldId id="381" r:id="rId16"/>
    <p:sldId id="367" r:id="rId17"/>
    <p:sldId id="382" r:id="rId18"/>
    <p:sldId id="383" r:id="rId19"/>
    <p:sldId id="385" r:id="rId20"/>
    <p:sldId id="386" r:id="rId21"/>
    <p:sldId id="387" r:id="rId22"/>
    <p:sldId id="388" r:id="rId23"/>
    <p:sldId id="372" r:id="rId24"/>
    <p:sldId id="373" r:id="rId25"/>
    <p:sldId id="374" r:id="rId26"/>
    <p:sldId id="389" r:id="rId27"/>
    <p:sldId id="390" r:id="rId28"/>
    <p:sldId id="391" r:id="rId29"/>
    <p:sldId id="461" r:id="rId30"/>
    <p:sldId id="393" r:id="rId31"/>
    <p:sldId id="394" r:id="rId32"/>
    <p:sldId id="395" r:id="rId33"/>
    <p:sldId id="396" r:id="rId34"/>
    <p:sldId id="398" r:id="rId35"/>
    <p:sldId id="450" r:id="rId36"/>
    <p:sldId id="458" r:id="rId37"/>
    <p:sldId id="459" r:id="rId38"/>
    <p:sldId id="399" r:id="rId39"/>
    <p:sldId id="400" r:id="rId40"/>
    <p:sldId id="460" r:id="rId41"/>
    <p:sldId id="402" r:id="rId42"/>
    <p:sldId id="451" r:id="rId43"/>
    <p:sldId id="452" r:id="rId44"/>
    <p:sldId id="404" r:id="rId45"/>
    <p:sldId id="405" r:id="rId46"/>
    <p:sldId id="462" r:id="rId47"/>
    <p:sldId id="463" r:id="rId48"/>
    <p:sldId id="271" r:id="rId4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453404F6-AF45-403F-8B0B-E58FD8E18ED2}">
          <p14:sldIdLst>
            <p14:sldId id="257"/>
            <p14:sldId id="455"/>
            <p14:sldId id="456"/>
            <p14:sldId id="457"/>
            <p14:sldId id="376"/>
            <p14:sldId id="377"/>
            <p14:sldId id="378"/>
            <p14:sldId id="368"/>
            <p14:sldId id="379"/>
            <p14:sldId id="380"/>
            <p14:sldId id="381"/>
            <p14:sldId id="367"/>
            <p14:sldId id="382"/>
            <p14:sldId id="383"/>
            <p14:sldId id="385"/>
            <p14:sldId id="386"/>
            <p14:sldId id="387"/>
            <p14:sldId id="388"/>
            <p14:sldId id="372"/>
            <p14:sldId id="373"/>
            <p14:sldId id="374"/>
            <p14:sldId id="389"/>
            <p14:sldId id="390"/>
            <p14:sldId id="391"/>
            <p14:sldId id="461"/>
            <p14:sldId id="393"/>
            <p14:sldId id="394"/>
            <p14:sldId id="395"/>
            <p14:sldId id="396"/>
            <p14:sldId id="398"/>
            <p14:sldId id="450"/>
            <p14:sldId id="458"/>
            <p14:sldId id="459"/>
            <p14:sldId id="399"/>
            <p14:sldId id="400"/>
            <p14:sldId id="460"/>
            <p14:sldId id="402"/>
            <p14:sldId id="451"/>
            <p14:sldId id="452"/>
            <p14:sldId id="404"/>
            <p14:sldId id="405"/>
            <p14:sldId id="462"/>
            <p14:sldId id="463"/>
            <p14:sldId id="27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61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0"/>
    <a:srgbClr val="060606"/>
    <a:srgbClr val="345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74" autoAdjust="0"/>
    <p:restoredTop sz="91335" autoAdjust="0"/>
  </p:normalViewPr>
  <p:slideViewPr>
    <p:cSldViewPr>
      <p:cViewPr varScale="1">
        <p:scale>
          <a:sx n="122" d="100"/>
          <a:sy n="122" d="100"/>
        </p:scale>
        <p:origin x="96" y="234"/>
      </p:cViewPr>
      <p:guideLst>
        <p:guide orient="horz" pos="2614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slide" Target="slides/slide36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8" Type="http://schemas.openxmlformats.org/officeDocument/2006/relationships/slide" Target="slides/slide3.xml"/><Relationship Id="rId51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7" Type="http://schemas.openxmlformats.org/officeDocument/2006/relationships/image" Target="../media/image9.wmf"/><Relationship Id="rId2" Type="http://schemas.openxmlformats.org/officeDocument/2006/relationships/image" Target="../media/image4.wmf"/><Relationship Id="rId1" Type="http://schemas.openxmlformats.org/officeDocument/2006/relationships/image" Target="../media/image3.wmf"/><Relationship Id="rId6" Type="http://schemas.openxmlformats.org/officeDocument/2006/relationships/image" Target="../media/image8.wmf"/><Relationship Id="rId5" Type="http://schemas.openxmlformats.org/officeDocument/2006/relationships/image" Target="../media/image7.wmf"/><Relationship Id="rId4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59AABB-C9C6-43AA-902A-833FEB3847CE}" type="datetimeFigureOut">
              <a:rPr lang="ru-RU" smtClean="0"/>
              <a:t>02.03.2026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FECF74-1CAC-4F88-AAFE-84C98DBB36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8468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defTabSz="914400"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42199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823CC4-FED0-46D8-B338-6A49B477DF90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75568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0C489C-B8C8-489E-AA71-598221C264FA}" type="slidenum"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F1A9281-1597-4286-8723-922DEFD804BC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349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71686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78294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02081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45554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23470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78509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7321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31111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9042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67168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73719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36615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7428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694264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611024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580122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098966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88230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055914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579535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657969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fld id="{88D3C842-15F5-4118-93B3-B56D48F51314}" type="slidenum">
              <a:rPr lang="ru-RU" smtClean="0">
                <a:solidFill>
                  <a:prstClr val="black"/>
                </a:solidFill>
              </a:rPr>
              <a:pPr>
                <a:defRPr/>
              </a:pPr>
              <a:t>25</a:t>
            </a:fld>
            <a:endParaRPr lang="de-DE">
              <a:solidFill>
                <a:prstClr val="black"/>
              </a:solidFill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 fontAlgn="base">
              <a:spcBef>
                <a:spcPct val="0"/>
              </a:spcBef>
              <a:spcAft>
                <a:spcPct val="0"/>
              </a:spcAft>
              <a:defRPr/>
            </a:pPr>
            <a:fld id="{80EBC222-5CA9-45A5-916B-59235F528885}" type="slidenum">
              <a:rPr lang="en-GB" sz="1300">
                <a:solidFill>
                  <a:prstClr val="black"/>
                </a:solidFill>
                <a:cs typeface="Arial" pitchFamily="34" charset="0"/>
              </a:rPr>
              <a:pPr algn="r" defTabSz="947738" fontAlgn="base">
                <a:spcBef>
                  <a:spcPct val="0"/>
                </a:spcBef>
                <a:spcAft>
                  <a:spcPct val="0"/>
                </a:spcAft>
                <a:defRPr/>
              </a:pPr>
              <a:t>25</a:t>
            </a:fld>
            <a:endParaRPr lang="en-GB" sz="130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1689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290801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374896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252527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350283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538961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822302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548878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031814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131555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537267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130023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1347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225168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493208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662057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11998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fld id="{88D3C842-15F5-4118-93B3-B56D48F51314}" type="slidenum">
              <a:rPr lang="ru-RU" smtClean="0">
                <a:solidFill>
                  <a:prstClr val="black"/>
                </a:solidFill>
              </a:rPr>
              <a:pPr>
                <a:defRPr/>
              </a:pPr>
              <a:t>42</a:t>
            </a:fld>
            <a:endParaRPr lang="de-DE">
              <a:solidFill>
                <a:prstClr val="black"/>
              </a:solidFill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 fontAlgn="base">
              <a:spcBef>
                <a:spcPct val="0"/>
              </a:spcBef>
              <a:spcAft>
                <a:spcPct val="0"/>
              </a:spcAft>
              <a:defRPr/>
            </a:pPr>
            <a:fld id="{80EBC222-5CA9-45A5-916B-59235F528885}" type="slidenum">
              <a:rPr lang="en-GB" sz="1300">
                <a:solidFill>
                  <a:prstClr val="black"/>
                </a:solidFill>
                <a:cs typeface="Arial" pitchFamily="34" charset="0"/>
              </a:rPr>
              <a:pPr algn="r" defTabSz="947738" fontAlgn="base">
                <a:spcBef>
                  <a:spcPct val="0"/>
                </a:spcBef>
                <a:spcAft>
                  <a:spcPct val="0"/>
                </a:spcAft>
                <a:defRPr/>
              </a:pPr>
              <a:t>42</a:t>
            </a:fld>
            <a:endParaRPr lang="en-GB" sz="130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597643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fld id="{88D3C842-15F5-4118-93B3-B56D48F51314}" type="slidenum">
              <a:rPr lang="ru-RU" smtClean="0">
                <a:solidFill>
                  <a:prstClr val="black"/>
                </a:solidFill>
              </a:rPr>
              <a:pPr>
                <a:defRPr/>
              </a:pPr>
              <a:t>43</a:t>
            </a:fld>
            <a:endParaRPr lang="de-DE">
              <a:solidFill>
                <a:prstClr val="black"/>
              </a:solidFill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 fontAlgn="base">
              <a:spcBef>
                <a:spcPct val="0"/>
              </a:spcBef>
              <a:spcAft>
                <a:spcPct val="0"/>
              </a:spcAft>
              <a:defRPr/>
            </a:pPr>
            <a:fld id="{80EBC222-5CA9-45A5-916B-59235F528885}" type="slidenum">
              <a:rPr lang="en-GB" sz="1300">
                <a:solidFill>
                  <a:prstClr val="black"/>
                </a:solidFill>
                <a:cs typeface="Arial" pitchFamily="34" charset="0"/>
              </a:rPr>
              <a:pPr algn="r" defTabSz="947738" fontAlgn="base">
                <a:spcBef>
                  <a:spcPct val="0"/>
                </a:spcBef>
                <a:spcAft>
                  <a:spcPct val="0"/>
                </a:spcAft>
                <a:defRPr/>
              </a:pPr>
              <a:t>43</a:t>
            </a:fld>
            <a:endParaRPr lang="en-GB" sz="130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169149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40A90FD3-1104-4C0E-BD19-C04AAB04E560}" type="slidenum">
              <a:rPr lang="de-DE" altLang="ru-RU" smtClean="0">
                <a:solidFill>
                  <a:prstClr val="black"/>
                </a:solidFill>
              </a:rPr>
              <a:pPr/>
              <a:t>44</a:t>
            </a:fld>
            <a:endParaRPr lang="de-DE" altLang="ru-RU">
              <a:solidFill>
                <a:prstClr val="black"/>
              </a:solidFill>
            </a:endParaRPr>
          </a:p>
        </p:txBody>
      </p:sp>
      <p:sp>
        <p:nvSpPr>
          <p:cNvPr id="144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438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183" y="4343144"/>
            <a:ext cx="5029635" cy="4115019"/>
          </a:xfrm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kumimoji="0" lang="ru-RU" altLang="ru-RU" noProof="1"/>
          </a:p>
        </p:txBody>
      </p:sp>
    </p:spTree>
    <p:extLst>
      <p:ext uri="{BB962C8B-B14F-4D97-AF65-F5344CB8AC3E}">
        <p14:creationId xmlns:p14="http://schemas.microsoft.com/office/powerpoint/2010/main" val="41239368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431800" y="238540"/>
            <a:ext cx="11329456" cy="61645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endParaRPr lang="de-DE" dirty="0"/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431800" y="854994"/>
            <a:ext cx="11328400" cy="336244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endParaRPr lang="de-DE" dirty="0"/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МФТИ-2020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black"/>
                </a:solidFill>
              </a:rPr>
              <a:t>Стр. </a:t>
            </a:r>
            <a:fld id="{4E7C34D8-C312-4D46-ABF5-8CA01CE57B16}" type="slidenum">
              <a:rPr 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182032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6633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431800" y="238540"/>
            <a:ext cx="11329456" cy="61645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431800" y="854994"/>
            <a:ext cx="11328400" cy="336244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de-DE" dirty="0"/>
              <a:t>Textmasterformate durch Klicken bearbeiten</a:t>
            </a:r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МФТИ-2020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black"/>
                </a:solidFill>
              </a:rPr>
              <a:t>Стр. </a:t>
            </a:r>
            <a:fld id="{4E7C34D8-C312-4D46-ABF5-8CA01CE57B16}" type="slidenum">
              <a:rPr 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8070437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 descr="P:\JOBS ZUM BEARBEITEN\D2481_Strategietools\Grundlagen\table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gray">
          <a:xfrm>
            <a:off x="0" y="317500"/>
            <a:ext cx="12192000" cy="5627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 bwMode="gray">
          <a:xfrm>
            <a:off x="447413" y="1998133"/>
            <a:ext cx="8290187" cy="1416050"/>
          </a:xfrm>
        </p:spPr>
        <p:txBody>
          <a:bodyPr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 bwMode="gray">
          <a:xfrm>
            <a:off x="436229" y="4037202"/>
            <a:ext cx="8301372" cy="1271398"/>
          </a:xfrm>
        </p:spPr>
        <p:txBody>
          <a:bodyPr>
            <a:noAutofit/>
          </a:bodyPr>
          <a:lstStyle>
            <a:lvl1pPr marL="0" indent="0" algn="l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5" name="Дата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6" name="Нижний колонтитул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МФТИ-2020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7" name="Номер слайда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 dirty="0">
                <a:solidFill>
                  <a:prstClr val="black"/>
                </a:solidFill>
              </a:rPr>
              <a:t>Стр. </a:t>
            </a:r>
            <a:fld id="{2CF74CB0-F0B5-41E9-BA71-20606D10B8F1}" type="slidenum">
              <a:rPr lang="de-DE" altLang="ru-RU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6430130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431800" y="238540"/>
            <a:ext cx="11329456" cy="61645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431800" y="854994"/>
            <a:ext cx="11328400" cy="336244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de-DE" dirty="0"/>
              <a:t>Textmasterformate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МФТИ-2020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A4CED0C5-ED51-4CAE-B403-C2A41A79FC68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343371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3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МФТИ-2020</a:t>
            </a:r>
            <a:endParaRPr lang="de-DE">
              <a:solidFill>
                <a:prstClr val="white"/>
              </a:solidFill>
            </a:endParaRPr>
          </a:p>
        </p:txBody>
      </p:sp>
      <p:sp>
        <p:nvSpPr>
          <p:cNvPr id="4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56F2DCAE-80BF-45C3-B74A-3BA349CF89F6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8056435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МФТИ-2020</a:t>
            </a:r>
            <a:endParaRPr lang="de-DE">
              <a:solidFill>
                <a:prstClr val="white"/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A14F925C-88EF-41CE-A289-BD24C4C53697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5611339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3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4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МФТИ-2020</a:t>
            </a:r>
            <a:endParaRPr lang="de-DE">
              <a:solidFill>
                <a:prstClr val="white"/>
              </a:solidFill>
            </a:endParaRPr>
          </a:p>
        </p:txBody>
      </p:sp>
      <p:sp>
        <p:nvSpPr>
          <p:cNvPr id="5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A128D019-E771-49AB-93BA-BEA67AACC870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664407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3260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431800" y="238540"/>
            <a:ext cx="11329456" cy="61645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431800" y="854994"/>
            <a:ext cx="11328400" cy="336244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de-DE" dirty="0"/>
              <a:t>Textmasterformate durch Klicken bearbeiten</a:t>
            </a:r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МФТИ-2020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black"/>
                </a:solidFill>
              </a:rPr>
              <a:t>Стр. </a:t>
            </a:r>
            <a:fld id="{4E7C34D8-C312-4D46-ABF5-8CA01CE57B16}" type="slidenum">
              <a:rPr 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4292343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30953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431800" y="238540"/>
            <a:ext cx="11329456" cy="61645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431800" y="854994"/>
            <a:ext cx="11328400" cy="336244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de-DE" dirty="0"/>
              <a:t>Textmasterformate durch Klicken bearbeiten</a:t>
            </a:r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black"/>
                </a:solidFill>
              </a:rPr>
              <a:t>Стр. </a:t>
            </a:r>
            <a:fld id="{4E7C34D8-C312-4D46-ABF5-8CA01CE57B16}" type="slidenum">
              <a:rPr 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0272809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Заголовок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7171" name="Текст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292101" y="6410326"/>
            <a:ext cx="1987551" cy="365125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60000"/>
                  <a:lumOff val="40000"/>
                </a:schemeClr>
              </a:gs>
              <a:gs pos="50000">
                <a:schemeClr val="tx2">
                  <a:lumMod val="40000"/>
                  <a:lumOff val="60000"/>
                </a:schemeClr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6200000" scaled="1"/>
            <a:tileRect/>
          </a:gradFill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1" sz="1600">
                <a:solidFill>
                  <a:schemeClr val="bg1"/>
                </a:solidFill>
                <a:latin typeface="Arial" panose="020B0604020202020204" pitchFamily="34" charset="0"/>
                <a:ea typeface="Arial Unicode MS" pitchFamily="34" charset="-128"/>
                <a:cs typeface="Arial" panose="020B0604020202020204" pitchFamily="34" charset="0"/>
              </a:defRPr>
            </a:lvl1pPr>
          </a:lstStyle>
          <a:p>
            <a:pPr defTabSz="457200">
              <a:defRPr/>
            </a:pPr>
            <a:r>
              <a:rPr lang="ru-RU">
                <a:solidFill>
                  <a:prstClr val="white"/>
                </a:solidFill>
              </a:rPr>
              <a:t>МФТИ-2020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2470151" y="6410326"/>
            <a:ext cx="1320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kumimoji="0" sz="16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ru-RU">
                <a:solidFill>
                  <a:prstClr val="black"/>
                </a:solidFill>
              </a:rPr>
              <a:t>Стр. </a:t>
            </a:r>
            <a:fld id="{827EB3EC-A0FC-4DD2-B272-B8CC7C9619E1}" type="slidenum">
              <a:rPr lang="ru-RU" smtClean="0">
                <a:solidFill>
                  <a:prstClr val="black"/>
                </a:solidFill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793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hf sldNum="0" hdr="0" ft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Arial" charset="0"/>
          <a:cs typeface="Arial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Заголовок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7171" name="Текст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292101" y="6410326"/>
            <a:ext cx="1987551" cy="365125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60000"/>
                  <a:lumOff val="40000"/>
                </a:schemeClr>
              </a:gs>
              <a:gs pos="50000">
                <a:schemeClr val="tx2">
                  <a:lumMod val="40000"/>
                  <a:lumOff val="60000"/>
                </a:schemeClr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6200000" scaled="1"/>
            <a:tileRect/>
          </a:gradFill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1" sz="1600">
                <a:solidFill>
                  <a:schemeClr val="bg1"/>
                </a:solidFill>
                <a:latin typeface="Arial" panose="020B0604020202020204" pitchFamily="34" charset="0"/>
                <a:ea typeface="Arial Unicode MS" pitchFamily="34" charset="-128"/>
                <a:cs typeface="Arial" panose="020B0604020202020204" pitchFamily="34" charset="0"/>
              </a:defRPr>
            </a:lvl1pPr>
          </a:lstStyle>
          <a:p>
            <a:pPr defTabSz="457200">
              <a:defRPr/>
            </a:pPr>
            <a:r>
              <a:rPr lang="ru-RU">
                <a:solidFill>
                  <a:prstClr val="white"/>
                </a:solidFill>
              </a:rPr>
              <a:t>МФТИ-2020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2470151" y="6410326"/>
            <a:ext cx="1320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kumimoji="0" sz="16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ru-RU">
                <a:solidFill>
                  <a:prstClr val="black"/>
                </a:solidFill>
              </a:rPr>
              <a:t>Стр. </a:t>
            </a:r>
            <a:fld id="{827EB3EC-A0FC-4DD2-B272-B8CC7C9619E1}" type="slidenum">
              <a:rPr lang="ru-RU" smtClean="0">
                <a:solidFill>
                  <a:prstClr val="black"/>
                </a:solidFill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6273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</p:sldLayoutIdLst>
  <p:hf sldNum="0" hdr="0" ft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Arial" charset="0"/>
          <a:cs typeface="Arial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platzhalter 2"/>
          <p:cNvSpPr>
            <a:spLocks noGrp="1"/>
          </p:cNvSpPr>
          <p:nvPr>
            <p:ph type="body" idx="1"/>
          </p:nvPr>
        </p:nvSpPr>
        <p:spPr bwMode="gray">
          <a:xfrm>
            <a:off x="431800" y="1554163"/>
            <a:ext cx="11328400" cy="424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ru-RU"/>
              <a:t>Textmasterformate durch Klicken bearbeiten</a:t>
            </a:r>
          </a:p>
          <a:p>
            <a:pPr lvl="1"/>
            <a:r>
              <a:rPr lang="de-DE" altLang="ru-RU"/>
              <a:t>Zweite Ebene</a:t>
            </a:r>
          </a:p>
          <a:p>
            <a:pPr lvl="2"/>
            <a:r>
              <a:rPr lang="de-DE" altLang="ru-RU"/>
              <a:t>Dritte Ebene</a:t>
            </a:r>
          </a:p>
        </p:txBody>
      </p:sp>
      <p:sp>
        <p:nvSpPr>
          <p:cNvPr id="1027" name="Titelplatzhalter 1"/>
          <p:cNvSpPr>
            <a:spLocks noGrp="1"/>
          </p:cNvSpPr>
          <p:nvPr>
            <p:ph type="title"/>
          </p:nvPr>
        </p:nvSpPr>
        <p:spPr bwMode="gray">
          <a:xfrm>
            <a:off x="431800" y="1"/>
            <a:ext cx="11328400" cy="1090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ru-RU"/>
              <a:t>Titelmasterformat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 bwMode="gray">
          <a:xfrm>
            <a:off x="4318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kumimoji="0" sz="1200" smtClean="0">
                <a:solidFill>
                  <a:srgbClr val="898989"/>
                </a:solidFill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de-DE" altLang="ru-RU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 bwMode="gray">
          <a:xfrm>
            <a:off x="330201" y="6356351"/>
            <a:ext cx="1943100" cy="365125"/>
          </a:xfrm>
          <a:prstGeom prst="rect">
            <a:avLst/>
          </a:prstGeom>
          <a:gradFill>
            <a:gsLst>
              <a:gs pos="0">
                <a:srgbClr val="5F8ED9"/>
              </a:gs>
              <a:gs pos="50000">
                <a:srgbClr val="8EB4E3"/>
              </a:gs>
              <a:gs pos="100000">
                <a:srgbClr val="C6D9F1">
                  <a:alpha val="14902"/>
                </a:srgbClr>
              </a:gs>
            </a:gsLst>
            <a:lin ang="16200000" scaled="1"/>
          </a:gradFill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600" dirty="0" smtClean="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МФТИ-2020</a:t>
            </a:r>
            <a:endParaRPr lang="de-DE">
              <a:solidFill>
                <a:prstClr val="white"/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 bwMode="gray">
          <a:xfrm>
            <a:off x="2292351" y="6356351"/>
            <a:ext cx="14859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kumimoji="0" sz="1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42D759B2-9E95-43EC-A219-6234572FE2A1}" type="slidenum">
              <a:rPr lang="de-DE" altLang="ru-RU">
                <a:solidFill>
                  <a:prstClr val="black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3182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</p:sldLayoutIdLst>
  <p:transition spd="med">
    <p:fade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 b="1" kern="1200">
          <a:solidFill>
            <a:schemeClr val="tx1"/>
          </a:solidFill>
          <a:latin typeface="+mj-lt"/>
          <a:ea typeface="Arial" charset="0"/>
          <a:cs typeface="Arial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9pPr>
    </p:titleStyle>
    <p:bodyStyle>
      <a:lvl1pPr marL="176213" indent="-176213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kumimoji="1" kern="120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360363" indent="-184150" algn="l" rtl="0" eaLnBrk="0" fontAlgn="base" hangingPunct="0">
        <a:spcBef>
          <a:spcPct val="20000"/>
        </a:spcBef>
        <a:spcAft>
          <a:spcPct val="0"/>
        </a:spcAft>
        <a:buFont typeface="Symbol" pitchFamily="18" charset="2"/>
        <a:buChar char="-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536575" indent="-176213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720725" indent="-184150" algn="l" rtl="0" eaLnBrk="0" fontAlgn="base" hangingPunct="0">
        <a:spcBef>
          <a:spcPct val="20000"/>
        </a:spcBef>
        <a:spcAft>
          <a:spcPct val="0"/>
        </a:spcAft>
        <a:buFont typeface="Symbol" pitchFamily="18" charset="2"/>
        <a:buChar char="-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896938" indent="-176213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Заголовок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7171" name="Текст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292101" y="6410326"/>
            <a:ext cx="1987551" cy="365125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60000"/>
                  <a:lumOff val="40000"/>
                </a:schemeClr>
              </a:gs>
              <a:gs pos="50000">
                <a:schemeClr val="tx2">
                  <a:lumMod val="40000"/>
                  <a:lumOff val="60000"/>
                </a:schemeClr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6200000" scaled="1"/>
            <a:tileRect/>
          </a:gradFill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1" sz="1600">
                <a:solidFill>
                  <a:schemeClr val="bg1"/>
                </a:solidFill>
                <a:latin typeface="Arial" panose="020B0604020202020204" pitchFamily="34" charset="0"/>
                <a:ea typeface="Arial Unicode MS" pitchFamily="34" charset="-128"/>
                <a:cs typeface="Arial" panose="020B0604020202020204" pitchFamily="34" charset="0"/>
              </a:defRPr>
            </a:lvl1pPr>
          </a:lstStyle>
          <a:p>
            <a:pPr defTabSz="457200">
              <a:defRPr/>
            </a:pPr>
            <a:r>
              <a:rPr lang="ru-RU">
                <a:solidFill>
                  <a:prstClr val="white"/>
                </a:solidFill>
              </a:rPr>
              <a:t>МФТИ-2020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2470151" y="6410326"/>
            <a:ext cx="1320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kumimoji="0" sz="16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ru-RU">
                <a:solidFill>
                  <a:prstClr val="black"/>
                </a:solidFill>
              </a:rPr>
              <a:t>Стр. </a:t>
            </a:r>
            <a:fld id="{827EB3EC-A0FC-4DD2-B272-B8CC7C9619E1}" type="slidenum">
              <a:rPr lang="ru-RU" smtClean="0">
                <a:solidFill>
                  <a:prstClr val="black"/>
                </a:solidFill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8228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</p:sldLayoutIdLst>
  <p:hf sldNum="0" hdr="0" ft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Arial" charset="0"/>
          <a:cs typeface="Arial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Заголовок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7171" name="Текст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292101" y="6410326"/>
            <a:ext cx="1987551" cy="365125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60000"/>
                  <a:lumOff val="40000"/>
                </a:schemeClr>
              </a:gs>
              <a:gs pos="50000">
                <a:schemeClr val="tx2">
                  <a:lumMod val="40000"/>
                  <a:lumOff val="60000"/>
                </a:schemeClr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6200000" scaled="1"/>
            <a:tileRect/>
          </a:gradFill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1" sz="1600">
                <a:solidFill>
                  <a:schemeClr val="bg1"/>
                </a:solidFill>
                <a:latin typeface="Arial" panose="020B0604020202020204" pitchFamily="34" charset="0"/>
                <a:ea typeface="Arial Unicode MS" pitchFamily="34" charset="-128"/>
                <a:cs typeface="Arial" panose="020B0604020202020204" pitchFamily="34" charset="0"/>
              </a:defRPr>
            </a:lvl1pPr>
          </a:lstStyle>
          <a:p>
            <a:pPr defTabSz="457200"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2470151" y="6410326"/>
            <a:ext cx="1320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kumimoji="0" sz="16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ru-RU">
                <a:solidFill>
                  <a:prstClr val="black"/>
                </a:solidFill>
              </a:rPr>
              <a:t>Стр. </a:t>
            </a:r>
            <a:fld id="{827EB3EC-A0FC-4DD2-B272-B8CC7C9619E1}" type="slidenum">
              <a:rPr lang="ru-RU" smtClean="0">
                <a:solidFill>
                  <a:prstClr val="black"/>
                </a:solidFill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2845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</p:sldLayoutIdLst>
  <p:hf sldNum="0" hdr="0" ft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Arial" charset="0"/>
          <a:cs typeface="Arial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www.presentationload.de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7.wmf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4.wmf"/><Relationship Id="rId12" Type="http://schemas.openxmlformats.org/officeDocument/2006/relationships/oleObject" Target="../embeddings/oleObject5.bin"/><Relationship Id="rId17" Type="http://schemas.openxmlformats.org/officeDocument/2006/relationships/image" Target="../media/image9.wmf"/><Relationship Id="rId2" Type="http://schemas.openxmlformats.org/officeDocument/2006/relationships/slideLayout" Target="../slideLayouts/slideLayout10.xml"/><Relationship Id="rId16" Type="http://schemas.openxmlformats.org/officeDocument/2006/relationships/oleObject" Target="../embeddings/oleObject7.bin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6.wmf"/><Relationship Id="rId5" Type="http://schemas.openxmlformats.org/officeDocument/2006/relationships/image" Target="../media/image3.wmf"/><Relationship Id="rId15" Type="http://schemas.openxmlformats.org/officeDocument/2006/relationships/image" Target="../media/image8.w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5.wmf"/><Relationship Id="rId14" Type="http://schemas.openxmlformats.org/officeDocument/2006/relationships/oleObject" Target="../embeddings/oleObject6.bin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3" Type="http://schemas.openxmlformats.org/officeDocument/2006/relationships/notesSlide" Target="../notesSlides/notesSlide21.xml"/><Relationship Id="rId7" Type="http://schemas.openxmlformats.org/officeDocument/2006/relationships/image" Target="../media/image11.wmf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10.wmf"/><Relationship Id="rId4" Type="http://schemas.openxmlformats.org/officeDocument/2006/relationships/oleObject" Target="../embeddings/oleObject8.bin"/><Relationship Id="rId9" Type="http://schemas.openxmlformats.org/officeDocument/2006/relationships/image" Target="../media/image12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3" Type="http://schemas.openxmlformats.org/officeDocument/2006/relationships/notesSlide" Target="../notesSlides/notesSlide22.xml"/><Relationship Id="rId7" Type="http://schemas.openxmlformats.org/officeDocument/2006/relationships/image" Target="../media/image11.wmf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2.bin"/><Relationship Id="rId5" Type="http://schemas.openxmlformats.org/officeDocument/2006/relationships/image" Target="../media/image10.wmf"/><Relationship Id="rId4" Type="http://schemas.openxmlformats.org/officeDocument/2006/relationships/oleObject" Target="../embeddings/oleObject11.bin"/><Relationship Id="rId9" Type="http://schemas.openxmlformats.org/officeDocument/2006/relationships/image" Target="../media/image12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3" Type="http://schemas.openxmlformats.org/officeDocument/2006/relationships/notesSlide" Target="../notesSlides/notesSlide23.xml"/><Relationship Id="rId7" Type="http://schemas.openxmlformats.org/officeDocument/2006/relationships/image" Target="../media/image11.wmf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5.bin"/><Relationship Id="rId5" Type="http://schemas.openxmlformats.org/officeDocument/2006/relationships/image" Target="../media/image10.wmf"/><Relationship Id="rId4" Type="http://schemas.openxmlformats.org/officeDocument/2006/relationships/oleObject" Target="../embeddings/oleObject14.bin"/><Relationship Id="rId9" Type="http://schemas.openxmlformats.org/officeDocument/2006/relationships/image" Target="../media/image12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3" Type="http://schemas.openxmlformats.org/officeDocument/2006/relationships/notesSlide" Target="../notesSlides/notesSlide24.xml"/><Relationship Id="rId7" Type="http://schemas.openxmlformats.org/officeDocument/2006/relationships/image" Target="../media/image11.wmf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8.bin"/><Relationship Id="rId5" Type="http://schemas.openxmlformats.org/officeDocument/2006/relationships/image" Target="../media/image10.wmf"/><Relationship Id="rId4" Type="http://schemas.openxmlformats.org/officeDocument/2006/relationships/oleObject" Target="../embeddings/oleObject17.bin"/><Relationship Id="rId9" Type="http://schemas.openxmlformats.org/officeDocument/2006/relationships/image" Target="../media/image12.wm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0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0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0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0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0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7" descr="Neutral Abstract 7 V1 FB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47625"/>
            <a:ext cx="12192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" name="Rechteck 19">
            <a:hlinkClick r:id="rId4"/>
          </p:cNvPr>
          <p:cNvSpPr/>
          <p:nvPr/>
        </p:nvSpPr>
        <p:spPr>
          <a:xfrm>
            <a:off x="9589690" y="6276976"/>
            <a:ext cx="2266950" cy="5810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0244" name="Прямоугольник 3"/>
          <p:cNvSpPr>
            <a:spLocks noChangeArrowheads="1"/>
          </p:cNvSpPr>
          <p:nvPr/>
        </p:nvSpPr>
        <p:spPr bwMode="auto">
          <a:xfrm>
            <a:off x="3434953" y="2203451"/>
            <a:ext cx="7518400" cy="42473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sz="5400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Сетевые и Распределенные Системы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5400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US" sz="5400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</a:br>
            <a:endParaRPr lang="ru-RU" sz="5400" dirty="0">
              <a:solidFill>
                <a:srgbClr val="80000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217594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Название 1"/>
          <p:cNvSpPr>
            <a:spLocks noGrp="1"/>
          </p:cNvSpPr>
          <p:nvPr>
            <p:ph type="title"/>
          </p:nvPr>
        </p:nvSpPr>
        <p:spPr>
          <a:xfrm>
            <a:off x="3359696" y="238125"/>
            <a:ext cx="8496300" cy="617538"/>
          </a:xfrm>
        </p:spPr>
        <p:txBody>
          <a:bodyPr/>
          <a:lstStyle/>
          <a:p>
            <a:pPr algn="l" eaLnBrk="1" hangingPunct="1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Тема</a:t>
            </a:r>
            <a:r>
              <a:rPr kumimoji="0" lang="en-US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 3</a:t>
            </a:r>
            <a:endParaRPr kumimoji="0" lang="ru-RU" sz="3600" b="1" dirty="0">
              <a:solidFill>
                <a:srgbClr val="003794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3961360" y="1069975"/>
            <a:ext cx="8134225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4572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003794"/>
              </a:solidFill>
              <a:effectLst/>
              <a:uLnTx/>
              <a:uFillTx/>
              <a:latin typeface="Lucida Grande CY" pitchFamily="2" charset="-52"/>
              <a:ea typeface="+mn-ea"/>
              <a:cs typeface="Arial" pitchFamily="34" charset="0"/>
            </a:endParaRPr>
          </a:p>
          <a:p>
            <a:pPr marL="1440000" marR="0" lvl="0" indent="0" algn="l" defTabSz="4572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Проблемы взаимодействия в распределенных системах</a:t>
            </a:r>
          </a:p>
        </p:txBody>
      </p:sp>
    </p:spTree>
    <p:extLst>
      <p:ext uri="{BB962C8B-B14F-4D97-AF65-F5344CB8AC3E}">
        <p14:creationId xmlns:p14="http://schemas.microsoft.com/office/powerpoint/2010/main" val="1262554218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_h1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3360018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Распределенные системы </a:t>
            </a:r>
          </a:p>
        </p:txBody>
      </p:sp>
      <p:sp>
        <p:nvSpPr>
          <p:cNvPr id="14" name="Rechteck 36"/>
          <p:cNvSpPr>
            <a:spLocks noChangeArrowheads="1"/>
          </p:cNvSpPr>
          <p:nvPr/>
        </p:nvSpPr>
        <p:spPr bwMode="gray">
          <a:xfrm>
            <a:off x="3215680" y="908721"/>
            <a:ext cx="8784976" cy="559717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+mn-cs"/>
              </a:rPr>
              <a:t>Определение</a:t>
            </a:r>
          </a:p>
        </p:txBody>
      </p:sp>
      <p:sp>
        <p:nvSpPr>
          <p:cNvPr id="9" name="Rechteck 39">
            <a:extLst>
              <a:ext uri="{FF2B5EF4-FFF2-40B4-BE49-F238E27FC236}">
                <a16:creationId xmlns="" xmlns:a16="http://schemas.microsoft.com/office/drawing/2014/main" id="{7B905C62-090A-46E9-B973-40FC38239435}"/>
              </a:ext>
            </a:extLst>
          </p:cNvPr>
          <p:cNvSpPr>
            <a:spLocks noChangeArrowheads="1"/>
          </p:cNvSpPr>
          <p:nvPr/>
        </p:nvSpPr>
        <p:spPr bwMode="gray">
          <a:xfrm>
            <a:off x="3215680" y="2348880"/>
            <a:ext cx="8784976" cy="252028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="" xmlns:a16="http://schemas.microsoft.com/office/drawing/2014/main" id="{3FE3C076-0988-4F39-8C91-D6D0831CBF60}"/>
              </a:ext>
            </a:extLst>
          </p:cNvPr>
          <p:cNvSpPr txBox="1">
            <a:spLocks noRot="1" noChangeArrowheads="1"/>
          </p:cNvSpPr>
          <p:nvPr/>
        </p:nvSpPr>
        <p:spPr bwMode="auto">
          <a:xfrm>
            <a:off x="3402882" y="2565128"/>
            <a:ext cx="8410575" cy="12959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Arial" charset="0"/>
                <a:cs typeface="Arial" charset="0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Arial" charset="0"/>
                <a:cs typeface="Arial" pitchFamily="34" charset="0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Arial" charset="0"/>
                <a:cs typeface="Arial" pitchFamily="34" charset="0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Arial" charset="0"/>
                <a:cs typeface="Arial" pitchFamily="34" charset="0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kumimoji="1" sz="2000" kern="1200">
                <a:solidFill>
                  <a:schemeClr val="tx1"/>
                </a:solidFill>
                <a:latin typeface="+mn-lt"/>
                <a:ea typeface="Arial" charset="0"/>
                <a:cs typeface="Arial" pitchFamily="34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2" indent="0" algn="ctr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prstClr val="black"/>
              </a:buClr>
              <a:buSzTx/>
              <a:buFont typeface="Arial" pitchFamily="34" charset="0"/>
              <a:buNone/>
              <a:tabLst/>
              <a:defRPr/>
            </a:pPr>
            <a:r>
              <a:rPr kumimoji="1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itchFamily="34" charset="0"/>
              </a:rPr>
              <a:t>Распределенная система  — это набор компьютеров, не имеющих общей физической памяти и</a:t>
            </a:r>
            <a:r>
              <a: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kumimoji="1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itchFamily="34" charset="0"/>
              </a:rPr>
              <a:t>общих физических часов, взаимодействующих путем передачи сообщений через коммуникационную среду, где у каждого компьютера есть своя локальная память и своя собственная операционная система. Однако эти операционные системы функционируют совместно, предоставляя свои службы друг другу для решения общей задачи.</a:t>
            </a:r>
          </a:p>
          <a:p>
            <a:pPr marL="0" marR="0" lvl="2" indent="0" algn="r" defTabSz="4572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prstClr val="black"/>
              </a:buClr>
              <a:buSzTx/>
              <a:buFont typeface="Arial" pitchFamily="34" charset="0"/>
              <a:buNone/>
              <a:tabLst/>
              <a:defRPr/>
            </a:pPr>
            <a:r>
              <a:rPr kumimoji="1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itchFamily="34" charset="0"/>
              </a:rPr>
              <a:t>(Кшемкальяни)</a:t>
            </a:r>
          </a:p>
          <a:p>
            <a:pPr marL="0" marR="0" lvl="2" indent="0" algn="r" defTabSz="4572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prstClr val="black"/>
              </a:buClr>
              <a:buSzTx/>
              <a:buFont typeface="Arial" pitchFamily="34" charset="0"/>
              <a:buNone/>
              <a:tabLst/>
              <a:defRPr/>
            </a:pPr>
            <a:endParaRPr kumimoji="1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499567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_h1"/>
          <p:cNvSpPr>
            <a:spLocks noGrp="1" noChangeArrowheads="1"/>
          </p:cNvSpPr>
          <p:nvPr>
            <p:ph type="title"/>
          </p:nvPr>
        </p:nvSpPr>
        <p:spPr>
          <a:xfrm>
            <a:off x="3359696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Проблемы взаимодействия </a:t>
            </a:r>
          </a:p>
        </p:txBody>
      </p:sp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372396" y="1772816"/>
            <a:ext cx="8496300" cy="4468186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359696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Физическое время</a:t>
            </a:r>
            <a:endParaRPr kumimoji="0" lang="ru-RU" sz="30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3503390" y="1844825"/>
            <a:ext cx="820891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Утилита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make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3" name="Прямоугольник: скругленные углы 2"/>
          <p:cNvSpPr/>
          <p:nvPr/>
        </p:nvSpPr>
        <p:spPr>
          <a:xfrm>
            <a:off x="3575398" y="2790220"/>
            <a:ext cx="3744416" cy="2088232"/>
          </a:xfrm>
          <a:prstGeom prst="roundRect">
            <a:avLst/>
          </a:prstGeom>
          <a:gradFill>
            <a:gsLst>
              <a:gs pos="0">
                <a:schemeClr val="tx2">
                  <a:lumMod val="40000"/>
                  <a:lumOff val="60000"/>
                </a:schemeClr>
              </a:gs>
              <a:gs pos="100000">
                <a:schemeClr val="tx2">
                  <a:lumMod val="20000"/>
                  <a:lumOff val="8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main()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	void hello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(void);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	hello();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	return 0;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}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3" name="Прямоугольник: скругленные углы 12"/>
          <p:cNvSpPr/>
          <p:nvPr/>
        </p:nvSpPr>
        <p:spPr>
          <a:xfrm>
            <a:off x="7895878" y="2790220"/>
            <a:ext cx="3816424" cy="2088232"/>
          </a:xfrm>
          <a:prstGeom prst="roundRect">
            <a:avLst/>
          </a:prstGeom>
          <a:gradFill>
            <a:gsLst>
              <a:gs pos="0">
                <a:schemeClr val="tx2">
                  <a:lumMod val="40000"/>
                  <a:lumOff val="60000"/>
                </a:schemeClr>
              </a:gs>
              <a:gs pos="100000">
                <a:schemeClr val="tx2">
                  <a:lumMod val="20000"/>
                  <a:lumOff val="8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#include &lt;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stdio.h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&gt;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void hello()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	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printf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("Hello World!\n");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}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4" name="Прямоугольник: скругленные углы 13"/>
          <p:cNvSpPr/>
          <p:nvPr/>
        </p:nvSpPr>
        <p:spPr>
          <a:xfrm>
            <a:off x="5771642" y="5388545"/>
            <a:ext cx="3672408" cy="495672"/>
          </a:xfrm>
          <a:prstGeom prst="roundRect">
            <a:avLst/>
          </a:prstGeom>
          <a:gradFill>
            <a:gsLst>
              <a:gs pos="0">
                <a:schemeClr val="tx2">
                  <a:lumMod val="40000"/>
                  <a:lumOff val="60000"/>
                </a:schemeClr>
              </a:gs>
              <a:gs pos="100000">
                <a:schemeClr val="tx2">
                  <a:lumMod val="20000"/>
                  <a:lumOff val="8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gcc -o hello main.c hello.c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935438" y="2420888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main.c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183910" y="2430180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hello.c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061062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3" grpId="0" animBg="1"/>
      <p:bldP spid="13" grpId="0" animBg="1"/>
      <p:bldP spid="14" grpId="0" animBg="1"/>
      <p:bldP spid="15" grpId="0"/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_h1"/>
          <p:cNvSpPr>
            <a:spLocks noGrp="1" noChangeArrowheads="1"/>
          </p:cNvSpPr>
          <p:nvPr>
            <p:ph type="title"/>
          </p:nvPr>
        </p:nvSpPr>
        <p:spPr>
          <a:xfrm>
            <a:off x="3359696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Проблемы взаимодействия </a:t>
            </a:r>
          </a:p>
        </p:txBody>
      </p:sp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372396" y="1772816"/>
            <a:ext cx="8496300" cy="4468186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359696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Физическое время</a:t>
            </a:r>
            <a:endParaRPr kumimoji="0" lang="ru-RU" sz="30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3503390" y="1844825"/>
            <a:ext cx="820891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Утилита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make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4" name="Прямоугольник: скругленные углы 13"/>
          <p:cNvSpPr/>
          <p:nvPr/>
        </p:nvSpPr>
        <p:spPr>
          <a:xfrm>
            <a:off x="5771642" y="5373216"/>
            <a:ext cx="3672408" cy="495672"/>
          </a:xfrm>
          <a:prstGeom prst="roundRect">
            <a:avLst/>
          </a:prstGeom>
          <a:gradFill>
            <a:gsLst>
              <a:gs pos="0">
                <a:schemeClr val="tx2">
                  <a:lumMod val="40000"/>
                  <a:lumOff val="60000"/>
                </a:schemeClr>
              </a:gs>
              <a:gs pos="100000">
                <a:schemeClr val="tx2">
                  <a:lumMod val="20000"/>
                  <a:lumOff val="8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make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Прямоугольник: скругленные углы 10"/>
          <p:cNvSpPr/>
          <p:nvPr/>
        </p:nvSpPr>
        <p:spPr>
          <a:xfrm>
            <a:off x="3647406" y="2790220"/>
            <a:ext cx="3744416" cy="2088232"/>
          </a:xfrm>
          <a:prstGeom prst="roundRect">
            <a:avLst/>
          </a:prstGeom>
          <a:gradFill>
            <a:gsLst>
              <a:gs pos="0">
                <a:schemeClr val="tx2">
                  <a:lumMod val="40000"/>
                  <a:lumOff val="60000"/>
                </a:schemeClr>
              </a:gs>
              <a:gs pos="100000">
                <a:schemeClr val="tx2">
                  <a:lumMod val="20000"/>
                  <a:lumOff val="8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hello: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main.o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hello.o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      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gcc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-o hello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main.o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hello.o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main.o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: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main.c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      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gcc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-c -o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main.o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main.c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hello.o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: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hello.c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      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gcc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-c -o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hello.o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hello.c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007446" y="2420888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Makefile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823870" y="3164775"/>
            <a:ext cx="367240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Перекомпилируются только измененные файлы</a:t>
            </a:r>
          </a:p>
        </p:txBody>
      </p:sp>
    </p:spTree>
    <p:extLst>
      <p:ext uri="{BB962C8B-B14F-4D97-AF65-F5344CB8AC3E}">
        <p14:creationId xmlns:p14="http://schemas.microsoft.com/office/powerpoint/2010/main" val="88639402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1" grpId="0" animBg="1"/>
      <p:bldP spid="15" grpId="0"/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_h1"/>
          <p:cNvSpPr>
            <a:spLocks noGrp="1" noChangeArrowheads="1"/>
          </p:cNvSpPr>
          <p:nvPr>
            <p:ph type="title"/>
          </p:nvPr>
        </p:nvSpPr>
        <p:spPr>
          <a:xfrm>
            <a:off x="3359696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Проблемы взаимодействия </a:t>
            </a:r>
          </a:p>
        </p:txBody>
      </p:sp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372396" y="1772816"/>
            <a:ext cx="8496300" cy="4468186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359696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Физическое время</a:t>
            </a:r>
            <a:endParaRPr kumimoji="0" lang="ru-RU" sz="30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3503390" y="1844825"/>
            <a:ext cx="8208912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Утилита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make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Автономный компьютер</a:t>
            </a:r>
          </a:p>
        </p:txBody>
      </p:sp>
      <p:sp>
        <p:nvSpPr>
          <p:cNvPr id="14" name="Прямоугольник: скругленные углы 13"/>
          <p:cNvSpPr/>
          <p:nvPr/>
        </p:nvSpPr>
        <p:spPr>
          <a:xfrm>
            <a:off x="3522694" y="2852936"/>
            <a:ext cx="8189608" cy="1473374"/>
          </a:xfrm>
          <a:prstGeom prst="roundRect">
            <a:avLst/>
          </a:prstGeom>
          <a:gradFill>
            <a:gsLst>
              <a:gs pos="0">
                <a:schemeClr val="tx2">
                  <a:lumMod val="40000"/>
                  <a:lumOff val="60000"/>
                </a:schemeClr>
              </a:gs>
              <a:gs pos="100000">
                <a:schemeClr val="tx2">
                  <a:lumMod val="20000"/>
                  <a:lumOff val="8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4007446" y="3606230"/>
            <a:ext cx="7200800" cy="0"/>
          </a:xfrm>
          <a:prstGeom prst="line">
            <a:avLst/>
          </a:prstGeom>
          <a:ln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848206" y="3174183"/>
            <a:ext cx="7920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время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4295478" y="3481960"/>
            <a:ext cx="0" cy="2682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079454" y="3102175"/>
            <a:ext cx="5040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251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5438" y="3843845"/>
            <a:ext cx="7920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main.c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7" name="Прямая соединительная линия 16"/>
          <p:cNvCxnSpPr/>
          <p:nvPr/>
        </p:nvCxnSpPr>
        <p:spPr>
          <a:xfrm>
            <a:off x="5303590" y="3481960"/>
            <a:ext cx="0" cy="2682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087566" y="3102175"/>
            <a:ext cx="5040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25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5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943550" y="3843845"/>
            <a:ext cx="7920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hello.c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0" name="Прямая соединительная линия 19"/>
          <p:cNvCxnSpPr/>
          <p:nvPr/>
        </p:nvCxnSpPr>
        <p:spPr>
          <a:xfrm>
            <a:off x="6023670" y="3481960"/>
            <a:ext cx="0" cy="2682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807646" y="3102175"/>
            <a:ext cx="5040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25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8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663630" y="3843845"/>
            <a:ext cx="7920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main.o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3" name="Прямая соединительная линия 22"/>
          <p:cNvCxnSpPr/>
          <p:nvPr/>
        </p:nvCxnSpPr>
        <p:spPr>
          <a:xfrm>
            <a:off x="6887766" y="3481960"/>
            <a:ext cx="0" cy="2682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671742" y="3102175"/>
            <a:ext cx="5040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64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527726" y="3843845"/>
            <a:ext cx="7920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hello.o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6" name="Прямая соединительная линия 25"/>
          <p:cNvCxnSpPr/>
          <p:nvPr/>
        </p:nvCxnSpPr>
        <p:spPr>
          <a:xfrm>
            <a:off x="7607846" y="3481960"/>
            <a:ext cx="0" cy="2682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391822" y="3102175"/>
            <a:ext cx="5040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67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319814" y="3843845"/>
            <a:ext cx="7920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hello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9" name="Прямая соединительная линия 28"/>
          <p:cNvCxnSpPr/>
          <p:nvPr/>
        </p:nvCxnSpPr>
        <p:spPr>
          <a:xfrm>
            <a:off x="8615958" y="3479419"/>
            <a:ext cx="0" cy="2682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399934" y="3099634"/>
            <a:ext cx="5040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75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255918" y="3841304"/>
            <a:ext cx="7920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hello.c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32" name="Прямая соединительная линия 31"/>
          <p:cNvCxnSpPr/>
          <p:nvPr/>
        </p:nvCxnSpPr>
        <p:spPr>
          <a:xfrm>
            <a:off x="9408046" y="3479419"/>
            <a:ext cx="0" cy="2682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9192022" y="3099634"/>
            <a:ext cx="5040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80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048006" y="3841304"/>
            <a:ext cx="7920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hello.o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35" name="Прямая соединительная линия 34"/>
          <p:cNvCxnSpPr/>
          <p:nvPr/>
        </p:nvCxnSpPr>
        <p:spPr>
          <a:xfrm>
            <a:off x="10200134" y="3479419"/>
            <a:ext cx="0" cy="2682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9984110" y="3099634"/>
            <a:ext cx="5040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85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912102" y="3841304"/>
            <a:ext cx="7920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hello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8616924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5" grpId="0"/>
      <p:bldP spid="8" grpId="0"/>
      <p:bldP spid="13" grpId="0"/>
      <p:bldP spid="18" grpId="0"/>
      <p:bldP spid="19" grpId="0"/>
      <p:bldP spid="21" grpId="0"/>
      <p:bldP spid="22" grpId="0"/>
      <p:bldP spid="24" grpId="0"/>
      <p:bldP spid="25" grpId="0"/>
      <p:bldP spid="27" grpId="0"/>
      <p:bldP spid="28" grpId="0"/>
      <p:bldP spid="30" grpId="0"/>
      <p:bldP spid="31" grpId="0"/>
      <p:bldP spid="33" grpId="0"/>
      <p:bldP spid="34" grpId="0"/>
      <p:bldP spid="36" grpId="0"/>
      <p:bldP spid="3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_h1"/>
          <p:cNvSpPr>
            <a:spLocks noGrp="1" noChangeArrowheads="1"/>
          </p:cNvSpPr>
          <p:nvPr>
            <p:ph type="title"/>
          </p:nvPr>
        </p:nvSpPr>
        <p:spPr>
          <a:xfrm>
            <a:off x="3359696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Проблемы взаимодействия </a:t>
            </a:r>
          </a:p>
        </p:txBody>
      </p:sp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372396" y="1772816"/>
            <a:ext cx="8496300" cy="4468186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359696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Физическое время</a:t>
            </a:r>
            <a:endParaRPr kumimoji="0" lang="ru-RU" sz="30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3503390" y="1844825"/>
            <a:ext cx="8208912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Утилита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make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Распределенная система</a:t>
            </a:r>
          </a:p>
        </p:txBody>
      </p:sp>
      <p:sp>
        <p:nvSpPr>
          <p:cNvPr id="14" name="Прямоугольник: скругленные углы 13"/>
          <p:cNvSpPr/>
          <p:nvPr/>
        </p:nvSpPr>
        <p:spPr>
          <a:xfrm>
            <a:off x="3522694" y="2852936"/>
            <a:ext cx="8189608" cy="1473374"/>
          </a:xfrm>
          <a:prstGeom prst="roundRect">
            <a:avLst/>
          </a:prstGeom>
          <a:gradFill>
            <a:gsLst>
              <a:gs pos="0">
                <a:schemeClr val="tx2">
                  <a:lumMod val="40000"/>
                  <a:lumOff val="60000"/>
                </a:schemeClr>
              </a:gs>
              <a:gs pos="100000">
                <a:schemeClr val="tx2">
                  <a:lumMod val="20000"/>
                  <a:lumOff val="8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4" name="Прямая соединительная линия 3"/>
          <p:cNvCxnSpPr>
            <a:cxnSpLocks/>
          </p:cNvCxnSpPr>
          <p:nvPr/>
        </p:nvCxnSpPr>
        <p:spPr>
          <a:xfrm flipV="1">
            <a:off x="4007446" y="3606230"/>
            <a:ext cx="7200800" cy="38794"/>
          </a:xfrm>
          <a:prstGeom prst="line">
            <a:avLst/>
          </a:prstGeom>
          <a:ln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791422" y="2852937"/>
            <a:ext cx="48965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Компьютер, на котором выполняется редактирование</a:t>
            </a:r>
          </a:p>
        </p:txBody>
      </p:sp>
      <p:sp>
        <p:nvSpPr>
          <p:cNvPr id="39" name="Прямоугольник: скругленные углы 38"/>
          <p:cNvSpPr/>
          <p:nvPr/>
        </p:nvSpPr>
        <p:spPr>
          <a:xfrm>
            <a:off x="3503390" y="4619922"/>
            <a:ext cx="8189608" cy="1473374"/>
          </a:xfrm>
          <a:prstGeom prst="roundRect">
            <a:avLst/>
          </a:prstGeom>
          <a:gradFill>
            <a:gsLst>
              <a:gs pos="0">
                <a:schemeClr val="tx2">
                  <a:lumMod val="40000"/>
                  <a:lumOff val="60000"/>
                </a:schemeClr>
              </a:gs>
              <a:gs pos="100000">
                <a:schemeClr val="tx2">
                  <a:lumMod val="20000"/>
                  <a:lumOff val="8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40" name="Прямая соединительная линия 39"/>
          <p:cNvCxnSpPr>
            <a:cxnSpLocks/>
          </p:cNvCxnSpPr>
          <p:nvPr/>
        </p:nvCxnSpPr>
        <p:spPr>
          <a:xfrm>
            <a:off x="4007446" y="5373216"/>
            <a:ext cx="7181496" cy="0"/>
          </a:xfrm>
          <a:prstGeom prst="line">
            <a:avLst/>
          </a:prstGeom>
          <a:ln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10637194" y="4747382"/>
            <a:ext cx="10751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Локальное время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91422" y="4635134"/>
            <a:ext cx="43924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Компьютер, на котором выполняется компиляция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632182" y="2996952"/>
            <a:ext cx="10751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Локальное время</a:t>
            </a:r>
          </a:p>
        </p:txBody>
      </p:sp>
      <p:cxnSp>
        <p:nvCxnSpPr>
          <p:cNvPr id="68" name="Прямая соединительная линия 67"/>
          <p:cNvCxnSpPr/>
          <p:nvPr/>
        </p:nvCxnSpPr>
        <p:spPr>
          <a:xfrm>
            <a:off x="4295478" y="3481960"/>
            <a:ext cx="0" cy="2682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4079454" y="3102175"/>
            <a:ext cx="5040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251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935438" y="3843845"/>
            <a:ext cx="7920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main.c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71" name="Прямая соединительная линия 70"/>
          <p:cNvCxnSpPr/>
          <p:nvPr/>
        </p:nvCxnSpPr>
        <p:spPr>
          <a:xfrm>
            <a:off x="5303590" y="3481960"/>
            <a:ext cx="0" cy="2682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5087566" y="3102175"/>
            <a:ext cx="5040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25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5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4943550" y="3843845"/>
            <a:ext cx="7920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hello.c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74" name="Прямая соединительная линия 73"/>
          <p:cNvCxnSpPr/>
          <p:nvPr/>
        </p:nvCxnSpPr>
        <p:spPr>
          <a:xfrm>
            <a:off x="6023670" y="3481960"/>
            <a:ext cx="0" cy="2682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5807646" y="3102175"/>
            <a:ext cx="5040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25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8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77" name="Прямая соединительная линия 76"/>
          <p:cNvCxnSpPr/>
          <p:nvPr/>
        </p:nvCxnSpPr>
        <p:spPr>
          <a:xfrm>
            <a:off x="6887766" y="3481960"/>
            <a:ext cx="0" cy="2682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6671742" y="3102175"/>
            <a:ext cx="5040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64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80" name="Прямая соединительная линия 79"/>
          <p:cNvCxnSpPr/>
          <p:nvPr/>
        </p:nvCxnSpPr>
        <p:spPr>
          <a:xfrm>
            <a:off x="7607846" y="3481960"/>
            <a:ext cx="0" cy="2682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7391822" y="3102175"/>
            <a:ext cx="5040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67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83" name="Прямая соединительная линия 82"/>
          <p:cNvCxnSpPr/>
          <p:nvPr/>
        </p:nvCxnSpPr>
        <p:spPr>
          <a:xfrm>
            <a:off x="8615958" y="3479419"/>
            <a:ext cx="0" cy="2682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8399934" y="3099634"/>
            <a:ext cx="5040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75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8255918" y="3841304"/>
            <a:ext cx="7920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hello.c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92" name="Прямая соединительная линия 91"/>
          <p:cNvCxnSpPr/>
          <p:nvPr/>
        </p:nvCxnSpPr>
        <p:spPr>
          <a:xfrm>
            <a:off x="4295478" y="5251487"/>
            <a:ext cx="0" cy="2682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4079454" y="4871702"/>
            <a:ext cx="5040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263</a:t>
            </a:r>
          </a:p>
        </p:txBody>
      </p:sp>
      <p:cxnSp>
        <p:nvCxnSpPr>
          <p:cNvPr id="95" name="Прямая соединительная линия 94"/>
          <p:cNvCxnSpPr/>
          <p:nvPr/>
        </p:nvCxnSpPr>
        <p:spPr>
          <a:xfrm>
            <a:off x="5303590" y="5251487"/>
            <a:ext cx="0" cy="2682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5087566" y="4871702"/>
            <a:ext cx="5040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267</a:t>
            </a:r>
          </a:p>
        </p:txBody>
      </p:sp>
      <p:cxnSp>
        <p:nvCxnSpPr>
          <p:cNvPr id="98" name="Прямая соединительная линия 97"/>
          <p:cNvCxnSpPr/>
          <p:nvPr/>
        </p:nvCxnSpPr>
        <p:spPr>
          <a:xfrm>
            <a:off x="6023670" y="5251487"/>
            <a:ext cx="0" cy="2682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>
            <a:off x="5807646" y="4871702"/>
            <a:ext cx="5040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270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663630" y="5613372"/>
            <a:ext cx="7920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main.o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01" name="Прямая соединительная линия 100"/>
          <p:cNvCxnSpPr/>
          <p:nvPr/>
        </p:nvCxnSpPr>
        <p:spPr>
          <a:xfrm>
            <a:off x="6887766" y="5251487"/>
            <a:ext cx="0" cy="2682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>
            <a:off x="6671742" y="4871702"/>
            <a:ext cx="5040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276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527726" y="5613372"/>
            <a:ext cx="7920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hello.o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04" name="Прямая соединительная линия 103"/>
          <p:cNvCxnSpPr/>
          <p:nvPr/>
        </p:nvCxnSpPr>
        <p:spPr>
          <a:xfrm>
            <a:off x="7607846" y="5251487"/>
            <a:ext cx="0" cy="2682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Box 104"/>
          <p:cNvSpPr txBox="1"/>
          <p:nvPr/>
        </p:nvSpPr>
        <p:spPr>
          <a:xfrm>
            <a:off x="7391822" y="4871702"/>
            <a:ext cx="5040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7</a:t>
            </a: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9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319814" y="5613372"/>
            <a:ext cx="7920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hello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07" name="Прямая соединительная линия 106"/>
          <p:cNvCxnSpPr/>
          <p:nvPr/>
        </p:nvCxnSpPr>
        <p:spPr>
          <a:xfrm>
            <a:off x="8615958" y="5248946"/>
            <a:ext cx="0" cy="2682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TextBox 107"/>
          <p:cNvSpPr txBox="1"/>
          <p:nvPr/>
        </p:nvSpPr>
        <p:spPr>
          <a:xfrm>
            <a:off x="8399934" y="4869161"/>
            <a:ext cx="5040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287</a:t>
            </a:r>
          </a:p>
        </p:txBody>
      </p:sp>
    </p:spTree>
    <p:extLst>
      <p:ext uri="{BB962C8B-B14F-4D97-AF65-F5344CB8AC3E}">
        <p14:creationId xmlns:p14="http://schemas.microsoft.com/office/powerpoint/2010/main" val="4113271199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3" grpId="0"/>
      <p:bldP spid="39" grpId="0" animBg="1"/>
      <p:bldP spid="41" grpId="0"/>
      <p:bldP spid="67" grpId="0"/>
      <p:bldP spid="69" grpId="0"/>
      <p:bldP spid="70" grpId="0"/>
      <p:bldP spid="72" grpId="0"/>
      <p:bldP spid="73" grpId="0"/>
      <p:bldP spid="75" grpId="0"/>
      <p:bldP spid="78" grpId="0"/>
      <p:bldP spid="81" grpId="0"/>
      <p:bldP spid="84" grpId="0"/>
      <p:bldP spid="85" grpId="0"/>
      <p:bldP spid="93" grpId="0"/>
      <p:bldP spid="96" grpId="0"/>
      <p:bldP spid="99" grpId="0"/>
      <p:bldP spid="100" grpId="0"/>
      <p:bldP spid="102" grpId="0"/>
      <p:bldP spid="103" grpId="0"/>
      <p:bldP spid="105" grpId="0"/>
      <p:bldP spid="106" grpId="0"/>
      <p:bldP spid="10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_h1"/>
          <p:cNvSpPr>
            <a:spLocks noGrp="1" noChangeArrowheads="1"/>
          </p:cNvSpPr>
          <p:nvPr>
            <p:ph type="title"/>
          </p:nvPr>
        </p:nvSpPr>
        <p:spPr>
          <a:xfrm>
            <a:off x="3360340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Проблемы взаимодействия </a:t>
            </a:r>
          </a:p>
        </p:txBody>
      </p:sp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360018" y="1842096"/>
            <a:ext cx="8496300" cy="446722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360340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Физическое время</a:t>
            </a:r>
            <a:endParaRPr kumimoji="0" lang="ru-RU" sz="30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5160490" y="3294000"/>
            <a:ext cx="57606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/>
          <p:cNvCxnSpPr/>
          <p:nvPr/>
        </p:nvCxnSpPr>
        <p:spPr>
          <a:xfrm>
            <a:off x="5160218" y="4734000"/>
            <a:ext cx="57606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864074" y="3096000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Филиал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64074" y="4536000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Филиал 2</a:t>
            </a:r>
          </a:p>
        </p:txBody>
      </p:sp>
      <p:sp>
        <p:nvSpPr>
          <p:cNvPr id="8" name="Овал 7"/>
          <p:cNvSpPr/>
          <p:nvPr/>
        </p:nvSpPr>
        <p:spPr>
          <a:xfrm>
            <a:off x="5880298" y="3239688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Овал 14"/>
          <p:cNvSpPr/>
          <p:nvPr/>
        </p:nvSpPr>
        <p:spPr>
          <a:xfrm>
            <a:off x="5664274" y="4679848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Овал 15"/>
          <p:cNvSpPr/>
          <p:nvPr/>
        </p:nvSpPr>
        <p:spPr>
          <a:xfrm>
            <a:off x="6570563" y="3239688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Овал 16"/>
          <p:cNvSpPr/>
          <p:nvPr/>
        </p:nvSpPr>
        <p:spPr>
          <a:xfrm>
            <a:off x="7104434" y="4683466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Овал 17"/>
          <p:cNvSpPr/>
          <p:nvPr/>
        </p:nvSpPr>
        <p:spPr>
          <a:xfrm>
            <a:off x="7968530" y="32397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Овал 18"/>
          <p:cNvSpPr/>
          <p:nvPr/>
        </p:nvSpPr>
        <p:spPr>
          <a:xfrm>
            <a:off x="7968530" y="4683549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Овал 19"/>
          <p:cNvSpPr/>
          <p:nvPr/>
        </p:nvSpPr>
        <p:spPr>
          <a:xfrm>
            <a:off x="9084654" y="4679848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Овал 20"/>
          <p:cNvSpPr/>
          <p:nvPr/>
        </p:nvSpPr>
        <p:spPr>
          <a:xfrm>
            <a:off x="10149936" y="3239688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4" name="Прямая со стрелкой 23"/>
          <p:cNvCxnSpPr>
            <a:cxnSpLocks/>
            <a:stCxn id="8" idx="5"/>
            <a:endCxn id="17" idx="1"/>
          </p:cNvCxnSpPr>
          <p:nvPr/>
        </p:nvCxnSpPr>
        <p:spPr>
          <a:xfrm>
            <a:off x="5972482" y="3331872"/>
            <a:ext cx="1147768" cy="13674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 стрелкой 25"/>
          <p:cNvCxnSpPr>
            <a:cxnSpLocks/>
            <a:stCxn id="20" idx="7"/>
            <a:endCxn id="21" idx="3"/>
          </p:cNvCxnSpPr>
          <p:nvPr/>
        </p:nvCxnSpPr>
        <p:spPr>
          <a:xfrm flipV="1">
            <a:off x="9176838" y="3331872"/>
            <a:ext cx="988914" cy="13637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777690" y="2791579"/>
            <a:ext cx="6037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9:00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8068" y="4993432"/>
            <a:ext cx="6225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9:00</a:t>
            </a:r>
          </a:p>
        </p:txBody>
      </p:sp>
      <p:sp>
        <p:nvSpPr>
          <p:cNvPr id="28" name="Прямоугольник 27"/>
          <p:cNvSpPr/>
          <p:nvPr/>
        </p:nvSpPr>
        <p:spPr>
          <a:xfrm>
            <a:off x="7860554" y="3131676"/>
            <a:ext cx="324000" cy="324000"/>
          </a:xfrm>
          <a:prstGeom prst="rect">
            <a:avLst/>
          </a:prstGeom>
          <a:gradFill>
            <a:gsLst>
              <a:gs pos="0">
                <a:schemeClr val="accent3"/>
              </a:gs>
              <a:gs pos="100000">
                <a:schemeClr val="accent3">
                  <a:lumMod val="20000"/>
                  <a:lumOff val="80000"/>
                  <a:alpha val="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Прямоугольник 30"/>
          <p:cNvSpPr/>
          <p:nvPr/>
        </p:nvSpPr>
        <p:spPr>
          <a:xfrm>
            <a:off x="7860554" y="4571836"/>
            <a:ext cx="324000" cy="324000"/>
          </a:xfrm>
          <a:prstGeom prst="rect">
            <a:avLst/>
          </a:prstGeom>
          <a:gradFill>
            <a:gsLst>
              <a:gs pos="0">
                <a:schemeClr val="accent3"/>
              </a:gs>
              <a:gs pos="100000">
                <a:schemeClr val="accent3">
                  <a:lumMod val="20000"/>
                  <a:lumOff val="80000"/>
                  <a:alpha val="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248450" y="5507940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Итого -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$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736282" y="2103240"/>
            <a:ext cx="36724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Банковская система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51430" y="2780929"/>
            <a:ext cx="10169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$</a:t>
            </a: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160218" y="4993432"/>
            <a:ext cx="10169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$10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4" name="Прямоугольник 33"/>
          <p:cNvSpPr/>
          <p:nvPr/>
        </p:nvSpPr>
        <p:spPr>
          <a:xfrm>
            <a:off x="6294338" y="3843228"/>
            <a:ext cx="504056" cy="38327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$10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256562" y="2780929"/>
            <a:ext cx="5040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$10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256562" y="4993432"/>
            <a:ext cx="5128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$</a:t>
            </a: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925926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3" grpId="0"/>
      <p:bldP spid="8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7" grpId="0"/>
      <p:bldP spid="29" grpId="0"/>
      <p:bldP spid="28" grpId="0" animBg="1"/>
      <p:bldP spid="31" grpId="0" animBg="1"/>
      <p:bldP spid="30" grpId="0"/>
      <p:bldP spid="32" grpId="0"/>
      <p:bldP spid="33" grpId="0"/>
      <p:bldP spid="34" grpId="0" animBg="1"/>
      <p:bldP spid="35" grpId="0"/>
      <p:bldP spid="3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_h1"/>
          <p:cNvSpPr>
            <a:spLocks noGrp="1" noChangeArrowheads="1"/>
          </p:cNvSpPr>
          <p:nvPr>
            <p:ph type="title"/>
          </p:nvPr>
        </p:nvSpPr>
        <p:spPr>
          <a:xfrm>
            <a:off x="3360340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Проблемы взаимодействия </a:t>
            </a:r>
          </a:p>
        </p:txBody>
      </p:sp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360018" y="1842096"/>
            <a:ext cx="8496300" cy="446722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360340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Физическое время</a:t>
            </a:r>
            <a:endParaRPr kumimoji="0" lang="ru-RU" sz="30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5160490" y="3294000"/>
            <a:ext cx="57606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/>
          <p:cNvCxnSpPr/>
          <p:nvPr/>
        </p:nvCxnSpPr>
        <p:spPr>
          <a:xfrm>
            <a:off x="5160218" y="4734000"/>
            <a:ext cx="57606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864074" y="3096000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Филиал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64074" y="4536000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Филиал 2</a:t>
            </a:r>
          </a:p>
        </p:txBody>
      </p:sp>
      <p:sp>
        <p:nvSpPr>
          <p:cNvPr id="8" name="Овал 7"/>
          <p:cNvSpPr/>
          <p:nvPr/>
        </p:nvSpPr>
        <p:spPr>
          <a:xfrm>
            <a:off x="5880298" y="3239688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Овал 14"/>
          <p:cNvSpPr/>
          <p:nvPr/>
        </p:nvSpPr>
        <p:spPr>
          <a:xfrm>
            <a:off x="5664274" y="4679848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Овал 15"/>
          <p:cNvSpPr/>
          <p:nvPr/>
        </p:nvSpPr>
        <p:spPr>
          <a:xfrm>
            <a:off x="6570563" y="3239688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Овал 16"/>
          <p:cNvSpPr/>
          <p:nvPr/>
        </p:nvSpPr>
        <p:spPr>
          <a:xfrm>
            <a:off x="7104434" y="4683466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Овал 17"/>
          <p:cNvSpPr/>
          <p:nvPr/>
        </p:nvSpPr>
        <p:spPr>
          <a:xfrm>
            <a:off x="7968530" y="32397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Овал 18"/>
          <p:cNvSpPr/>
          <p:nvPr/>
        </p:nvSpPr>
        <p:spPr>
          <a:xfrm>
            <a:off x="7968530" y="4683549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Овал 19"/>
          <p:cNvSpPr/>
          <p:nvPr/>
        </p:nvSpPr>
        <p:spPr>
          <a:xfrm>
            <a:off x="9084654" y="4679848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Овал 20"/>
          <p:cNvSpPr/>
          <p:nvPr/>
        </p:nvSpPr>
        <p:spPr>
          <a:xfrm>
            <a:off x="10149936" y="3239688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777690" y="2791579"/>
            <a:ext cx="6037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9:00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8068" y="4993432"/>
            <a:ext cx="6225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9:00</a:t>
            </a:r>
          </a:p>
        </p:txBody>
      </p:sp>
      <p:sp>
        <p:nvSpPr>
          <p:cNvPr id="28" name="Прямоугольник 27"/>
          <p:cNvSpPr/>
          <p:nvPr/>
        </p:nvSpPr>
        <p:spPr>
          <a:xfrm>
            <a:off x="7860554" y="3131676"/>
            <a:ext cx="324000" cy="324000"/>
          </a:xfrm>
          <a:prstGeom prst="rect">
            <a:avLst/>
          </a:prstGeom>
          <a:gradFill>
            <a:gsLst>
              <a:gs pos="0">
                <a:schemeClr val="accent3"/>
              </a:gs>
              <a:gs pos="100000">
                <a:schemeClr val="accent3">
                  <a:lumMod val="20000"/>
                  <a:lumOff val="80000"/>
                  <a:alpha val="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Прямоугольник 30"/>
          <p:cNvSpPr/>
          <p:nvPr/>
        </p:nvSpPr>
        <p:spPr>
          <a:xfrm>
            <a:off x="7860554" y="4571836"/>
            <a:ext cx="324000" cy="324000"/>
          </a:xfrm>
          <a:prstGeom prst="rect">
            <a:avLst/>
          </a:prstGeom>
          <a:gradFill>
            <a:gsLst>
              <a:gs pos="0">
                <a:schemeClr val="accent3"/>
              </a:gs>
              <a:gs pos="100000">
                <a:schemeClr val="accent3">
                  <a:lumMod val="20000"/>
                  <a:lumOff val="80000"/>
                  <a:alpha val="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248450" y="5507940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Итого -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$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736282" y="2103240"/>
            <a:ext cx="36724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Банковская система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51430" y="2780929"/>
            <a:ext cx="10169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$</a:t>
            </a: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160218" y="4993432"/>
            <a:ext cx="10169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$10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256562" y="2780929"/>
            <a:ext cx="5040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$10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256562" y="4993432"/>
            <a:ext cx="5128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$</a:t>
            </a: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318734" y="2791579"/>
            <a:ext cx="7920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8:5</a:t>
            </a: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8</a:t>
            </a:r>
          </a:p>
        </p:txBody>
      </p:sp>
      <p:cxnSp>
        <p:nvCxnSpPr>
          <p:cNvPr id="3" name="Прямая со стрелкой 2"/>
          <p:cNvCxnSpPr>
            <a:stCxn id="16" idx="5"/>
            <a:endCxn id="20" idx="1"/>
          </p:cNvCxnSpPr>
          <p:nvPr/>
        </p:nvCxnSpPr>
        <p:spPr>
          <a:xfrm>
            <a:off x="6662748" y="3331872"/>
            <a:ext cx="2437723" cy="13637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Прямоугольник 33"/>
          <p:cNvSpPr/>
          <p:nvPr/>
        </p:nvSpPr>
        <p:spPr>
          <a:xfrm>
            <a:off x="7610882" y="3860705"/>
            <a:ext cx="504056" cy="38327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$10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253727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5" grpId="0"/>
      <p:bldP spid="36" grpId="0"/>
      <p:bldP spid="3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_h1"/>
          <p:cNvSpPr>
            <a:spLocks noGrp="1" noChangeArrowheads="1"/>
          </p:cNvSpPr>
          <p:nvPr>
            <p:ph type="title"/>
          </p:nvPr>
        </p:nvSpPr>
        <p:spPr>
          <a:xfrm>
            <a:off x="3360340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Проблемы взаимодействия </a:t>
            </a:r>
          </a:p>
        </p:txBody>
      </p:sp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360018" y="1842096"/>
            <a:ext cx="8496300" cy="446722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360340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Физическое время</a:t>
            </a:r>
            <a:endParaRPr kumimoji="0" lang="ru-RU" sz="30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5160490" y="3294000"/>
            <a:ext cx="57606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/>
          <p:cNvCxnSpPr/>
          <p:nvPr/>
        </p:nvCxnSpPr>
        <p:spPr>
          <a:xfrm>
            <a:off x="5160218" y="4734000"/>
            <a:ext cx="57606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864074" y="3096000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Филиал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64074" y="4536000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Филиал 2</a:t>
            </a:r>
          </a:p>
        </p:txBody>
      </p:sp>
      <p:sp>
        <p:nvSpPr>
          <p:cNvPr id="8" name="Овал 7"/>
          <p:cNvSpPr/>
          <p:nvPr/>
        </p:nvSpPr>
        <p:spPr>
          <a:xfrm>
            <a:off x="5880298" y="3239688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Овал 14"/>
          <p:cNvSpPr/>
          <p:nvPr/>
        </p:nvSpPr>
        <p:spPr>
          <a:xfrm>
            <a:off x="5664274" y="4679848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Овал 15"/>
          <p:cNvSpPr/>
          <p:nvPr/>
        </p:nvSpPr>
        <p:spPr>
          <a:xfrm>
            <a:off x="6570563" y="3239688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Овал 16"/>
          <p:cNvSpPr/>
          <p:nvPr/>
        </p:nvSpPr>
        <p:spPr>
          <a:xfrm>
            <a:off x="7104434" y="4683466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Овал 17"/>
          <p:cNvSpPr/>
          <p:nvPr/>
        </p:nvSpPr>
        <p:spPr>
          <a:xfrm>
            <a:off x="7968530" y="32397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Овал 18"/>
          <p:cNvSpPr/>
          <p:nvPr/>
        </p:nvSpPr>
        <p:spPr>
          <a:xfrm>
            <a:off x="7968530" y="4683549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Овал 19"/>
          <p:cNvSpPr/>
          <p:nvPr/>
        </p:nvSpPr>
        <p:spPr>
          <a:xfrm>
            <a:off x="9084654" y="4679848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Овал 20"/>
          <p:cNvSpPr/>
          <p:nvPr/>
        </p:nvSpPr>
        <p:spPr>
          <a:xfrm>
            <a:off x="10149936" y="3239688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777690" y="2791579"/>
            <a:ext cx="6037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9:00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8068" y="4993432"/>
            <a:ext cx="6225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9:00</a:t>
            </a:r>
          </a:p>
        </p:txBody>
      </p:sp>
      <p:sp>
        <p:nvSpPr>
          <p:cNvPr id="28" name="Прямоугольник 27"/>
          <p:cNvSpPr/>
          <p:nvPr/>
        </p:nvSpPr>
        <p:spPr>
          <a:xfrm>
            <a:off x="7860554" y="3131676"/>
            <a:ext cx="324000" cy="324000"/>
          </a:xfrm>
          <a:prstGeom prst="rect">
            <a:avLst/>
          </a:prstGeom>
          <a:gradFill>
            <a:gsLst>
              <a:gs pos="0">
                <a:schemeClr val="accent3"/>
              </a:gs>
              <a:gs pos="100000">
                <a:schemeClr val="accent3">
                  <a:lumMod val="20000"/>
                  <a:lumOff val="80000"/>
                  <a:alpha val="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Прямоугольник 30"/>
          <p:cNvSpPr/>
          <p:nvPr/>
        </p:nvSpPr>
        <p:spPr>
          <a:xfrm>
            <a:off x="7860554" y="4571836"/>
            <a:ext cx="324000" cy="324000"/>
          </a:xfrm>
          <a:prstGeom prst="rect">
            <a:avLst/>
          </a:prstGeom>
          <a:gradFill>
            <a:gsLst>
              <a:gs pos="0">
                <a:schemeClr val="accent3"/>
              </a:gs>
              <a:gs pos="100000">
                <a:schemeClr val="accent3">
                  <a:lumMod val="20000"/>
                  <a:lumOff val="80000"/>
                  <a:alpha val="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248450" y="5507940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Итого -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$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736282" y="2103240"/>
            <a:ext cx="36724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Банковская система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51430" y="2780929"/>
            <a:ext cx="10169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$</a:t>
            </a: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160218" y="4993432"/>
            <a:ext cx="10169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$10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256562" y="2780929"/>
            <a:ext cx="5040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$10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256562" y="4993432"/>
            <a:ext cx="5128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$</a:t>
            </a: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318734" y="2791579"/>
            <a:ext cx="7920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8:5</a:t>
            </a: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8</a:t>
            </a:r>
          </a:p>
        </p:txBody>
      </p:sp>
      <p:cxnSp>
        <p:nvCxnSpPr>
          <p:cNvPr id="3" name="Прямая со стрелкой 2"/>
          <p:cNvCxnSpPr>
            <a:stCxn id="16" idx="5"/>
            <a:endCxn id="20" idx="1"/>
          </p:cNvCxnSpPr>
          <p:nvPr/>
        </p:nvCxnSpPr>
        <p:spPr>
          <a:xfrm>
            <a:off x="6662748" y="3331872"/>
            <a:ext cx="2437723" cy="13637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Прямоугольник 33"/>
          <p:cNvSpPr/>
          <p:nvPr/>
        </p:nvSpPr>
        <p:spPr>
          <a:xfrm>
            <a:off x="7610882" y="3860705"/>
            <a:ext cx="504056" cy="38327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$10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3606370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_h1"/>
          <p:cNvSpPr>
            <a:spLocks noGrp="1" noChangeArrowheads="1"/>
          </p:cNvSpPr>
          <p:nvPr>
            <p:ph type="title"/>
          </p:nvPr>
        </p:nvSpPr>
        <p:spPr>
          <a:xfrm>
            <a:off x="3360018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Проблемы взаимодействия </a:t>
            </a:r>
          </a:p>
        </p:txBody>
      </p:sp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359696" y="1842096"/>
            <a:ext cx="8496300" cy="446722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360018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Физическое время</a:t>
            </a:r>
            <a:endParaRPr kumimoji="0" lang="ru-RU" sz="30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5160168" y="3294000"/>
            <a:ext cx="57606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/>
          <p:cNvCxnSpPr/>
          <p:nvPr/>
        </p:nvCxnSpPr>
        <p:spPr>
          <a:xfrm>
            <a:off x="5159896" y="4734000"/>
            <a:ext cx="57606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863752" y="3096000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Филиал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63752" y="4536000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Филиал 2</a:t>
            </a:r>
          </a:p>
        </p:txBody>
      </p:sp>
      <p:sp>
        <p:nvSpPr>
          <p:cNvPr id="8" name="Овал 7"/>
          <p:cNvSpPr/>
          <p:nvPr/>
        </p:nvSpPr>
        <p:spPr>
          <a:xfrm>
            <a:off x="5879976" y="3239688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Овал 14"/>
          <p:cNvSpPr/>
          <p:nvPr/>
        </p:nvSpPr>
        <p:spPr>
          <a:xfrm>
            <a:off x="5663952" y="4679848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Овал 15"/>
          <p:cNvSpPr/>
          <p:nvPr/>
        </p:nvSpPr>
        <p:spPr>
          <a:xfrm>
            <a:off x="6570241" y="3239688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Овал 16"/>
          <p:cNvSpPr/>
          <p:nvPr/>
        </p:nvSpPr>
        <p:spPr>
          <a:xfrm>
            <a:off x="7104112" y="4683466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Овал 17"/>
          <p:cNvSpPr/>
          <p:nvPr/>
        </p:nvSpPr>
        <p:spPr>
          <a:xfrm>
            <a:off x="7968208" y="32397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Овал 18"/>
          <p:cNvSpPr/>
          <p:nvPr/>
        </p:nvSpPr>
        <p:spPr>
          <a:xfrm>
            <a:off x="7968208" y="4683549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Овал 19"/>
          <p:cNvSpPr/>
          <p:nvPr/>
        </p:nvSpPr>
        <p:spPr>
          <a:xfrm>
            <a:off x="9084332" y="4679848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Овал 20"/>
          <p:cNvSpPr/>
          <p:nvPr/>
        </p:nvSpPr>
        <p:spPr>
          <a:xfrm>
            <a:off x="10149614" y="3239688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663952" y="2791579"/>
            <a:ext cx="6037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9:00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7746" y="4993432"/>
            <a:ext cx="6225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9:00</a:t>
            </a:r>
          </a:p>
        </p:txBody>
      </p:sp>
      <p:sp>
        <p:nvSpPr>
          <p:cNvPr id="28" name="Прямоугольник 27"/>
          <p:cNvSpPr/>
          <p:nvPr/>
        </p:nvSpPr>
        <p:spPr>
          <a:xfrm>
            <a:off x="5772000" y="3131676"/>
            <a:ext cx="324000" cy="324000"/>
          </a:xfrm>
          <a:prstGeom prst="rect">
            <a:avLst/>
          </a:prstGeom>
          <a:gradFill>
            <a:gsLst>
              <a:gs pos="0">
                <a:schemeClr val="accent3"/>
              </a:gs>
              <a:gs pos="100000">
                <a:schemeClr val="accent3">
                  <a:lumMod val="20000"/>
                  <a:lumOff val="80000"/>
                  <a:alpha val="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Прямоугольник 30"/>
          <p:cNvSpPr/>
          <p:nvPr/>
        </p:nvSpPr>
        <p:spPr>
          <a:xfrm>
            <a:off x="7860232" y="4571836"/>
            <a:ext cx="324000" cy="324000"/>
          </a:xfrm>
          <a:prstGeom prst="rect">
            <a:avLst/>
          </a:prstGeom>
          <a:gradFill>
            <a:gsLst>
              <a:gs pos="0">
                <a:schemeClr val="accent3"/>
              </a:gs>
              <a:gs pos="100000">
                <a:schemeClr val="accent3">
                  <a:lumMod val="20000"/>
                  <a:lumOff val="80000"/>
                  <a:alpha val="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248128" y="5507940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Итого -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$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735960" y="2103240"/>
            <a:ext cx="36724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Банковская система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51108" y="2780929"/>
            <a:ext cx="10169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$</a:t>
            </a: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159896" y="4993432"/>
            <a:ext cx="10169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$10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663952" y="2564905"/>
            <a:ext cx="5040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$</a:t>
            </a: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256240" y="4993432"/>
            <a:ext cx="5128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$</a:t>
            </a: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318412" y="2791579"/>
            <a:ext cx="7920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9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:</a:t>
            </a: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</a:t>
            </a:r>
          </a:p>
        </p:txBody>
      </p:sp>
      <p:cxnSp>
        <p:nvCxnSpPr>
          <p:cNvPr id="3" name="Прямая со стрелкой 2"/>
          <p:cNvCxnSpPr>
            <a:cxnSpLocks/>
            <a:stCxn id="16" idx="5"/>
            <a:endCxn id="17" idx="0"/>
          </p:cNvCxnSpPr>
          <p:nvPr/>
        </p:nvCxnSpPr>
        <p:spPr>
          <a:xfrm>
            <a:off x="6662426" y="3331872"/>
            <a:ext cx="495687" cy="13515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Прямоугольник 33"/>
          <p:cNvSpPr/>
          <p:nvPr/>
        </p:nvSpPr>
        <p:spPr>
          <a:xfrm>
            <a:off x="6654056" y="3810370"/>
            <a:ext cx="504056" cy="38327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$10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913650" y="4993432"/>
            <a:ext cx="6225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8:59</a:t>
            </a:r>
          </a:p>
        </p:txBody>
      </p:sp>
    </p:spTree>
    <p:extLst>
      <p:ext uri="{BB962C8B-B14F-4D97-AF65-F5344CB8AC3E}">
        <p14:creationId xmlns:p14="http://schemas.microsoft.com/office/powerpoint/2010/main" val="403297302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5" grpId="0"/>
      <p:bldP spid="36" grpId="0"/>
      <p:bldP spid="37" grpId="0"/>
      <p:bldP spid="34" grpId="0" animBg="1"/>
      <p:bldP spid="3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372396" y="1772816"/>
            <a:ext cx="8496300" cy="468052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21" name="Прямоугольник: скругленные углы 20"/>
          <p:cNvSpPr/>
          <p:nvPr/>
        </p:nvSpPr>
        <p:spPr>
          <a:xfrm>
            <a:off x="3575398" y="3271050"/>
            <a:ext cx="8136904" cy="3038271"/>
          </a:xfrm>
          <a:prstGeom prst="round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338" name="_h1"/>
          <p:cNvSpPr>
            <a:spLocks noGrp="1" noChangeArrowheads="1"/>
          </p:cNvSpPr>
          <p:nvPr>
            <p:ph type="title"/>
          </p:nvPr>
        </p:nvSpPr>
        <p:spPr>
          <a:xfrm>
            <a:off x="3359696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Проблемы взаимодействия </a:t>
            </a: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359696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Физическое время</a:t>
            </a:r>
            <a:endParaRPr kumimoji="0" lang="ru-RU" sz="30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3503390" y="1844825"/>
            <a:ext cx="8208912" cy="13542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UTC (Universal Coordinated Time) –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стандарт времени.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Даже при начальном согласовании показания часов со временем разойдутся.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cxnSp>
        <p:nvCxnSpPr>
          <p:cNvPr id="4" name="Прямая со стрелкой 3"/>
          <p:cNvCxnSpPr/>
          <p:nvPr/>
        </p:nvCxnSpPr>
        <p:spPr>
          <a:xfrm flipV="1">
            <a:off x="5447606" y="3501008"/>
            <a:ext cx="0" cy="24482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Прямая со стрелкой 5"/>
          <p:cNvCxnSpPr/>
          <p:nvPr/>
        </p:nvCxnSpPr>
        <p:spPr>
          <a:xfrm>
            <a:off x="5447606" y="5949280"/>
            <a:ext cx="2772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/>
          <p:cNvCxnSpPr>
            <a:cxnSpLocks/>
          </p:cNvCxnSpPr>
          <p:nvPr/>
        </p:nvCxnSpPr>
        <p:spPr>
          <a:xfrm rot="18900000">
            <a:off x="5004753" y="4880133"/>
            <a:ext cx="3024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791422" y="3501008"/>
            <a:ext cx="15841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Время по часам компьютера -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959774" y="5589241"/>
            <a:ext cx="15841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Время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UTC - t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 rot="18900000">
            <a:off x="6486769" y="3977035"/>
            <a:ext cx="11521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Точные часы</a:t>
            </a:r>
          </a:p>
        </p:txBody>
      </p:sp>
      <p:cxnSp>
        <p:nvCxnSpPr>
          <p:cNvPr id="16" name="Прямая соединительная линия 15"/>
          <p:cNvCxnSpPr>
            <a:cxnSpLocks/>
          </p:cNvCxnSpPr>
          <p:nvPr/>
        </p:nvCxnSpPr>
        <p:spPr>
          <a:xfrm rot="18000000">
            <a:off x="4856911" y="4880133"/>
            <a:ext cx="2412000" cy="0"/>
          </a:xfrm>
          <a:prstGeom prst="line">
            <a:avLst/>
          </a:prstGeom>
          <a:ln>
            <a:solidFill>
              <a:schemeClr val="tx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18000000">
            <a:off x="5393054" y="4320705"/>
            <a:ext cx="14401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Спешащие часы</a:t>
            </a:r>
          </a:p>
        </p:txBody>
      </p:sp>
      <p:cxnSp>
        <p:nvCxnSpPr>
          <p:cNvPr id="19" name="Прямая соединительная линия 18"/>
          <p:cNvCxnSpPr>
            <a:cxnSpLocks/>
          </p:cNvCxnSpPr>
          <p:nvPr/>
        </p:nvCxnSpPr>
        <p:spPr>
          <a:xfrm rot="19800000">
            <a:off x="5266457" y="5184278"/>
            <a:ext cx="3060000" cy="0"/>
          </a:xfrm>
          <a:prstGeom prst="line">
            <a:avLst/>
          </a:prstGeom>
          <a:ln>
            <a:solidFill>
              <a:schemeClr val="tx2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 rot="19800000">
            <a:off x="6275742" y="5114124"/>
            <a:ext cx="14401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Отстающие часы</a:t>
            </a:r>
          </a:p>
        </p:txBody>
      </p:sp>
      <p:graphicFrame>
        <p:nvGraphicFramePr>
          <p:cNvPr id="20" name="Объект 19"/>
          <p:cNvGraphicFramePr>
            <a:graphicFrameLocks noChangeAspect="1"/>
          </p:cNvGraphicFramePr>
          <p:nvPr/>
        </p:nvGraphicFramePr>
        <p:xfrm>
          <a:off x="7659142" y="3691880"/>
          <a:ext cx="8128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2" name="Equation" r:id="rId4" imgW="812520" imgH="457200" progId="Equation.DSMT4">
                  <p:embed/>
                </p:oleObj>
              </mc:Choice>
              <mc:Fallback>
                <p:oleObj name="Equation" r:id="rId4" imgW="812520" imgH="457200" progId="Equation.DSMT4">
                  <p:embed/>
                  <p:pic>
                    <p:nvPicPr>
                      <p:cNvPr id="20" name="Объект 19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659142" y="3691880"/>
                        <a:ext cx="812800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Объект 21"/>
          <p:cNvGraphicFramePr>
            <a:graphicFrameLocks noChangeAspect="1"/>
          </p:cNvGraphicFramePr>
          <p:nvPr/>
        </p:nvGraphicFramePr>
        <p:xfrm>
          <a:off x="5930950" y="3475856"/>
          <a:ext cx="8128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3" name="Equation" r:id="rId6" imgW="812520" imgH="457200" progId="Equation.DSMT4">
                  <p:embed/>
                </p:oleObj>
              </mc:Choice>
              <mc:Fallback>
                <p:oleObj name="Equation" r:id="rId6" imgW="812520" imgH="457200" progId="Equation.DSMT4">
                  <p:embed/>
                  <p:pic>
                    <p:nvPicPr>
                      <p:cNvPr id="22" name="Объект 2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930950" y="3475856"/>
                        <a:ext cx="812800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Объект 22"/>
          <p:cNvGraphicFramePr>
            <a:graphicFrameLocks noChangeAspect="1"/>
          </p:cNvGraphicFramePr>
          <p:nvPr/>
        </p:nvGraphicFramePr>
        <p:xfrm>
          <a:off x="7994254" y="4409064"/>
          <a:ext cx="8001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4" name="Equation" r:id="rId8" imgW="799920" imgH="457200" progId="Equation.DSMT4">
                  <p:embed/>
                </p:oleObj>
              </mc:Choice>
              <mc:Fallback>
                <p:oleObj name="Equation" r:id="rId8" imgW="799920" imgH="457200" progId="Equation.DSMT4">
                  <p:embed/>
                  <p:pic>
                    <p:nvPicPr>
                      <p:cNvPr id="23" name="Объект 22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994254" y="4409064"/>
                        <a:ext cx="800100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9048006" y="3717032"/>
            <a:ext cx="21183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∆ - скорость дрейфа</a:t>
            </a:r>
          </a:p>
        </p:txBody>
      </p:sp>
      <p:cxnSp>
        <p:nvCxnSpPr>
          <p:cNvPr id="26" name="Прямая со стрелкой 25"/>
          <p:cNvCxnSpPr/>
          <p:nvPr/>
        </p:nvCxnSpPr>
        <p:spPr>
          <a:xfrm flipV="1">
            <a:off x="6959774" y="4463267"/>
            <a:ext cx="0" cy="612000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8" name="Объект 27"/>
          <p:cNvGraphicFramePr>
            <a:graphicFrameLocks noChangeAspect="1"/>
          </p:cNvGraphicFramePr>
          <p:nvPr/>
        </p:nvGraphicFramePr>
        <p:xfrm>
          <a:off x="6959774" y="4678660"/>
          <a:ext cx="1270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5" name="Equation" r:id="rId10" imgW="126720" imgH="190440" progId="Equation.DSMT4">
                  <p:embed/>
                </p:oleObj>
              </mc:Choice>
              <mc:Fallback>
                <p:oleObj name="Equation" r:id="rId10" imgW="126720" imgH="190440" progId="Equation.DSMT4">
                  <p:embed/>
                  <p:pic>
                    <p:nvPicPr>
                      <p:cNvPr id="28" name="Объект 27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959774" y="4678660"/>
                        <a:ext cx="1270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Объект 29"/>
          <p:cNvGraphicFramePr>
            <a:graphicFrameLocks noChangeAspect="1"/>
          </p:cNvGraphicFramePr>
          <p:nvPr/>
        </p:nvGraphicFramePr>
        <p:xfrm>
          <a:off x="9144172" y="4214118"/>
          <a:ext cx="1397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6" name="Equation" r:id="rId12" imgW="139680" imgH="203040" progId="Equation.DSMT4">
                  <p:embed/>
                </p:oleObj>
              </mc:Choice>
              <mc:Fallback>
                <p:oleObj name="Equation" r:id="rId12" imgW="139680" imgH="203040" progId="Equation.DSMT4">
                  <p:embed/>
                  <p:pic>
                    <p:nvPicPr>
                      <p:cNvPr id="30" name="Объект 29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9144172" y="4214118"/>
                        <a:ext cx="1397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9192022" y="4149081"/>
            <a:ext cx="23042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- </a:t>
            </a:r>
            <a:r>
              <a:rPr kumimoji="0" lang="ru-RU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рассинхронизация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часов</a:t>
            </a:r>
          </a:p>
        </p:txBody>
      </p:sp>
      <p:graphicFrame>
        <p:nvGraphicFramePr>
          <p:cNvPr id="32" name="Объект 31"/>
          <p:cNvGraphicFramePr>
            <a:graphicFrameLocks noChangeAspect="1"/>
          </p:cNvGraphicFramePr>
          <p:nvPr/>
        </p:nvGraphicFramePr>
        <p:xfrm>
          <a:off x="9138196" y="4809976"/>
          <a:ext cx="1524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7" name="Equation" r:id="rId14" imgW="152280" imgH="203040" progId="Equation.DSMT4">
                  <p:embed/>
                </p:oleObj>
              </mc:Choice>
              <mc:Fallback>
                <p:oleObj name="Equation" r:id="rId14" imgW="152280" imgH="203040" progId="Equation.DSMT4">
                  <p:embed/>
                  <p:pic>
                    <p:nvPicPr>
                      <p:cNvPr id="32" name="Объект 31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9138196" y="4809976"/>
                        <a:ext cx="1524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9192022" y="4716434"/>
            <a:ext cx="23042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- максимальная скорость дрейфа</a:t>
            </a:r>
          </a:p>
        </p:txBody>
      </p:sp>
      <p:graphicFrame>
        <p:nvGraphicFramePr>
          <p:cNvPr id="29" name="Объект 28"/>
          <p:cNvGraphicFramePr>
            <a:graphicFrameLocks noChangeAspect="1"/>
          </p:cNvGraphicFramePr>
          <p:nvPr/>
        </p:nvGraphicFramePr>
        <p:xfrm>
          <a:off x="9341098" y="5373216"/>
          <a:ext cx="14351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8" name="Equation" r:id="rId16" imgW="1434960" imgH="507960" progId="Equation.DSMT4">
                  <p:embed/>
                </p:oleObj>
              </mc:Choice>
              <mc:Fallback>
                <p:oleObj name="Equation" r:id="rId16" imgW="1434960" imgH="507960" progId="Equation.DSMT4">
                  <p:embed/>
                  <p:pic>
                    <p:nvPicPr>
                      <p:cNvPr id="29" name="Объект 28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9341098" y="5373216"/>
                        <a:ext cx="14351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4213280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11" grpId="0"/>
      <p:bldP spid="14" grpId="0"/>
      <p:bldP spid="13" grpId="0"/>
      <p:bldP spid="17" grpId="0"/>
      <p:bldP spid="18" grpId="0"/>
      <p:bldP spid="24" grpId="0"/>
      <p:bldP spid="31" grpId="0"/>
      <p:bldP spid="3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372396" y="1772816"/>
            <a:ext cx="8496300" cy="4824536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36" name="Прямоугольник: скругленные углы 35"/>
          <p:cNvSpPr/>
          <p:nvPr/>
        </p:nvSpPr>
        <p:spPr>
          <a:xfrm>
            <a:off x="3575398" y="4163014"/>
            <a:ext cx="8136904" cy="1236330"/>
          </a:xfrm>
          <a:prstGeom prst="round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Прямоугольник: скругленные углы 20"/>
          <p:cNvSpPr/>
          <p:nvPr/>
        </p:nvSpPr>
        <p:spPr>
          <a:xfrm>
            <a:off x="3575398" y="2564904"/>
            <a:ext cx="8136904" cy="1236330"/>
          </a:xfrm>
          <a:prstGeom prst="round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338" name="_h1"/>
          <p:cNvSpPr>
            <a:spLocks noGrp="1" noChangeArrowheads="1"/>
          </p:cNvSpPr>
          <p:nvPr>
            <p:ph type="title"/>
          </p:nvPr>
        </p:nvSpPr>
        <p:spPr>
          <a:xfrm>
            <a:off x="3359696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Проблемы взаимодействия </a:t>
            </a: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359696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Синхронизация физического времени</a:t>
            </a:r>
            <a:endParaRPr kumimoji="0" lang="ru-RU" sz="30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3503390" y="1844825"/>
            <a:ext cx="820891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Алгоритм </a:t>
            </a:r>
            <a:r>
              <a:rPr kumimoji="0" lang="ru-RU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Кристиана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079454" y="2722854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Клиент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79454" y="4595063"/>
            <a:ext cx="11521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Сервер времени</a:t>
            </a: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4223470" y="3235910"/>
            <a:ext cx="698477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/>
          <p:cNvCxnSpPr/>
          <p:nvPr/>
        </p:nvCxnSpPr>
        <p:spPr>
          <a:xfrm>
            <a:off x="4223470" y="4523054"/>
            <a:ext cx="698477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Овал 36"/>
          <p:cNvSpPr/>
          <p:nvPr/>
        </p:nvSpPr>
        <p:spPr>
          <a:xfrm>
            <a:off x="7463830" y="3190918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Овал 37"/>
          <p:cNvSpPr/>
          <p:nvPr/>
        </p:nvSpPr>
        <p:spPr>
          <a:xfrm>
            <a:off x="7643862" y="3190918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0272142" y="2578838"/>
            <a:ext cx="10751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Локальное время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72142" y="4719915"/>
            <a:ext cx="12241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Время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UTC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1" name="Овал 40"/>
          <p:cNvSpPr/>
          <p:nvPr/>
        </p:nvSpPr>
        <p:spPr>
          <a:xfrm>
            <a:off x="7571854" y="4487062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319814" y="2785570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</a:t>
            </a:r>
            <a:endParaRPr kumimoji="0" lang="ru-RU" sz="1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7319814" y="4657778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UTC</a:t>
            </a:r>
            <a:endParaRPr kumimoji="0" lang="ru-RU" sz="1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336" name="Прямая со стрелкой 14335"/>
          <p:cNvCxnSpPr>
            <a:cxnSpLocks/>
            <a:stCxn id="37" idx="4"/>
            <a:endCxn id="41" idx="0"/>
          </p:cNvCxnSpPr>
          <p:nvPr/>
        </p:nvCxnSpPr>
        <p:spPr>
          <a:xfrm>
            <a:off x="7517830" y="3298918"/>
            <a:ext cx="108024" cy="118814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40" name="Прямая со стрелкой 14339"/>
          <p:cNvCxnSpPr>
            <a:stCxn id="41" idx="0"/>
            <a:endCxn id="38" idx="4"/>
          </p:cNvCxnSpPr>
          <p:nvPr/>
        </p:nvCxnSpPr>
        <p:spPr>
          <a:xfrm flipV="1">
            <a:off x="7625854" y="3298918"/>
            <a:ext cx="72008" cy="118814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7697862" y="3779748"/>
            <a:ext cx="648072" cy="369332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100000">
                <a:schemeClr val="accent3">
                  <a:lumMod val="20000"/>
                  <a:lumOff val="80000"/>
                </a:schemeClr>
              </a:gs>
            </a:gsLst>
            <a:lin ang="16200000" scaled="0"/>
          </a:gra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UTC</a:t>
            </a:r>
            <a:endParaRPr kumimoji="0" lang="ru-RU" sz="1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4342" name="TextBox 14341"/>
          <p:cNvSpPr txBox="1"/>
          <p:nvPr/>
        </p:nvSpPr>
        <p:spPr>
          <a:xfrm>
            <a:off x="3719414" y="5661249"/>
            <a:ext cx="7776864" cy="726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Простейший подход:  если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≠ T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UTC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постепенно подкорректировать локальное время на величину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UTC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-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2818024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21" grpId="0" animBg="1"/>
      <p:bldP spid="2" grpId="0"/>
      <p:bldP spid="34" grpId="0"/>
      <p:bldP spid="37" grpId="0" animBg="1"/>
      <p:bldP spid="38" grpId="0" animBg="1"/>
      <p:bldP spid="39" grpId="0"/>
      <p:bldP spid="40" grpId="0"/>
      <p:bldP spid="41" grpId="0" animBg="1"/>
      <p:bldP spid="25" grpId="0"/>
      <p:bldP spid="42" grpId="0"/>
      <p:bldP spid="4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372396" y="1772816"/>
            <a:ext cx="8496300" cy="4824536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36" name="Прямоугольник: скругленные углы 35"/>
          <p:cNvSpPr/>
          <p:nvPr/>
        </p:nvSpPr>
        <p:spPr>
          <a:xfrm>
            <a:off x="3575398" y="4163014"/>
            <a:ext cx="8136904" cy="1236330"/>
          </a:xfrm>
          <a:prstGeom prst="round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Прямоугольник: скругленные углы 20"/>
          <p:cNvSpPr/>
          <p:nvPr/>
        </p:nvSpPr>
        <p:spPr>
          <a:xfrm>
            <a:off x="3575398" y="2564904"/>
            <a:ext cx="8136904" cy="1236330"/>
          </a:xfrm>
          <a:prstGeom prst="round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338" name="_h1"/>
          <p:cNvSpPr>
            <a:spLocks noGrp="1" noChangeArrowheads="1"/>
          </p:cNvSpPr>
          <p:nvPr>
            <p:ph type="title"/>
          </p:nvPr>
        </p:nvSpPr>
        <p:spPr>
          <a:xfrm>
            <a:off x="3359696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Проблемы взаимодействия </a:t>
            </a: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359696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Синхронизация физического времени</a:t>
            </a:r>
            <a:endParaRPr kumimoji="0" lang="ru-RU" sz="30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3503390" y="1844825"/>
            <a:ext cx="820891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Алгоритм </a:t>
            </a:r>
            <a:r>
              <a:rPr kumimoji="0" lang="ru-RU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Кристиана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079454" y="2722854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Клиент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79454" y="4595063"/>
            <a:ext cx="11521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Сервер времени</a:t>
            </a: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4223470" y="3235910"/>
            <a:ext cx="698477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/>
          <p:cNvCxnSpPr/>
          <p:nvPr/>
        </p:nvCxnSpPr>
        <p:spPr>
          <a:xfrm>
            <a:off x="4223470" y="4523054"/>
            <a:ext cx="698477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Овал 36"/>
          <p:cNvSpPr/>
          <p:nvPr/>
        </p:nvSpPr>
        <p:spPr>
          <a:xfrm>
            <a:off x="6635750" y="3190918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Овал 37"/>
          <p:cNvSpPr/>
          <p:nvPr/>
        </p:nvSpPr>
        <p:spPr>
          <a:xfrm>
            <a:off x="8507958" y="3190918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0272142" y="2578838"/>
            <a:ext cx="10751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Локальное время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72142" y="4719915"/>
            <a:ext cx="12241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Время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UTC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1" name="Овал 40"/>
          <p:cNvSpPr/>
          <p:nvPr/>
        </p:nvSpPr>
        <p:spPr>
          <a:xfrm>
            <a:off x="7571854" y="4487062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455718" y="2771636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</a:t>
            </a:r>
            <a:endParaRPr kumimoji="0" lang="ru-RU" sz="1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7319814" y="4657778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UTC</a:t>
            </a:r>
            <a:endParaRPr kumimoji="0" lang="ru-RU" sz="1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336" name="Прямая со стрелкой 14335"/>
          <p:cNvCxnSpPr>
            <a:cxnSpLocks/>
            <a:stCxn id="37" idx="4"/>
            <a:endCxn id="41" idx="0"/>
          </p:cNvCxnSpPr>
          <p:nvPr/>
        </p:nvCxnSpPr>
        <p:spPr>
          <a:xfrm>
            <a:off x="6689750" y="3298918"/>
            <a:ext cx="936104" cy="118814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40" name="Прямая со стрелкой 14339"/>
          <p:cNvCxnSpPr>
            <a:stCxn id="41" idx="0"/>
            <a:endCxn id="38" idx="4"/>
          </p:cNvCxnSpPr>
          <p:nvPr/>
        </p:nvCxnSpPr>
        <p:spPr>
          <a:xfrm flipV="1">
            <a:off x="7625854" y="3298918"/>
            <a:ext cx="936104" cy="118814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8255918" y="3779748"/>
            <a:ext cx="648072" cy="369332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100000">
                <a:schemeClr val="accent3">
                  <a:lumMod val="20000"/>
                  <a:lumOff val="80000"/>
                </a:schemeClr>
              </a:gs>
            </a:gsLst>
            <a:lin ang="16200000" scaled="0"/>
          </a:gra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UTC</a:t>
            </a:r>
            <a:endParaRPr kumimoji="0" lang="ru-RU" sz="1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4342" name="TextBox 14341"/>
          <p:cNvSpPr txBox="1"/>
          <p:nvPr/>
        </p:nvSpPr>
        <p:spPr>
          <a:xfrm>
            <a:off x="3719414" y="5661249"/>
            <a:ext cx="7776864" cy="726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Если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</a:t>
            </a:r>
            <a:r>
              <a:rPr kumimoji="0" lang="ru-RU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≠ T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UTC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+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</a:t>
            </a:r>
            <a:r>
              <a:rPr kumimoji="0" lang="ru-RU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-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</a:t>
            </a:r>
            <a:r>
              <a:rPr kumimoji="0" lang="ru-RU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)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/2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постепенно подкорректировать локальное время на величину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UTC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- (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</a:t>
            </a:r>
            <a:r>
              <a:rPr kumimoji="0" lang="ru-RU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+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</a:t>
            </a:r>
            <a:r>
              <a:rPr kumimoji="0" lang="ru-RU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)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/2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399934" y="2780928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</a:t>
            </a:r>
            <a:r>
              <a:rPr kumimoji="0" lang="ru-RU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91814956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8" grpId="0" animBg="1"/>
      <p:bldP spid="41" grpId="0" animBg="1"/>
      <p:bldP spid="25" grpId="0"/>
      <p:bldP spid="42" grpId="0"/>
      <p:bldP spid="49" grpId="0" animBg="1"/>
      <p:bldP spid="2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372396" y="1772816"/>
            <a:ext cx="8496300" cy="4824536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4338" name="_h1"/>
          <p:cNvSpPr>
            <a:spLocks noGrp="1" noChangeArrowheads="1"/>
          </p:cNvSpPr>
          <p:nvPr>
            <p:ph type="title"/>
          </p:nvPr>
        </p:nvSpPr>
        <p:spPr>
          <a:xfrm>
            <a:off x="3359696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Проблемы взаимодействия </a:t>
            </a: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359696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Синхронизация физического времени</a:t>
            </a:r>
            <a:endParaRPr kumimoji="0" lang="ru-RU" sz="30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3503390" y="1844825"/>
            <a:ext cx="820891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Алгоритм Беркли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cxnSp>
        <p:nvCxnSpPr>
          <p:cNvPr id="6" name="Прямая соединительная линия 5"/>
          <p:cNvCxnSpPr/>
          <p:nvPr/>
        </p:nvCxnSpPr>
        <p:spPr>
          <a:xfrm>
            <a:off x="4727526" y="4149725"/>
            <a:ext cx="57606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Прямоугольник 6"/>
          <p:cNvSpPr/>
          <p:nvPr/>
        </p:nvSpPr>
        <p:spPr>
          <a:xfrm>
            <a:off x="6887766" y="2708920"/>
            <a:ext cx="1440160" cy="108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Прямоугольник 27"/>
          <p:cNvSpPr/>
          <p:nvPr/>
        </p:nvSpPr>
        <p:spPr>
          <a:xfrm>
            <a:off x="5447606" y="4509120"/>
            <a:ext cx="1440160" cy="108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Прямоугольник 28"/>
          <p:cNvSpPr/>
          <p:nvPr/>
        </p:nvSpPr>
        <p:spPr>
          <a:xfrm>
            <a:off x="8327926" y="4509120"/>
            <a:ext cx="1440160" cy="108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1" name="Прямая соединительная линия 10"/>
          <p:cNvCxnSpPr>
            <a:endCxn id="28" idx="0"/>
          </p:cNvCxnSpPr>
          <p:nvPr/>
        </p:nvCxnSpPr>
        <p:spPr>
          <a:xfrm>
            <a:off x="6167686" y="4149726"/>
            <a:ext cx="0" cy="3593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/>
          <p:cNvCxnSpPr>
            <a:stCxn id="7" idx="2"/>
          </p:cNvCxnSpPr>
          <p:nvPr/>
        </p:nvCxnSpPr>
        <p:spPr>
          <a:xfrm>
            <a:off x="7607846" y="3789041"/>
            <a:ext cx="0" cy="36068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>
            <a:endCxn id="29" idx="0"/>
          </p:cNvCxnSpPr>
          <p:nvPr/>
        </p:nvCxnSpPr>
        <p:spPr>
          <a:xfrm>
            <a:off x="9048006" y="4149726"/>
            <a:ext cx="0" cy="35939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727526" y="3789040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Сеть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91822" y="3356992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5:00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51662" y="5157192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5:25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59974" y="5157192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4:50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59774" y="2780929"/>
            <a:ext cx="12961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Сервер времени</a:t>
            </a:r>
          </a:p>
        </p:txBody>
      </p:sp>
      <p:cxnSp>
        <p:nvCxnSpPr>
          <p:cNvPr id="22" name="Соединитель: изогнутый 21"/>
          <p:cNvCxnSpPr>
            <a:stCxn id="7" idx="3"/>
          </p:cNvCxnSpPr>
          <p:nvPr/>
        </p:nvCxnSpPr>
        <p:spPr>
          <a:xfrm flipV="1">
            <a:off x="8327926" y="2924944"/>
            <a:ext cx="12700" cy="324036"/>
          </a:xfrm>
          <a:prstGeom prst="curvedConnector4">
            <a:avLst>
              <a:gd name="adj1" fmla="val 6532583"/>
              <a:gd name="adj2" fmla="val 168633"/>
            </a:avLst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Соединитель: изогнутый 29"/>
          <p:cNvCxnSpPr>
            <a:stCxn id="7" idx="1"/>
          </p:cNvCxnSpPr>
          <p:nvPr/>
        </p:nvCxnSpPr>
        <p:spPr>
          <a:xfrm rot="10800000" flipV="1">
            <a:off x="5807646" y="3248980"/>
            <a:ext cx="1080120" cy="1260140"/>
          </a:xfrm>
          <a:prstGeom prst="curvedConnector2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337" name="Соединитель: изогнутый 14336"/>
          <p:cNvCxnSpPr/>
          <p:nvPr/>
        </p:nvCxnSpPr>
        <p:spPr>
          <a:xfrm>
            <a:off x="8340626" y="3573016"/>
            <a:ext cx="1283444" cy="936104"/>
          </a:xfrm>
          <a:prstGeom prst="curvedConnector3">
            <a:avLst>
              <a:gd name="adj1" fmla="val 134054"/>
            </a:avLst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341" name="TextBox 14340"/>
          <p:cNvSpPr txBox="1"/>
          <p:nvPr/>
        </p:nvSpPr>
        <p:spPr>
          <a:xfrm>
            <a:off x="5519615" y="3248980"/>
            <a:ext cx="635373" cy="369332"/>
          </a:xfrm>
          <a:prstGeom prst="rect">
            <a:avLst/>
          </a:prstGeom>
          <a:gradFill>
            <a:gsLst>
              <a:gs pos="91900">
                <a:schemeClr val="accent3">
                  <a:lumMod val="20000"/>
                  <a:lumOff val="80000"/>
                </a:schemeClr>
              </a:gs>
              <a:gs pos="0">
                <a:schemeClr val="accent3">
                  <a:lumMod val="60000"/>
                  <a:lumOff val="40000"/>
                </a:schemeClr>
              </a:gs>
              <a:gs pos="100000">
                <a:srgbClr val="D9D9D9"/>
              </a:gs>
            </a:gsLst>
            <a:lin ang="5400000" scaled="1"/>
          </a:gra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5:00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92023" y="2780928"/>
            <a:ext cx="635373" cy="369332"/>
          </a:xfrm>
          <a:prstGeom prst="rect">
            <a:avLst/>
          </a:prstGeom>
          <a:gradFill>
            <a:gsLst>
              <a:gs pos="91900">
                <a:schemeClr val="accent3">
                  <a:lumMod val="20000"/>
                  <a:lumOff val="80000"/>
                </a:schemeClr>
              </a:gs>
              <a:gs pos="0">
                <a:schemeClr val="accent3">
                  <a:lumMod val="60000"/>
                  <a:lumOff val="40000"/>
                </a:schemeClr>
              </a:gs>
              <a:gs pos="100000">
                <a:srgbClr val="D9D9D9"/>
              </a:gs>
            </a:gsLst>
            <a:lin ang="5400000" scaled="1"/>
          </a:gra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5:00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84111" y="4355812"/>
            <a:ext cx="635373" cy="369332"/>
          </a:xfrm>
          <a:prstGeom prst="rect">
            <a:avLst/>
          </a:prstGeom>
          <a:gradFill>
            <a:gsLst>
              <a:gs pos="91900">
                <a:schemeClr val="accent3">
                  <a:lumMod val="20000"/>
                  <a:lumOff val="80000"/>
                </a:schemeClr>
              </a:gs>
              <a:gs pos="0">
                <a:schemeClr val="accent3">
                  <a:lumMod val="60000"/>
                  <a:lumOff val="40000"/>
                </a:schemeClr>
              </a:gs>
              <a:gs pos="100000">
                <a:srgbClr val="D9D9D9"/>
              </a:gs>
            </a:gsLst>
            <a:lin ang="5400000" scaled="1"/>
          </a:gra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5:00</a:t>
            </a:r>
          </a:p>
        </p:txBody>
      </p:sp>
    </p:spTree>
    <p:extLst>
      <p:ext uri="{BB962C8B-B14F-4D97-AF65-F5344CB8AC3E}">
        <p14:creationId xmlns:p14="http://schemas.microsoft.com/office/powerpoint/2010/main" val="2543492527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8" grpId="0" animBg="1"/>
      <p:bldP spid="29" grpId="0" animBg="1"/>
      <p:bldP spid="17" grpId="0"/>
      <p:bldP spid="18" grpId="0"/>
      <p:bldP spid="44" grpId="0"/>
      <p:bldP spid="45" grpId="0"/>
      <p:bldP spid="19" grpId="0"/>
      <p:bldP spid="14341" grpId="0" animBg="1"/>
      <p:bldP spid="52" grpId="0" animBg="1"/>
      <p:bldP spid="5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372396" y="1772816"/>
            <a:ext cx="8496300" cy="4824536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4338" name="_h1"/>
          <p:cNvSpPr>
            <a:spLocks noGrp="1" noChangeArrowheads="1"/>
          </p:cNvSpPr>
          <p:nvPr>
            <p:ph type="title"/>
          </p:nvPr>
        </p:nvSpPr>
        <p:spPr>
          <a:xfrm>
            <a:off x="3359696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Проблемы взаимодействия </a:t>
            </a: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359696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Синхронизация физического времени</a:t>
            </a:r>
            <a:endParaRPr kumimoji="0" lang="ru-RU" sz="30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3503390" y="1844825"/>
            <a:ext cx="820891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Алгоритм Беркли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cxnSp>
        <p:nvCxnSpPr>
          <p:cNvPr id="6" name="Прямая соединительная линия 5"/>
          <p:cNvCxnSpPr/>
          <p:nvPr/>
        </p:nvCxnSpPr>
        <p:spPr>
          <a:xfrm>
            <a:off x="4727526" y="4149725"/>
            <a:ext cx="57606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Прямоугольник 6"/>
          <p:cNvSpPr/>
          <p:nvPr/>
        </p:nvSpPr>
        <p:spPr>
          <a:xfrm>
            <a:off x="6887766" y="2708920"/>
            <a:ext cx="1440160" cy="108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Прямоугольник 27"/>
          <p:cNvSpPr/>
          <p:nvPr/>
        </p:nvSpPr>
        <p:spPr>
          <a:xfrm>
            <a:off x="5447606" y="4509120"/>
            <a:ext cx="1440160" cy="108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Прямоугольник 28"/>
          <p:cNvSpPr/>
          <p:nvPr/>
        </p:nvSpPr>
        <p:spPr>
          <a:xfrm>
            <a:off x="8327926" y="4509120"/>
            <a:ext cx="1440160" cy="108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1" name="Прямая соединительная линия 10"/>
          <p:cNvCxnSpPr>
            <a:endCxn id="28" idx="0"/>
          </p:cNvCxnSpPr>
          <p:nvPr/>
        </p:nvCxnSpPr>
        <p:spPr>
          <a:xfrm>
            <a:off x="6167686" y="4149726"/>
            <a:ext cx="0" cy="3593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/>
          <p:cNvCxnSpPr>
            <a:stCxn id="7" idx="2"/>
          </p:cNvCxnSpPr>
          <p:nvPr/>
        </p:nvCxnSpPr>
        <p:spPr>
          <a:xfrm>
            <a:off x="7607846" y="3789041"/>
            <a:ext cx="0" cy="36068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>
            <a:endCxn id="29" idx="0"/>
          </p:cNvCxnSpPr>
          <p:nvPr/>
        </p:nvCxnSpPr>
        <p:spPr>
          <a:xfrm>
            <a:off x="9048006" y="4149726"/>
            <a:ext cx="0" cy="35939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727526" y="3789040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Сеть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91822" y="3356992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5:00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51662" y="5157192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5:25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59974" y="5157192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4:50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59774" y="2780929"/>
            <a:ext cx="12961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Сервер времени</a:t>
            </a:r>
          </a:p>
        </p:txBody>
      </p:sp>
      <p:cxnSp>
        <p:nvCxnSpPr>
          <p:cNvPr id="22" name="Соединитель: изогнутый 21"/>
          <p:cNvCxnSpPr>
            <a:stCxn id="7" idx="3"/>
          </p:cNvCxnSpPr>
          <p:nvPr/>
        </p:nvCxnSpPr>
        <p:spPr>
          <a:xfrm flipV="1">
            <a:off x="8327926" y="2924944"/>
            <a:ext cx="12700" cy="324036"/>
          </a:xfrm>
          <a:prstGeom prst="curvedConnector4">
            <a:avLst>
              <a:gd name="adj1" fmla="val 6532583"/>
              <a:gd name="adj2" fmla="val 168633"/>
            </a:avLst>
          </a:prstGeom>
          <a:ln w="12700">
            <a:headEnd type="triangl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Соединитель: изогнутый 29"/>
          <p:cNvCxnSpPr>
            <a:stCxn id="7" idx="1"/>
          </p:cNvCxnSpPr>
          <p:nvPr/>
        </p:nvCxnSpPr>
        <p:spPr>
          <a:xfrm rot="10800000" flipV="1">
            <a:off x="5807646" y="3248980"/>
            <a:ext cx="1080120" cy="1260140"/>
          </a:xfrm>
          <a:prstGeom prst="curvedConnector2">
            <a:avLst/>
          </a:prstGeom>
          <a:ln w="12700">
            <a:headEnd type="triangl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337" name="Соединитель: изогнутый 14336"/>
          <p:cNvCxnSpPr/>
          <p:nvPr/>
        </p:nvCxnSpPr>
        <p:spPr>
          <a:xfrm>
            <a:off x="8340626" y="3573016"/>
            <a:ext cx="1283444" cy="936104"/>
          </a:xfrm>
          <a:prstGeom prst="curvedConnector3">
            <a:avLst>
              <a:gd name="adj1" fmla="val 134054"/>
            </a:avLst>
          </a:prstGeom>
          <a:ln w="12700">
            <a:headEnd type="triangl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341" name="TextBox 14340"/>
          <p:cNvSpPr txBox="1"/>
          <p:nvPr/>
        </p:nvSpPr>
        <p:spPr>
          <a:xfrm>
            <a:off x="5519615" y="3248980"/>
            <a:ext cx="635373" cy="369332"/>
          </a:xfrm>
          <a:prstGeom prst="rect">
            <a:avLst/>
          </a:prstGeom>
          <a:gradFill>
            <a:gsLst>
              <a:gs pos="91900">
                <a:schemeClr val="accent3">
                  <a:lumMod val="20000"/>
                  <a:lumOff val="80000"/>
                </a:schemeClr>
              </a:gs>
              <a:gs pos="0">
                <a:schemeClr val="accent3">
                  <a:lumMod val="60000"/>
                  <a:lumOff val="40000"/>
                </a:schemeClr>
              </a:gs>
              <a:gs pos="100000">
                <a:srgbClr val="D9D9D9"/>
              </a:gs>
            </a:gsLst>
            <a:lin ang="5400000" scaled="1"/>
          </a:gra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+25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92023" y="2780928"/>
            <a:ext cx="635373" cy="369332"/>
          </a:xfrm>
          <a:prstGeom prst="rect">
            <a:avLst/>
          </a:prstGeom>
          <a:gradFill>
            <a:gsLst>
              <a:gs pos="91900">
                <a:schemeClr val="accent3">
                  <a:lumMod val="20000"/>
                  <a:lumOff val="80000"/>
                </a:schemeClr>
              </a:gs>
              <a:gs pos="0">
                <a:schemeClr val="accent3">
                  <a:lumMod val="60000"/>
                  <a:lumOff val="40000"/>
                </a:schemeClr>
              </a:gs>
              <a:gs pos="100000">
                <a:srgbClr val="D9D9D9"/>
              </a:gs>
            </a:gsLst>
            <a:lin ang="5400000" scaled="1"/>
          </a:gra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84111" y="4355812"/>
            <a:ext cx="635373" cy="369332"/>
          </a:xfrm>
          <a:prstGeom prst="rect">
            <a:avLst/>
          </a:prstGeom>
          <a:gradFill>
            <a:gsLst>
              <a:gs pos="91900">
                <a:schemeClr val="accent3">
                  <a:lumMod val="20000"/>
                  <a:lumOff val="80000"/>
                </a:schemeClr>
              </a:gs>
              <a:gs pos="0">
                <a:schemeClr val="accent3">
                  <a:lumMod val="60000"/>
                  <a:lumOff val="40000"/>
                </a:schemeClr>
              </a:gs>
              <a:gs pos="100000">
                <a:srgbClr val="D9D9D9"/>
              </a:gs>
            </a:gsLst>
            <a:lin ang="5400000" scaled="1"/>
          </a:gra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-10</a:t>
            </a:r>
          </a:p>
        </p:txBody>
      </p:sp>
    </p:spTree>
    <p:extLst>
      <p:ext uri="{BB962C8B-B14F-4D97-AF65-F5344CB8AC3E}">
        <p14:creationId xmlns:p14="http://schemas.microsoft.com/office/powerpoint/2010/main" val="253622681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372396" y="1772816"/>
            <a:ext cx="8496300" cy="4824536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4338" name="_h1"/>
          <p:cNvSpPr>
            <a:spLocks noGrp="1" noChangeArrowheads="1"/>
          </p:cNvSpPr>
          <p:nvPr>
            <p:ph type="title"/>
          </p:nvPr>
        </p:nvSpPr>
        <p:spPr>
          <a:xfrm>
            <a:off x="3359696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Проблемы взаимодействия </a:t>
            </a: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359696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Синхронизация физического времени</a:t>
            </a:r>
            <a:endParaRPr kumimoji="0" lang="ru-RU" sz="30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3503390" y="1844825"/>
            <a:ext cx="820891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Алгоритм Беркли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cxnSp>
        <p:nvCxnSpPr>
          <p:cNvPr id="6" name="Прямая соединительная линия 5"/>
          <p:cNvCxnSpPr/>
          <p:nvPr/>
        </p:nvCxnSpPr>
        <p:spPr>
          <a:xfrm>
            <a:off x="4727526" y="4149725"/>
            <a:ext cx="57606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Прямоугольник 6"/>
          <p:cNvSpPr/>
          <p:nvPr/>
        </p:nvSpPr>
        <p:spPr>
          <a:xfrm>
            <a:off x="6887766" y="2708920"/>
            <a:ext cx="1440160" cy="108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Прямоугольник 27"/>
          <p:cNvSpPr/>
          <p:nvPr/>
        </p:nvSpPr>
        <p:spPr>
          <a:xfrm>
            <a:off x="5447606" y="4509120"/>
            <a:ext cx="1440160" cy="108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Прямоугольник 28"/>
          <p:cNvSpPr/>
          <p:nvPr/>
        </p:nvSpPr>
        <p:spPr>
          <a:xfrm>
            <a:off x="8327926" y="4509120"/>
            <a:ext cx="1440160" cy="108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1" name="Прямая соединительная линия 10"/>
          <p:cNvCxnSpPr>
            <a:endCxn id="28" idx="0"/>
          </p:cNvCxnSpPr>
          <p:nvPr/>
        </p:nvCxnSpPr>
        <p:spPr>
          <a:xfrm>
            <a:off x="6167686" y="4149726"/>
            <a:ext cx="0" cy="3593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/>
          <p:cNvCxnSpPr>
            <a:stCxn id="7" idx="2"/>
          </p:cNvCxnSpPr>
          <p:nvPr/>
        </p:nvCxnSpPr>
        <p:spPr>
          <a:xfrm>
            <a:off x="7607846" y="3789041"/>
            <a:ext cx="0" cy="36068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>
            <a:endCxn id="29" idx="0"/>
          </p:cNvCxnSpPr>
          <p:nvPr/>
        </p:nvCxnSpPr>
        <p:spPr>
          <a:xfrm>
            <a:off x="9048006" y="4149726"/>
            <a:ext cx="0" cy="35939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727526" y="3789040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Сеть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91822" y="3356992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5:00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51662" y="5157192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5:25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59974" y="5157192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4:50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59774" y="2780929"/>
            <a:ext cx="12961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Сервер времени</a:t>
            </a:r>
          </a:p>
        </p:txBody>
      </p:sp>
      <p:cxnSp>
        <p:nvCxnSpPr>
          <p:cNvPr id="22" name="Соединитель: изогнутый 21"/>
          <p:cNvCxnSpPr>
            <a:stCxn id="7" idx="3"/>
          </p:cNvCxnSpPr>
          <p:nvPr/>
        </p:nvCxnSpPr>
        <p:spPr>
          <a:xfrm flipV="1">
            <a:off x="8327926" y="2924944"/>
            <a:ext cx="12700" cy="324036"/>
          </a:xfrm>
          <a:prstGeom prst="curvedConnector4">
            <a:avLst>
              <a:gd name="adj1" fmla="val 6532583"/>
              <a:gd name="adj2" fmla="val 168633"/>
            </a:avLst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Соединитель: изогнутый 29"/>
          <p:cNvCxnSpPr>
            <a:stCxn id="7" idx="1"/>
          </p:cNvCxnSpPr>
          <p:nvPr/>
        </p:nvCxnSpPr>
        <p:spPr>
          <a:xfrm rot="10800000" flipV="1">
            <a:off x="5807646" y="3248980"/>
            <a:ext cx="1080120" cy="1260140"/>
          </a:xfrm>
          <a:prstGeom prst="curvedConnector2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337" name="Соединитель: изогнутый 14336"/>
          <p:cNvCxnSpPr/>
          <p:nvPr/>
        </p:nvCxnSpPr>
        <p:spPr>
          <a:xfrm>
            <a:off x="8340626" y="3573016"/>
            <a:ext cx="1283444" cy="936104"/>
          </a:xfrm>
          <a:prstGeom prst="curvedConnector3">
            <a:avLst>
              <a:gd name="adj1" fmla="val 134054"/>
            </a:avLst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341" name="TextBox 14340"/>
          <p:cNvSpPr txBox="1"/>
          <p:nvPr/>
        </p:nvSpPr>
        <p:spPr>
          <a:xfrm>
            <a:off x="5519615" y="3248980"/>
            <a:ext cx="635373" cy="369332"/>
          </a:xfrm>
          <a:prstGeom prst="rect">
            <a:avLst/>
          </a:prstGeom>
          <a:gradFill>
            <a:gsLst>
              <a:gs pos="91900">
                <a:schemeClr val="accent3">
                  <a:lumMod val="20000"/>
                  <a:lumOff val="80000"/>
                </a:schemeClr>
              </a:gs>
              <a:gs pos="0">
                <a:schemeClr val="accent3">
                  <a:lumMod val="60000"/>
                  <a:lumOff val="40000"/>
                </a:schemeClr>
              </a:gs>
              <a:gs pos="100000">
                <a:srgbClr val="D9D9D9"/>
              </a:gs>
            </a:gsLst>
            <a:lin ang="5400000" scaled="1"/>
          </a:gra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-20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92023" y="2780928"/>
            <a:ext cx="635373" cy="369332"/>
          </a:xfrm>
          <a:prstGeom prst="rect">
            <a:avLst/>
          </a:prstGeom>
          <a:gradFill>
            <a:gsLst>
              <a:gs pos="91900">
                <a:schemeClr val="accent3">
                  <a:lumMod val="20000"/>
                  <a:lumOff val="80000"/>
                </a:schemeClr>
              </a:gs>
              <a:gs pos="0">
                <a:schemeClr val="accent3">
                  <a:lumMod val="60000"/>
                  <a:lumOff val="40000"/>
                </a:schemeClr>
              </a:gs>
              <a:gs pos="100000">
                <a:srgbClr val="D9D9D9"/>
              </a:gs>
            </a:gsLst>
            <a:lin ang="5400000" scaled="1"/>
          </a:gra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+5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84111" y="4355812"/>
            <a:ext cx="635373" cy="369332"/>
          </a:xfrm>
          <a:prstGeom prst="rect">
            <a:avLst/>
          </a:prstGeom>
          <a:gradFill>
            <a:gsLst>
              <a:gs pos="91900">
                <a:schemeClr val="accent3">
                  <a:lumMod val="20000"/>
                  <a:lumOff val="80000"/>
                </a:schemeClr>
              </a:gs>
              <a:gs pos="0">
                <a:schemeClr val="accent3">
                  <a:lumMod val="60000"/>
                  <a:lumOff val="40000"/>
                </a:schemeClr>
              </a:gs>
              <a:gs pos="100000">
                <a:srgbClr val="D9D9D9"/>
              </a:gs>
            </a:gsLst>
            <a:lin ang="5400000" scaled="1"/>
          </a:gra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+15</a:t>
            </a:r>
          </a:p>
        </p:txBody>
      </p:sp>
    </p:spTree>
    <p:extLst>
      <p:ext uri="{BB962C8B-B14F-4D97-AF65-F5344CB8AC3E}">
        <p14:creationId xmlns:p14="http://schemas.microsoft.com/office/powerpoint/2010/main" val="1596085186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372396" y="1772816"/>
            <a:ext cx="8496300" cy="4824536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4338" name="_h1"/>
          <p:cNvSpPr>
            <a:spLocks noGrp="1" noChangeArrowheads="1"/>
          </p:cNvSpPr>
          <p:nvPr>
            <p:ph type="title"/>
          </p:nvPr>
        </p:nvSpPr>
        <p:spPr>
          <a:xfrm>
            <a:off x="3359696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Проблемы взаимодействия </a:t>
            </a: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359696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Синхронизация физического времени</a:t>
            </a:r>
            <a:endParaRPr kumimoji="0" lang="ru-RU" sz="30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3503390" y="1844825"/>
            <a:ext cx="820891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Алгоритм Беркли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cxnSp>
        <p:nvCxnSpPr>
          <p:cNvPr id="6" name="Прямая соединительная линия 5"/>
          <p:cNvCxnSpPr/>
          <p:nvPr/>
        </p:nvCxnSpPr>
        <p:spPr>
          <a:xfrm>
            <a:off x="4727526" y="4149725"/>
            <a:ext cx="57606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Прямоугольник 6"/>
          <p:cNvSpPr/>
          <p:nvPr/>
        </p:nvSpPr>
        <p:spPr>
          <a:xfrm>
            <a:off x="6887766" y="2708920"/>
            <a:ext cx="1440160" cy="108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Прямоугольник 27"/>
          <p:cNvSpPr/>
          <p:nvPr/>
        </p:nvSpPr>
        <p:spPr>
          <a:xfrm>
            <a:off x="5447606" y="4509120"/>
            <a:ext cx="1440160" cy="108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Прямоугольник 28"/>
          <p:cNvSpPr/>
          <p:nvPr/>
        </p:nvSpPr>
        <p:spPr>
          <a:xfrm>
            <a:off x="8327926" y="4509120"/>
            <a:ext cx="1440160" cy="108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1" name="Прямая соединительная линия 10"/>
          <p:cNvCxnSpPr>
            <a:endCxn id="28" idx="0"/>
          </p:cNvCxnSpPr>
          <p:nvPr/>
        </p:nvCxnSpPr>
        <p:spPr>
          <a:xfrm>
            <a:off x="6167686" y="4149726"/>
            <a:ext cx="0" cy="3593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/>
          <p:cNvCxnSpPr>
            <a:stCxn id="7" idx="2"/>
          </p:cNvCxnSpPr>
          <p:nvPr/>
        </p:nvCxnSpPr>
        <p:spPr>
          <a:xfrm>
            <a:off x="7607846" y="3789041"/>
            <a:ext cx="0" cy="36068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>
            <a:endCxn id="29" idx="0"/>
          </p:cNvCxnSpPr>
          <p:nvPr/>
        </p:nvCxnSpPr>
        <p:spPr>
          <a:xfrm>
            <a:off x="9048006" y="4149726"/>
            <a:ext cx="0" cy="35939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727526" y="3789040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Сеть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91822" y="3356992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5:05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51662" y="5157192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5:05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59974" y="5157192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5:05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59774" y="2780929"/>
            <a:ext cx="12961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Сервер времени</a:t>
            </a:r>
          </a:p>
        </p:txBody>
      </p:sp>
    </p:spTree>
    <p:extLst>
      <p:ext uri="{BB962C8B-B14F-4D97-AF65-F5344CB8AC3E}">
        <p14:creationId xmlns:p14="http://schemas.microsoft.com/office/powerpoint/2010/main" val="3396488637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_h1"/>
          <p:cNvSpPr>
            <a:spLocks noGrp="1" noChangeArrowheads="1"/>
          </p:cNvSpPr>
          <p:nvPr>
            <p:ph type="title"/>
          </p:nvPr>
        </p:nvSpPr>
        <p:spPr>
          <a:xfrm>
            <a:off x="3359696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Проблемы взаимодействия </a:t>
            </a:r>
          </a:p>
        </p:txBody>
      </p:sp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372396" y="1772817"/>
            <a:ext cx="8496300" cy="446722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359696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Синхронные системы</a:t>
            </a:r>
            <a:endParaRPr kumimoji="0" lang="ru-RU" sz="30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647406" y="2132856"/>
            <a:ext cx="7920880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Время выполнения каждого отдельного действия любого процесса ограничено снизу и сверху известными значениями.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Задержка доставки каждого сообщения от одного процесса к другому не превышает известный предел.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Каждый процесс имеет свои локальные часы со скоростью отклонения от точных показаний, не превышающей известное значение.</a:t>
            </a:r>
          </a:p>
        </p:txBody>
      </p:sp>
    </p:spTree>
    <p:extLst>
      <p:ext uri="{BB962C8B-B14F-4D97-AF65-F5344CB8AC3E}">
        <p14:creationId xmlns:p14="http://schemas.microsoft.com/office/powerpoint/2010/main" val="3701896624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_h1"/>
          <p:cNvSpPr>
            <a:spLocks noGrp="1" noChangeArrowheads="1"/>
          </p:cNvSpPr>
          <p:nvPr>
            <p:ph type="title"/>
          </p:nvPr>
        </p:nvSpPr>
        <p:spPr>
          <a:xfrm>
            <a:off x="3359696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Проблемы взаимодействия </a:t>
            </a:r>
          </a:p>
        </p:txBody>
      </p:sp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372396" y="1772817"/>
            <a:ext cx="8496300" cy="446722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359696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Асинхронные системы</a:t>
            </a:r>
            <a:endParaRPr kumimoji="0" lang="ru-RU" sz="30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647406" y="2132856"/>
            <a:ext cx="7920880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Время выполнения каждого отдельного действия любого процесса конечно, но не имеет известной верхней границы.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Задержка доставки каждого сообщения имеет произвольное конечное значение.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Скорость отклонения локальных часов произвольна.</a:t>
            </a:r>
          </a:p>
        </p:txBody>
      </p:sp>
    </p:spTree>
    <p:extLst>
      <p:ext uri="{BB962C8B-B14F-4D97-AF65-F5344CB8AC3E}">
        <p14:creationId xmlns:p14="http://schemas.microsoft.com/office/powerpoint/2010/main" val="2745293663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_h1"/>
          <p:cNvSpPr>
            <a:spLocks noGrp="1" noChangeArrowheads="1"/>
          </p:cNvSpPr>
          <p:nvPr>
            <p:ph type="title"/>
          </p:nvPr>
        </p:nvSpPr>
        <p:spPr>
          <a:xfrm>
            <a:off x="3359696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Проблемы взаимодействия</a:t>
            </a:r>
          </a:p>
        </p:txBody>
      </p:sp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372396" y="1711821"/>
            <a:ext cx="8496300" cy="446722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359696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Задача о двух генералах</a:t>
            </a:r>
            <a:endParaRPr kumimoji="0" lang="ru-RU" sz="30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2" name="Овал 1"/>
          <p:cNvSpPr/>
          <p:nvPr/>
        </p:nvSpPr>
        <p:spPr>
          <a:xfrm>
            <a:off x="6311702" y="2636912"/>
            <a:ext cx="2448272" cy="23762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Крепость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солдат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3791422" y="3247616"/>
            <a:ext cx="1944216" cy="12961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1-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я армия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солдат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9264030" y="3247616"/>
            <a:ext cx="1944216" cy="12961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-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я армия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</a:t>
            </a:r>
            <a:r>
              <a:rPr kumimoji="0" lang="ru-RU" sz="2000" b="0" i="0" u="none" strike="noStrike" kern="1200" cap="none" spc="0" normalizeH="0" baseline="-2500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солдат</a:t>
            </a:r>
          </a:p>
        </p:txBody>
      </p:sp>
      <p:graphicFrame>
        <p:nvGraphicFramePr>
          <p:cNvPr id="5" name="Объект 4"/>
          <p:cNvGraphicFramePr>
            <a:graphicFrameLocks noChangeAspect="1"/>
          </p:cNvGraphicFramePr>
          <p:nvPr/>
        </p:nvGraphicFramePr>
        <p:xfrm>
          <a:off x="4223470" y="2076451"/>
          <a:ext cx="1054100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4" name="Equation" r:id="rId4" imgW="1054080" imgH="431640" progId="Equation.DSMT4">
                  <p:embed/>
                </p:oleObj>
              </mc:Choice>
              <mc:Fallback>
                <p:oleObj name="Equation" r:id="rId4" imgW="1054080" imgH="431640" progId="Equation.DSMT4">
                  <p:embed/>
                  <p:pic>
                    <p:nvPicPr>
                      <p:cNvPr id="5" name="Объект 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223470" y="2076451"/>
                        <a:ext cx="1054100" cy="3794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Объект 10"/>
          <p:cNvGraphicFramePr>
            <a:graphicFrameLocks noChangeAspect="1"/>
          </p:cNvGraphicFramePr>
          <p:nvPr/>
        </p:nvGraphicFramePr>
        <p:xfrm>
          <a:off x="9774784" y="2060576"/>
          <a:ext cx="1092200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5" name="Equation" r:id="rId6" imgW="1091880" imgH="431640" progId="Equation.DSMT4">
                  <p:embed/>
                </p:oleObj>
              </mc:Choice>
              <mc:Fallback>
                <p:oleObj name="Equation" r:id="rId6" imgW="1091880" imgH="431640" progId="Equation.DSMT4">
                  <p:embed/>
                  <p:pic>
                    <p:nvPicPr>
                      <p:cNvPr id="11" name="Объект 10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774784" y="2060576"/>
                        <a:ext cx="1092200" cy="3794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Объект 11"/>
          <p:cNvGraphicFramePr>
            <a:graphicFrameLocks noChangeAspect="1"/>
          </p:cNvGraphicFramePr>
          <p:nvPr/>
        </p:nvGraphicFramePr>
        <p:xfrm>
          <a:off x="6742659" y="2060576"/>
          <a:ext cx="1790700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6" name="Equation" r:id="rId8" imgW="1790640" imgH="431640" progId="Equation.DSMT4">
                  <p:embed/>
                </p:oleObj>
              </mc:Choice>
              <mc:Fallback>
                <p:oleObj name="Equation" r:id="rId8" imgW="1790640" imgH="431640" progId="Equation.DSMT4">
                  <p:embed/>
                  <p:pic>
                    <p:nvPicPr>
                      <p:cNvPr id="12" name="Объект 11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742659" y="2060576"/>
                        <a:ext cx="1790700" cy="3794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Овал 5"/>
          <p:cNvSpPr/>
          <p:nvPr/>
        </p:nvSpPr>
        <p:spPr>
          <a:xfrm>
            <a:off x="4750519" y="4509120"/>
            <a:ext cx="72000" cy="7200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Овал 13"/>
          <p:cNvSpPr/>
          <p:nvPr/>
        </p:nvSpPr>
        <p:spPr>
          <a:xfrm>
            <a:off x="10320884" y="4499444"/>
            <a:ext cx="72000" cy="7200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295478" y="5157192"/>
            <a:ext cx="66967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Штурмовать или нет?</a:t>
            </a:r>
          </a:p>
        </p:txBody>
      </p:sp>
    </p:spTree>
    <p:extLst>
      <p:ext uri="{BB962C8B-B14F-4D97-AF65-F5344CB8AC3E}">
        <p14:creationId xmlns:p14="http://schemas.microsoft.com/office/powerpoint/2010/main" val="133463314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7" presetClass="pat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-0.00023 L 0.12213 0.13565 C 0.14765 0.16644 0.18607 0.1838 0.22591 0.1838 C 0.27148 0.1838 0.30794 0.16644 0.33346 0.13565 L 0.45586 -0.00023 " pathEditMode="relative" rAng="0" ptsTypes="AAAAA">
                                      <p:cBhvr>
                                        <p:cTn id="31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786" y="919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7" presetClass="pat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3.29597E-17 L -0.12201 0.13542 C -0.1474 0.16667 -0.18555 0.18403 -0.22539 0.18403 C -0.27071 0.18403 -0.30716 0.16667 -0.33255 0.13542 L -0.45391 3.29597E-17 " pathEditMode="relative" rAng="0" ptsTypes="AAAAA">
                                      <p:cBhvr>
                                        <p:cTn id="41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695" y="919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000"/>
                            </p:stCondLst>
                            <p:childTnLst>
                              <p:par>
                                <p:cTn id="43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2" grpId="0" animBg="1"/>
      <p:bldP spid="4" grpId="0" animBg="1"/>
      <p:bldP spid="8" grpId="0" animBg="1"/>
      <p:bldP spid="6" grpId="0" animBg="1"/>
      <p:bldP spid="6" grpId="1" animBg="1"/>
      <p:bldP spid="6" grpId="2" animBg="1"/>
      <p:bldP spid="14" grpId="0" animBg="1"/>
      <p:bldP spid="14" grpId="1" animBg="1"/>
      <p:bldP spid="14" grpId="2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_h1"/>
          <p:cNvSpPr>
            <a:spLocks noGrp="1" noChangeArrowheads="1"/>
          </p:cNvSpPr>
          <p:nvPr>
            <p:ph type="title"/>
          </p:nvPr>
        </p:nvSpPr>
        <p:spPr>
          <a:xfrm>
            <a:off x="3359696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Проблемы взаимодействия</a:t>
            </a:r>
          </a:p>
        </p:txBody>
      </p:sp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372396" y="1772817"/>
            <a:ext cx="8496300" cy="446722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359696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Задача о двух генералах</a:t>
            </a:r>
            <a:endParaRPr kumimoji="0" lang="ru-RU" sz="30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2" name="Овал 1"/>
          <p:cNvSpPr/>
          <p:nvPr/>
        </p:nvSpPr>
        <p:spPr>
          <a:xfrm>
            <a:off x="6311702" y="2636912"/>
            <a:ext cx="2448272" cy="23762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Крепость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солдат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3791422" y="3247616"/>
            <a:ext cx="1944216" cy="12961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1-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я армия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солдат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9264030" y="3247616"/>
            <a:ext cx="1944216" cy="12961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-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я армия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</a:t>
            </a:r>
            <a:r>
              <a:rPr kumimoji="0" lang="ru-RU" sz="2000" b="0" i="0" u="none" strike="noStrike" kern="1200" cap="none" spc="0" normalizeH="0" baseline="-2500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солдат</a:t>
            </a:r>
          </a:p>
        </p:txBody>
      </p:sp>
      <p:graphicFrame>
        <p:nvGraphicFramePr>
          <p:cNvPr id="5" name="Объект 4"/>
          <p:cNvGraphicFramePr>
            <a:graphicFrameLocks noChangeAspect="1"/>
          </p:cNvGraphicFramePr>
          <p:nvPr/>
        </p:nvGraphicFramePr>
        <p:xfrm>
          <a:off x="4223470" y="2076451"/>
          <a:ext cx="1054100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Equation" r:id="rId4" imgW="1054080" imgH="431640" progId="Equation.DSMT4">
                  <p:embed/>
                </p:oleObj>
              </mc:Choice>
              <mc:Fallback>
                <p:oleObj name="Equation" r:id="rId4" imgW="1054080" imgH="431640" progId="Equation.DSMT4">
                  <p:embed/>
                  <p:pic>
                    <p:nvPicPr>
                      <p:cNvPr id="5" name="Объект 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223470" y="2076451"/>
                        <a:ext cx="1054100" cy="3794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Объект 10"/>
          <p:cNvGraphicFramePr>
            <a:graphicFrameLocks noChangeAspect="1"/>
          </p:cNvGraphicFramePr>
          <p:nvPr/>
        </p:nvGraphicFramePr>
        <p:xfrm>
          <a:off x="9774784" y="2060576"/>
          <a:ext cx="1092200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Equation" r:id="rId6" imgW="1091880" imgH="431640" progId="Equation.DSMT4">
                  <p:embed/>
                </p:oleObj>
              </mc:Choice>
              <mc:Fallback>
                <p:oleObj name="Equation" r:id="rId6" imgW="1091880" imgH="431640" progId="Equation.DSMT4">
                  <p:embed/>
                  <p:pic>
                    <p:nvPicPr>
                      <p:cNvPr id="11" name="Объект 10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774784" y="2060576"/>
                        <a:ext cx="1092200" cy="3794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Объект 11"/>
          <p:cNvGraphicFramePr>
            <a:graphicFrameLocks noChangeAspect="1"/>
          </p:cNvGraphicFramePr>
          <p:nvPr/>
        </p:nvGraphicFramePr>
        <p:xfrm>
          <a:off x="6742659" y="2060576"/>
          <a:ext cx="1790700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Equation" r:id="rId8" imgW="1790640" imgH="431640" progId="Equation.DSMT4">
                  <p:embed/>
                </p:oleObj>
              </mc:Choice>
              <mc:Fallback>
                <p:oleObj name="Equation" r:id="rId8" imgW="1790640" imgH="431640" progId="Equation.DSMT4">
                  <p:embed/>
                  <p:pic>
                    <p:nvPicPr>
                      <p:cNvPr id="12" name="Объект 11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742659" y="2060576"/>
                        <a:ext cx="1790700" cy="3794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295478" y="5157192"/>
            <a:ext cx="66967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Решается для синхронной и асинхронной систем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Кто командует?</a:t>
            </a:r>
          </a:p>
        </p:txBody>
      </p:sp>
    </p:spTree>
    <p:extLst>
      <p:ext uri="{BB962C8B-B14F-4D97-AF65-F5344CB8AC3E}">
        <p14:creationId xmlns:p14="http://schemas.microsoft.com/office/powerpoint/2010/main" val="2305224127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_h1"/>
          <p:cNvSpPr>
            <a:spLocks noGrp="1" noChangeArrowheads="1"/>
          </p:cNvSpPr>
          <p:nvPr>
            <p:ph type="title"/>
          </p:nvPr>
        </p:nvSpPr>
        <p:spPr>
          <a:xfrm>
            <a:off x="3359696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Проблемы взаимодействия</a:t>
            </a:r>
          </a:p>
        </p:txBody>
      </p:sp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372396" y="1772817"/>
            <a:ext cx="8496300" cy="446722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359696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Задача о двух генералах</a:t>
            </a:r>
            <a:endParaRPr kumimoji="0" lang="ru-RU" sz="30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2" name="Овал 1"/>
          <p:cNvSpPr/>
          <p:nvPr/>
        </p:nvSpPr>
        <p:spPr>
          <a:xfrm>
            <a:off x="6311702" y="2636912"/>
            <a:ext cx="2448272" cy="23762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Крепость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солдат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3791422" y="3247616"/>
            <a:ext cx="1944216" cy="12961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1-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я армия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солдат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9264030" y="3247616"/>
            <a:ext cx="1944216" cy="12961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-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я армия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</a:t>
            </a:r>
            <a:r>
              <a:rPr kumimoji="0" lang="ru-RU" sz="2000" b="0" i="0" u="none" strike="noStrike" kern="1200" cap="none" spc="0" normalizeH="0" baseline="-2500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солдат</a:t>
            </a:r>
          </a:p>
        </p:txBody>
      </p:sp>
      <p:graphicFrame>
        <p:nvGraphicFramePr>
          <p:cNvPr id="5" name="Объект 4"/>
          <p:cNvGraphicFramePr>
            <a:graphicFrameLocks noChangeAspect="1"/>
          </p:cNvGraphicFramePr>
          <p:nvPr/>
        </p:nvGraphicFramePr>
        <p:xfrm>
          <a:off x="4223470" y="2076451"/>
          <a:ext cx="1054100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2" name="Equation" r:id="rId4" imgW="1054080" imgH="431640" progId="Equation.DSMT4">
                  <p:embed/>
                </p:oleObj>
              </mc:Choice>
              <mc:Fallback>
                <p:oleObj name="Equation" r:id="rId4" imgW="1054080" imgH="431640" progId="Equation.DSMT4">
                  <p:embed/>
                  <p:pic>
                    <p:nvPicPr>
                      <p:cNvPr id="5" name="Объект 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223470" y="2076451"/>
                        <a:ext cx="1054100" cy="3794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Объект 10"/>
          <p:cNvGraphicFramePr>
            <a:graphicFrameLocks noChangeAspect="1"/>
          </p:cNvGraphicFramePr>
          <p:nvPr/>
        </p:nvGraphicFramePr>
        <p:xfrm>
          <a:off x="9774784" y="2060576"/>
          <a:ext cx="1092200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3" name="Equation" r:id="rId6" imgW="1091880" imgH="431640" progId="Equation.DSMT4">
                  <p:embed/>
                </p:oleObj>
              </mc:Choice>
              <mc:Fallback>
                <p:oleObj name="Equation" r:id="rId6" imgW="1091880" imgH="431640" progId="Equation.DSMT4">
                  <p:embed/>
                  <p:pic>
                    <p:nvPicPr>
                      <p:cNvPr id="11" name="Объект 10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774784" y="2060576"/>
                        <a:ext cx="1092200" cy="3794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Объект 11"/>
          <p:cNvGraphicFramePr>
            <a:graphicFrameLocks noChangeAspect="1"/>
          </p:cNvGraphicFramePr>
          <p:nvPr/>
        </p:nvGraphicFramePr>
        <p:xfrm>
          <a:off x="6742659" y="2060576"/>
          <a:ext cx="1790700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4" name="Equation" r:id="rId8" imgW="1790640" imgH="431640" progId="Equation.DSMT4">
                  <p:embed/>
                </p:oleObj>
              </mc:Choice>
              <mc:Fallback>
                <p:oleObj name="Equation" r:id="rId8" imgW="1790640" imgH="431640" progId="Equation.DSMT4">
                  <p:embed/>
                  <p:pic>
                    <p:nvPicPr>
                      <p:cNvPr id="12" name="Объект 11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742659" y="2060576"/>
                        <a:ext cx="1790700" cy="3794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295478" y="5157193"/>
            <a:ext cx="66967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Решается для синхронной и асинхронной систем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Решается для синхронной и асинхронной систем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Когда штурм?</a:t>
            </a:r>
          </a:p>
        </p:txBody>
      </p:sp>
    </p:spTree>
    <p:extLst>
      <p:ext uri="{BB962C8B-B14F-4D97-AF65-F5344CB8AC3E}">
        <p14:creationId xmlns:p14="http://schemas.microsoft.com/office/powerpoint/2010/main" val="1422806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_h1"/>
          <p:cNvSpPr>
            <a:spLocks noGrp="1" noChangeArrowheads="1"/>
          </p:cNvSpPr>
          <p:nvPr>
            <p:ph type="title"/>
          </p:nvPr>
        </p:nvSpPr>
        <p:spPr>
          <a:xfrm>
            <a:off x="3359696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Проблемы взаимодействия</a:t>
            </a:r>
          </a:p>
        </p:txBody>
      </p:sp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372396" y="1772817"/>
            <a:ext cx="8496300" cy="446722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359696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Задача о двух генералах</a:t>
            </a:r>
            <a:endParaRPr kumimoji="0" lang="ru-RU" sz="30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2" name="Овал 1"/>
          <p:cNvSpPr/>
          <p:nvPr/>
        </p:nvSpPr>
        <p:spPr>
          <a:xfrm>
            <a:off x="6311702" y="2636912"/>
            <a:ext cx="2448272" cy="23762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Крепость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солдат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3791422" y="3247616"/>
            <a:ext cx="1944216" cy="12961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1-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я армия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солдат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9264030" y="3247616"/>
            <a:ext cx="1944216" cy="12961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-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я армия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</a:t>
            </a:r>
            <a:r>
              <a:rPr kumimoji="0" lang="ru-RU" sz="2000" b="0" i="0" u="none" strike="noStrike" kern="1200" cap="none" spc="0" normalizeH="0" baseline="-2500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солдат</a:t>
            </a:r>
          </a:p>
        </p:txBody>
      </p:sp>
      <p:graphicFrame>
        <p:nvGraphicFramePr>
          <p:cNvPr id="5" name="Объект 4"/>
          <p:cNvGraphicFramePr>
            <a:graphicFrameLocks noChangeAspect="1"/>
          </p:cNvGraphicFramePr>
          <p:nvPr/>
        </p:nvGraphicFramePr>
        <p:xfrm>
          <a:off x="4223470" y="2076451"/>
          <a:ext cx="1054100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6" name="Equation" r:id="rId4" imgW="1054080" imgH="431640" progId="Equation.DSMT4">
                  <p:embed/>
                </p:oleObj>
              </mc:Choice>
              <mc:Fallback>
                <p:oleObj name="Equation" r:id="rId4" imgW="1054080" imgH="431640" progId="Equation.DSMT4">
                  <p:embed/>
                  <p:pic>
                    <p:nvPicPr>
                      <p:cNvPr id="5" name="Объект 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223470" y="2076451"/>
                        <a:ext cx="1054100" cy="3794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Объект 10"/>
          <p:cNvGraphicFramePr>
            <a:graphicFrameLocks noChangeAspect="1"/>
          </p:cNvGraphicFramePr>
          <p:nvPr/>
        </p:nvGraphicFramePr>
        <p:xfrm>
          <a:off x="9774784" y="2060576"/>
          <a:ext cx="1092200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7" name="Equation" r:id="rId6" imgW="1091880" imgH="431640" progId="Equation.DSMT4">
                  <p:embed/>
                </p:oleObj>
              </mc:Choice>
              <mc:Fallback>
                <p:oleObj name="Equation" r:id="rId6" imgW="1091880" imgH="431640" progId="Equation.DSMT4">
                  <p:embed/>
                  <p:pic>
                    <p:nvPicPr>
                      <p:cNvPr id="11" name="Объект 10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774784" y="2060576"/>
                        <a:ext cx="1092200" cy="3794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Объект 11"/>
          <p:cNvGraphicFramePr>
            <a:graphicFrameLocks noChangeAspect="1"/>
          </p:cNvGraphicFramePr>
          <p:nvPr/>
        </p:nvGraphicFramePr>
        <p:xfrm>
          <a:off x="6742659" y="2060576"/>
          <a:ext cx="1790700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8" name="Equation" r:id="rId8" imgW="1790640" imgH="431640" progId="Equation.DSMT4">
                  <p:embed/>
                </p:oleObj>
              </mc:Choice>
              <mc:Fallback>
                <p:oleObj name="Equation" r:id="rId8" imgW="1790640" imgH="431640" progId="Equation.DSMT4">
                  <p:embed/>
                  <p:pic>
                    <p:nvPicPr>
                      <p:cNvPr id="12" name="Объект 11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742659" y="2060576"/>
                        <a:ext cx="1790700" cy="3794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295478" y="5157193"/>
            <a:ext cx="66967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Решается для синхронной и асинхронной систем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Решается для синхронной и асинхронной систем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Решается только для синхронной системы</a:t>
            </a:r>
          </a:p>
        </p:txBody>
      </p:sp>
    </p:spTree>
    <p:extLst>
      <p:ext uri="{BB962C8B-B14F-4D97-AF65-F5344CB8AC3E}">
        <p14:creationId xmlns:p14="http://schemas.microsoft.com/office/powerpoint/2010/main" val="3664591129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_h1"/>
          <p:cNvSpPr>
            <a:spLocks noGrp="1" noChangeArrowheads="1"/>
          </p:cNvSpPr>
          <p:nvPr>
            <p:ph type="title"/>
          </p:nvPr>
        </p:nvSpPr>
        <p:spPr>
          <a:xfrm>
            <a:off x="3347640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Проблемы взаимодействия</a:t>
            </a:r>
          </a:p>
        </p:txBody>
      </p:sp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360340" y="1772817"/>
            <a:ext cx="8496300" cy="446722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ct val="20000"/>
              </a:spcAft>
              <a:defRPr/>
            </a:pPr>
            <a:endParaRPr lang="en-US" sz="2000" noProof="1">
              <a:solidFill>
                <a:srgbClr val="1F497D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347640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 fontAlgn="base">
              <a:spcBef>
                <a:spcPct val="0"/>
              </a:spcBef>
              <a:spcAft>
                <a:spcPct val="20000"/>
              </a:spcAft>
              <a:defRPr/>
            </a:pPr>
            <a:r>
              <a:rPr lang="ru-RU" sz="3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 Упорядочивание событий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3995390" y="2420888"/>
            <a:ext cx="7200800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/>
          <p:nvPr/>
        </p:nvCxnSpPr>
        <p:spPr>
          <a:xfrm>
            <a:off x="3995390" y="3356992"/>
            <a:ext cx="7200800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/>
        </p:nvCxnSpPr>
        <p:spPr>
          <a:xfrm>
            <a:off x="3995390" y="4365104"/>
            <a:ext cx="7200800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/>
          <p:nvPr/>
        </p:nvCxnSpPr>
        <p:spPr>
          <a:xfrm>
            <a:off x="3995390" y="5301208"/>
            <a:ext cx="7200800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707358" y="1988840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ru-RU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707358" y="2956882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ru-RU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707358" y="4005064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ru-RU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707358" y="4901098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endParaRPr lang="ru-RU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Овал 22"/>
          <p:cNvSpPr/>
          <p:nvPr/>
        </p:nvSpPr>
        <p:spPr>
          <a:xfrm>
            <a:off x="4679478" y="2348880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solidFill>
                <a:prstClr val="white"/>
              </a:solidFill>
            </a:endParaRPr>
          </a:p>
        </p:txBody>
      </p:sp>
      <p:sp>
        <p:nvSpPr>
          <p:cNvPr id="24" name="Овал 23"/>
          <p:cNvSpPr/>
          <p:nvPr/>
        </p:nvSpPr>
        <p:spPr>
          <a:xfrm>
            <a:off x="4831878" y="3284984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solidFill>
                <a:prstClr val="white"/>
              </a:solidFill>
            </a:endParaRPr>
          </a:p>
        </p:txBody>
      </p:sp>
      <p:sp>
        <p:nvSpPr>
          <p:cNvPr id="25" name="Овал 24"/>
          <p:cNvSpPr/>
          <p:nvPr/>
        </p:nvSpPr>
        <p:spPr>
          <a:xfrm>
            <a:off x="5435566" y="4293112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solidFill>
                <a:prstClr val="white"/>
              </a:solidFill>
            </a:endParaRPr>
          </a:p>
        </p:txBody>
      </p:sp>
      <p:sp>
        <p:nvSpPr>
          <p:cNvPr id="26" name="Овал 25"/>
          <p:cNvSpPr/>
          <p:nvPr/>
        </p:nvSpPr>
        <p:spPr>
          <a:xfrm>
            <a:off x="6096000" y="3291796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solidFill>
                <a:prstClr val="white"/>
              </a:solidFill>
            </a:endParaRPr>
          </a:p>
        </p:txBody>
      </p:sp>
      <p:sp>
        <p:nvSpPr>
          <p:cNvPr id="27" name="Овал 26"/>
          <p:cNvSpPr/>
          <p:nvPr/>
        </p:nvSpPr>
        <p:spPr>
          <a:xfrm>
            <a:off x="6587694" y="4293112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solidFill>
                <a:prstClr val="white"/>
              </a:solidFill>
            </a:endParaRPr>
          </a:p>
        </p:txBody>
      </p:sp>
      <p:sp>
        <p:nvSpPr>
          <p:cNvPr id="28" name="Овал 27"/>
          <p:cNvSpPr/>
          <p:nvPr/>
        </p:nvSpPr>
        <p:spPr>
          <a:xfrm>
            <a:off x="7307774" y="2348880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solidFill>
                <a:prstClr val="white"/>
              </a:solidFill>
            </a:endParaRPr>
          </a:p>
        </p:txBody>
      </p:sp>
      <p:sp>
        <p:nvSpPr>
          <p:cNvPr id="29" name="Овал 28"/>
          <p:cNvSpPr/>
          <p:nvPr/>
        </p:nvSpPr>
        <p:spPr>
          <a:xfrm>
            <a:off x="7883838" y="4293112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solidFill>
                <a:prstClr val="white"/>
              </a:solidFill>
            </a:endParaRPr>
          </a:p>
        </p:txBody>
      </p:sp>
      <p:sp>
        <p:nvSpPr>
          <p:cNvPr id="30" name="Овал 29"/>
          <p:cNvSpPr/>
          <p:nvPr/>
        </p:nvSpPr>
        <p:spPr>
          <a:xfrm>
            <a:off x="8036238" y="5229216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solidFill>
                <a:prstClr val="white"/>
              </a:solidFill>
            </a:endParaRPr>
          </a:p>
        </p:txBody>
      </p:sp>
      <p:sp>
        <p:nvSpPr>
          <p:cNvPr id="31" name="Овал 30"/>
          <p:cNvSpPr/>
          <p:nvPr/>
        </p:nvSpPr>
        <p:spPr>
          <a:xfrm>
            <a:off x="10575427" y="5229200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solidFill>
                <a:prstClr val="white"/>
              </a:solidFill>
            </a:endParaRPr>
          </a:p>
        </p:txBody>
      </p:sp>
      <p:sp>
        <p:nvSpPr>
          <p:cNvPr id="32" name="Овал 31"/>
          <p:cNvSpPr/>
          <p:nvPr/>
        </p:nvSpPr>
        <p:spPr>
          <a:xfrm>
            <a:off x="8171854" y="2348880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solidFill>
                <a:prstClr val="white"/>
              </a:solidFill>
            </a:endParaRPr>
          </a:p>
        </p:txBody>
      </p:sp>
      <p:sp>
        <p:nvSpPr>
          <p:cNvPr id="33" name="Овал 32"/>
          <p:cNvSpPr/>
          <p:nvPr/>
        </p:nvSpPr>
        <p:spPr>
          <a:xfrm>
            <a:off x="8459902" y="3285000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solidFill>
                <a:prstClr val="white"/>
              </a:solidFill>
            </a:endParaRPr>
          </a:p>
        </p:txBody>
      </p:sp>
      <p:sp>
        <p:nvSpPr>
          <p:cNvPr id="34" name="Овал 33"/>
          <p:cNvSpPr/>
          <p:nvPr/>
        </p:nvSpPr>
        <p:spPr>
          <a:xfrm>
            <a:off x="9684038" y="5229200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solidFill>
                <a:prstClr val="white"/>
              </a:solidFill>
            </a:endParaRPr>
          </a:p>
        </p:txBody>
      </p:sp>
      <p:cxnSp>
        <p:nvCxnSpPr>
          <p:cNvPr id="14336" name="Прямая со стрелкой 14335"/>
          <p:cNvCxnSpPr>
            <a:cxnSpLocks/>
            <a:stCxn id="23" idx="4"/>
            <a:endCxn id="24" idx="0"/>
          </p:cNvCxnSpPr>
          <p:nvPr/>
        </p:nvCxnSpPr>
        <p:spPr>
          <a:xfrm>
            <a:off x="4751478" y="2492880"/>
            <a:ext cx="152400" cy="792104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340" name="Прямая со стрелкой 14339"/>
          <p:cNvCxnSpPr>
            <a:cxnSpLocks/>
            <a:stCxn id="23" idx="5"/>
            <a:endCxn id="25" idx="0"/>
          </p:cNvCxnSpPr>
          <p:nvPr/>
        </p:nvCxnSpPr>
        <p:spPr>
          <a:xfrm>
            <a:off x="4802390" y="2471792"/>
            <a:ext cx="705176" cy="182132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342" name="Прямая со стрелкой 14341"/>
          <p:cNvCxnSpPr>
            <a:cxnSpLocks/>
            <a:stCxn id="23" idx="5"/>
            <a:endCxn id="31" idx="1"/>
          </p:cNvCxnSpPr>
          <p:nvPr/>
        </p:nvCxnSpPr>
        <p:spPr>
          <a:xfrm>
            <a:off x="4802390" y="2471792"/>
            <a:ext cx="5794125" cy="2778496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345" name="Прямая со стрелкой 14344"/>
          <p:cNvCxnSpPr>
            <a:stCxn id="26" idx="4"/>
            <a:endCxn id="27" idx="0"/>
          </p:cNvCxnSpPr>
          <p:nvPr/>
        </p:nvCxnSpPr>
        <p:spPr>
          <a:xfrm>
            <a:off x="6168000" y="3435796"/>
            <a:ext cx="491694" cy="857316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347" name="Прямая со стрелкой 14346"/>
          <p:cNvCxnSpPr>
            <a:cxnSpLocks/>
            <a:stCxn id="26" idx="5"/>
            <a:endCxn id="30" idx="1"/>
          </p:cNvCxnSpPr>
          <p:nvPr/>
        </p:nvCxnSpPr>
        <p:spPr>
          <a:xfrm>
            <a:off x="6218912" y="3414708"/>
            <a:ext cx="1838414" cy="1835596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349" name="Прямая со стрелкой 14348"/>
          <p:cNvCxnSpPr>
            <a:cxnSpLocks/>
            <a:stCxn id="26" idx="7"/>
            <a:endCxn id="28" idx="3"/>
          </p:cNvCxnSpPr>
          <p:nvPr/>
        </p:nvCxnSpPr>
        <p:spPr>
          <a:xfrm flipV="1">
            <a:off x="6218912" y="2471792"/>
            <a:ext cx="1109950" cy="841092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357" name="Прямая со стрелкой 14356"/>
          <p:cNvCxnSpPr>
            <a:stCxn id="29" idx="0"/>
            <a:endCxn id="32" idx="4"/>
          </p:cNvCxnSpPr>
          <p:nvPr/>
        </p:nvCxnSpPr>
        <p:spPr>
          <a:xfrm flipV="1">
            <a:off x="7955838" y="2492880"/>
            <a:ext cx="288016" cy="1800232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359" name="Прямая со стрелкой 14358"/>
          <p:cNvCxnSpPr>
            <a:stCxn id="29" idx="5"/>
            <a:endCxn id="34" idx="1"/>
          </p:cNvCxnSpPr>
          <p:nvPr/>
        </p:nvCxnSpPr>
        <p:spPr>
          <a:xfrm>
            <a:off x="8006750" y="4416024"/>
            <a:ext cx="1698376" cy="834264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361" name="Прямая со стрелкой 14360"/>
          <p:cNvCxnSpPr>
            <a:stCxn id="29" idx="7"/>
            <a:endCxn id="33" idx="3"/>
          </p:cNvCxnSpPr>
          <p:nvPr/>
        </p:nvCxnSpPr>
        <p:spPr>
          <a:xfrm flipV="1">
            <a:off x="8006750" y="3407912"/>
            <a:ext cx="474240" cy="906288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362" name="TextBox 14361"/>
          <p:cNvSpPr txBox="1"/>
          <p:nvPr/>
        </p:nvSpPr>
        <p:spPr>
          <a:xfrm>
            <a:off x="4412518" y="2708920"/>
            <a:ext cx="491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baseline="-25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ru-RU" baseline="-25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6428742" y="2708920"/>
            <a:ext cx="520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baseline="-25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ru-RU" baseline="-25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7595790" y="3635732"/>
            <a:ext cx="51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baseline="-25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ru-RU" baseline="-25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768951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5" grpId="0"/>
      <p:bldP spid="20" grpId="0"/>
      <p:bldP spid="21" grpId="0"/>
      <p:bldP spid="22" grpId="0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14362" grpId="0"/>
      <p:bldP spid="62" grpId="0"/>
      <p:bldP spid="6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_h1"/>
          <p:cNvSpPr>
            <a:spLocks noGrp="1" noChangeArrowheads="1"/>
          </p:cNvSpPr>
          <p:nvPr>
            <p:ph type="title"/>
          </p:nvPr>
        </p:nvSpPr>
        <p:spPr>
          <a:xfrm>
            <a:off x="3359696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Проблемы взаимодействия</a:t>
            </a:r>
          </a:p>
        </p:txBody>
      </p:sp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372396" y="1772817"/>
            <a:ext cx="8496300" cy="446722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ct val="20000"/>
              </a:spcAft>
              <a:defRPr/>
            </a:pPr>
            <a:endParaRPr lang="en-US" sz="2000" noProof="1">
              <a:solidFill>
                <a:srgbClr val="1F497D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359696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 fontAlgn="base">
              <a:spcBef>
                <a:spcPct val="0"/>
              </a:spcBef>
              <a:spcAft>
                <a:spcPct val="20000"/>
              </a:spcAft>
              <a:defRPr/>
            </a:pPr>
            <a:r>
              <a:rPr lang="ru-RU" sz="3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 Примитивы взаимодействия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007446" y="2060849"/>
            <a:ext cx="71287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Send (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msg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to)	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передача сообщения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Receive (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msg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from) 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	- прием сообщения</a:t>
            </a:r>
          </a:p>
        </p:txBody>
      </p:sp>
    </p:spTree>
    <p:extLst>
      <p:ext uri="{BB962C8B-B14F-4D97-AF65-F5344CB8AC3E}">
        <p14:creationId xmlns:p14="http://schemas.microsoft.com/office/powerpoint/2010/main" val="230648162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372396" y="1772817"/>
            <a:ext cx="8496300" cy="446722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ct val="20000"/>
              </a:spcAft>
              <a:defRPr/>
            </a:pPr>
            <a:endParaRPr lang="en-US" sz="2000" noProof="1">
              <a:solidFill>
                <a:srgbClr val="1F497D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Прямоугольник: скругленные углы 3"/>
          <p:cNvSpPr/>
          <p:nvPr/>
        </p:nvSpPr>
        <p:spPr>
          <a:xfrm>
            <a:off x="4007446" y="3068960"/>
            <a:ext cx="2880320" cy="2232248"/>
          </a:xfrm>
          <a:prstGeom prst="round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338" name="_h1"/>
          <p:cNvSpPr>
            <a:spLocks noGrp="1" noChangeArrowheads="1"/>
          </p:cNvSpPr>
          <p:nvPr>
            <p:ph type="title"/>
          </p:nvPr>
        </p:nvSpPr>
        <p:spPr>
          <a:xfrm>
            <a:off x="3359696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Проблемы взаимодействия</a:t>
            </a: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359696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 fontAlgn="base">
              <a:spcBef>
                <a:spcPct val="0"/>
              </a:spcBef>
              <a:spcAft>
                <a:spcPct val="20000"/>
              </a:spcAft>
              <a:defRPr/>
            </a:pPr>
            <a:r>
              <a:rPr lang="ru-RU" sz="3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 Примитивы взаимодействия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007446" y="2060849"/>
            <a:ext cx="73448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Send (void *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buf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count,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to)		- 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передача 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Receive (void *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buf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count,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from) 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	- прием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23470" y="3212976"/>
            <a:ext cx="201622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 = 100;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Send (&amp;A, 1, 2);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 = 0;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Прямоугольник: скругленные углы 10"/>
          <p:cNvSpPr/>
          <p:nvPr/>
        </p:nvSpPr>
        <p:spPr>
          <a:xfrm>
            <a:off x="8327926" y="3068960"/>
            <a:ext cx="2880320" cy="2232248"/>
          </a:xfrm>
          <a:prstGeom prst="round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543950" y="3212977"/>
            <a:ext cx="244827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Receive (&amp;A, 1, 1);</a:t>
            </a:r>
          </a:p>
          <a:p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printf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(“%d\n”, A);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51662" y="5517233"/>
            <a:ext cx="30963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Что напечатает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264583332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" grpId="0"/>
      <p:bldP spid="11" grpId="0" animBg="1"/>
      <p:bldP spid="1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372396" y="1772817"/>
            <a:ext cx="8496300" cy="446722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ct val="20000"/>
              </a:spcAft>
              <a:defRPr/>
            </a:pPr>
            <a:endParaRPr lang="en-US" sz="2000" noProof="1">
              <a:solidFill>
                <a:srgbClr val="1F497D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338" name="_h1"/>
          <p:cNvSpPr>
            <a:spLocks noGrp="1" noChangeArrowheads="1"/>
          </p:cNvSpPr>
          <p:nvPr>
            <p:ph type="title"/>
          </p:nvPr>
        </p:nvSpPr>
        <p:spPr>
          <a:xfrm>
            <a:off x="3359696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Проблемы взаимодействия</a:t>
            </a: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359696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 fontAlgn="base">
              <a:spcBef>
                <a:spcPct val="0"/>
              </a:spcBef>
              <a:spcAft>
                <a:spcPct val="20000"/>
              </a:spcAft>
              <a:defRPr/>
            </a:pPr>
            <a:r>
              <a:rPr lang="ru-RU" sz="3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 Примитивы взаимодействия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935438" y="1916833"/>
            <a:ext cx="7344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Блокировка без буферизации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7446" y="2636912"/>
            <a:ext cx="72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ru-RU" sz="20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4007446" y="3212976"/>
            <a:ext cx="144016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159574" y="2627744"/>
            <a:ext cx="1080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send</a:t>
            </a:r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007446" y="4397042"/>
            <a:ext cx="72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ru-RU" sz="20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8" name="Прямая соединительная линия 17"/>
          <p:cNvCxnSpPr>
            <a:cxnSpLocks/>
          </p:cNvCxnSpPr>
          <p:nvPr/>
        </p:nvCxnSpPr>
        <p:spPr>
          <a:xfrm>
            <a:off x="4007446" y="5157192"/>
            <a:ext cx="216024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>
            <a:cxnSpLocks/>
            <a:endCxn id="55" idx="0"/>
          </p:cNvCxnSpPr>
          <p:nvPr/>
        </p:nvCxnSpPr>
        <p:spPr>
          <a:xfrm>
            <a:off x="5472832" y="3284984"/>
            <a:ext cx="622854" cy="1800216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/>
          <p:nvPr/>
        </p:nvCxnSpPr>
        <p:spPr>
          <a:xfrm>
            <a:off x="6120912" y="5157192"/>
            <a:ext cx="220701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Овал 24"/>
          <p:cNvSpPr/>
          <p:nvPr/>
        </p:nvSpPr>
        <p:spPr>
          <a:xfrm>
            <a:off x="8255934" y="5085200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TextBox 25"/>
          <p:cNvSpPr txBox="1"/>
          <p:nvPr/>
        </p:nvSpPr>
        <p:spPr>
          <a:xfrm>
            <a:off x="8039894" y="5466710"/>
            <a:ext cx="1080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receive</a:t>
            </a:r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1" name="Прямая соединительная линия 30"/>
          <p:cNvCxnSpPr>
            <a:cxnSpLocks/>
          </p:cNvCxnSpPr>
          <p:nvPr/>
        </p:nvCxnSpPr>
        <p:spPr>
          <a:xfrm>
            <a:off x="5447598" y="3212976"/>
            <a:ext cx="3600408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337" name="Прямая со стрелкой 14336"/>
          <p:cNvCxnSpPr>
            <a:cxnSpLocks/>
            <a:stCxn id="25" idx="0"/>
            <a:endCxn id="57" idx="3"/>
          </p:cNvCxnSpPr>
          <p:nvPr/>
        </p:nvCxnSpPr>
        <p:spPr>
          <a:xfrm flipV="1">
            <a:off x="8327934" y="3263880"/>
            <a:ext cx="669168" cy="182132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40" name="Прямая соединительная линия 14339"/>
          <p:cNvCxnSpPr/>
          <p:nvPr/>
        </p:nvCxnSpPr>
        <p:spPr>
          <a:xfrm>
            <a:off x="9048006" y="3212976"/>
            <a:ext cx="144016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341" name="Прямоугольник 14340"/>
          <p:cNvSpPr/>
          <p:nvPr/>
        </p:nvSpPr>
        <p:spPr>
          <a:xfrm>
            <a:off x="9048006" y="3212976"/>
            <a:ext cx="1440160" cy="144016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4343" name="Прямая соединительная линия 14342"/>
          <p:cNvCxnSpPr>
            <a:cxnSpLocks/>
            <a:stCxn id="25" idx="6"/>
          </p:cNvCxnSpPr>
          <p:nvPr/>
        </p:nvCxnSpPr>
        <p:spPr>
          <a:xfrm flipV="1">
            <a:off x="8399934" y="5157192"/>
            <a:ext cx="936104" cy="8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Прямоугольник 40"/>
          <p:cNvSpPr/>
          <p:nvPr/>
        </p:nvSpPr>
        <p:spPr>
          <a:xfrm>
            <a:off x="9264030" y="5013176"/>
            <a:ext cx="1440160" cy="144016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345" name="Стрелка: вниз 14344"/>
          <p:cNvSpPr/>
          <p:nvPr/>
        </p:nvSpPr>
        <p:spPr>
          <a:xfrm rot="-780000">
            <a:off x="9313532" y="3624491"/>
            <a:ext cx="1224136" cy="1203589"/>
          </a:xfrm>
          <a:prstGeom prst="downArrow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4347" name="Прямая соединительная линия 14346"/>
          <p:cNvCxnSpPr/>
          <p:nvPr/>
        </p:nvCxnSpPr>
        <p:spPr>
          <a:xfrm>
            <a:off x="9264030" y="5157192"/>
            <a:ext cx="1440160" cy="175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49" name="Прямая соединительная линия 14348"/>
          <p:cNvCxnSpPr>
            <a:cxnSpLocks/>
          </p:cNvCxnSpPr>
          <p:nvPr/>
        </p:nvCxnSpPr>
        <p:spPr>
          <a:xfrm>
            <a:off x="10704190" y="5174732"/>
            <a:ext cx="7200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52" name="Прямая соединительная линия 14351"/>
          <p:cNvCxnSpPr>
            <a:cxnSpLocks/>
          </p:cNvCxnSpPr>
          <p:nvPr/>
        </p:nvCxnSpPr>
        <p:spPr>
          <a:xfrm>
            <a:off x="10416158" y="3212977"/>
            <a:ext cx="1008112" cy="1754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3" name="Прямоугольник 52"/>
          <p:cNvSpPr/>
          <p:nvPr/>
        </p:nvSpPr>
        <p:spPr>
          <a:xfrm>
            <a:off x="5447598" y="2945637"/>
            <a:ext cx="5040568" cy="144016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4" name="Прямоугольник 53"/>
          <p:cNvSpPr/>
          <p:nvPr/>
        </p:nvSpPr>
        <p:spPr>
          <a:xfrm>
            <a:off x="8327926" y="5309578"/>
            <a:ext cx="2376264" cy="144016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Овал 14"/>
          <p:cNvSpPr/>
          <p:nvPr/>
        </p:nvSpPr>
        <p:spPr>
          <a:xfrm>
            <a:off x="5375598" y="3140984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5" name="Овал 54"/>
          <p:cNvSpPr/>
          <p:nvPr/>
        </p:nvSpPr>
        <p:spPr>
          <a:xfrm>
            <a:off x="6023686" y="5085200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7" name="Овал 56"/>
          <p:cNvSpPr/>
          <p:nvPr/>
        </p:nvSpPr>
        <p:spPr>
          <a:xfrm>
            <a:off x="8976014" y="3140968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9" name="Овал 58"/>
          <p:cNvSpPr/>
          <p:nvPr/>
        </p:nvSpPr>
        <p:spPr>
          <a:xfrm>
            <a:off x="9192038" y="5085200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0" name="Овал 59"/>
          <p:cNvSpPr/>
          <p:nvPr/>
        </p:nvSpPr>
        <p:spPr>
          <a:xfrm>
            <a:off x="10416174" y="3140968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1" name="Овал 60"/>
          <p:cNvSpPr/>
          <p:nvPr/>
        </p:nvSpPr>
        <p:spPr>
          <a:xfrm>
            <a:off x="10632182" y="5085184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7214878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4" grpId="0"/>
      <p:bldP spid="17" grpId="0"/>
      <p:bldP spid="25" grpId="0" animBg="1"/>
      <p:bldP spid="26" grpId="0"/>
      <p:bldP spid="14341" grpId="0" animBg="1"/>
      <p:bldP spid="41" grpId="0" animBg="1"/>
      <p:bldP spid="14345" grpId="0" animBg="1"/>
      <p:bldP spid="53" grpId="0" animBg="1"/>
      <p:bldP spid="54" grpId="0" animBg="1"/>
      <p:bldP spid="15" grpId="0" animBg="1"/>
      <p:bldP spid="55" grpId="0" animBg="1"/>
      <p:bldP spid="57" grpId="0" animBg="1"/>
      <p:bldP spid="59" grpId="0" animBg="1"/>
      <p:bldP spid="60" grpId="0" animBg="1"/>
      <p:bldP spid="61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360340" y="1772817"/>
            <a:ext cx="8496300" cy="446722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ct val="20000"/>
              </a:spcAft>
              <a:defRPr/>
            </a:pPr>
            <a:endParaRPr lang="en-US" sz="2000" noProof="1">
              <a:solidFill>
                <a:srgbClr val="1F497D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338" name="_h1"/>
          <p:cNvSpPr>
            <a:spLocks noGrp="1" noChangeArrowheads="1"/>
          </p:cNvSpPr>
          <p:nvPr>
            <p:ph type="title"/>
          </p:nvPr>
        </p:nvSpPr>
        <p:spPr>
          <a:xfrm>
            <a:off x="3347640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Проблемы взаимодействия</a:t>
            </a: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347640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 fontAlgn="base">
              <a:spcBef>
                <a:spcPct val="0"/>
              </a:spcBef>
              <a:spcAft>
                <a:spcPct val="20000"/>
              </a:spcAft>
              <a:defRPr/>
            </a:pPr>
            <a:r>
              <a:rPr lang="ru-RU" sz="3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 Примитивы взаимодействия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923382" y="1916833"/>
            <a:ext cx="7344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Блокировка без буферизации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95390" y="2636912"/>
            <a:ext cx="72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ru-RU" sz="20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Прямая соединительная линия 7"/>
          <p:cNvCxnSpPr>
            <a:cxnSpLocks/>
            <a:endCxn id="34" idx="2"/>
          </p:cNvCxnSpPr>
          <p:nvPr/>
        </p:nvCxnSpPr>
        <p:spPr>
          <a:xfrm>
            <a:off x="3995390" y="3212976"/>
            <a:ext cx="3528392" cy="917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995390" y="4397042"/>
            <a:ext cx="72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ru-RU" sz="20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8" name="Прямая соединительная линия 17"/>
          <p:cNvCxnSpPr>
            <a:cxnSpLocks/>
            <a:endCxn id="25" idx="6"/>
          </p:cNvCxnSpPr>
          <p:nvPr/>
        </p:nvCxnSpPr>
        <p:spPr>
          <a:xfrm>
            <a:off x="3995390" y="5157192"/>
            <a:ext cx="1368136" cy="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>
            <a:cxnSpLocks/>
          </p:cNvCxnSpPr>
          <p:nvPr/>
        </p:nvCxnSpPr>
        <p:spPr>
          <a:xfrm flipV="1">
            <a:off x="8315870" y="5157192"/>
            <a:ext cx="936104" cy="1754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Овал 24"/>
          <p:cNvSpPr/>
          <p:nvPr/>
        </p:nvSpPr>
        <p:spPr>
          <a:xfrm>
            <a:off x="5219526" y="5085200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TextBox 25"/>
          <p:cNvSpPr txBox="1"/>
          <p:nvPr/>
        </p:nvSpPr>
        <p:spPr>
          <a:xfrm>
            <a:off x="4787478" y="5466710"/>
            <a:ext cx="1080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receive</a:t>
            </a:r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1" name="Прямая соединительная линия 30"/>
          <p:cNvCxnSpPr>
            <a:cxnSpLocks/>
          </p:cNvCxnSpPr>
          <p:nvPr/>
        </p:nvCxnSpPr>
        <p:spPr>
          <a:xfrm>
            <a:off x="7608490" y="3212976"/>
            <a:ext cx="1427460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337" name="Прямая со стрелкой 14336"/>
          <p:cNvCxnSpPr>
            <a:cxnSpLocks/>
            <a:stCxn id="38" idx="7"/>
            <a:endCxn id="46" idx="3"/>
          </p:cNvCxnSpPr>
          <p:nvPr/>
        </p:nvCxnSpPr>
        <p:spPr>
          <a:xfrm flipV="1">
            <a:off x="8366790" y="3263880"/>
            <a:ext cx="618240" cy="1842392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40" name="Прямая соединительная линия 14339"/>
          <p:cNvCxnSpPr/>
          <p:nvPr/>
        </p:nvCxnSpPr>
        <p:spPr>
          <a:xfrm>
            <a:off x="9035950" y="3212976"/>
            <a:ext cx="144016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341" name="Прямоугольник 14340"/>
          <p:cNvSpPr/>
          <p:nvPr/>
        </p:nvSpPr>
        <p:spPr>
          <a:xfrm>
            <a:off x="9035950" y="3212976"/>
            <a:ext cx="1440160" cy="144016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4343" name="Прямая соединительная линия 14342"/>
          <p:cNvCxnSpPr>
            <a:cxnSpLocks/>
          </p:cNvCxnSpPr>
          <p:nvPr/>
        </p:nvCxnSpPr>
        <p:spPr>
          <a:xfrm>
            <a:off x="5363542" y="5157200"/>
            <a:ext cx="2952328" cy="17532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Прямоугольник 40"/>
          <p:cNvSpPr/>
          <p:nvPr/>
        </p:nvSpPr>
        <p:spPr>
          <a:xfrm>
            <a:off x="9251974" y="5013176"/>
            <a:ext cx="1440160" cy="144016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345" name="Стрелка: вниз 14344"/>
          <p:cNvSpPr/>
          <p:nvPr/>
        </p:nvSpPr>
        <p:spPr>
          <a:xfrm rot="-780000">
            <a:off x="9301476" y="3624491"/>
            <a:ext cx="1224136" cy="1203589"/>
          </a:xfrm>
          <a:prstGeom prst="downArrow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4347" name="Прямая соединительная линия 14346"/>
          <p:cNvCxnSpPr/>
          <p:nvPr/>
        </p:nvCxnSpPr>
        <p:spPr>
          <a:xfrm>
            <a:off x="9251974" y="5157192"/>
            <a:ext cx="1440160" cy="175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49" name="Прямая соединительная линия 14348"/>
          <p:cNvCxnSpPr>
            <a:cxnSpLocks/>
          </p:cNvCxnSpPr>
          <p:nvPr/>
        </p:nvCxnSpPr>
        <p:spPr>
          <a:xfrm>
            <a:off x="10692134" y="5174732"/>
            <a:ext cx="7200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52" name="Прямая соединительная линия 14351"/>
          <p:cNvCxnSpPr>
            <a:cxnSpLocks/>
          </p:cNvCxnSpPr>
          <p:nvPr/>
        </p:nvCxnSpPr>
        <p:spPr>
          <a:xfrm>
            <a:off x="10404102" y="3212977"/>
            <a:ext cx="1008112" cy="1754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3" name="Прямоугольник 52"/>
          <p:cNvSpPr/>
          <p:nvPr/>
        </p:nvSpPr>
        <p:spPr>
          <a:xfrm>
            <a:off x="7595790" y="2945637"/>
            <a:ext cx="2880320" cy="144016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4" name="Прямоугольник 53"/>
          <p:cNvSpPr/>
          <p:nvPr/>
        </p:nvSpPr>
        <p:spPr>
          <a:xfrm>
            <a:off x="5291534" y="5309578"/>
            <a:ext cx="5400600" cy="144016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Овал 33"/>
          <p:cNvSpPr/>
          <p:nvPr/>
        </p:nvSpPr>
        <p:spPr>
          <a:xfrm>
            <a:off x="7523782" y="3150152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TextBox 34"/>
          <p:cNvSpPr txBox="1"/>
          <p:nvPr/>
        </p:nvSpPr>
        <p:spPr>
          <a:xfrm>
            <a:off x="7307758" y="2636912"/>
            <a:ext cx="1080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send</a:t>
            </a:r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6" name="Прямая со стрелкой 35"/>
          <p:cNvCxnSpPr>
            <a:cxnSpLocks/>
            <a:stCxn id="34" idx="5"/>
            <a:endCxn id="38" idx="1"/>
          </p:cNvCxnSpPr>
          <p:nvPr/>
        </p:nvCxnSpPr>
        <p:spPr>
          <a:xfrm>
            <a:off x="7646694" y="3273064"/>
            <a:ext cx="618272" cy="1833208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Овал 37"/>
          <p:cNvSpPr/>
          <p:nvPr/>
        </p:nvSpPr>
        <p:spPr>
          <a:xfrm>
            <a:off x="8243878" y="5085184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Овал 45"/>
          <p:cNvSpPr/>
          <p:nvPr/>
        </p:nvSpPr>
        <p:spPr>
          <a:xfrm>
            <a:off x="8963942" y="3140968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Овал 47"/>
          <p:cNvSpPr/>
          <p:nvPr/>
        </p:nvSpPr>
        <p:spPr>
          <a:xfrm>
            <a:off x="10404118" y="3140968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9" name="Овал 48"/>
          <p:cNvSpPr/>
          <p:nvPr/>
        </p:nvSpPr>
        <p:spPr>
          <a:xfrm>
            <a:off x="9179982" y="5085184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0" name="Овал 49"/>
          <p:cNvSpPr/>
          <p:nvPr/>
        </p:nvSpPr>
        <p:spPr>
          <a:xfrm>
            <a:off x="10620126" y="5085184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2596625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/>
      <p:bldP spid="14341" grpId="0" animBg="1"/>
      <p:bldP spid="41" grpId="0" animBg="1"/>
      <p:bldP spid="14345" grpId="0" animBg="1"/>
      <p:bldP spid="53" grpId="0" animBg="1"/>
      <p:bldP spid="54" grpId="0" animBg="1"/>
      <p:bldP spid="34" grpId="0" animBg="1"/>
      <p:bldP spid="35" grpId="0"/>
      <p:bldP spid="38" grpId="0" animBg="1"/>
      <p:bldP spid="46" grpId="0" animBg="1"/>
      <p:bldP spid="48" grpId="0" animBg="1"/>
      <p:bldP spid="49" grpId="0" animBg="1"/>
      <p:bldP spid="50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372396" y="1772817"/>
            <a:ext cx="8496300" cy="446722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ct val="20000"/>
              </a:spcAft>
              <a:defRPr/>
            </a:pPr>
            <a:endParaRPr lang="en-US" sz="2000" noProof="1">
              <a:solidFill>
                <a:srgbClr val="1F497D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Прямоугольник: скругленные углы 3"/>
          <p:cNvSpPr/>
          <p:nvPr/>
        </p:nvSpPr>
        <p:spPr>
          <a:xfrm>
            <a:off x="4007446" y="2708920"/>
            <a:ext cx="2880320" cy="2232248"/>
          </a:xfrm>
          <a:prstGeom prst="round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338" name="_h1"/>
          <p:cNvSpPr>
            <a:spLocks noGrp="1" noChangeArrowheads="1"/>
          </p:cNvSpPr>
          <p:nvPr>
            <p:ph type="title"/>
          </p:nvPr>
        </p:nvSpPr>
        <p:spPr>
          <a:xfrm>
            <a:off x="3359696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Проблемы взаимодействия</a:t>
            </a: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359696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 fontAlgn="base">
              <a:spcBef>
                <a:spcPct val="0"/>
              </a:spcBef>
              <a:spcAft>
                <a:spcPct val="20000"/>
              </a:spcAft>
              <a:defRPr/>
            </a:pPr>
            <a:r>
              <a:rPr lang="ru-RU" sz="3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 Примитивы взаимодействия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223470" y="2852937"/>
            <a:ext cx="237626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Send (&amp;A, 1, 2);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Receive (&amp;B, 1, 2);</a:t>
            </a:r>
          </a:p>
        </p:txBody>
      </p:sp>
      <p:sp>
        <p:nvSpPr>
          <p:cNvPr id="11" name="Прямоугольник: скругленные углы 10"/>
          <p:cNvSpPr/>
          <p:nvPr/>
        </p:nvSpPr>
        <p:spPr>
          <a:xfrm>
            <a:off x="8327926" y="2708920"/>
            <a:ext cx="2880320" cy="2232248"/>
          </a:xfrm>
          <a:prstGeom prst="round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543950" y="2852937"/>
            <a:ext cx="244827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Send (&amp;A, 1, 1);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Receive (&amp;B, 1, 1);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5438" y="1916833"/>
            <a:ext cx="7344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Блокировка без буферизации</a:t>
            </a:r>
          </a:p>
        </p:txBody>
      </p:sp>
    </p:spTree>
    <p:extLst>
      <p:ext uri="{BB962C8B-B14F-4D97-AF65-F5344CB8AC3E}">
        <p14:creationId xmlns:p14="http://schemas.microsoft.com/office/powerpoint/2010/main" val="3569133633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" grpId="0"/>
      <p:bldP spid="11" grpId="0" animBg="1"/>
      <p:bldP spid="1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372396" y="1772817"/>
            <a:ext cx="8496300" cy="446722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ct val="20000"/>
              </a:spcAft>
              <a:defRPr/>
            </a:pPr>
            <a:endParaRPr lang="en-US" sz="2000" noProof="1">
              <a:solidFill>
                <a:srgbClr val="1F497D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338" name="_h1"/>
          <p:cNvSpPr>
            <a:spLocks noGrp="1" noChangeArrowheads="1"/>
          </p:cNvSpPr>
          <p:nvPr>
            <p:ph type="title"/>
          </p:nvPr>
        </p:nvSpPr>
        <p:spPr>
          <a:xfrm>
            <a:off x="3359696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Проблемы взаимодействия</a:t>
            </a: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359696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 fontAlgn="base">
              <a:spcBef>
                <a:spcPct val="0"/>
              </a:spcBef>
              <a:spcAft>
                <a:spcPct val="20000"/>
              </a:spcAft>
              <a:defRPr/>
            </a:pPr>
            <a:r>
              <a:rPr lang="ru-RU" sz="3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 Примитивы взаимодействия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935438" y="1916833"/>
            <a:ext cx="7344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Блокировка без буферизации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7446" y="2636912"/>
            <a:ext cx="72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ru-RU" sz="20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4007446" y="3212976"/>
            <a:ext cx="144016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159574" y="2627744"/>
            <a:ext cx="1080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send</a:t>
            </a:r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007446" y="4397042"/>
            <a:ext cx="72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ru-RU" sz="20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8" name="Прямая соединительная линия 17"/>
          <p:cNvCxnSpPr>
            <a:cxnSpLocks/>
          </p:cNvCxnSpPr>
          <p:nvPr/>
        </p:nvCxnSpPr>
        <p:spPr>
          <a:xfrm>
            <a:off x="4007446" y="5157192"/>
            <a:ext cx="216024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>
            <a:cxnSpLocks/>
            <a:endCxn id="55" idx="0"/>
          </p:cNvCxnSpPr>
          <p:nvPr/>
        </p:nvCxnSpPr>
        <p:spPr>
          <a:xfrm>
            <a:off x="5472832" y="3284984"/>
            <a:ext cx="622854" cy="1800216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/>
          <p:nvPr/>
        </p:nvCxnSpPr>
        <p:spPr>
          <a:xfrm>
            <a:off x="6120912" y="5157192"/>
            <a:ext cx="220701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Овал 24"/>
          <p:cNvSpPr/>
          <p:nvPr/>
        </p:nvSpPr>
        <p:spPr>
          <a:xfrm>
            <a:off x="8255934" y="5085200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TextBox 25"/>
          <p:cNvSpPr txBox="1"/>
          <p:nvPr/>
        </p:nvSpPr>
        <p:spPr>
          <a:xfrm>
            <a:off x="8039894" y="5466710"/>
            <a:ext cx="1080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receive</a:t>
            </a:r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1" name="Прямая соединительная линия 30"/>
          <p:cNvCxnSpPr>
            <a:cxnSpLocks/>
          </p:cNvCxnSpPr>
          <p:nvPr/>
        </p:nvCxnSpPr>
        <p:spPr>
          <a:xfrm>
            <a:off x="5447598" y="3212976"/>
            <a:ext cx="3600408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337" name="Прямая со стрелкой 14336"/>
          <p:cNvCxnSpPr>
            <a:cxnSpLocks/>
            <a:stCxn id="25" idx="0"/>
            <a:endCxn id="57" idx="3"/>
          </p:cNvCxnSpPr>
          <p:nvPr/>
        </p:nvCxnSpPr>
        <p:spPr>
          <a:xfrm flipV="1">
            <a:off x="8327934" y="3263880"/>
            <a:ext cx="669168" cy="182132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40" name="Прямая соединительная линия 14339"/>
          <p:cNvCxnSpPr/>
          <p:nvPr/>
        </p:nvCxnSpPr>
        <p:spPr>
          <a:xfrm>
            <a:off x="9048006" y="3212976"/>
            <a:ext cx="144016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341" name="Прямоугольник 14340"/>
          <p:cNvSpPr/>
          <p:nvPr/>
        </p:nvSpPr>
        <p:spPr>
          <a:xfrm>
            <a:off x="9048006" y="3212976"/>
            <a:ext cx="1440160" cy="144016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4343" name="Прямая соединительная линия 14342"/>
          <p:cNvCxnSpPr>
            <a:cxnSpLocks/>
            <a:stCxn id="25" idx="6"/>
          </p:cNvCxnSpPr>
          <p:nvPr/>
        </p:nvCxnSpPr>
        <p:spPr>
          <a:xfrm flipV="1">
            <a:off x="8399934" y="5157192"/>
            <a:ext cx="936104" cy="8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Прямоугольник 40"/>
          <p:cNvSpPr/>
          <p:nvPr/>
        </p:nvSpPr>
        <p:spPr>
          <a:xfrm>
            <a:off x="9264030" y="5013176"/>
            <a:ext cx="1440160" cy="144016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345" name="Стрелка: вниз 14344"/>
          <p:cNvSpPr/>
          <p:nvPr/>
        </p:nvSpPr>
        <p:spPr>
          <a:xfrm rot="-780000">
            <a:off x="9313532" y="3624491"/>
            <a:ext cx="1224136" cy="1203589"/>
          </a:xfrm>
          <a:prstGeom prst="downArrow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4347" name="Прямая соединительная линия 14346"/>
          <p:cNvCxnSpPr/>
          <p:nvPr/>
        </p:nvCxnSpPr>
        <p:spPr>
          <a:xfrm>
            <a:off x="9264030" y="5157192"/>
            <a:ext cx="1440160" cy="175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49" name="Прямая соединительная линия 14348"/>
          <p:cNvCxnSpPr>
            <a:cxnSpLocks/>
          </p:cNvCxnSpPr>
          <p:nvPr/>
        </p:nvCxnSpPr>
        <p:spPr>
          <a:xfrm>
            <a:off x="10704190" y="5174732"/>
            <a:ext cx="7200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52" name="Прямая соединительная линия 14351"/>
          <p:cNvCxnSpPr>
            <a:cxnSpLocks/>
          </p:cNvCxnSpPr>
          <p:nvPr/>
        </p:nvCxnSpPr>
        <p:spPr>
          <a:xfrm>
            <a:off x="10416158" y="3212977"/>
            <a:ext cx="1008112" cy="1754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3" name="Прямоугольник 52"/>
          <p:cNvSpPr/>
          <p:nvPr/>
        </p:nvSpPr>
        <p:spPr>
          <a:xfrm>
            <a:off x="5447598" y="2945637"/>
            <a:ext cx="5040568" cy="144016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4" name="Прямоугольник 53"/>
          <p:cNvSpPr/>
          <p:nvPr/>
        </p:nvSpPr>
        <p:spPr>
          <a:xfrm>
            <a:off x="8327926" y="5309578"/>
            <a:ext cx="2376264" cy="144016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Овал 14"/>
          <p:cNvSpPr/>
          <p:nvPr/>
        </p:nvSpPr>
        <p:spPr>
          <a:xfrm>
            <a:off x="5375598" y="3140984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5" name="Овал 54"/>
          <p:cNvSpPr/>
          <p:nvPr/>
        </p:nvSpPr>
        <p:spPr>
          <a:xfrm>
            <a:off x="6023686" y="5085200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7" name="Овал 56"/>
          <p:cNvSpPr/>
          <p:nvPr/>
        </p:nvSpPr>
        <p:spPr>
          <a:xfrm>
            <a:off x="8976014" y="3140968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9" name="Овал 58"/>
          <p:cNvSpPr/>
          <p:nvPr/>
        </p:nvSpPr>
        <p:spPr>
          <a:xfrm>
            <a:off x="9192038" y="5085200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0" name="Овал 59"/>
          <p:cNvSpPr/>
          <p:nvPr/>
        </p:nvSpPr>
        <p:spPr>
          <a:xfrm>
            <a:off x="10416174" y="3140968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1" name="Овал 60"/>
          <p:cNvSpPr/>
          <p:nvPr/>
        </p:nvSpPr>
        <p:spPr>
          <a:xfrm>
            <a:off x="10632182" y="5085184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8975672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372396" y="1772817"/>
            <a:ext cx="8496300" cy="446722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ct val="20000"/>
              </a:spcAft>
              <a:defRPr/>
            </a:pPr>
            <a:endParaRPr lang="en-US" sz="2000" noProof="1">
              <a:solidFill>
                <a:srgbClr val="1F497D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Прямоугольник: скругленные углы 3"/>
          <p:cNvSpPr/>
          <p:nvPr/>
        </p:nvSpPr>
        <p:spPr>
          <a:xfrm>
            <a:off x="4007446" y="2708920"/>
            <a:ext cx="2880320" cy="2232248"/>
          </a:xfrm>
          <a:prstGeom prst="round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338" name="_h1"/>
          <p:cNvSpPr>
            <a:spLocks noGrp="1" noChangeArrowheads="1"/>
          </p:cNvSpPr>
          <p:nvPr>
            <p:ph type="title"/>
          </p:nvPr>
        </p:nvSpPr>
        <p:spPr>
          <a:xfrm>
            <a:off x="3359696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Проблемы взаимодействия</a:t>
            </a: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359696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 fontAlgn="base">
              <a:spcBef>
                <a:spcPct val="0"/>
              </a:spcBef>
              <a:spcAft>
                <a:spcPct val="20000"/>
              </a:spcAft>
              <a:defRPr/>
            </a:pPr>
            <a:r>
              <a:rPr lang="ru-RU" sz="3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 Примитивы взаимодействия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223470" y="2852937"/>
            <a:ext cx="237626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Send (&amp;A, 1, 2);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Receive (&amp;B, 1, 2);</a:t>
            </a:r>
          </a:p>
        </p:txBody>
      </p:sp>
      <p:sp>
        <p:nvSpPr>
          <p:cNvPr id="11" name="Прямоугольник: скругленные углы 10"/>
          <p:cNvSpPr/>
          <p:nvPr/>
        </p:nvSpPr>
        <p:spPr>
          <a:xfrm>
            <a:off x="8327926" y="2708920"/>
            <a:ext cx="2880320" cy="2232248"/>
          </a:xfrm>
          <a:prstGeom prst="round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543950" y="2852937"/>
            <a:ext cx="244827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Send (&amp;A, 1, 1);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Receive (&amp;B, 1, 1);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90" y="5157193"/>
            <a:ext cx="4680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Тупиковая 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ситуация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5438" y="1916833"/>
            <a:ext cx="7344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Блокировка без буферизации</a:t>
            </a:r>
          </a:p>
        </p:txBody>
      </p:sp>
    </p:spTree>
    <p:extLst>
      <p:ext uri="{BB962C8B-B14F-4D97-AF65-F5344CB8AC3E}">
        <p14:creationId xmlns:p14="http://schemas.microsoft.com/office/powerpoint/2010/main" val="229018446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372396" y="1772817"/>
            <a:ext cx="8496300" cy="446722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ct val="20000"/>
              </a:spcAft>
              <a:defRPr/>
            </a:pPr>
            <a:endParaRPr lang="en-US" sz="2000" noProof="1">
              <a:solidFill>
                <a:srgbClr val="1F497D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Прямоугольник: скругленные углы 3"/>
          <p:cNvSpPr/>
          <p:nvPr/>
        </p:nvSpPr>
        <p:spPr>
          <a:xfrm>
            <a:off x="4007446" y="2708920"/>
            <a:ext cx="2880320" cy="2232248"/>
          </a:xfrm>
          <a:prstGeom prst="round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338" name="_h1"/>
          <p:cNvSpPr>
            <a:spLocks noGrp="1" noChangeArrowheads="1"/>
          </p:cNvSpPr>
          <p:nvPr>
            <p:ph type="title"/>
          </p:nvPr>
        </p:nvSpPr>
        <p:spPr>
          <a:xfrm>
            <a:off x="3359696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Проблемы взаимодействия</a:t>
            </a: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359696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 fontAlgn="base">
              <a:spcBef>
                <a:spcPct val="0"/>
              </a:spcBef>
              <a:spcAft>
                <a:spcPct val="20000"/>
              </a:spcAft>
              <a:defRPr/>
            </a:pPr>
            <a:r>
              <a:rPr lang="ru-RU" sz="3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 Примитивы взаимодействия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223470" y="2852937"/>
            <a:ext cx="237626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Receive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(&amp;B, 1, 2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  <a:endParaRPr lang="ru-RU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Send (&amp;A, 1, 2);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Прямоугольник: скругленные углы 10"/>
          <p:cNvSpPr/>
          <p:nvPr/>
        </p:nvSpPr>
        <p:spPr>
          <a:xfrm>
            <a:off x="8327926" y="2708920"/>
            <a:ext cx="2880320" cy="2232248"/>
          </a:xfrm>
          <a:prstGeom prst="round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543950" y="2852937"/>
            <a:ext cx="244827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Receive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(&amp;B, 1, 1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  <a:endParaRPr lang="ru-RU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Send (&amp;A, 1, 1);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90" y="5157193"/>
            <a:ext cx="4680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Тупиковая ситуация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5438" y="1916833"/>
            <a:ext cx="7344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Блокировка без буферизации</a:t>
            </a:r>
          </a:p>
        </p:txBody>
      </p:sp>
    </p:spTree>
    <p:extLst>
      <p:ext uri="{BB962C8B-B14F-4D97-AF65-F5344CB8AC3E}">
        <p14:creationId xmlns:p14="http://schemas.microsoft.com/office/powerpoint/2010/main" val="2007480528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432026" y="1772817"/>
            <a:ext cx="8496300" cy="446722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ct val="20000"/>
              </a:spcAft>
              <a:defRPr/>
            </a:pPr>
            <a:endParaRPr lang="en-US" sz="2000" noProof="1">
              <a:solidFill>
                <a:srgbClr val="1F497D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338" name="_h1"/>
          <p:cNvSpPr>
            <a:spLocks noGrp="1" noChangeArrowheads="1"/>
          </p:cNvSpPr>
          <p:nvPr>
            <p:ph type="title"/>
          </p:nvPr>
        </p:nvSpPr>
        <p:spPr>
          <a:xfrm>
            <a:off x="3359696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Проблемы взаимодействия</a:t>
            </a: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359696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 fontAlgn="base">
              <a:spcBef>
                <a:spcPct val="0"/>
              </a:spcBef>
              <a:spcAft>
                <a:spcPct val="20000"/>
              </a:spcAft>
              <a:defRPr/>
            </a:pPr>
            <a:r>
              <a:rPr lang="ru-RU" sz="3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 Примитивы взаимодействия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935438" y="1916833"/>
            <a:ext cx="7344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Блокировка с буферизацией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7446" y="2502064"/>
            <a:ext cx="72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ru-RU" sz="20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4007446" y="3078128"/>
            <a:ext cx="144016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159574" y="2492896"/>
            <a:ext cx="1080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send</a:t>
            </a:r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007446" y="5621178"/>
            <a:ext cx="72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ru-RU" sz="20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8" name="Прямая соединительная линия 17"/>
          <p:cNvCxnSpPr>
            <a:cxnSpLocks/>
            <a:endCxn id="25" idx="2"/>
          </p:cNvCxnSpPr>
          <p:nvPr/>
        </p:nvCxnSpPr>
        <p:spPr>
          <a:xfrm>
            <a:off x="4007446" y="5517232"/>
            <a:ext cx="4824552" cy="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543950" y="5826750"/>
            <a:ext cx="1080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receive</a:t>
            </a:r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1" name="Прямая соединительная линия 30"/>
          <p:cNvCxnSpPr>
            <a:cxnSpLocks/>
          </p:cNvCxnSpPr>
          <p:nvPr/>
        </p:nvCxnSpPr>
        <p:spPr>
          <a:xfrm>
            <a:off x="5447598" y="3078128"/>
            <a:ext cx="1440168" cy="0"/>
          </a:xfrm>
          <a:prstGeom prst="line">
            <a:avLst/>
          </a:prstGeom>
          <a:ln>
            <a:prstDash val="soli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340" name="Прямая соединительная линия 14339"/>
          <p:cNvCxnSpPr>
            <a:cxnSpLocks/>
          </p:cNvCxnSpPr>
          <p:nvPr/>
        </p:nvCxnSpPr>
        <p:spPr>
          <a:xfrm>
            <a:off x="6887750" y="3078128"/>
            <a:ext cx="439250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341" name="Прямоугольник 14340"/>
          <p:cNvSpPr/>
          <p:nvPr/>
        </p:nvSpPr>
        <p:spPr>
          <a:xfrm>
            <a:off x="5447606" y="3068960"/>
            <a:ext cx="1440160" cy="144016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Прямоугольник 40"/>
          <p:cNvSpPr/>
          <p:nvPr/>
        </p:nvSpPr>
        <p:spPr>
          <a:xfrm>
            <a:off x="8903990" y="5373216"/>
            <a:ext cx="1440160" cy="144016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345" name="Стрелка: вниз 14344"/>
          <p:cNvSpPr/>
          <p:nvPr/>
        </p:nvSpPr>
        <p:spPr>
          <a:xfrm rot="-780000">
            <a:off x="7399515" y="3957303"/>
            <a:ext cx="1224136" cy="711278"/>
          </a:xfrm>
          <a:prstGeom prst="downArrow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4347" name="Прямая соединительная линия 14346"/>
          <p:cNvCxnSpPr>
            <a:cxnSpLocks/>
            <a:stCxn id="25" idx="6"/>
          </p:cNvCxnSpPr>
          <p:nvPr/>
        </p:nvCxnSpPr>
        <p:spPr>
          <a:xfrm>
            <a:off x="8975998" y="5517240"/>
            <a:ext cx="1368152" cy="67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49" name="Прямая соединительная линия 14348"/>
          <p:cNvCxnSpPr>
            <a:cxnSpLocks/>
          </p:cNvCxnSpPr>
          <p:nvPr/>
        </p:nvCxnSpPr>
        <p:spPr>
          <a:xfrm flipV="1">
            <a:off x="10344150" y="5515200"/>
            <a:ext cx="936104" cy="87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Прямоугольник 52"/>
          <p:cNvSpPr/>
          <p:nvPr/>
        </p:nvSpPr>
        <p:spPr>
          <a:xfrm>
            <a:off x="5447598" y="2810789"/>
            <a:ext cx="1440168" cy="144016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4" name="Прямоугольник 53"/>
          <p:cNvSpPr/>
          <p:nvPr/>
        </p:nvSpPr>
        <p:spPr>
          <a:xfrm>
            <a:off x="8903990" y="5669618"/>
            <a:ext cx="1440160" cy="144016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3" name="Прямая соединительная линия 22"/>
          <p:cNvCxnSpPr>
            <a:cxnSpLocks/>
          </p:cNvCxnSpPr>
          <p:nvPr/>
        </p:nvCxnSpPr>
        <p:spPr>
          <a:xfrm>
            <a:off x="4007446" y="3717032"/>
            <a:ext cx="7272808" cy="0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Прямая соединительная линия 44"/>
          <p:cNvCxnSpPr>
            <a:cxnSpLocks/>
          </p:cNvCxnSpPr>
          <p:nvPr/>
        </p:nvCxnSpPr>
        <p:spPr>
          <a:xfrm>
            <a:off x="4007446" y="4869160"/>
            <a:ext cx="7272808" cy="0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339" name="TextBox 14338"/>
          <p:cNvSpPr txBox="1"/>
          <p:nvPr/>
        </p:nvSpPr>
        <p:spPr>
          <a:xfrm>
            <a:off x="3935438" y="3717032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Буфер 1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3935438" y="4499828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Буфер 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Прямоугольник 54"/>
          <p:cNvSpPr/>
          <p:nvPr/>
        </p:nvSpPr>
        <p:spPr>
          <a:xfrm>
            <a:off x="8903990" y="4869160"/>
            <a:ext cx="1440160" cy="144016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Овал 14"/>
          <p:cNvSpPr/>
          <p:nvPr/>
        </p:nvSpPr>
        <p:spPr>
          <a:xfrm>
            <a:off x="5375598" y="3006136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Прямоугольник 32"/>
          <p:cNvSpPr/>
          <p:nvPr/>
        </p:nvSpPr>
        <p:spPr>
          <a:xfrm>
            <a:off x="5447606" y="3573016"/>
            <a:ext cx="1440160" cy="144016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1" name="Прямоугольник 70"/>
          <p:cNvSpPr/>
          <p:nvPr/>
        </p:nvSpPr>
        <p:spPr>
          <a:xfrm>
            <a:off x="7391822" y="4725144"/>
            <a:ext cx="1440160" cy="144016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6" name="Прямая соединительная линия 35"/>
          <p:cNvCxnSpPr>
            <a:cxnSpLocks/>
          </p:cNvCxnSpPr>
          <p:nvPr/>
        </p:nvCxnSpPr>
        <p:spPr>
          <a:xfrm>
            <a:off x="5447606" y="3717032"/>
            <a:ext cx="144016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Стрелка: вниз 36"/>
          <p:cNvSpPr/>
          <p:nvPr/>
        </p:nvSpPr>
        <p:spPr>
          <a:xfrm>
            <a:off x="5879654" y="3240000"/>
            <a:ext cx="648072" cy="288032"/>
          </a:xfrm>
          <a:prstGeom prst="downArrow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9" name="Стрелка: вниз 78"/>
          <p:cNvSpPr/>
          <p:nvPr/>
        </p:nvSpPr>
        <p:spPr>
          <a:xfrm>
            <a:off x="9336038" y="5048023"/>
            <a:ext cx="648072" cy="288032"/>
          </a:xfrm>
          <a:prstGeom prst="downArrow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6" name="Прямоугольник 85"/>
          <p:cNvSpPr/>
          <p:nvPr/>
        </p:nvSpPr>
        <p:spPr>
          <a:xfrm>
            <a:off x="7031782" y="3717032"/>
            <a:ext cx="1440160" cy="144016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49" name="Прямая соединительная линия 48"/>
          <p:cNvCxnSpPr>
            <a:cxnSpLocks/>
          </p:cNvCxnSpPr>
          <p:nvPr/>
        </p:nvCxnSpPr>
        <p:spPr>
          <a:xfrm>
            <a:off x="7031782" y="3717032"/>
            <a:ext cx="144016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Прямая соединительная линия 51"/>
          <p:cNvCxnSpPr>
            <a:cxnSpLocks/>
          </p:cNvCxnSpPr>
          <p:nvPr/>
        </p:nvCxnSpPr>
        <p:spPr>
          <a:xfrm>
            <a:off x="7391822" y="4869160"/>
            <a:ext cx="144016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Прямая соединительная линия 56"/>
          <p:cNvCxnSpPr>
            <a:cxnSpLocks/>
          </p:cNvCxnSpPr>
          <p:nvPr/>
        </p:nvCxnSpPr>
        <p:spPr>
          <a:xfrm>
            <a:off x="8903990" y="4869160"/>
            <a:ext cx="144016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Овал 24"/>
          <p:cNvSpPr/>
          <p:nvPr/>
        </p:nvSpPr>
        <p:spPr>
          <a:xfrm>
            <a:off x="8831998" y="5445240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6" name="Овал 95"/>
          <p:cNvSpPr/>
          <p:nvPr/>
        </p:nvSpPr>
        <p:spPr>
          <a:xfrm>
            <a:off x="5375598" y="3645040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7" name="Овал 96"/>
          <p:cNvSpPr/>
          <p:nvPr/>
        </p:nvSpPr>
        <p:spPr>
          <a:xfrm>
            <a:off x="6815758" y="3018829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8" name="Овал 97"/>
          <p:cNvSpPr/>
          <p:nvPr/>
        </p:nvSpPr>
        <p:spPr>
          <a:xfrm>
            <a:off x="6815758" y="3645040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9" name="Овал 98"/>
          <p:cNvSpPr/>
          <p:nvPr/>
        </p:nvSpPr>
        <p:spPr>
          <a:xfrm>
            <a:off x="6959774" y="3645024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0" name="Овал 99"/>
          <p:cNvSpPr/>
          <p:nvPr/>
        </p:nvSpPr>
        <p:spPr>
          <a:xfrm>
            <a:off x="8399934" y="3645024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1" name="Овал 100"/>
          <p:cNvSpPr/>
          <p:nvPr/>
        </p:nvSpPr>
        <p:spPr>
          <a:xfrm>
            <a:off x="7319830" y="4797168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2" name="Овал 101"/>
          <p:cNvSpPr/>
          <p:nvPr/>
        </p:nvSpPr>
        <p:spPr>
          <a:xfrm>
            <a:off x="8759990" y="4797152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3" name="Овал 102"/>
          <p:cNvSpPr/>
          <p:nvPr/>
        </p:nvSpPr>
        <p:spPr>
          <a:xfrm>
            <a:off x="8831982" y="4797152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4" name="Овал 103"/>
          <p:cNvSpPr/>
          <p:nvPr/>
        </p:nvSpPr>
        <p:spPr>
          <a:xfrm>
            <a:off x="10272158" y="4797152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5" name="Овал 104"/>
          <p:cNvSpPr/>
          <p:nvPr/>
        </p:nvSpPr>
        <p:spPr>
          <a:xfrm>
            <a:off x="10272142" y="5445240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6684789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4" grpId="0"/>
      <p:bldP spid="17" grpId="0"/>
      <p:bldP spid="26" grpId="0"/>
      <p:bldP spid="14341" grpId="0" animBg="1"/>
      <p:bldP spid="41" grpId="0" animBg="1"/>
      <p:bldP spid="14345" grpId="0" animBg="1"/>
      <p:bldP spid="53" grpId="0" animBg="1"/>
      <p:bldP spid="54" grpId="0" animBg="1"/>
      <p:bldP spid="14339" grpId="0"/>
      <p:bldP spid="50" grpId="0"/>
      <p:bldP spid="55" grpId="0" animBg="1"/>
      <p:bldP spid="15" grpId="0" animBg="1"/>
      <p:bldP spid="33" grpId="0" animBg="1"/>
      <p:bldP spid="71" grpId="0" animBg="1"/>
      <p:bldP spid="37" grpId="0" animBg="1"/>
      <p:bldP spid="79" grpId="0" animBg="1"/>
      <p:bldP spid="86" grpId="0" animBg="1"/>
      <p:bldP spid="2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3" grpId="0" animBg="1"/>
      <p:bldP spid="104" grpId="0" animBg="1"/>
      <p:bldP spid="10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360018" y="1772817"/>
            <a:ext cx="8496300" cy="446722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ct val="20000"/>
              </a:spcAft>
              <a:defRPr/>
            </a:pPr>
            <a:endParaRPr lang="en-US" sz="2000" noProof="1">
              <a:solidFill>
                <a:srgbClr val="1F497D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338" name="_h1"/>
          <p:cNvSpPr>
            <a:spLocks noGrp="1" noChangeArrowheads="1"/>
          </p:cNvSpPr>
          <p:nvPr>
            <p:ph type="title"/>
          </p:nvPr>
        </p:nvSpPr>
        <p:spPr>
          <a:xfrm>
            <a:off x="3360340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Проблемы взаимодействия</a:t>
            </a: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360340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 fontAlgn="base">
              <a:spcBef>
                <a:spcPct val="0"/>
              </a:spcBef>
              <a:spcAft>
                <a:spcPct val="20000"/>
              </a:spcAft>
              <a:defRPr/>
            </a:pPr>
            <a:r>
              <a:rPr lang="ru-RU" sz="3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 Примитивы взаимодействия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936082" y="1916833"/>
            <a:ext cx="7344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Блокировка с буферизацией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8090" y="2502064"/>
            <a:ext cx="72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ru-RU" sz="20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Прямая соединительная линия 7"/>
          <p:cNvCxnSpPr>
            <a:cxnSpLocks/>
            <a:endCxn id="15" idx="2"/>
          </p:cNvCxnSpPr>
          <p:nvPr/>
        </p:nvCxnSpPr>
        <p:spPr>
          <a:xfrm>
            <a:off x="4008090" y="3078128"/>
            <a:ext cx="1656200" cy="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448250" y="2492896"/>
            <a:ext cx="1080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send</a:t>
            </a:r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008090" y="5621178"/>
            <a:ext cx="72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ru-RU" sz="20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8" name="Прямая соединительная линия 17"/>
          <p:cNvCxnSpPr>
            <a:cxnSpLocks/>
            <a:endCxn id="25" idx="2"/>
          </p:cNvCxnSpPr>
          <p:nvPr/>
        </p:nvCxnSpPr>
        <p:spPr>
          <a:xfrm>
            <a:off x="4008090" y="5517232"/>
            <a:ext cx="1008112" cy="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728170" y="5789333"/>
            <a:ext cx="1080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receive</a:t>
            </a:r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1" name="Прямая соединительная линия 30"/>
          <p:cNvCxnSpPr>
            <a:cxnSpLocks/>
            <a:stCxn id="15" idx="6"/>
          </p:cNvCxnSpPr>
          <p:nvPr/>
        </p:nvCxnSpPr>
        <p:spPr>
          <a:xfrm flipV="1">
            <a:off x="5808290" y="3078128"/>
            <a:ext cx="1152128" cy="8"/>
          </a:xfrm>
          <a:prstGeom prst="line">
            <a:avLst/>
          </a:prstGeom>
          <a:ln>
            <a:prstDash val="soli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340" name="Прямая соединительная линия 14339"/>
          <p:cNvCxnSpPr>
            <a:cxnSpLocks/>
          </p:cNvCxnSpPr>
          <p:nvPr/>
        </p:nvCxnSpPr>
        <p:spPr>
          <a:xfrm>
            <a:off x="6960418" y="3078128"/>
            <a:ext cx="432048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341" name="Прямоугольник 14340"/>
          <p:cNvSpPr/>
          <p:nvPr/>
        </p:nvSpPr>
        <p:spPr>
          <a:xfrm>
            <a:off x="5736282" y="3068960"/>
            <a:ext cx="1224136" cy="144016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Прямоугольник 40"/>
          <p:cNvSpPr/>
          <p:nvPr/>
        </p:nvSpPr>
        <p:spPr>
          <a:xfrm>
            <a:off x="9192666" y="5373216"/>
            <a:ext cx="1440160" cy="144016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345" name="Стрелка: вниз 14344"/>
          <p:cNvSpPr/>
          <p:nvPr/>
        </p:nvSpPr>
        <p:spPr>
          <a:xfrm rot="-780000">
            <a:off x="7328151" y="3957303"/>
            <a:ext cx="1224136" cy="711278"/>
          </a:xfrm>
          <a:prstGeom prst="downArrow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4347" name="Прямая соединительная линия 14346"/>
          <p:cNvCxnSpPr>
            <a:cxnSpLocks/>
          </p:cNvCxnSpPr>
          <p:nvPr/>
        </p:nvCxnSpPr>
        <p:spPr>
          <a:xfrm>
            <a:off x="9192666" y="5519474"/>
            <a:ext cx="1440160" cy="8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49" name="Прямая соединительная линия 14348"/>
          <p:cNvCxnSpPr>
            <a:cxnSpLocks/>
          </p:cNvCxnSpPr>
          <p:nvPr/>
        </p:nvCxnSpPr>
        <p:spPr>
          <a:xfrm flipV="1">
            <a:off x="10632826" y="5511600"/>
            <a:ext cx="648072" cy="78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Прямоугольник 52"/>
          <p:cNvSpPr/>
          <p:nvPr/>
        </p:nvSpPr>
        <p:spPr>
          <a:xfrm>
            <a:off x="5736282" y="2810789"/>
            <a:ext cx="1224136" cy="144016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4" name="Прямоугольник 53"/>
          <p:cNvSpPr/>
          <p:nvPr/>
        </p:nvSpPr>
        <p:spPr>
          <a:xfrm>
            <a:off x="5088210" y="5669618"/>
            <a:ext cx="5544616" cy="144016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3" name="Прямая соединительная линия 22"/>
          <p:cNvCxnSpPr>
            <a:cxnSpLocks/>
          </p:cNvCxnSpPr>
          <p:nvPr/>
        </p:nvCxnSpPr>
        <p:spPr>
          <a:xfrm>
            <a:off x="4008090" y="3717032"/>
            <a:ext cx="7272808" cy="0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Прямая соединительная линия 44"/>
          <p:cNvCxnSpPr>
            <a:cxnSpLocks/>
          </p:cNvCxnSpPr>
          <p:nvPr/>
        </p:nvCxnSpPr>
        <p:spPr>
          <a:xfrm>
            <a:off x="4008090" y="4869160"/>
            <a:ext cx="7272808" cy="0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339" name="TextBox 14338"/>
          <p:cNvSpPr txBox="1"/>
          <p:nvPr/>
        </p:nvSpPr>
        <p:spPr>
          <a:xfrm>
            <a:off x="3936082" y="3717032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Буфер 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936082" y="4499828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Буфер 2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Прямоугольник 54"/>
          <p:cNvSpPr/>
          <p:nvPr/>
        </p:nvSpPr>
        <p:spPr>
          <a:xfrm>
            <a:off x="7464474" y="4725144"/>
            <a:ext cx="1440160" cy="144016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Овал 14"/>
          <p:cNvSpPr/>
          <p:nvPr/>
        </p:nvSpPr>
        <p:spPr>
          <a:xfrm>
            <a:off x="5664290" y="3006136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Прямоугольник 32"/>
          <p:cNvSpPr/>
          <p:nvPr/>
        </p:nvSpPr>
        <p:spPr>
          <a:xfrm>
            <a:off x="5736282" y="3573016"/>
            <a:ext cx="1224136" cy="144016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5" name="Прямая соединительная линия 4"/>
          <p:cNvCxnSpPr>
            <a:cxnSpLocks/>
            <a:stCxn id="25" idx="6"/>
          </p:cNvCxnSpPr>
          <p:nvPr/>
        </p:nvCxnSpPr>
        <p:spPr>
          <a:xfrm>
            <a:off x="5160202" y="5517240"/>
            <a:ext cx="4032464" cy="2234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>
            <a:cxnSpLocks/>
          </p:cNvCxnSpPr>
          <p:nvPr/>
        </p:nvCxnSpPr>
        <p:spPr>
          <a:xfrm>
            <a:off x="5736282" y="3717032"/>
            <a:ext cx="122413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Овал 24"/>
          <p:cNvSpPr/>
          <p:nvPr/>
        </p:nvSpPr>
        <p:spPr>
          <a:xfrm>
            <a:off x="5016202" y="5445240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9" name="Прямоугольник 48"/>
          <p:cNvSpPr/>
          <p:nvPr/>
        </p:nvSpPr>
        <p:spPr>
          <a:xfrm>
            <a:off x="9192666" y="4877544"/>
            <a:ext cx="1440160" cy="144016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351" name="Стрелка: вниз 14350"/>
          <p:cNvSpPr/>
          <p:nvPr/>
        </p:nvSpPr>
        <p:spPr>
          <a:xfrm>
            <a:off x="5952306" y="3284984"/>
            <a:ext cx="720080" cy="216024"/>
          </a:xfrm>
          <a:prstGeom prst="downArrow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1" name="Прямоугольник 60"/>
          <p:cNvSpPr/>
          <p:nvPr/>
        </p:nvSpPr>
        <p:spPr>
          <a:xfrm>
            <a:off x="7104434" y="3717032"/>
            <a:ext cx="1224136" cy="144016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cxnSp>
        <p:nvCxnSpPr>
          <p:cNvPr id="14357" name="Прямая соединительная линия 14356"/>
          <p:cNvCxnSpPr>
            <a:cxnSpLocks/>
          </p:cNvCxnSpPr>
          <p:nvPr/>
        </p:nvCxnSpPr>
        <p:spPr>
          <a:xfrm>
            <a:off x="7104434" y="3717032"/>
            <a:ext cx="122413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359" name="Прямая соединительная линия 14358"/>
          <p:cNvCxnSpPr>
            <a:cxnSpLocks/>
          </p:cNvCxnSpPr>
          <p:nvPr/>
        </p:nvCxnSpPr>
        <p:spPr>
          <a:xfrm>
            <a:off x="7464474" y="4869160"/>
            <a:ext cx="144016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361" name="Прямая соединительная линия 14360"/>
          <p:cNvCxnSpPr>
            <a:cxnSpLocks/>
          </p:cNvCxnSpPr>
          <p:nvPr/>
        </p:nvCxnSpPr>
        <p:spPr>
          <a:xfrm>
            <a:off x="9192666" y="4869160"/>
            <a:ext cx="144016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8" name="Стрелка: вниз 67"/>
          <p:cNvSpPr/>
          <p:nvPr/>
        </p:nvSpPr>
        <p:spPr>
          <a:xfrm>
            <a:off x="9552706" y="5085184"/>
            <a:ext cx="720080" cy="216024"/>
          </a:xfrm>
          <a:prstGeom prst="downArrow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9" name="Овал 68"/>
          <p:cNvSpPr/>
          <p:nvPr/>
        </p:nvSpPr>
        <p:spPr>
          <a:xfrm>
            <a:off x="6888426" y="2996952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0" name="Овал 69"/>
          <p:cNvSpPr/>
          <p:nvPr/>
        </p:nvSpPr>
        <p:spPr>
          <a:xfrm>
            <a:off x="5664274" y="3645040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1" name="Овал 70"/>
          <p:cNvSpPr/>
          <p:nvPr/>
        </p:nvSpPr>
        <p:spPr>
          <a:xfrm>
            <a:off x="6888426" y="3645024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2" name="Овал 71"/>
          <p:cNvSpPr/>
          <p:nvPr/>
        </p:nvSpPr>
        <p:spPr>
          <a:xfrm>
            <a:off x="7040826" y="3645024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3" name="Овал 72"/>
          <p:cNvSpPr/>
          <p:nvPr/>
        </p:nvSpPr>
        <p:spPr>
          <a:xfrm>
            <a:off x="8256578" y="3645024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4" name="Овал 73"/>
          <p:cNvSpPr/>
          <p:nvPr/>
        </p:nvSpPr>
        <p:spPr>
          <a:xfrm>
            <a:off x="7392482" y="4797168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5" name="Овал 74"/>
          <p:cNvSpPr/>
          <p:nvPr/>
        </p:nvSpPr>
        <p:spPr>
          <a:xfrm>
            <a:off x="8832626" y="4797152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6" name="Овал 75"/>
          <p:cNvSpPr/>
          <p:nvPr/>
        </p:nvSpPr>
        <p:spPr>
          <a:xfrm>
            <a:off x="9120674" y="4797152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7" name="Овал 76"/>
          <p:cNvSpPr/>
          <p:nvPr/>
        </p:nvSpPr>
        <p:spPr>
          <a:xfrm>
            <a:off x="10560818" y="4797152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8" name="Овал 77"/>
          <p:cNvSpPr/>
          <p:nvPr/>
        </p:nvSpPr>
        <p:spPr>
          <a:xfrm>
            <a:off x="9120658" y="5445240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9" name="Овал 78"/>
          <p:cNvSpPr/>
          <p:nvPr/>
        </p:nvSpPr>
        <p:spPr>
          <a:xfrm>
            <a:off x="10560818" y="5445240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3343555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6" grpId="0"/>
      <p:bldP spid="14341" grpId="0" animBg="1"/>
      <p:bldP spid="41" grpId="0" animBg="1"/>
      <p:bldP spid="14345" grpId="0" animBg="1"/>
      <p:bldP spid="53" grpId="0" animBg="1"/>
      <p:bldP spid="54" grpId="0" animBg="1"/>
      <p:bldP spid="55" grpId="0" animBg="1"/>
      <p:bldP spid="15" grpId="0" animBg="1"/>
      <p:bldP spid="33" grpId="0" animBg="1"/>
      <p:bldP spid="25" grpId="0" animBg="1"/>
      <p:bldP spid="49" grpId="0" animBg="1"/>
      <p:bldP spid="14351" grpId="0" animBg="1"/>
      <p:bldP spid="61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372396" y="1772817"/>
            <a:ext cx="8496300" cy="446722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ct val="20000"/>
              </a:spcAft>
              <a:defRPr/>
            </a:pPr>
            <a:endParaRPr lang="en-US" sz="2000" noProof="1">
              <a:solidFill>
                <a:srgbClr val="1F497D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Прямоугольник: скругленные углы 3"/>
          <p:cNvSpPr/>
          <p:nvPr/>
        </p:nvSpPr>
        <p:spPr>
          <a:xfrm>
            <a:off x="4007446" y="2708920"/>
            <a:ext cx="2880320" cy="2232248"/>
          </a:xfrm>
          <a:prstGeom prst="round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338" name="_h1"/>
          <p:cNvSpPr>
            <a:spLocks noGrp="1" noChangeArrowheads="1"/>
          </p:cNvSpPr>
          <p:nvPr>
            <p:ph type="title"/>
          </p:nvPr>
        </p:nvSpPr>
        <p:spPr>
          <a:xfrm>
            <a:off x="3359696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Проблемы взаимодействия</a:t>
            </a: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359696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 fontAlgn="base">
              <a:spcBef>
                <a:spcPct val="0"/>
              </a:spcBef>
              <a:spcAft>
                <a:spcPct val="20000"/>
              </a:spcAft>
              <a:defRPr/>
            </a:pPr>
            <a:r>
              <a:rPr lang="ru-RU" sz="3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 Примитивы взаимодействия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223470" y="2852937"/>
            <a:ext cx="237626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Receive (&amp;B, 1, 2);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Send (&amp;A, 1, 2);</a:t>
            </a:r>
          </a:p>
        </p:txBody>
      </p:sp>
      <p:sp>
        <p:nvSpPr>
          <p:cNvPr id="11" name="Прямоугольник: скругленные углы 10"/>
          <p:cNvSpPr/>
          <p:nvPr/>
        </p:nvSpPr>
        <p:spPr>
          <a:xfrm>
            <a:off x="8327926" y="2708920"/>
            <a:ext cx="2880320" cy="2232248"/>
          </a:xfrm>
          <a:prstGeom prst="round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543950" y="2852937"/>
            <a:ext cx="244827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Receive (&amp;B, 1, 1);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Send (&amp;A, 1, 1);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90" y="5157193"/>
            <a:ext cx="4680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Тупиковая ситуация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5438" y="1916833"/>
            <a:ext cx="7344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Блокировка с буферизацией</a:t>
            </a:r>
          </a:p>
        </p:txBody>
      </p:sp>
    </p:spTree>
    <p:extLst>
      <p:ext uri="{BB962C8B-B14F-4D97-AF65-F5344CB8AC3E}">
        <p14:creationId xmlns:p14="http://schemas.microsoft.com/office/powerpoint/2010/main" val="126007537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" grpId="0"/>
      <p:bldP spid="11" grpId="0" animBg="1"/>
      <p:bldP spid="1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372396" y="1772817"/>
            <a:ext cx="8496300" cy="446722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ct val="20000"/>
              </a:spcAft>
              <a:defRPr/>
            </a:pPr>
            <a:endParaRPr lang="en-US" sz="2000" noProof="1">
              <a:solidFill>
                <a:srgbClr val="1F497D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Прямоугольник: скругленные углы 3"/>
          <p:cNvSpPr/>
          <p:nvPr/>
        </p:nvSpPr>
        <p:spPr>
          <a:xfrm>
            <a:off x="4007446" y="2708920"/>
            <a:ext cx="3168674" cy="2232248"/>
          </a:xfrm>
          <a:prstGeom prst="round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338" name="_h1"/>
          <p:cNvSpPr>
            <a:spLocks noGrp="1" noChangeArrowheads="1"/>
          </p:cNvSpPr>
          <p:nvPr>
            <p:ph type="title"/>
          </p:nvPr>
        </p:nvSpPr>
        <p:spPr>
          <a:xfrm>
            <a:off x="3359696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Проблемы взаимодействия</a:t>
            </a: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359696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 fontAlgn="base">
              <a:spcBef>
                <a:spcPct val="0"/>
              </a:spcBef>
              <a:spcAft>
                <a:spcPct val="20000"/>
              </a:spcAft>
              <a:defRPr/>
            </a:pPr>
            <a:r>
              <a:rPr lang="ru-RU" sz="3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 Примитивы взаимодействия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079776" y="2852937"/>
            <a:ext cx="302433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Send (&amp;A, 100000, 2);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Receive (&amp;B, 100000, 2);</a:t>
            </a:r>
          </a:p>
        </p:txBody>
      </p:sp>
      <p:sp>
        <p:nvSpPr>
          <p:cNvPr id="11" name="Прямоугольник: скругленные углы 10"/>
          <p:cNvSpPr/>
          <p:nvPr/>
        </p:nvSpPr>
        <p:spPr>
          <a:xfrm>
            <a:off x="7896200" y="2708920"/>
            <a:ext cx="3351751" cy="2232248"/>
          </a:xfrm>
          <a:prstGeom prst="round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112224" y="2852937"/>
            <a:ext cx="316803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Send (&amp;A, 100000, 1);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Receive (&amp;B, 100000, 1);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5438" y="1916833"/>
            <a:ext cx="7344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Блокировка с буферизацией</a:t>
            </a:r>
          </a:p>
        </p:txBody>
      </p:sp>
    </p:spTree>
    <p:extLst>
      <p:ext uri="{BB962C8B-B14F-4D97-AF65-F5344CB8AC3E}">
        <p14:creationId xmlns:p14="http://schemas.microsoft.com/office/powerpoint/2010/main" val="79225414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" grpId="0"/>
      <p:bldP spid="11" grpId="0" animBg="1"/>
      <p:bldP spid="1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432026" y="1772817"/>
            <a:ext cx="8496300" cy="446722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ct val="20000"/>
              </a:spcAft>
              <a:defRPr/>
            </a:pPr>
            <a:endParaRPr lang="en-US" sz="2000" noProof="1">
              <a:solidFill>
                <a:srgbClr val="1F497D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338" name="_h1"/>
          <p:cNvSpPr>
            <a:spLocks noGrp="1" noChangeArrowheads="1"/>
          </p:cNvSpPr>
          <p:nvPr>
            <p:ph type="title"/>
          </p:nvPr>
        </p:nvSpPr>
        <p:spPr>
          <a:xfrm>
            <a:off x="3359696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Проблемы взаимодействия</a:t>
            </a: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359696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 fontAlgn="base">
              <a:spcBef>
                <a:spcPct val="0"/>
              </a:spcBef>
              <a:spcAft>
                <a:spcPct val="20000"/>
              </a:spcAft>
              <a:defRPr/>
            </a:pPr>
            <a:r>
              <a:rPr lang="ru-RU" sz="3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 Примитивы взаимодействия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935438" y="1916833"/>
            <a:ext cx="7344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Блокировка с буферизацией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7446" y="2502064"/>
            <a:ext cx="72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ru-RU" sz="20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4007446" y="3078128"/>
            <a:ext cx="144016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159574" y="2492896"/>
            <a:ext cx="1080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send</a:t>
            </a:r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007446" y="5621178"/>
            <a:ext cx="72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ru-RU" sz="20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8" name="Прямая соединительная линия 17"/>
          <p:cNvCxnSpPr>
            <a:cxnSpLocks/>
            <a:endCxn id="25" idx="2"/>
          </p:cNvCxnSpPr>
          <p:nvPr/>
        </p:nvCxnSpPr>
        <p:spPr>
          <a:xfrm>
            <a:off x="4007446" y="5517232"/>
            <a:ext cx="4824552" cy="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543950" y="5826750"/>
            <a:ext cx="1080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receive</a:t>
            </a:r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1" name="Прямая соединительная линия 30"/>
          <p:cNvCxnSpPr>
            <a:cxnSpLocks/>
          </p:cNvCxnSpPr>
          <p:nvPr/>
        </p:nvCxnSpPr>
        <p:spPr>
          <a:xfrm>
            <a:off x="5447598" y="3078128"/>
            <a:ext cx="1440168" cy="0"/>
          </a:xfrm>
          <a:prstGeom prst="line">
            <a:avLst/>
          </a:prstGeom>
          <a:ln>
            <a:prstDash val="soli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340" name="Прямая соединительная линия 14339"/>
          <p:cNvCxnSpPr>
            <a:cxnSpLocks/>
          </p:cNvCxnSpPr>
          <p:nvPr/>
        </p:nvCxnSpPr>
        <p:spPr>
          <a:xfrm>
            <a:off x="6887750" y="3078128"/>
            <a:ext cx="439250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341" name="Прямоугольник 14340"/>
          <p:cNvSpPr/>
          <p:nvPr/>
        </p:nvSpPr>
        <p:spPr>
          <a:xfrm>
            <a:off x="5447606" y="3068960"/>
            <a:ext cx="1440160" cy="144016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Прямоугольник 40"/>
          <p:cNvSpPr/>
          <p:nvPr/>
        </p:nvSpPr>
        <p:spPr>
          <a:xfrm>
            <a:off x="8903990" y="5373216"/>
            <a:ext cx="1440160" cy="144016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345" name="Стрелка: вниз 14344"/>
          <p:cNvSpPr/>
          <p:nvPr/>
        </p:nvSpPr>
        <p:spPr>
          <a:xfrm rot="-780000">
            <a:off x="7399515" y="3957303"/>
            <a:ext cx="1224136" cy="711278"/>
          </a:xfrm>
          <a:prstGeom prst="downArrow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4347" name="Прямая соединительная линия 14346"/>
          <p:cNvCxnSpPr>
            <a:cxnSpLocks/>
            <a:stCxn id="25" idx="6"/>
          </p:cNvCxnSpPr>
          <p:nvPr/>
        </p:nvCxnSpPr>
        <p:spPr>
          <a:xfrm>
            <a:off x="8975998" y="5517240"/>
            <a:ext cx="1368152" cy="67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49" name="Прямая соединительная линия 14348"/>
          <p:cNvCxnSpPr>
            <a:cxnSpLocks/>
          </p:cNvCxnSpPr>
          <p:nvPr/>
        </p:nvCxnSpPr>
        <p:spPr>
          <a:xfrm flipV="1">
            <a:off x="10344150" y="5515200"/>
            <a:ext cx="936104" cy="87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Прямоугольник 52"/>
          <p:cNvSpPr/>
          <p:nvPr/>
        </p:nvSpPr>
        <p:spPr>
          <a:xfrm>
            <a:off x="5447598" y="2810789"/>
            <a:ext cx="1440168" cy="144016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4" name="Прямоугольник 53"/>
          <p:cNvSpPr/>
          <p:nvPr/>
        </p:nvSpPr>
        <p:spPr>
          <a:xfrm>
            <a:off x="8903990" y="5669618"/>
            <a:ext cx="1440160" cy="144016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3" name="Прямая соединительная линия 22"/>
          <p:cNvCxnSpPr>
            <a:cxnSpLocks/>
          </p:cNvCxnSpPr>
          <p:nvPr/>
        </p:nvCxnSpPr>
        <p:spPr>
          <a:xfrm>
            <a:off x="4007446" y="3717032"/>
            <a:ext cx="7272808" cy="0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Прямая соединительная линия 44"/>
          <p:cNvCxnSpPr>
            <a:cxnSpLocks/>
          </p:cNvCxnSpPr>
          <p:nvPr/>
        </p:nvCxnSpPr>
        <p:spPr>
          <a:xfrm>
            <a:off x="4007446" y="4869160"/>
            <a:ext cx="7272808" cy="0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339" name="TextBox 14338"/>
          <p:cNvSpPr txBox="1"/>
          <p:nvPr/>
        </p:nvSpPr>
        <p:spPr>
          <a:xfrm>
            <a:off x="3935438" y="3717032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Буфер 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935438" y="4499828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Буфер 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Прямоугольник 54"/>
          <p:cNvSpPr/>
          <p:nvPr/>
        </p:nvSpPr>
        <p:spPr>
          <a:xfrm>
            <a:off x="8903990" y="4869160"/>
            <a:ext cx="1440160" cy="144016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Овал 14"/>
          <p:cNvSpPr/>
          <p:nvPr/>
        </p:nvSpPr>
        <p:spPr>
          <a:xfrm>
            <a:off x="5375598" y="3006136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Прямоугольник 32"/>
          <p:cNvSpPr/>
          <p:nvPr/>
        </p:nvSpPr>
        <p:spPr>
          <a:xfrm>
            <a:off x="5447606" y="3573016"/>
            <a:ext cx="1440160" cy="144016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1" name="Прямоугольник 70"/>
          <p:cNvSpPr/>
          <p:nvPr/>
        </p:nvSpPr>
        <p:spPr>
          <a:xfrm>
            <a:off x="7391822" y="4725144"/>
            <a:ext cx="1440160" cy="144016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6" name="Прямая соединительная линия 35"/>
          <p:cNvCxnSpPr>
            <a:cxnSpLocks/>
          </p:cNvCxnSpPr>
          <p:nvPr/>
        </p:nvCxnSpPr>
        <p:spPr>
          <a:xfrm>
            <a:off x="5447606" y="3717032"/>
            <a:ext cx="144016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Стрелка: вниз 36"/>
          <p:cNvSpPr/>
          <p:nvPr/>
        </p:nvSpPr>
        <p:spPr>
          <a:xfrm>
            <a:off x="5879654" y="3240000"/>
            <a:ext cx="648072" cy="288032"/>
          </a:xfrm>
          <a:prstGeom prst="downArrow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9" name="Стрелка: вниз 78"/>
          <p:cNvSpPr/>
          <p:nvPr/>
        </p:nvSpPr>
        <p:spPr>
          <a:xfrm>
            <a:off x="9336038" y="5048023"/>
            <a:ext cx="648072" cy="288032"/>
          </a:xfrm>
          <a:prstGeom prst="downArrow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6" name="Прямоугольник 85"/>
          <p:cNvSpPr/>
          <p:nvPr/>
        </p:nvSpPr>
        <p:spPr>
          <a:xfrm>
            <a:off x="7031782" y="3717032"/>
            <a:ext cx="1440160" cy="144016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49" name="Прямая соединительная линия 48"/>
          <p:cNvCxnSpPr>
            <a:cxnSpLocks/>
          </p:cNvCxnSpPr>
          <p:nvPr/>
        </p:nvCxnSpPr>
        <p:spPr>
          <a:xfrm>
            <a:off x="7031782" y="3717032"/>
            <a:ext cx="144016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Прямая соединительная линия 51"/>
          <p:cNvCxnSpPr>
            <a:cxnSpLocks/>
          </p:cNvCxnSpPr>
          <p:nvPr/>
        </p:nvCxnSpPr>
        <p:spPr>
          <a:xfrm>
            <a:off x="7391822" y="4869160"/>
            <a:ext cx="144016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Прямая соединительная линия 56"/>
          <p:cNvCxnSpPr>
            <a:cxnSpLocks/>
          </p:cNvCxnSpPr>
          <p:nvPr/>
        </p:nvCxnSpPr>
        <p:spPr>
          <a:xfrm>
            <a:off x="8903990" y="4869160"/>
            <a:ext cx="144016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Овал 24"/>
          <p:cNvSpPr/>
          <p:nvPr/>
        </p:nvSpPr>
        <p:spPr>
          <a:xfrm>
            <a:off x="8831998" y="5445240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6" name="Овал 95"/>
          <p:cNvSpPr/>
          <p:nvPr/>
        </p:nvSpPr>
        <p:spPr>
          <a:xfrm>
            <a:off x="5375598" y="3645040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7" name="Овал 96"/>
          <p:cNvSpPr/>
          <p:nvPr/>
        </p:nvSpPr>
        <p:spPr>
          <a:xfrm>
            <a:off x="6815758" y="3018829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8" name="Овал 97"/>
          <p:cNvSpPr/>
          <p:nvPr/>
        </p:nvSpPr>
        <p:spPr>
          <a:xfrm>
            <a:off x="6815758" y="3645040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9" name="Овал 98"/>
          <p:cNvSpPr/>
          <p:nvPr/>
        </p:nvSpPr>
        <p:spPr>
          <a:xfrm>
            <a:off x="6959774" y="3645024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0" name="Овал 99"/>
          <p:cNvSpPr/>
          <p:nvPr/>
        </p:nvSpPr>
        <p:spPr>
          <a:xfrm>
            <a:off x="8399934" y="3645024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1" name="Овал 100"/>
          <p:cNvSpPr/>
          <p:nvPr/>
        </p:nvSpPr>
        <p:spPr>
          <a:xfrm>
            <a:off x="7319830" y="4797168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2" name="Овал 101"/>
          <p:cNvSpPr/>
          <p:nvPr/>
        </p:nvSpPr>
        <p:spPr>
          <a:xfrm>
            <a:off x="8759990" y="4797152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3" name="Овал 102"/>
          <p:cNvSpPr/>
          <p:nvPr/>
        </p:nvSpPr>
        <p:spPr>
          <a:xfrm>
            <a:off x="8831982" y="4797152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4" name="Овал 103"/>
          <p:cNvSpPr/>
          <p:nvPr/>
        </p:nvSpPr>
        <p:spPr>
          <a:xfrm>
            <a:off x="10272158" y="4797152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5" name="Овал 104"/>
          <p:cNvSpPr/>
          <p:nvPr/>
        </p:nvSpPr>
        <p:spPr>
          <a:xfrm>
            <a:off x="10272142" y="5445240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4556564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372396" y="1772817"/>
            <a:ext cx="8496300" cy="446722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ct val="20000"/>
              </a:spcAft>
              <a:defRPr/>
            </a:pPr>
            <a:endParaRPr lang="en-US" sz="2000" noProof="1">
              <a:solidFill>
                <a:srgbClr val="1F497D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Прямоугольник: скругленные углы 3"/>
          <p:cNvSpPr/>
          <p:nvPr/>
        </p:nvSpPr>
        <p:spPr>
          <a:xfrm>
            <a:off x="4007446" y="2708920"/>
            <a:ext cx="3168674" cy="2232248"/>
          </a:xfrm>
          <a:prstGeom prst="round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338" name="_h1"/>
          <p:cNvSpPr>
            <a:spLocks noGrp="1" noChangeArrowheads="1"/>
          </p:cNvSpPr>
          <p:nvPr>
            <p:ph type="title"/>
          </p:nvPr>
        </p:nvSpPr>
        <p:spPr>
          <a:xfrm>
            <a:off x="3359696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Проблемы взаимодействия</a:t>
            </a: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359696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 fontAlgn="base">
              <a:spcBef>
                <a:spcPct val="0"/>
              </a:spcBef>
              <a:spcAft>
                <a:spcPct val="20000"/>
              </a:spcAft>
              <a:defRPr/>
            </a:pPr>
            <a:r>
              <a:rPr lang="ru-RU" sz="3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 Примитивы взаимодействия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079776" y="2852937"/>
            <a:ext cx="302433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Send (&amp;A, 100000, 2);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Receive (&amp;B, 100000, 2);</a:t>
            </a:r>
          </a:p>
        </p:txBody>
      </p:sp>
      <p:sp>
        <p:nvSpPr>
          <p:cNvPr id="11" name="Прямоугольник: скругленные углы 10"/>
          <p:cNvSpPr/>
          <p:nvPr/>
        </p:nvSpPr>
        <p:spPr>
          <a:xfrm>
            <a:off x="7896200" y="2708920"/>
            <a:ext cx="3351751" cy="2232248"/>
          </a:xfrm>
          <a:prstGeom prst="round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112224" y="2852937"/>
            <a:ext cx="316803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Send (&amp;A, 100000, 1);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Receive (&amp;B, 100000, 1);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90" y="5157193"/>
            <a:ext cx="46805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Возможна тупиковая ситуация из-за малого </a:t>
            </a:r>
            <a:r>
              <a:rPr lang="ru-RU" sz="2400">
                <a:latin typeface="Arial" panose="020B0604020202020204" pitchFamily="34" charset="0"/>
                <a:cs typeface="Arial" panose="020B0604020202020204" pitchFamily="34" charset="0"/>
              </a:rPr>
              <a:t>размера буфера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935438" y="1916833"/>
            <a:ext cx="7344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Блокировка с буферизацией</a:t>
            </a:r>
          </a:p>
        </p:txBody>
      </p:sp>
    </p:spTree>
    <p:extLst>
      <p:ext uri="{BB962C8B-B14F-4D97-AF65-F5344CB8AC3E}">
        <p14:creationId xmlns:p14="http://schemas.microsoft.com/office/powerpoint/2010/main" val="86126816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372396" y="1772817"/>
            <a:ext cx="8496300" cy="446722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4338" name="_h1"/>
          <p:cNvSpPr>
            <a:spLocks noGrp="1" noChangeArrowheads="1"/>
          </p:cNvSpPr>
          <p:nvPr>
            <p:ph type="title"/>
          </p:nvPr>
        </p:nvSpPr>
        <p:spPr>
          <a:xfrm>
            <a:off x="3359696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Проблемы взаимодействия</a:t>
            </a: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359696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Примитивы взаимодействия</a:t>
            </a:r>
            <a:endParaRPr kumimoji="0" lang="ru-RU" sz="30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935438" y="1916833"/>
            <a:ext cx="7344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Без блокировки,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без буферизации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7446" y="2636912"/>
            <a:ext cx="72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endParaRPr kumimoji="0" lang="ru-RU" sz="20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4007446" y="3212976"/>
            <a:ext cx="144016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159574" y="2627744"/>
            <a:ext cx="1080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send</a:t>
            </a: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007446" y="4397042"/>
            <a:ext cx="72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ru-RU" sz="20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8" name="Прямая соединительная линия 17"/>
          <p:cNvCxnSpPr>
            <a:cxnSpLocks/>
          </p:cNvCxnSpPr>
          <p:nvPr/>
        </p:nvCxnSpPr>
        <p:spPr>
          <a:xfrm>
            <a:off x="4007446" y="5157192"/>
            <a:ext cx="216024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>
            <a:cxnSpLocks/>
            <a:endCxn id="55" idx="0"/>
          </p:cNvCxnSpPr>
          <p:nvPr/>
        </p:nvCxnSpPr>
        <p:spPr>
          <a:xfrm>
            <a:off x="5472832" y="3284984"/>
            <a:ext cx="622854" cy="1800216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/>
          <p:nvPr/>
        </p:nvCxnSpPr>
        <p:spPr>
          <a:xfrm>
            <a:off x="6120912" y="5157192"/>
            <a:ext cx="220701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Овал 24"/>
          <p:cNvSpPr/>
          <p:nvPr/>
        </p:nvSpPr>
        <p:spPr>
          <a:xfrm>
            <a:off x="8255934" y="5085200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369717" y="5229184"/>
            <a:ext cx="1080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receive</a:t>
            </a: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31" name="Прямая соединительная линия 30"/>
          <p:cNvCxnSpPr>
            <a:cxnSpLocks/>
          </p:cNvCxnSpPr>
          <p:nvPr/>
        </p:nvCxnSpPr>
        <p:spPr>
          <a:xfrm>
            <a:off x="5447598" y="3212976"/>
            <a:ext cx="3600408" cy="0"/>
          </a:xfrm>
          <a:prstGeom prst="line">
            <a:avLst/>
          </a:prstGeom>
          <a:ln>
            <a:prstDash val="soli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337" name="Прямая со стрелкой 14336"/>
          <p:cNvCxnSpPr>
            <a:cxnSpLocks/>
            <a:stCxn id="25" idx="0"/>
            <a:endCxn id="57" idx="3"/>
          </p:cNvCxnSpPr>
          <p:nvPr/>
        </p:nvCxnSpPr>
        <p:spPr>
          <a:xfrm flipV="1">
            <a:off x="8327934" y="3263880"/>
            <a:ext cx="669168" cy="182132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40" name="Прямая соединительная линия 14339"/>
          <p:cNvCxnSpPr/>
          <p:nvPr/>
        </p:nvCxnSpPr>
        <p:spPr>
          <a:xfrm>
            <a:off x="9048006" y="3212976"/>
            <a:ext cx="144016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341" name="Прямоугольник 14340"/>
          <p:cNvSpPr/>
          <p:nvPr/>
        </p:nvSpPr>
        <p:spPr>
          <a:xfrm>
            <a:off x="9048006" y="3212976"/>
            <a:ext cx="1440160" cy="144016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4343" name="Прямая соединительная линия 14342"/>
          <p:cNvCxnSpPr>
            <a:cxnSpLocks/>
            <a:stCxn id="25" idx="6"/>
          </p:cNvCxnSpPr>
          <p:nvPr/>
        </p:nvCxnSpPr>
        <p:spPr>
          <a:xfrm flipV="1">
            <a:off x="8399934" y="5157192"/>
            <a:ext cx="936104" cy="8"/>
          </a:xfrm>
          <a:prstGeom prst="line">
            <a:avLst/>
          </a:prstGeom>
          <a:ln>
            <a:prstDash val="soli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Прямоугольник 40"/>
          <p:cNvSpPr/>
          <p:nvPr/>
        </p:nvSpPr>
        <p:spPr>
          <a:xfrm>
            <a:off x="9264030" y="5013176"/>
            <a:ext cx="1440160" cy="144016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345" name="Стрелка: вниз 14344"/>
          <p:cNvSpPr/>
          <p:nvPr/>
        </p:nvSpPr>
        <p:spPr>
          <a:xfrm rot="-780000">
            <a:off x="9313532" y="3624491"/>
            <a:ext cx="1224136" cy="1203589"/>
          </a:xfrm>
          <a:prstGeom prst="downArrow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4347" name="Прямая соединительная линия 14346"/>
          <p:cNvCxnSpPr/>
          <p:nvPr/>
        </p:nvCxnSpPr>
        <p:spPr>
          <a:xfrm>
            <a:off x="9264030" y="5157192"/>
            <a:ext cx="1440160" cy="175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49" name="Прямая соединительная линия 14348"/>
          <p:cNvCxnSpPr>
            <a:cxnSpLocks/>
          </p:cNvCxnSpPr>
          <p:nvPr/>
        </p:nvCxnSpPr>
        <p:spPr>
          <a:xfrm>
            <a:off x="10704190" y="5174732"/>
            <a:ext cx="7200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52" name="Прямая соединительная линия 14351"/>
          <p:cNvCxnSpPr>
            <a:cxnSpLocks/>
          </p:cNvCxnSpPr>
          <p:nvPr/>
        </p:nvCxnSpPr>
        <p:spPr>
          <a:xfrm>
            <a:off x="10416158" y="3212977"/>
            <a:ext cx="1008112" cy="1754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3" name="Прямоугольник 52"/>
          <p:cNvSpPr/>
          <p:nvPr/>
        </p:nvSpPr>
        <p:spPr>
          <a:xfrm>
            <a:off x="5447598" y="2945637"/>
            <a:ext cx="288362" cy="143965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4" name="Прямоугольник 53"/>
          <p:cNvSpPr/>
          <p:nvPr/>
        </p:nvSpPr>
        <p:spPr>
          <a:xfrm>
            <a:off x="8281092" y="5309586"/>
            <a:ext cx="288000" cy="144016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Овал 14"/>
          <p:cNvSpPr/>
          <p:nvPr/>
        </p:nvSpPr>
        <p:spPr>
          <a:xfrm>
            <a:off x="5375598" y="3140984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5" name="Овал 54"/>
          <p:cNvSpPr/>
          <p:nvPr/>
        </p:nvSpPr>
        <p:spPr>
          <a:xfrm>
            <a:off x="6023686" y="5085200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7" name="Овал 56"/>
          <p:cNvSpPr/>
          <p:nvPr/>
        </p:nvSpPr>
        <p:spPr>
          <a:xfrm>
            <a:off x="8976014" y="3140968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9" name="Овал 58"/>
          <p:cNvSpPr/>
          <p:nvPr/>
        </p:nvSpPr>
        <p:spPr>
          <a:xfrm>
            <a:off x="9192038" y="5085200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0" name="Овал 59"/>
          <p:cNvSpPr/>
          <p:nvPr/>
        </p:nvSpPr>
        <p:spPr>
          <a:xfrm>
            <a:off x="10416174" y="3140968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1" name="Овал 60"/>
          <p:cNvSpPr/>
          <p:nvPr/>
        </p:nvSpPr>
        <p:spPr>
          <a:xfrm>
            <a:off x="10632182" y="5085184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Прямоугольник 32">
            <a:extLst>
              <a:ext uri="{FF2B5EF4-FFF2-40B4-BE49-F238E27FC236}">
                <a16:creationId xmlns="" xmlns:a16="http://schemas.microsoft.com/office/drawing/2014/main" id="{D1F5115E-F741-448C-B5A4-47A4FE4305F0}"/>
              </a:ext>
            </a:extLst>
          </p:cNvPr>
          <p:cNvSpPr/>
          <p:nvPr/>
        </p:nvSpPr>
        <p:spPr>
          <a:xfrm>
            <a:off x="5734800" y="2944800"/>
            <a:ext cx="4752000" cy="143965"/>
          </a:xfrm>
          <a:prstGeom prst="rect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Прямоугольник 33">
            <a:extLst>
              <a:ext uri="{FF2B5EF4-FFF2-40B4-BE49-F238E27FC236}">
                <a16:creationId xmlns="" xmlns:a16="http://schemas.microsoft.com/office/drawing/2014/main" id="{B8C1B1EA-323E-4DA2-9A7B-01B15F46407F}"/>
              </a:ext>
            </a:extLst>
          </p:cNvPr>
          <p:cNvSpPr/>
          <p:nvPr/>
        </p:nvSpPr>
        <p:spPr>
          <a:xfrm>
            <a:off x="8568000" y="5310000"/>
            <a:ext cx="2124000" cy="144016"/>
          </a:xfrm>
          <a:prstGeom prst="rect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15B2FE96-6B44-4876-9EB5-44DA2F2DE061}"/>
              </a:ext>
            </a:extLst>
          </p:cNvPr>
          <p:cNvSpPr txBox="1"/>
          <p:nvPr/>
        </p:nvSpPr>
        <p:spPr>
          <a:xfrm>
            <a:off x="7320136" y="2624309"/>
            <a:ext cx="30960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Опасность модификации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="" xmlns:a16="http://schemas.microsoft.com/office/drawing/2014/main" id="{1D663150-06CB-4D43-A7BA-D5006DC68AA1}"/>
              </a:ext>
            </a:extLst>
          </p:cNvPr>
          <p:cNvSpPr txBox="1"/>
          <p:nvPr/>
        </p:nvSpPr>
        <p:spPr>
          <a:xfrm>
            <a:off x="8508941" y="5452920"/>
            <a:ext cx="27247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Опасность использования </a:t>
            </a:r>
          </a:p>
        </p:txBody>
      </p:sp>
    </p:spTree>
    <p:extLst>
      <p:ext uri="{BB962C8B-B14F-4D97-AF65-F5344CB8AC3E}">
        <p14:creationId xmlns:p14="http://schemas.microsoft.com/office/powerpoint/2010/main" val="330868613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4" grpId="0"/>
      <p:bldP spid="17" grpId="0"/>
      <p:bldP spid="25" grpId="0" animBg="1"/>
      <p:bldP spid="26" grpId="0"/>
      <p:bldP spid="14341" grpId="0" animBg="1"/>
      <p:bldP spid="41" grpId="0" animBg="1"/>
      <p:bldP spid="14345" grpId="0" animBg="1"/>
      <p:bldP spid="53" grpId="0" animBg="1"/>
      <p:bldP spid="54" grpId="0" animBg="1"/>
      <p:bldP spid="15" grpId="0" animBg="1"/>
      <p:bldP spid="55" grpId="0" animBg="1"/>
      <p:bldP spid="57" grpId="0" animBg="1"/>
      <p:bldP spid="59" grpId="0" animBg="1"/>
      <p:bldP spid="60" grpId="0" animBg="1"/>
      <p:bldP spid="61" grpId="0" animBg="1"/>
      <p:bldP spid="33" grpId="0" animBg="1"/>
      <p:bldP spid="34" grpId="0" animBg="1"/>
      <p:bldP spid="2" grpId="0"/>
      <p:bldP spid="3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432026" y="1772817"/>
            <a:ext cx="8496300" cy="460841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4338" name="_h1"/>
          <p:cNvSpPr>
            <a:spLocks noGrp="1" noChangeArrowheads="1"/>
          </p:cNvSpPr>
          <p:nvPr>
            <p:ph type="title"/>
          </p:nvPr>
        </p:nvSpPr>
        <p:spPr>
          <a:xfrm>
            <a:off x="3359696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Проблемы взаимодействия</a:t>
            </a: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359696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Примитивы взаимодействия</a:t>
            </a:r>
            <a:endParaRPr kumimoji="0" lang="ru-RU" sz="30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935438" y="1916833"/>
            <a:ext cx="7344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Без блокировки, с буферизацией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7446" y="2502064"/>
            <a:ext cx="72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endParaRPr kumimoji="0" lang="ru-RU" sz="20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4007446" y="3078128"/>
            <a:ext cx="144016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159574" y="2492896"/>
            <a:ext cx="1080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send</a:t>
            </a: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007446" y="5621178"/>
            <a:ext cx="72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ru-RU" sz="20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8" name="Прямая соединительная линия 17"/>
          <p:cNvCxnSpPr>
            <a:cxnSpLocks/>
            <a:endCxn id="25" idx="2"/>
          </p:cNvCxnSpPr>
          <p:nvPr/>
        </p:nvCxnSpPr>
        <p:spPr>
          <a:xfrm>
            <a:off x="4007446" y="5517232"/>
            <a:ext cx="4824552" cy="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075759" y="5591785"/>
            <a:ext cx="1080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receive</a:t>
            </a: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31" name="Прямая соединительная линия 30"/>
          <p:cNvCxnSpPr>
            <a:cxnSpLocks/>
          </p:cNvCxnSpPr>
          <p:nvPr/>
        </p:nvCxnSpPr>
        <p:spPr>
          <a:xfrm>
            <a:off x="5447598" y="3078128"/>
            <a:ext cx="1440168" cy="0"/>
          </a:xfrm>
          <a:prstGeom prst="line">
            <a:avLst/>
          </a:prstGeom>
          <a:ln>
            <a:prstDash val="soli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340" name="Прямая соединительная линия 14339"/>
          <p:cNvCxnSpPr>
            <a:cxnSpLocks/>
          </p:cNvCxnSpPr>
          <p:nvPr/>
        </p:nvCxnSpPr>
        <p:spPr>
          <a:xfrm>
            <a:off x="6887750" y="3078128"/>
            <a:ext cx="439250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341" name="Прямоугольник 14340"/>
          <p:cNvSpPr/>
          <p:nvPr/>
        </p:nvSpPr>
        <p:spPr>
          <a:xfrm>
            <a:off x="5447606" y="3068960"/>
            <a:ext cx="1440160" cy="144016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Прямоугольник 40"/>
          <p:cNvSpPr/>
          <p:nvPr/>
        </p:nvSpPr>
        <p:spPr>
          <a:xfrm>
            <a:off x="8903990" y="5373216"/>
            <a:ext cx="1440160" cy="144016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345" name="Стрелка: вниз 14344"/>
          <p:cNvSpPr/>
          <p:nvPr/>
        </p:nvSpPr>
        <p:spPr>
          <a:xfrm rot="-780000">
            <a:off x="7399515" y="3957303"/>
            <a:ext cx="1224136" cy="711278"/>
          </a:xfrm>
          <a:prstGeom prst="downArrow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4347" name="Прямая соединительная линия 14346"/>
          <p:cNvCxnSpPr>
            <a:cxnSpLocks/>
            <a:stCxn id="25" idx="6"/>
          </p:cNvCxnSpPr>
          <p:nvPr/>
        </p:nvCxnSpPr>
        <p:spPr>
          <a:xfrm>
            <a:off x="8975998" y="5517240"/>
            <a:ext cx="1368152" cy="67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49" name="Прямая соединительная линия 14348"/>
          <p:cNvCxnSpPr>
            <a:cxnSpLocks/>
          </p:cNvCxnSpPr>
          <p:nvPr/>
        </p:nvCxnSpPr>
        <p:spPr>
          <a:xfrm flipV="1">
            <a:off x="10344150" y="5515200"/>
            <a:ext cx="936104" cy="87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Прямоугольник 52"/>
          <p:cNvSpPr/>
          <p:nvPr/>
        </p:nvSpPr>
        <p:spPr>
          <a:xfrm>
            <a:off x="5447598" y="2810789"/>
            <a:ext cx="288000" cy="144016"/>
          </a:xfrm>
          <a:prstGeom prst="rect">
            <a:avLst/>
          </a:prstGeom>
          <a:solidFill>
            <a:srgbClr val="00B050"/>
          </a:solidFill>
          <a:ln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4" name="Прямоугольник 53"/>
          <p:cNvSpPr/>
          <p:nvPr/>
        </p:nvSpPr>
        <p:spPr>
          <a:xfrm>
            <a:off x="8903990" y="5669618"/>
            <a:ext cx="288000" cy="144016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3" name="Прямая соединительная линия 22"/>
          <p:cNvCxnSpPr>
            <a:cxnSpLocks/>
          </p:cNvCxnSpPr>
          <p:nvPr/>
        </p:nvCxnSpPr>
        <p:spPr>
          <a:xfrm>
            <a:off x="4007446" y="3717032"/>
            <a:ext cx="7272808" cy="0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Прямая соединительная линия 44"/>
          <p:cNvCxnSpPr>
            <a:cxnSpLocks/>
          </p:cNvCxnSpPr>
          <p:nvPr/>
        </p:nvCxnSpPr>
        <p:spPr>
          <a:xfrm>
            <a:off x="4007446" y="4869160"/>
            <a:ext cx="7272808" cy="0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339" name="TextBox 14338"/>
          <p:cNvSpPr txBox="1"/>
          <p:nvPr/>
        </p:nvSpPr>
        <p:spPr>
          <a:xfrm>
            <a:off x="3935438" y="3717032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Буфер 1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3935438" y="4499828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Буфер 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5" name="Прямоугольник 54"/>
          <p:cNvSpPr/>
          <p:nvPr/>
        </p:nvSpPr>
        <p:spPr>
          <a:xfrm>
            <a:off x="8903990" y="4869160"/>
            <a:ext cx="1440160" cy="144016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Овал 14"/>
          <p:cNvSpPr/>
          <p:nvPr/>
        </p:nvSpPr>
        <p:spPr>
          <a:xfrm>
            <a:off x="5375598" y="3006136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Прямоугольник 32"/>
          <p:cNvSpPr/>
          <p:nvPr/>
        </p:nvSpPr>
        <p:spPr>
          <a:xfrm>
            <a:off x="5447606" y="3573016"/>
            <a:ext cx="1440160" cy="144016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1" name="Прямоугольник 70"/>
          <p:cNvSpPr/>
          <p:nvPr/>
        </p:nvSpPr>
        <p:spPr>
          <a:xfrm>
            <a:off x="7391822" y="4725144"/>
            <a:ext cx="1440160" cy="144016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36" name="Прямая соединительная линия 35"/>
          <p:cNvCxnSpPr>
            <a:cxnSpLocks/>
          </p:cNvCxnSpPr>
          <p:nvPr/>
        </p:nvCxnSpPr>
        <p:spPr>
          <a:xfrm>
            <a:off x="5447606" y="3717032"/>
            <a:ext cx="144016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Стрелка: вниз 36"/>
          <p:cNvSpPr/>
          <p:nvPr/>
        </p:nvSpPr>
        <p:spPr>
          <a:xfrm>
            <a:off x="5879654" y="3240000"/>
            <a:ext cx="648072" cy="288032"/>
          </a:xfrm>
          <a:prstGeom prst="downArrow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9" name="Стрелка: вниз 78"/>
          <p:cNvSpPr/>
          <p:nvPr/>
        </p:nvSpPr>
        <p:spPr>
          <a:xfrm>
            <a:off x="9336038" y="5048023"/>
            <a:ext cx="648072" cy="288032"/>
          </a:xfrm>
          <a:prstGeom prst="downArrow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6" name="Прямоугольник 85"/>
          <p:cNvSpPr/>
          <p:nvPr/>
        </p:nvSpPr>
        <p:spPr>
          <a:xfrm>
            <a:off x="7031782" y="3717032"/>
            <a:ext cx="1440160" cy="144016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49" name="Прямая соединительная линия 48"/>
          <p:cNvCxnSpPr>
            <a:cxnSpLocks/>
          </p:cNvCxnSpPr>
          <p:nvPr/>
        </p:nvCxnSpPr>
        <p:spPr>
          <a:xfrm>
            <a:off x="7031782" y="3717032"/>
            <a:ext cx="144016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Прямая соединительная линия 51"/>
          <p:cNvCxnSpPr>
            <a:cxnSpLocks/>
          </p:cNvCxnSpPr>
          <p:nvPr/>
        </p:nvCxnSpPr>
        <p:spPr>
          <a:xfrm>
            <a:off x="7391822" y="4869160"/>
            <a:ext cx="144016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Прямая соединительная линия 56"/>
          <p:cNvCxnSpPr>
            <a:cxnSpLocks/>
          </p:cNvCxnSpPr>
          <p:nvPr/>
        </p:nvCxnSpPr>
        <p:spPr>
          <a:xfrm>
            <a:off x="8903990" y="4869160"/>
            <a:ext cx="144016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Овал 24"/>
          <p:cNvSpPr/>
          <p:nvPr/>
        </p:nvSpPr>
        <p:spPr>
          <a:xfrm>
            <a:off x="8831998" y="5445240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6" name="Овал 95"/>
          <p:cNvSpPr/>
          <p:nvPr/>
        </p:nvSpPr>
        <p:spPr>
          <a:xfrm>
            <a:off x="5375598" y="3645040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7" name="Овал 96"/>
          <p:cNvSpPr/>
          <p:nvPr/>
        </p:nvSpPr>
        <p:spPr>
          <a:xfrm>
            <a:off x="6815758" y="3018829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8" name="Овал 97"/>
          <p:cNvSpPr/>
          <p:nvPr/>
        </p:nvSpPr>
        <p:spPr>
          <a:xfrm>
            <a:off x="6815758" y="3645040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9" name="Овал 98"/>
          <p:cNvSpPr/>
          <p:nvPr/>
        </p:nvSpPr>
        <p:spPr>
          <a:xfrm>
            <a:off x="6959774" y="3645024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0" name="Овал 99"/>
          <p:cNvSpPr/>
          <p:nvPr/>
        </p:nvSpPr>
        <p:spPr>
          <a:xfrm>
            <a:off x="8399934" y="3645024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1" name="Овал 100"/>
          <p:cNvSpPr/>
          <p:nvPr/>
        </p:nvSpPr>
        <p:spPr>
          <a:xfrm>
            <a:off x="7319830" y="4797168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2" name="Овал 101"/>
          <p:cNvSpPr/>
          <p:nvPr/>
        </p:nvSpPr>
        <p:spPr>
          <a:xfrm>
            <a:off x="8759990" y="4797152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3" name="Овал 102"/>
          <p:cNvSpPr/>
          <p:nvPr/>
        </p:nvSpPr>
        <p:spPr>
          <a:xfrm>
            <a:off x="8831982" y="4797152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4" name="Овал 103"/>
          <p:cNvSpPr/>
          <p:nvPr/>
        </p:nvSpPr>
        <p:spPr>
          <a:xfrm>
            <a:off x="10272158" y="4797152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5" name="Овал 104"/>
          <p:cNvSpPr/>
          <p:nvPr/>
        </p:nvSpPr>
        <p:spPr>
          <a:xfrm>
            <a:off x="10272142" y="5445240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7" name="Прямоугольник 46">
            <a:extLst>
              <a:ext uri="{FF2B5EF4-FFF2-40B4-BE49-F238E27FC236}">
                <a16:creationId xmlns="" xmlns:a16="http://schemas.microsoft.com/office/drawing/2014/main" id="{830E7D12-63F8-44AA-BA65-21DDB7F9F8EF}"/>
              </a:ext>
            </a:extLst>
          </p:cNvPr>
          <p:cNvSpPr/>
          <p:nvPr/>
        </p:nvSpPr>
        <p:spPr>
          <a:xfrm>
            <a:off x="5735960" y="2811600"/>
            <a:ext cx="1152000" cy="144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="" xmlns:a16="http://schemas.microsoft.com/office/drawing/2014/main" id="{9DC24CFF-7A47-4914-9249-A01599F0AE76}"/>
              </a:ext>
            </a:extLst>
          </p:cNvPr>
          <p:cNvSpPr txBox="1"/>
          <p:nvPr/>
        </p:nvSpPr>
        <p:spPr>
          <a:xfrm>
            <a:off x="5736282" y="2492896"/>
            <a:ext cx="30960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Опасность модификации </a:t>
            </a:r>
          </a:p>
        </p:txBody>
      </p:sp>
      <p:sp>
        <p:nvSpPr>
          <p:cNvPr id="51" name="Прямоугольник 50">
            <a:extLst>
              <a:ext uri="{FF2B5EF4-FFF2-40B4-BE49-F238E27FC236}">
                <a16:creationId xmlns="" xmlns:a16="http://schemas.microsoft.com/office/drawing/2014/main" id="{3740A6E9-1F0D-4359-9E66-53F68E0E4960}"/>
              </a:ext>
            </a:extLst>
          </p:cNvPr>
          <p:cNvSpPr/>
          <p:nvPr/>
        </p:nvSpPr>
        <p:spPr>
          <a:xfrm>
            <a:off x="9192344" y="5670000"/>
            <a:ext cx="1152000" cy="144016"/>
          </a:xfrm>
          <a:prstGeom prst="rect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="" xmlns:a16="http://schemas.microsoft.com/office/drawing/2014/main" id="{167B5FE4-11DE-4478-896A-EB9F2662331A}"/>
              </a:ext>
            </a:extLst>
          </p:cNvPr>
          <p:cNvSpPr txBox="1"/>
          <p:nvPr/>
        </p:nvSpPr>
        <p:spPr>
          <a:xfrm>
            <a:off x="9191991" y="5796457"/>
            <a:ext cx="28806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Опасность использования </a:t>
            </a:r>
          </a:p>
        </p:txBody>
      </p:sp>
    </p:spTree>
    <p:extLst>
      <p:ext uri="{BB962C8B-B14F-4D97-AF65-F5344CB8AC3E}">
        <p14:creationId xmlns:p14="http://schemas.microsoft.com/office/powerpoint/2010/main" val="1276139282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4" grpId="0"/>
      <p:bldP spid="17" grpId="0"/>
      <p:bldP spid="26" grpId="0"/>
      <p:bldP spid="14341" grpId="0" animBg="1"/>
      <p:bldP spid="41" grpId="0" animBg="1"/>
      <p:bldP spid="14345" grpId="0" animBg="1"/>
      <p:bldP spid="53" grpId="0" animBg="1"/>
      <p:bldP spid="54" grpId="0" animBg="1"/>
      <p:bldP spid="14339" grpId="0"/>
      <p:bldP spid="50" grpId="0"/>
      <p:bldP spid="55" grpId="0" animBg="1"/>
      <p:bldP spid="15" grpId="0" animBg="1"/>
      <p:bldP spid="33" grpId="0" animBg="1"/>
      <p:bldP spid="71" grpId="0" animBg="1"/>
      <p:bldP spid="37" grpId="0" animBg="1"/>
      <p:bldP spid="79" grpId="0" animBg="1"/>
      <p:bldP spid="86" grpId="0" animBg="1"/>
      <p:bldP spid="2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3" grpId="0" animBg="1"/>
      <p:bldP spid="104" grpId="0" animBg="1"/>
      <p:bldP spid="105" grpId="0" animBg="1"/>
      <p:bldP spid="47" grpId="0" animBg="1"/>
      <p:bldP spid="48" grpId="0"/>
      <p:bldP spid="51" grpId="0" animBg="1"/>
      <p:bldP spid="56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372396" y="1772817"/>
            <a:ext cx="8496300" cy="446722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ct val="20000"/>
              </a:spcAft>
              <a:defRPr/>
            </a:pPr>
            <a:endParaRPr lang="en-US" sz="2000" noProof="1">
              <a:solidFill>
                <a:srgbClr val="1F497D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338" name="_h1"/>
          <p:cNvSpPr>
            <a:spLocks noGrp="1" noChangeArrowheads="1"/>
          </p:cNvSpPr>
          <p:nvPr>
            <p:ph type="title"/>
          </p:nvPr>
        </p:nvSpPr>
        <p:spPr>
          <a:xfrm>
            <a:off x="3359696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Проблемы взаимодействия</a:t>
            </a: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359696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 fontAlgn="base">
              <a:spcBef>
                <a:spcPct val="0"/>
              </a:spcBef>
              <a:spcAft>
                <a:spcPct val="20000"/>
              </a:spcAft>
              <a:defRPr/>
            </a:pPr>
            <a:r>
              <a:rPr lang="ru-RU" sz="3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 Примитивы взаимодействия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575720" y="1908022"/>
            <a:ext cx="79205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Блокировка без буферизации</a:t>
            </a:r>
            <a:r>
              <a:rPr lang="en-US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а</a:t>
            </a:r>
            <a:r>
              <a:rPr lang="ru-RU" sz="2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синхронная </a:t>
            </a:r>
            <a:r>
              <a:rPr lang="ru-RU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работа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7446" y="2636912"/>
            <a:ext cx="72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2000" baseline="-25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ru-RU" sz="2000" baseline="-25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4007446" y="3212976"/>
            <a:ext cx="144016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159574" y="2627744"/>
            <a:ext cx="1080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send</a:t>
            </a:r>
            <a:endParaRPr lang="ru-RU" sz="16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007446" y="4397042"/>
            <a:ext cx="72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2000" baseline="-25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ru-RU" sz="2000" baseline="-25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8" name="Прямая соединительная линия 17"/>
          <p:cNvCxnSpPr>
            <a:cxnSpLocks/>
          </p:cNvCxnSpPr>
          <p:nvPr/>
        </p:nvCxnSpPr>
        <p:spPr>
          <a:xfrm>
            <a:off x="4007446" y="5157192"/>
            <a:ext cx="216024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>
            <a:cxnSpLocks/>
            <a:endCxn id="55" idx="0"/>
          </p:cNvCxnSpPr>
          <p:nvPr/>
        </p:nvCxnSpPr>
        <p:spPr>
          <a:xfrm>
            <a:off x="5472832" y="3284984"/>
            <a:ext cx="622854" cy="1800216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/>
          <p:nvPr/>
        </p:nvCxnSpPr>
        <p:spPr>
          <a:xfrm>
            <a:off x="6120912" y="5157192"/>
            <a:ext cx="220701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Овал 24"/>
          <p:cNvSpPr/>
          <p:nvPr/>
        </p:nvSpPr>
        <p:spPr>
          <a:xfrm>
            <a:off x="8255934" y="5085200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prstClr val="white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039894" y="5466710"/>
            <a:ext cx="1080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receive</a:t>
            </a:r>
            <a:endParaRPr lang="ru-RU" sz="16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1" name="Прямая соединительная линия 30"/>
          <p:cNvCxnSpPr>
            <a:cxnSpLocks/>
          </p:cNvCxnSpPr>
          <p:nvPr/>
        </p:nvCxnSpPr>
        <p:spPr>
          <a:xfrm>
            <a:off x="5447598" y="3212976"/>
            <a:ext cx="3600408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337" name="Прямая со стрелкой 14336"/>
          <p:cNvCxnSpPr>
            <a:cxnSpLocks/>
            <a:stCxn id="25" idx="0"/>
            <a:endCxn id="57" idx="3"/>
          </p:cNvCxnSpPr>
          <p:nvPr/>
        </p:nvCxnSpPr>
        <p:spPr>
          <a:xfrm flipV="1">
            <a:off x="8327934" y="3263880"/>
            <a:ext cx="669168" cy="182132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40" name="Прямая соединительная линия 14339"/>
          <p:cNvCxnSpPr/>
          <p:nvPr/>
        </p:nvCxnSpPr>
        <p:spPr>
          <a:xfrm>
            <a:off x="9048006" y="3212976"/>
            <a:ext cx="144016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341" name="Прямоугольник 14340"/>
          <p:cNvSpPr/>
          <p:nvPr/>
        </p:nvSpPr>
        <p:spPr>
          <a:xfrm>
            <a:off x="9048006" y="3212976"/>
            <a:ext cx="1440160" cy="144016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prstClr val="white"/>
              </a:solidFill>
            </a:endParaRPr>
          </a:p>
        </p:txBody>
      </p:sp>
      <p:cxnSp>
        <p:nvCxnSpPr>
          <p:cNvPr id="14343" name="Прямая соединительная линия 14342"/>
          <p:cNvCxnSpPr>
            <a:cxnSpLocks/>
            <a:stCxn id="25" idx="6"/>
          </p:cNvCxnSpPr>
          <p:nvPr/>
        </p:nvCxnSpPr>
        <p:spPr>
          <a:xfrm flipV="1">
            <a:off x="8399934" y="5157192"/>
            <a:ext cx="936104" cy="8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Прямоугольник 40"/>
          <p:cNvSpPr/>
          <p:nvPr/>
        </p:nvSpPr>
        <p:spPr>
          <a:xfrm>
            <a:off x="9264030" y="5013176"/>
            <a:ext cx="1440160" cy="144016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prstClr val="white"/>
              </a:solidFill>
            </a:endParaRPr>
          </a:p>
        </p:txBody>
      </p:sp>
      <p:sp>
        <p:nvSpPr>
          <p:cNvPr id="14345" name="Стрелка: вниз 14344"/>
          <p:cNvSpPr/>
          <p:nvPr/>
        </p:nvSpPr>
        <p:spPr>
          <a:xfrm rot="-780000">
            <a:off x="9313532" y="3624491"/>
            <a:ext cx="1224136" cy="1203589"/>
          </a:xfrm>
          <a:prstGeom prst="downArrow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prstClr val="white"/>
              </a:solidFill>
            </a:endParaRPr>
          </a:p>
        </p:txBody>
      </p:sp>
      <p:cxnSp>
        <p:nvCxnSpPr>
          <p:cNvPr id="14347" name="Прямая соединительная линия 14346"/>
          <p:cNvCxnSpPr/>
          <p:nvPr/>
        </p:nvCxnSpPr>
        <p:spPr>
          <a:xfrm>
            <a:off x="9264030" y="5157192"/>
            <a:ext cx="1440160" cy="175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49" name="Прямая соединительная линия 14348"/>
          <p:cNvCxnSpPr>
            <a:cxnSpLocks/>
          </p:cNvCxnSpPr>
          <p:nvPr/>
        </p:nvCxnSpPr>
        <p:spPr>
          <a:xfrm>
            <a:off x="10704190" y="5174732"/>
            <a:ext cx="7200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52" name="Прямая соединительная линия 14351"/>
          <p:cNvCxnSpPr>
            <a:cxnSpLocks/>
          </p:cNvCxnSpPr>
          <p:nvPr/>
        </p:nvCxnSpPr>
        <p:spPr>
          <a:xfrm>
            <a:off x="10416158" y="3212977"/>
            <a:ext cx="1008112" cy="1754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3" name="Прямоугольник 52"/>
          <p:cNvSpPr/>
          <p:nvPr/>
        </p:nvSpPr>
        <p:spPr>
          <a:xfrm>
            <a:off x="5447598" y="2945637"/>
            <a:ext cx="5040568" cy="144016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prstClr val="white"/>
              </a:solidFill>
            </a:endParaRPr>
          </a:p>
        </p:txBody>
      </p:sp>
      <p:sp>
        <p:nvSpPr>
          <p:cNvPr id="54" name="Прямоугольник 53"/>
          <p:cNvSpPr/>
          <p:nvPr/>
        </p:nvSpPr>
        <p:spPr>
          <a:xfrm>
            <a:off x="8327926" y="5309578"/>
            <a:ext cx="2376264" cy="144016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prstClr val="white"/>
              </a:solidFill>
            </a:endParaRPr>
          </a:p>
        </p:txBody>
      </p:sp>
      <p:sp>
        <p:nvSpPr>
          <p:cNvPr id="15" name="Овал 14"/>
          <p:cNvSpPr/>
          <p:nvPr/>
        </p:nvSpPr>
        <p:spPr>
          <a:xfrm>
            <a:off x="5375598" y="3140984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prstClr val="white"/>
              </a:solidFill>
            </a:endParaRPr>
          </a:p>
        </p:txBody>
      </p:sp>
      <p:sp>
        <p:nvSpPr>
          <p:cNvPr id="55" name="Овал 54"/>
          <p:cNvSpPr/>
          <p:nvPr/>
        </p:nvSpPr>
        <p:spPr>
          <a:xfrm>
            <a:off x="6023686" y="5085200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prstClr val="white"/>
              </a:solidFill>
            </a:endParaRPr>
          </a:p>
        </p:txBody>
      </p:sp>
      <p:sp>
        <p:nvSpPr>
          <p:cNvPr id="57" name="Овал 56"/>
          <p:cNvSpPr/>
          <p:nvPr/>
        </p:nvSpPr>
        <p:spPr>
          <a:xfrm>
            <a:off x="8976014" y="3140968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prstClr val="white"/>
              </a:solidFill>
            </a:endParaRPr>
          </a:p>
        </p:txBody>
      </p:sp>
      <p:sp>
        <p:nvSpPr>
          <p:cNvPr id="59" name="Овал 58"/>
          <p:cNvSpPr/>
          <p:nvPr/>
        </p:nvSpPr>
        <p:spPr>
          <a:xfrm>
            <a:off x="9192038" y="5085200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prstClr val="white"/>
              </a:solidFill>
            </a:endParaRPr>
          </a:p>
        </p:txBody>
      </p:sp>
      <p:sp>
        <p:nvSpPr>
          <p:cNvPr id="60" name="Овал 59"/>
          <p:cNvSpPr/>
          <p:nvPr/>
        </p:nvSpPr>
        <p:spPr>
          <a:xfrm>
            <a:off x="10416174" y="3140968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prstClr val="white"/>
              </a:solidFill>
            </a:endParaRPr>
          </a:p>
        </p:txBody>
      </p:sp>
      <p:sp>
        <p:nvSpPr>
          <p:cNvPr id="61" name="Овал 60"/>
          <p:cNvSpPr/>
          <p:nvPr/>
        </p:nvSpPr>
        <p:spPr>
          <a:xfrm>
            <a:off x="10632182" y="5085184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7036673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372396" y="1772817"/>
            <a:ext cx="8496300" cy="446722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ct val="20000"/>
              </a:spcAft>
              <a:defRPr/>
            </a:pPr>
            <a:endParaRPr lang="en-US" sz="2000" noProof="1">
              <a:solidFill>
                <a:srgbClr val="1F497D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338" name="_h1"/>
          <p:cNvSpPr>
            <a:spLocks noGrp="1" noChangeArrowheads="1"/>
          </p:cNvSpPr>
          <p:nvPr>
            <p:ph type="title"/>
          </p:nvPr>
        </p:nvSpPr>
        <p:spPr>
          <a:xfrm>
            <a:off x="3359696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Проблемы взаимодействия</a:t>
            </a: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359696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 fontAlgn="base">
              <a:spcBef>
                <a:spcPct val="0"/>
              </a:spcBef>
              <a:spcAft>
                <a:spcPct val="20000"/>
              </a:spcAft>
              <a:defRPr/>
            </a:pPr>
            <a:r>
              <a:rPr lang="ru-RU" sz="3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 Примитивы взаимодействия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575720" y="1908022"/>
            <a:ext cx="79205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Блокировка без буферизации</a:t>
            </a:r>
            <a:r>
              <a:rPr lang="en-US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синхронная работа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7446" y="2636912"/>
            <a:ext cx="72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2000" baseline="-25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ru-RU" sz="2000" baseline="-25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4007446" y="3212976"/>
            <a:ext cx="144016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159574" y="2627744"/>
            <a:ext cx="1080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send</a:t>
            </a:r>
            <a:endParaRPr lang="ru-RU" sz="16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007446" y="4397042"/>
            <a:ext cx="72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2000" baseline="-25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ru-RU" sz="2000" baseline="-25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8" name="Прямая соединительная линия 17"/>
          <p:cNvCxnSpPr>
            <a:cxnSpLocks/>
          </p:cNvCxnSpPr>
          <p:nvPr/>
        </p:nvCxnSpPr>
        <p:spPr>
          <a:xfrm>
            <a:off x="4007446" y="5157192"/>
            <a:ext cx="216024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>
            <a:cxnSpLocks/>
            <a:endCxn id="55" idx="0"/>
          </p:cNvCxnSpPr>
          <p:nvPr/>
        </p:nvCxnSpPr>
        <p:spPr>
          <a:xfrm>
            <a:off x="5472832" y="3284984"/>
            <a:ext cx="622854" cy="1800216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/>
          <p:nvPr/>
        </p:nvCxnSpPr>
        <p:spPr>
          <a:xfrm>
            <a:off x="6120912" y="5157192"/>
            <a:ext cx="220701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Овал 24"/>
          <p:cNvSpPr/>
          <p:nvPr/>
        </p:nvSpPr>
        <p:spPr>
          <a:xfrm>
            <a:off x="8255934" y="5085200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prstClr val="white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039894" y="5466710"/>
            <a:ext cx="1080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receive</a:t>
            </a:r>
            <a:endParaRPr lang="ru-RU" sz="16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1" name="Прямая соединительная линия 30"/>
          <p:cNvCxnSpPr>
            <a:cxnSpLocks/>
          </p:cNvCxnSpPr>
          <p:nvPr/>
        </p:nvCxnSpPr>
        <p:spPr>
          <a:xfrm>
            <a:off x="5447598" y="3212976"/>
            <a:ext cx="3600408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337" name="Прямая со стрелкой 14336"/>
          <p:cNvCxnSpPr>
            <a:cxnSpLocks/>
            <a:stCxn id="25" idx="0"/>
            <a:endCxn id="57" idx="3"/>
          </p:cNvCxnSpPr>
          <p:nvPr/>
        </p:nvCxnSpPr>
        <p:spPr>
          <a:xfrm flipV="1">
            <a:off x="8327934" y="3263880"/>
            <a:ext cx="669168" cy="182132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40" name="Прямая соединительная линия 14339"/>
          <p:cNvCxnSpPr/>
          <p:nvPr/>
        </p:nvCxnSpPr>
        <p:spPr>
          <a:xfrm>
            <a:off x="9048006" y="3212976"/>
            <a:ext cx="144016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341" name="Прямоугольник 14340"/>
          <p:cNvSpPr/>
          <p:nvPr/>
        </p:nvSpPr>
        <p:spPr>
          <a:xfrm>
            <a:off x="9048006" y="3212976"/>
            <a:ext cx="1440160" cy="144016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prstClr val="white"/>
              </a:solidFill>
            </a:endParaRPr>
          </a:p>
        </p:txBody>
      </p:sp>
      <p:cxnSp>
        <p:nvCxnSpPr>
          <p:cNvPr id="14343" name="Прямая соединительная линия 14342"/>
          <p:cNvCxnSpPr>
            <a:cxnSpLocks/>
            <a:stCxn id="25" idx="6"/>
          </p:cNvCxnSpPr>
          <p:nvPr/>
        </p:nvCxnSpPr>
        <p:spPr>
          <a:xfrm flipV="1">
            <a:off x="8399934" y="5157192"/>
            <a:ext cx="936104" cy="8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Прямоугольник 40"/>
          <p:cNvSpPr/>
          <p:nvPr/>
        </p:nvSpPr>
        <p:spPr>
          <a:xfrm>
            <a:off x="9264030" y="5013176"/>
            <a:ext cx="1440160" cy="144016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prstClr val="white"/>
              </a:solidFill>
            </a:endParaRPr>
          </a:p>
        </p:txBody>
      </p:sp>
      <p:sp>
        <p:nvSpPr>
          <p:cNvPr id="14345" name="Стрелка: вниз 14344"/>
          <p:cNvSpPr/>
          <p:nvPr/>
        </p:nvSpPr>
        <p:spPr>
          <a:xfrm rot="-780000">
            <a:off x="9313532" y="3624491"/>
            <a:ext cx="1224136" cy="1203589"/>
          </a:xfrm>
          <a:prstGeom prst="downArrow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prstClr val="white"/>
              </a:solidFill>
            </a:endParaRPr>
          </a:p>
        </p:txBody>
      </p:sp>
      <p:cxnSp>
        <p:nvCxnSpPr>
          <p:cNvPr id="14347" name="Прямая соединительная линия 14346"/>
          <p:cNvCxnSpPr/>
          <p:nvPr/>
        </p:nvCxnSpPr>
        <p:spPr>
          <a:xfrm>
            <a:off x="9264030" y="5157192"/>
            <a:ext cx="1440160" cy="175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49" name="Прямая соединительная линия 14348"/>
          <p:cNvCxnSpPr>
            <a:cxnSpLocks/>
          </p:cNvCxnSpPr>
          <p:nvPr/>
        </p:nvCxnSpPr>
        <p:spPr>
          <a:xfrm>
            <a:off x="10704190" y="5174732"/>
            <a:ext cx="7200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52" name="Прямая соединительная линия 14351"/>
          <p:cNvCxnSpPr>
            <a:cxnSpLocks/>
          </p:cNvCxnSpPr>
          <p:nvPr/>
        </p:nvCxnSpPr>
        <p:spPr>
          <a:xfrm>
            <a:off x="10416158" y="3212977"/>
            <a:ext cx="1008112" cy="1754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3" name="Прямоугольник 52"/>
          <p:cNvSpPr/>
          <p:nvPr/>
        </p:nvSpPr>
        <p:spPr>
          <a:xfrm>
            <a:off x="5447598" y="2945637"/>
            <a:ext cx="5040568" cy="144016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prstClr val="white"/>
              </a:solidFill>
            </a:endParaRPr>
          </a:p>
        </p:txBody>
      </p:sp>
      <p:sp>
        <p:nvSpPr>
          <p:cNvPr id="54" name="Прямоугольник 53"/>
          <p:cNvSpPr/>
          <p:nvPr/>
        </p:nvSpPr>
        <p:spPr>
          <a:xfrm>
            <a:off x="8327926" y="5309578"/>
            <a:ext cx="2376264" cy="144016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prstClr val="white"/>
              </a:solidFill>
            </a:endParaRPr>
          </a:p>
        </p:txBody>
      </p:sp>
      <p:sp>
        <p:nvSpPr>
          <p:cNvPr id="15" name="Овал 14"/>
          <p:cNvSpPr/>
          <p:nvPr/>
        </p:nvSpPr>
        <p:spPr>
          <a:xfrm>
            <a:off x="5375598" y="3140984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prstClr val="white"/>
              </a:solidFill>
            </a:endParaRPr>
          </a:p>
        </p:txBody>
      </p:sp>
      <p:sp>
        <p:nvSpPr>
          <p:cNvPr id="55" name="Овал 54"/>
          <p:cNvSpPr/>
          <p:nvPr/>
        </p:nvSpPr>
        <p:spPr>
          <a:xfrm>
            <a:off x="6023686" y="5085200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prstClr val="white"/>
              </a:solidFill>
            </a:endParaRPr>
          </a:p>
        </p:txBody>
      </p:sp>
      <p:sp>
        <p:nvSpPr>
          <p:cNvPr id="57" name="Овал 56"/>
          <p:cNvSpPr/>
          <p:nvPr/>
        </p:nvSpPr>
        <p:spPr>
          <a:xfrm>
            <a:off x="8976014" y="3140968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prstClr val="white"/>
              </a:solidFill>
            </a:endParaRPr>
          </a:p>
        </p:txBody>
      </p:sp>
      <p:sp>
        <p:nvSpPr>
          <p:cNvPr id="59" name="Овал 58"/>
          <p:cNvSpPr/>
          <p:nvPr/>
        </p:nvSpPr>
        <p:spPr>
          <a:xfrm>
            <a:off x="9192038" y="5085200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prstClr val="white"/>
              </a:solidFill>
            </a:endParaRPr>
          </a:p>
        </p:txBody>
      </p:sp>
      <p:sp>
        <p:nvSpPr>
          <p:cNvPr id="60" name="Овал 59"/>
          <p:cNvSpPr/>
          <p:nvPr/>
        </p:nvSpPr>
        <p:spPr>
          <a:xfrm>
            <a:off x="10416174" y="3140968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prstClr val="white"/>
              </a:solidFill>
            </a:endParaRPr>
          </a:p>
        </p:txBody>
      </p:sp>
      <p:sp>
        <p:nvSpPr>
          <p:cNvPr id="61" name="Овал 60"/>
          <p:cNvSpPr/>
          <p:nvPr/>
        </p:nvSpPr>
        <p:spPr>
          <a:xfrm>
            <a:off x="10632182" y="5085184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prstClr val="white"/>
              </a:solidFill>
            </a:endParaRPr>
          </a:p>
        </p:txBody>
      </p:sp>
      <p:sp>
        <p:nvSpPr>
          <p:cNvPr id="33" name="Овал 32">
            <a:extLst>
              <a:ext uri="{FF2B5EF4-FFF2-40B4-BE49-F238E27FC236}">
                <a16:creationId xmlns:a16="http://schemas.microsoft.com/office/drawing/2014/main" xmlns="" id="{4FE20016-CEBE-4C1B-B1FB-E65EFDB46AC6}"/>
              </a:ext>
            </a:extLst>
          </p:cNvPr>
          <p:cNvSpPr/>
          <p:nvPr/>
        </p:nvSpPr>
        <p:spPr>
          <a:xfrm>
            <a:off x="10776536" y="3140968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prstClr val="white"/>
              </a:solidFill>
            </a:endParaRPr>
          </a:p>
        </p:txBody>
      </p:sp>
      <p:cxnSp>
        <p:nvCxnSpPr>
          <p:cNvPr id="34" name="Прямая со стрелкой 33">
            <a:extLst>
              <a:ext uri="{FF2B5EF4-FFF2-40B4-BE49-F238E27FC236}">
                <a16:creationId xmlns:a16="http://schemas.microsoft.com/office/drawing/2014/main" xmlns="" id="{457BA400-B23B-4374-A763-DBD9BAC732A4}"/>
              </a:ext>
            </a:extLst>
          </p:cNvPr>
          <p:cNvCxnSpPr>
            <a:cxnSpLocks/>
            <a:stCxn id="61" idx="4"/>
            <a:endCxn id="33" idx="4"/>
          </p:cNvCxnSpPr>
          <p:nvPr/>
        </p:nvCxnSpPr>
        <p:spPr>
          <a:xfrm flipV="1">
            <a:off x="10704182" y="3284968"/>
            <a:ext cx="144354" cy="1944216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xmlns="" id="{742EB66B-453C-47BE-BF2E-2CCE34695D3C}"/>
              </a:ext>
            </a:extLst>
          </p:cNvPr>
          <p:cNvSpPr/>
          <p:nvPr/>
        </p:nvSpPr>
        <p:spPr>
          <a:xfrm>
            <a:off x="5446800" y="2944800"/>
            <a:ext cx="5400000" cy="144016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9982687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38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1" name="WordArt 3"/>
          <p:cNvSpPr>
            <a:spLocks noChangeArrowheads="1" noChangeShapeType="1" noTextEdit="1"/>
          </p:cNvSpPr>
          <p:nvPr/>
        </p:nvSpPr>
        <p:spPr bwMode="gray">
          <a:xfrm>
            <a:off x="7891089" y="1585914"/>
            <a:ext cx="1322388" cy="216693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ru-RU" sz="3600" kern="10">
                <a:ln w="28575">
                  <a:solidFill>
                    <a:srgbClr val="FFFF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C0C0C0"/>
                    </a:gs>
                    <a:gs pos="100000">
                      <a:srgbClr val="484848"/>
                    </a:gs>
                  </a:gsLst>
                  <a:lin ang="5400000" scaled="1"/>
                </a:gradFill>
                <a:effectLst>
                  <a:outerShdw dist="63500" dir="2212194" algn="ctr" rotWithShape="0">
                    <a:srgbClr val="808080">
                      <a:alpha val="50000"/>
                    </a:srgbClr>
                  </a:outerShdw>
                </a:effectLst>
                <a:latin typeface="Arial Black"/>
                <a:cs typeface="Arial" charset="0"/>
              </a:rPr>
              <a:t>?</a:t>
            </a:r>
          </a:p>
        </p:txBody>
      </p:sp>
      <p:sp>
        <p:nvSpPr>
          <p:cNvPr id="143362" name="WordArt 8"/>
          <p:cNvSpPr>
            <a:spLocks noChangeArrowheads="1" noChangeShapeType="1" noTextEdit="1"/>
          </p:cNvSpPr>
          <p:nvPr/>
        </p:nvSpPr>
        <p:spPr bwMode="gray">
          <a:xfrm>
            <a:off x="7073528" y="2536826"/>
            <a:ext cx="1004887" cy="16478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ru-RU" sz="3600" kern="10">
                <a:ln w="28575">
                  <a:solidFill>
                    <a:srgbClr val="FFFF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FFFFFF"/>
                    </a:gs>
                    <a:gs pos="100000">
                      <a:srgbClr val="B4B4B4"/>
                    </a:gs>
                  </a:gsLst>
                  <a:lin ang="5400000" scaled="1"/>
                </a:gradFill>
                <a:effectLst>
                  <a:outerShdw dist="63500" dir="2212194" algn="ctr" rotWithShape="0">
                    <a:srgbClr val="808080">
                      <a:alpha val="50000"/>
                    </a:srgbClr>
                  </a:outerShdw>
                </a:effectLst>
                <a:latin typeface="Arial Black"/>
                <a:cs typeface="Arial" charset="0"/>
              </a:rPr>
              <a:t>?</a:t>
            </a:r>
          </a:p>
        </p:txBody>
      </p:sp>
      <p:sp>
        <p:nvSpPr>
          <p:cNvPr id="143363" name="WordArt 9"/>
          <p:cNvSpPr>
            <a:spLocks noChangeArrowheads="1" noChangeShapeType="1" noTextEdit="1"/>
          </p:cNvSpPr>
          <p:nvPr/>
        </p:nvSpPr>
        <p:spPr bwMode="gray">
          <a:xfrm>
            <a:off x="8510215" y="2484439"/>
            <a:ext cx="1546225" cy="253523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ru-RU" sz="3600" kern="10">
                <a:ln w="28575">
                  <a:solidFill>
                    <a:srgbClr val="FFFF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A1C4FF"/>
                    </a:gs>
                    <a:gs pos="100000">
                      <a:srgbClr val="2A79FF"/>
                    </a:gs>
                  </a:gsLst>
                  <a:lin ang="5400000" scaled="1"/>
                </a:gradFill>
                <a:effectLst>
                  <a:outerShdw dist="63500" dir="2212194" algn="ctr" rotWithShape="0">
                    <a:srgbClr val="808080">
                      <a:alpha val="50000"/>
                    </a:srgbClr>
                  </a:outerShdw>
                </a:effectLst>
                <a:latin typeface="Arial Black"/>
                <a:cs typeface="Arial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556595197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2_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gradFill rotWithShape="0">
          <a:gsLst>
            <a:gs pos="0">
              <a:srgbClr val="FFFFFF"/>
            </a:gs>
            <a:gs pos="100000">
              <a:srgbClr val="D9D9D9"/>
            </a:gs>
          </a:gsLst>
          <a:lin ang="5400000" scaled="1"/>
        </a:gradFill>
        <a:ln w="12700">
          <a:solidFill>
            <a:srgbClr val="C0C0C0"/>
          </a:solidFill>
          <a:miter lim="800000"/>
          <a:headEnd/>
          <a:tailEnd/>
        </a:ln>
        <a:effectLst>
          <a:outerShdw dist="38100" dir="2700000" algn="tl" rotWithShape="0">
            <a:srgbClr val="808080">
              <a:alpha val="39999"/>
            </a:srgbClr>
          </a:outerShdw>
        </a:effectLst>
      </a:spPr>
      <a:bodyPr lIns="216000" tIns="36000" rIns="216000" bIns="36000" anchor="ctr"/>
      <a:lstStyle>
        <a:defPPr defTabSz="457200" fontAlgn="base">
          <a:spcBef>
            <a:spcPct val="0"/>
          </a:spcBef>
          <a:spcAft>
            <a:spcPct val="0"/>
          </a:spcAft>
          <a:defRPr sz="2400" dirty="0">
            <a:solidFill>
              <a:prstClr val="black"/>
            </a:solidFill>
            <a:latin typeface="Arial" pitchFamily="34" charset="0"/>
            <a:cs typeface="Arial" pitchFamily="34" charset="0"/>
          </a:defRPr>
        </a:defPPr>
      </a:lstStyle>
    </a:spDef>
    <a:lnDef>
      <a:spPr>
        <a:ln w="50800">
          <a:solidFill>
            <a:srgbClr val="FF0000"/>
          </a:solidFill>
          <a:tailEnd type="arrow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Larissa-Design">
  <a:themeElements>
    <a:clrScheme name="Standard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2A79FF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74747"/>
      </a:accent6>
      <a:hlink>
        <a:srgbClr val="C00000"/>
      </a:hlink>
      <a:folHlink>
        <a:srgbClr val="FFC0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>
          <a:solidFill>
            <a:srgbClr val="A50021"/>
          </a:solidFill>
          <a:round/>
          <a:headEnd/>
          <a:tailEnd/>
        </a:ln>
      </a:spPr>
      <a:bodyPr/>
      <a:lstStyle>
        <a:defPPr>
          <a:defRPr dirty="0"/>
        </a:defPPr>
      </a:lstStyle>
    </a:spDef>
  </a:objectDefaults>
  <a:extraClrSchemeLst/>
</a:theme>
</file>

<file path=ppt/theme/theme4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3_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gradFill rotWithShape="0">
          <a:gsLst>
            <a:gs pos="0">
              <a:srgbClr val="FFFFFF"/>
            </a:gs>
            <a:gs pos="100000">
              <a:srgbClr val="D9D9D9"/>
            </a:gs>
          </a:gsLst>
          <a:lin ang="5400000" scaled="1"/>
        </a:gradFill>
        <a:ln w="12700">
          <a:solidFill>
            <a:srgbClr val="C0C0C0"/>
          </a:solidFill>
          <a:miter lim="800000"/>
          <a:headEnd/>
          <a:tailEnd/>
        </a:ln>
        <a:effectLst>
          <a:outerShdw dist="38100" dir="2700000" algn="tl" rotWithShape="0">
            <a:srgbClr val="808080">
              <a:alpha val="39999"/>
            </a:srgbClr>
          </a:outerShdw>
        </a:effectLst>
      </a:spPr>
      <a:bodyPr lIns="216000" tIns="36000" rIns="216000" bIns="36000" anchor="ctr"/>
      <a:lstStyle>
        <a:defPPr defTabSz="457200" fontAlgn="base">
          <a:spcBef>
            <a:spcPct val="0"/>
          </a:spcBef>
          <a:spcAft>
            <a:spcPct val="0"/>
          </a:spcAft>
          <a:defRPr sz="2400" dirty="0">
            <a:solidFill>
              <a:prstClr val="black"/>
            </a:solidFill>
            <a:latin typeface="Arial" pitchFamily="34" charset="0"/>
            <a:cs typeface="Arial" pitchFamily="34" charset="0"/>
          </a:defRPr>
        </a:defPPr>
      </a:lstStyle>
    </a:spDef>
    <a:lnDef>
      <a:spPr>
        <a:ln w="50800">
          <a:solidFill>
            <a:srgbClr val="FF0000"/>
          </a:solidFill>
          <a:tailEnd type="arrow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1414</Words>
  <Application>Microsoft Office PowerPoint</Application>
  <PresentationFormat>Широкоэкранный</PresentationFormat>
  <Paragraphs>574</Paragraphs>
  <Slides>44</Slides>
  <Notes>44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5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44</vt:i4>
      </vt:variant>
    </vt:vector>
  </HeadingPairs>
  <TitlesOfParts>
    <vt:vector size="57" baseType="lpstr">
      <vt:lpstr>Arial Unicode MS</vt:lpstr>
      <vt:lpstr>Arial</vt:lpstr>
      <vt:lpstr>Arial Black</vt:lpstr>
      <vt:lpstr>Calibri</vt:lpstr>
      <vt:lpstr>Lucida Grande CY</vt:lpstr>
      <vt:lpstr>Symbol</vt:lpstr>
      <vt:lpstr>Wingdings</vt:lpstr>
      <vt:lpstr>1_Тема Office</vt:lpstr>
      <vt:lpstr>2_Тема Office</vt:lpstr>
      <vt:lpstr>Larissa-Design</vt:lpstr>
      <vt:lpstr>Тема Office</vt:lpstr>
      <vt:lpstr>3_Тема Office</vt:lpstr>
      <vt:lpstr>Equation</vt:lpstr>
      <vt:lpstr>Презентация PowerPoint</vt:lpstr>
      <vt:lpstr>Тема 3</vt:lpstr>
      <vt:lpstr>Распределенные системы </vt:lpstr>
      <vt:lpstr>Проблемы взаимодействия </vt:lpstr>
      <vt:lpstr>Проблемы взаимодействия </vt:lpstr>
      <vt:lpstr>Проблемы взаимодействия </vt:lpstr>
      <vt:lpstr>Проблемы взаимодействия </vt:lpstr>
      <vt:lpstr>Проблемы взаимодействия </vt:lpstr>
      <vt:lpstr>Проблемы взаимодействия </vt:lpstr>
      <vt:lpstr>Проблемы взаимодействия </vt:lpstr>
      <vt:lpstr>Проблемы взаимодействия </vt:lpstr>
      <vt:lpstr>Проблемы взаимодействия </vt:lpstr>
      <vt:lpstr>Проблемы взаимодействия </vt:lpstr>
      <vt:lpstr>Проблемы взаимодействия </vt:lpstr>
      <vt:lpstr>Проблемы взаимодействия </vt:lpstr>
      <vt:lpstr>Проблемы взаимодействия </vt:lpstr>
      <vt:lpstr>Проблемы взаимодействия </vt:lpstr>
      <vt:lpstr>Проблемы взаимодействия </vt:lpstr>
      <vt:lpstr>Проблемы взаимодействия </vt:lpstr>
      <vt:lpstr>Проблемы взаимодействия </vt:lpstr>
      <vt:lpstr>Проблемы взаимодействия</vt:lpstr>
      <vt:lpstr>Проблемы взаимодействия</vt:lpstr>
      <vt:lpstr>Проблемы взаимодействия</vt:lpstr>
      <vt:lpstr>Проблемы взаимодействия</vt:lpstr>
      <vt:lpstr>Проблемы взаимодействия</vt:lpstr>
      <vt:lpstr>Проблемы взаимодействия</vt:lpstr>
      <vt:lpstr>Проблемы взаимодействия</vt:lpstr>
      <vt:lpstr>Проблемы взаимодействия</vt:lpstr>
      <vt:lpstr>Проблемы взаимодействия</vt:lpstr>
      <vt:lpstr>Проблемы взаимодействия</vt:lpstr>
      <vt:lpstr>Проблемы взаимодействия</vt:lpstr>
      <vt:lpstr>Проблемы взаимодействия</vt:lpstr>
      <vt:lpstr>Проблемы взаимодействия</vt:lpstr>
      <vt:lpstr>Проблемы взаимодействия</vt:lpstr>
      <vt:lpstr>Проблемы взаимодействия</vt:lpstr>
      <vt:lpstr>Проблемы взаимодействия</vt:lpstr>
      <vt:lpstr>Проблемы взаимодействия</vt:lpstr>
      <vt:lpstr>Проблемы взаимодействия</vt:lpstr>
      <vt:lpstr>Проблемы взаимодействия</vt:lpstr>
      <vt:lpstr>Проблемы взаимодействия</vt:lpstr>
      <vt:lpstr>Проблемы взаимодействия</vt:lpstr>
      <vt:lpstr>Проблемы взаимодействия</vt:lpstr>
      <vt:lpstr>Проблемы взаимодействия</vt:lpstr>
      <vt:lpstr>Презентация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Операционные системы лекция 7</dc:title>
  <dc:creator/>
  <cp:lastModifiedBy/>
  <cp:revision>1</cp:revision>
  <dcterms:created xsi:type="dcterms:W3CDTF">2016-02-27T09:01:20Z</dcterms:created>
  <dcterms:modified xsi:type="dcterms:W3CDTF">2026-03-02T14:59:29Z</dcterms:modified>
</cp:coreProperties>
</file>