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678" r:id="rId2"/>
    <p:sldMasterId id="2147483681" r:id="rId3"/>
  </p:sldMasterIdLst>
  <p:notesMasterIdLst>
    <p:notesMasterId r:id="rId12"/>
  </p:notesMasterIdLst>
  <p:sldIdLst>
    <p:sldId id="445" r:id="rId4"/>
    <p:sldId id="466" r:id="rId5"/>
    <p:sldId id="471" r:id="rId6"/>
    <p:sldId id="467" r:id="rId7"/>
    <p:sldId id="468" r:id="rId8"/>
    <p:sldId id="469" r:id="rId9"/>
    <p:sldId id="470" r:id="rId10"/>
    <p:sldId id="271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60606"/>
    <a:srgbClr val="345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514" autoAdjust="0"/>
    <p:restoredTop sz="91335" autoAdjust="0"/>
  </p:normalViewPr>
  <p:slideViewPr>
    <p:cSldViewPr>
      <p:cViewPr varScale="1">
        <p:scale>
          <a:sx n="103" d="100"/>
          <a:sy n="103" d="100"/>
        </p:scale>
        <p:origin x="138" y="414"/>
      </p:cViewPr>
      <p:guideLst>
        <p:guide orient="horz" pos="2614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59AABB-C9C6-43AA-902A-833FEB3847CE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FECF74-1CAC-4F88-AAFE-84C98DBB36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8468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823CC4-FED0-46D8-B338-6A49B477DF90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7556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22513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88D3C842-15F5-4118-93B3-B56D48F51314}" type="slidenum">
              <a:rPr lang="ru-RU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  <a:defRPr/>
            </a:pPr>
            <a:fld id="{80EBC222-5CA9-45A5-916B-59235F528885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00102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6484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51279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45886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23326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0A90FD3-1104-4C0E-BD19-C04AAB04E560}" type="slidenum">
              <a:rPr lang="de-DE" altLang="ru-RU" smtClean="0">
                <a:solidFill>
                  <a:prstClr val="black"/>
                </a:solidFill>
              </a:rPr>
              <a:pPr/>
              <a:t>8</a:t>
            </a:fld>
            <a:endParaRPr lang="de-DE" altLang="ru-RU">
              <a:solidFill>
                <a:prstClr val="black"/>
              </a:solidFill>
            </a:endParaRPr>
          </a:p>
        </p:txBody>
      </p:sp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183" y="4343144"/>
            <a:ext cx="5029635" cy="4115019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0" lang="ru-RU" altLang="ru-RU" noProof="1"/>
          </a:p>
        </p:txBody>
      </p:sp>
    </p:spTree>
    <p:extLst>
      <p:ext uri="{BB962C8B-B14F-4D97-AF65-F5344CB8AC3E}">
        <p14:creationId xmlns:p14="http://schemas.microsoft.com/office/powerpoint/2010/main" val="4123936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P:\JOBS ZUM BEARBEITEN\D2481_Strategietools\Grundlagen\table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gray">
          <a:xfrm>
            <a:off x="0" y="317500"/>
            <a:ext cx="12192000" cy="5627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 bwMode="gray">
          <a:xfrm>
            <a:off x="447413" y="1998133"/>
            <a:ext cx="8290187" cy="1416050"/>
          </a:xfrm>
        </p:spPr>
        <p:txBody>
          <a:bodyPr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gray">
          <a:xfrm>
            <a:off x="436229" y="4037202"/>
            <a:ext cx="8301372" cy="1271398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5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6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7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 dirty="0">
                <a:solidFill>
                  <a:prstClr val="black"/>
                </a:solidFill>
              </a:rPr>
              <a:t>Стр. </a:t>
            </a:r>
            <a:fld id="{2CF74CB0-F0B5-41E9-BA71-20606D10B8F1}" type="slidenum">
              <a:rPr lang="de-DE" altLang="ru-RU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430130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4CED0C5-ED51-4CAE-B403-C2A41A79FC68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343371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56F2DCAE-80BF-45C3-B74A-3BA349CF89F6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056435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4F925C-88EF-41CE-A289-BD24C4C53697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5611339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4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28D019-E771-49AB-93BA-BEA67AACC870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664407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3260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4292343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9936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2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9973251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431800" y="1554163"/>
            <a:ext cx="11328400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Textmasterformate durch Klicken bearbeiten</a:t>
            </a:r>
          </a:p>
          <a:p>
            <a:pPr lvl="1"/>
            <a:r>
              <a:rPr lang="de-DE" altLang="ru-RU"/>
              <a:t>Zweite Ebene</a:t>
            </a:r>
          </a:p>
          <a:p>
            <a:pPr lvl="2"/>
            <a:r>
              <a:rPr lang="de-DE" altLang="ru-RU"/>
              <a:t>Dritte Ebene</a:t>
            </a:r>
          </a:p>
        </p:txBody>
      </p:sp>
      <p:sp>
        <p:nvSpPr>
          <p:cNvPr id="1027" name="Titelplatzhalter 1"/>
          <p:cNvSpPr>
            <a:spLocks noGrp="1"/>
          </p:cNvSpPr>
          <p:nvPr>
            <p:ph type="title"/>
          </p:nvPr>
        </p:nvSpPr>
        <p:spPr bwMode="gray">
          <a:xfrm>
            <a:off x="431800" y="1"/>
            <a:ext cx="11328400" cy="1090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Titelmasterformat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gray">
          <a:xfrm>
            <a:off x="4318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 smtClean="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gray">
          <a:xfrm>
            <a:off x="330201" y="6356351"/>
            <a:ext cx="1943100" cy="365125"/>
          </a:xfrm>
          <a:prstGeom prst="rect">
            <a:avLst/>
          </a:prstGeom>
          <a:gradFill>
            <a:gsLst>
              <a:gs pos="0">
                <a:srgbClr val="5F8ED9"/>
              </a:gs>
              <a:gs pos="50000">
                <a:srgbClr val="8EB4E3"/>
              </a:gs>
              <a:gs pos="100000">
                <a:srgbClr val="C6D9F1">
                  <a:alpha val="14902"/>
                </a:srgbClr>
              </a:gs>
            </a:gsLst>
            <a:lin ang="16200000" scaled="1"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 dirty="0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2292351" y="6356351"/>
            <a:ext cx="14859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42D759B2-9E95-43EC-A219-6234572FE2A1}" type="slidenum">
              <a:rPr lang="de-DE" altLang="ru-RU">
                <a:solidFill>
                  <a:prstClr val="black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3182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</p:sldLayoutIdLst>
  <p:transition spd="med">
    <p:fade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176213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360363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536575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720725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896938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6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 defTabSz="457200"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 smtClean="0">
                <a:solidFill>
                  <a:prstClr val="black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8228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3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2" y="6410328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2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 defTabSz="342900"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8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3429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 smtClean="0">
                <a:solidFill>
                  <a:prstClr val="black"/>
                </a:solidFill>
              </a:rPr>
              <a:pPr defTabSz="3429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0732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</p:sldLayoutIdLst>
  <p:hf sldNum="0" hdr="0" ftr="0" dt="0"/>
  <p:txStyles>
    <p:titleStyle>
      <a:lvl1pPr algn="ctr" defTabSz="342900" rtl="0" eaLnBrk="0" fontAlgn="base" hangingPunct="0">
        <a:spcBef>
          <a:spcPct val="0"/>
        </a:spcBef>
        <a:spcAft>
          <a:spcPct val="0"/>
        </a:spcAft>
        <a:defRPr kumimoji="1" sz="33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342900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342900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342900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342900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342900" algn="ctr" defTabSz="342900" rtl="0" fontAlgn="base"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685800" algn="ctr" defTabSz="342900" rtl="0" fontAlgn="base"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028700" algn="ctr" defTabSz="342900" rtl="0" fontAlgn="base"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371600" algn="ctr" defTabSz="342900" rtl="0" fontAlgn="base"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257175" indent="-257175" algn="l" defTabSz="3429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557213" indent="-214313" algn="l" defTabSz="3429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1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857250" indent="-171450" algn="l" defTabSz="3429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1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200150" indent="-171450" algn="l" defTabSz="3429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15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1543050" indent="-171450" algn="l" defTabSz="3429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15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Название 1"/>
          <p:cNvSpPr>
            <a:spLocks noGrp="1"/>
          </p:cNvSpPr>
          <p:nvPr>
            <p:ph type="title"/>
          </p:nvPr>
        </p:nvSpPr>
        <p:spPr>
          <a:xfrm>
            <a:off x="4026582" y="1035844"/>
            <a:ext cx="6372225" cy="463154"/>
          </a:xfrm>
        </p:spPr>
        <p:txBody>
          <a:bodyPr/>
          <a:lstStyle/>
          <a:p>
            <a:pPr algn="l" eaLnBrk="1" hangingPunct="1"/>
            <a:r>
              <a:rPr kumimoji="0" lang="ru-RU" sz="27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Тема</a:t>
            </a:r>
            <a:r>
              <a:rPr kumimoji="0" lang="en-US" sz="2700" b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2700" b="1" smtClean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7</a:t>
            </a:r>
            <a:endParaRPr kumimoji="0" lang="ru-RU" sz="2700" b="1" dirty="0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477831" y="1659733"/>
            <a:ext cx="6100669" cy="17033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3429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003794"/>
              </a:solidFill>
              <a:effectLst/>
              <a:uLnTx/>
              <a:uFillTx/>
              <a:latin typeface="Lucida Grande CY" pitchFamily="2" charset="-52"/>
              <a:ea typeface="+mn-ea"/>
              <a:cs typeface="Arial" pitchFamily="34" charset="0"/>
            </a:endParaRPr>
          </a:p>
          <a:p>
            <a:pPr marL="1080000" marR="0" lvl="0" indent="0" algn="l" defTabSz="3429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Практика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1080000" marR="0" lvl="0" indent="0" algn="l" defTabSz="3429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3000" dirty="0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Круговой алгоритм</a:t>
            </a:r>
            <a:endParaRPr kumimoji="0" lang="ru-RU" sz="30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568258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504356" y="1772816"/>
            <a:ext cx="8496300" cy="482453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49165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голосования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635350" y="1844825"/>
            <a:ext cx="82089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Описание задачи</a:t>
            </a: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42" name="TextBox 14341"/>
          <p:cNvSpPr txBox="1"/>
          <p:nvPr/>
        </p:nvSpPr>
        <p:spPr>
          <a:xfrm>
            <a:off x="3648050" y="2377485"/>
            <a:ext cx="8352606" cy="2905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MPI-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программа должна эмулировать работу кругового алгоритма.</a:t>
            </a:r>
          </a:p>
          <a:p>
            <a:pPr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Считается, что мы запускаем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процессов (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5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Вначале производится жеребьевка: кому жить, а кому не жить. Процесс с рангом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RANK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в жеребьевке не участвует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7" name="Rechteck 36">
            <a:extLst>
              <a:ext uri="{FF2B5EF4-FFF2-40B4-BE49-F238E27FC236}">
                <a16:creationId xmlns:a16="http://schemas.microsoft.com/office/drawing/2014/main" xmlns="" id="{97119B8F-78EB-4E48-A88D-4A525108E9E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79553" y="969544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Скалярное время Лэмпорта</a:t>
            </a:r>
          </a:p>
        </p:txBody>
      </p:sp>
      <p:sp>
        <p:nvSpPr>
          <p:cNvPr id="8" name="Rechteck 36">
            <a:extLst>
              <a:ext uri="{FF2B5EF4-FFF2-40B4-BE49-F238E27FC236}">
                <a16:creationId xmlns:a16="http://schemas.microsoft.com/office/drawing/2014/main" xmlns="" id="{415CDA9A-ACC5-4D96-AC1F-DC4D2631849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Круговой алгоритм</a:t>
            </a:r>
          </a:p>
        </p:txBody>
      </p:sp>
    </p:spTree>
    <p:extLst>
      <p:ext uri="{BB962C8B-B14F-4D97-AF65-F5344CB8AC3E}">
        <p14:creationId xmlns:p14="http://schemas.microsoft.com/office/powerpoint/2010/main" val="309609634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504356" y="1772816"/>
            <a:ext cx="8496300" cy="482453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49165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голосования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635350" y="1844825"/>
            <a:ext cx="82089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Описание задачи</a:t>
            </a: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42" name="TextBox 14341"/>
          <p:cNvSpPr txBox="1"/>
          <p:nvPr/>
        </p:nvSpPr>
        <p:spPr>
          <a:xfrm>
            <a:off x="3648050" y="2377485"/>
            <a:ext cx="8352606" cy="412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Жеребьевка проводится случайным образом по следующим правилам:</a:t>
            </a:r>
          </a:p>
          <a:p>
            <a:pPr marL="457200" indent="-457200" algn="ctr">
              <a:lnSpc>
                <a:spcPct val="120000"/>
              </a:lnSpc>
              <a:buFontTx/>
              <a:buAutoNum type="arabicPeriod"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Каждый процесс, участвующий в жеребьевке,  инициирует генератор случайных чисел 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своим рангом</a:t>
            </a: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 получает случайное число. Для инициализации следует использовать функцию </a:t>
            </a:r>
            <a:r>
              <a:rPr lang="en-US" sz="20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srandom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для получения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случайного числа -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random().</a:t>
            </a:r>
          </a:p>
          <a:p>
            <a:pPr marL="457200" indent="-457200" algn="ctr">
              <a:lnSpc>
                <a:spcPct val="120000"/>
              </a:lnSpc>
              <a:buFontTx/>
              <a:buAutoNum type="arabicPeriod"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Процесс, которому выпало </a:t>
            </a:r>
            <a:r>
              <a:rPr lang="ru-RU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нечётное число, продолжает жить</a:t>
            </a: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Процесс, которому выпало </a:t>
            </a:r>
            <a:r>
              <a:rPr lang="ru-RU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чётное число, сообщает, что он считается мертвым</a:t>
            </a: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аккуратно</a:t>
            </a: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прекращает свою работу. </a:t>
            </a:r>
            <a:endParaRPr lang="en-US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ctr">
              <a:lnSpc>
                <a:spcPct val="120000"/>
              </a:lnSpc>
              <a:buFontTx/>
              <a:buAutoNum type="arabicPeriod"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ctr">
              <a:lnSpc>
                <a:spcPct val="120000"/>
              </a:lnSpc>
              <a:buFontTx/>
              <a:buAutoNum type="arabicPeriod"/>
            </a:pPr>
            <a:endParaRPr lang="en-US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36">
            <a:extLst>
              <a:ext uri="{FF2B5EF4-FFF2-40B4-BE49-F238E27FC236}">
                <a16:creationId xmlns:a16="http://schemas.microsoft.com/office/drawing/2014/main" xmlns="" id="{415CDA9A-ACC5-4D96-AC1F-DC4D2631849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Круговой алгоритм</a:t>
            </a:r>
          </a:p>
        </p:txBody>
      </p:sp>
    </p:spTree>
    <p:extLst>
      <p:ext uri="{BB962C8B-B14F-4D97-AF65-F5344CB8AC3E}">
        <p14:creationId xmlns:p14="http://schemas.microsoft.com/office/powerpoint/2010/main" val="12856981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504356" y="1772816"/>
            <a:ext cx="8496300" cy="482453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49165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голосования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635350" y="1844825"/>
            <a:ext cx="82089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Описание задачи</a:t>
            </a: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42" name="TextBox 14341"/>
          <p:cNvSpPr txBox="1"/>
          <p:nvPr/>
        </p:nvSpPr>
        <p:spPr>
          <a:xfrm>
            <a:off x="3648050" y="2377485"/>
            <a:ext cx="8352606" cy="4274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Считается, что вся полезная работа живущих процессов сводится к получению и приему сообщений, организующих голосование.</a:t>
            </a: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Сообщения ходят трёх типов: </a:t>
            </a:r>
          </a:p>
          <a:p>
            <a:pPr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«голосование» - предложение принять участие в  голосовании (включает в себя список номеров участников), </a:t>
            </a:r>
          </a:p>
          <a:p>
            <a:pPr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«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ок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» - ответ на предложение принять участие в голосовании, </a:t>
            </a:r>
          </a:p>
          <a:p>
            <a:pPr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«координатор» - сообщение, кто стал координатором (включает в себя номер координатора)</a:t>
            </a: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Инициатором голосования является процесс с рангом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RANK.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Для отладки считать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RANK = 1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ctr">
              <a:lnSpc>
                <a:spcPct val="120000"/>
              </a:lnSpc>
              <a:buAutoNum type="arabicPeriod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hteck 36">
            <a:extLst>
              <a:ext uri="{FF2B5EF4-FFF2-40B4-BE49-F238E27FC236}">
                <a16:creationId xmlns:a16="http://schemas.microsoft.com/office/drawing/2014/main" xmlns="" id="{97119B8F-78EB-4E48-A88D-4A525108E9E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79553" y="969544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Скалярное время Лэмпорта</a:t>
            </a:r>
          </a:p>
        </p:txBody>
      </p:sp>
      <p:sp>
        <p:nvSpPr>
          <p:cNvPr id="8" name="Rechteck 36">
            <a:extLst>
              <a:ext uri="{FF2B5EF4-FFF2-40B4-BE49-F238E27FC236}">
                <a16:creationId xmlns:a16="http://schemas.microsoft.com/office/drawing/2014/main" xmlns="" id="{415CDA9A-ACC5-4D96-AC1F-DC4D2631849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Круговой алгоритм</a:t>
            </a:r>
          </a:p>
        </p:txBody>
      </p:sp>
    </p:spTree>
    <p:extLst>
      <p:ext uri="{BB962C8B-B14F-4D97-AF65-F5344CB8AC3E}">
        <p14:creationId xmlns:p14="http://schemas.microsoft.com/office/powerpoint/2010/main" val="407922505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504356" y="1772816"/>
            <a:ext cx="8496300" cy="482453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49165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голосования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635350" y="1844825"/>
            <a:ext cx="82089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Описание задачи</a:t>
            </a: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42" name="TextBox 14341"/>
          <p:cNvSpPr txBox="1"/>
          <p:nvPr/>
        </p:nvSpPr>
        <p:spPr>
          <a:xfrm>
            <a:off x="3648050" y="2377485"/>
            <a:ext cx="835260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Процесс, принявший участие в голосовании, сразу после каждой попытки послать сообщение «голосование» выставляет время ожидания ответа на значение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TIMEOUT,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Для отладки принять 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TIMEOUT = </a:t>
            </a:r>
            <a:r>
              <a:rPr lang="ru-RU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секунды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>
              <a:lnSpc>
                <a:spcPct val="120000"/>
              </a:lnSpc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Считаем, что во время процесса голосования процессы не умирают и не возрождаются, поэтому процесс может запомнить, кто является следующим по кругу, для последующей передачи сообщения «координатор» без подтверждения. </a:t>
            </a:r>
          </a:p>
        </p:txBody>
      </p:sp>
      <p:sp>
        <p:nvSpPr>
          <p:cNvPr id="7" name="Rechteck 36">
            <a:extLst>
              <a:ext uri="{FF2B5EF4-FFF2-40B4-BE49-F238E27FC236}">
                <a16:creationId xmlns:a16="http://schemas.microsoft.com/office/drawing/2014/main" xmlns="" id="{97119B8F-78EB-4E48-A88D-4A525108E9E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79553" y="969544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Скалярное время Лэмпорта</a:t>
            </a:r>
          </a:p>
        </p:txBody>
      </p:sp>
      <p:sp>
        <p:nvSpPr>
          <p:cNvPr id="8" name="Rechteck 36">
            <a:extLst>
              <a:ext uri="{FF2B5EF4-FFF2-40B4-BE49-F238E27FC236}">
                <a16:creationId xmlns:a16="http://schemas.microsoft.com/office/drawing/2014/main" xmlns="" id="{415CDA9A-ACC5-4D96-AC1F-DC4D2631849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Круговой алгоритм</a:t>
            </a:r>
          </a:p>
        </p:txBody>
      </p:sp>
    </p:spTree>
    <p:extLst>
      <p:ext uri="{BB962C8B-B14F-4D97-AF65-F5344CB8AC3E}">
        <p14:creationId xmlns:p14="http://schemas.microsoft.com/office/powerpoint/2010/main" val="24946599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504356" y="1772816"/>
            <a:ext cx="8496300" cy="482453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49165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голосования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635350" y="1844825"/>
            <a:ext cx="82089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Описание задачи</a:t>
            </a: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42" name="TextBox 14341"/>
          <p:cNvSpPr txBox="1"/>
          <p:nvPr/>
        </p:nvSpPr>
        <p:spPr>
          <a:xfrm>
            <a:off x="3648050" y="2377485"/>
            <a:ext cx="8352606" cy="3382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Живущий процесс </a:t>
            </a:r>
            <a:r>
              <a:rPr lang="ru-RU" sz="2000" u="sng" dirty="0">
                <a:latin typeface="Arial" panose="020B0604020202020204" pitchFamily="34" charset="0"/>
                <a:cs typeface="Arial" panose="020B0604020202020204" pitchFamily="34" charset="0"/>
              </a:rPr>
              <a:t>аккуратно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завершает свою работу только в следующих ситуациях: </a:t>
            </a:r>
          </a:p>
          <a:p>
            <a:pPr algn="ctr">
              <a:lnSpc>
                <a:spcPct val="120000"/>
              </a:lnSpc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Если процесс, инициировавший голосование, обнаружил, что он остался один. </a:t>
            </a:r>
          </a:p>
          <a:p>
            <a:pPr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Если процесс принял сообщение «координатор», обнаружил, что это не он его посылал, и передал сообщение дальше по кругу.</a:t>
            </a:r>
          </a:p>
          <a:p>
            <a:pPr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Если процесс принял сообщение «координатор» и обнаружил, что это он его посылал,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hteck 36">
            <a:extLst>
              <a:ext uri="{FF2B5EF4-FFF2-40B4-BE49-F238E27FC236}">
                <a16:creationId xmlns:a16="http://schemas.microsoft.com/office/drawing/2014/main" xmlns="" id="{97119B8F-78EB-4E48-A88D-4A525108E9E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79553" y="969544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Скалярное время Лэмпорта</a:t>
            </a:r>
          </a:p>
        </p:txBody>
      </p:sp>
      <p:sp>
        <p:nvSpPr>
          <p:cNvPr id="8" name="Rechteck 36">
            <a:extLst>
              <a:ext uri="{FF2B5EF4-FFF2-40B4-BE49-F238E27FC236}">
                <a16:creationId xmlns:a16="http://schemas.microsoft.com/office/drawing/2014/main" xmlns="" id="{415CDA9A-ACC5-4D96-AC1F-DC4D2631849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Круговой алгоритм</a:t>
            </a:r>
          </a:p>
        </p:txBody>
      </p:sp>
    </p:spTree>
    <p:extLst>
      <p:ext uri="{BB962C8B-B14F-4D97-AF65-F5344CB8AC3E}">
        <p14:creationId xmlns:p14="http://schemas.microsoft.com/office/powerpoint/2010/main" val="148056107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504356" y="1772816"/>
            <a:ext cx="8496300" cy="482453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49165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голосования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635350" y="1844825"/>
            <a:ext cx="82089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Описание задачи</a:t>
            </a: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42" name="TextBox 14341"/>
          <p:cNvSpPr txBox="1"/>
          <p:nvPr/>
        </p:nvSpPr>
        <p:spPr>
          <a:xfrm>
            <a:off x="3648050" y="2377485"/>
            <a:ext cx="8352606" cy="3982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Все процессы обязаны полностью комментировать свои действия: какое сообщение от кого он получил, какое сообщение он кому послал, по какой причине он завершил работу.</a:t>
            </a: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Без подробной выдачи отладка и проверка программ будут крайне затруднительны! </a:t>
            </a: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Рекомендуется список процессов, принявших участие в голосовании, реализовывать с помощью массива, отмечая участников голосования  в соответствующих элементах массива.</a:t>
            </a: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Перед отправкой решения просьба протестировать свои программы при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N=6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N=9</a:t>
            </a:r>
          </a:p>
        </p:txBody>
      </p:sp>
      <p:sp>
        <p:nvSpPr>
          <p:cNvPr id="10" name="Rechteck 36">
            <a:extLst>
              <a:ext uri="{FF2B5EF4-FFF2-40B4-BE49-F238E27FC236}">
                <a16:creationId xmlns:a16="http://schemas.microsoft.com/office/drawing/2014/main" xmlns="" id="{75E11999-10E6-4EEA-AEE5-FCF23C3FF4CB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Круговой алгоритм</a:t>
            </a:r>
          </a:p>
        </p:txBody>
      </p:sp>
    </p:spTree>
    <p:extLst>
      <p:ext uri="{BB962C8B-B14F-4D97-AF65-F5344CB8AC3E}">
        <p14:creationId xmlns:p14="http://schemas.microsoft.com/office/powerpoint/2010/main" val="3927248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WordArt 3"/>
          <p:cNvSpPr>
            <a:spLocks noChangeArrowheads="1" noChangeShapeType="1" noTextEdit="1"/>
          </p:cNvSpPr>
          <p:nvPr/>
        </p:nvSpPr>
        <p:spPr bwMode="gray">
          <a:xfrm>
            <a:off x="8971209" y="1585914"/>
            <a:ext cx="1322388" cy="21669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ru-RU" sz="3600" kern="10"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C0C0C0"/>
                    </a:gs>
                    <a:gs pos="100000">
                      <a:srgbClr val="484848"/>
                    </a:gs>
                  </a:gsLst>
                  <a:lin ang="5400000" scaled="1"/>
                </a:gradFill>
                <a:effectLst>
                  <a:outerShdw dist="63500" dir="2212194" algn="ctr" rotWithShape="0">
                    <a:srgbClr val="808080">
                      <a:alpha val="50000"/>
                    </a:srgbClr>
                  </a:outerShdw>
                </a:effectLst>
                <a:latin typeface="Arial Black"/>
                <a:cs typeface="Arial" charset="0"/>
              </a:rPr>
              <a:t>?</a:t>
            </a:r>
          </a:p>
        </p:txBody>
      </p:sp>
      <p:sp>
        <p:nvSpPr>
          <p:cNvPr id="143362" name="WordArt 8"/>
          <p:cNvSpPr>
            <a:spLocks noChangeArrowheads="1" noChangeShapeType="1" noTextEdit="1"/>
          </p:cNvSpPr>
          <p:nvPr/>
        </p:nvSpPr>
        <p:spPr bwMode="gray">
          <a:xfrm>
            <a:off x="8153648" y="2536826"/>
            <a:ext cx="1004887" cy="16478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ru-RU" sz="3600" kern="10"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B4B4B4"/>
                    </a:gs>
                  </a:gsLst>
                  <a:lin ang="5400000" scaled="1"/>
                </a:gradFill>
                <a:effectLst>
                  <a:outerShdw dist="63500" dir="2212194" algn="ctr" rotWithShape="0">
                    <a:srgbClr val="808080">
                      <a:alpha val="50000"/>
                    </a:srgbClr>
                  </a:outerShdw>
                </a:effectLst>
                <a:latin typeface="Arial Black"/>
                <a:cs typeface="Arial" charset="0"/>
              </a:rPr>
              <a:t>?</a:t>
            </a:r>
          </a:p>
        </p:txBody>
      </p:sp>
      <p:sp>
        <p:nvSpPr>
          <p:cNvPr id="143363" name="WordArt 9"/>
          <p:cNvSpPr>
            <a:spLocks noChangeArrowheads="1" noChangeShapeType="1" noTextEdit="1"/>
          </p:cNvSpPr>
          <p:nvPr/>
        </p:nvSpPr>
        <p:spPr bwMode="gray">
          <a:xfrm>
            <a:off x="9590335" y="2484439"/>
            <a:ext cx="1546225" cy="2535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ru-RU" sz="3600" kern="10"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1C4FF"/>
                    </a:gs>
                    <a:gs pos="100000">
                      <a:srgbClr val="2A79FF"/>
                    </a:gs>
                  </a:gsLst>
                  <a:lin ang="5400000" scaled="1"/>
                </a:gradFill>
                <a:effectLst>
                  <a:outerShdw dist="63500" dir="2212194" algn="ctr" rotWithShape="0">
                    <a:srgbClr val="808080">
                      <a:alpha val="50000"/>
                    </a:srgbClr>
                  </a:outerShdw>
                </a:effectLst>
                <a:latin typeface="Arial Black"/>
                <a:cs typeface="Arial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56595197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Larissa-Design">
  <a:themeElements>
    <a:clrScheme name="Standard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2A79FF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74747"/>
      </a:accent6>
      <a:hlink>
        <a:srgbClr val="C00000"/>
      </a:hlink>
      <a:folHlink>
        <a:srgbClr val="FFC0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>
          <a:solidFill>
            <a:srgbClr val="A50021"/>
          </a:solidFill>
          <a:round/>
          <a:headEnd/>
          <a:tailEnd/>
        </a:ln>
      </a:spPr>
      <a:bodyPr/>
      <a:lstStyle>
        <a:defPPr>
          <a:defRPr dirty="0"/>
        </a:defPPr>
      </a:lstStyle>
    </a:sp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4_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gradFill rotWithShape="0">
          <a:gsLst>
            <a:gs pos="0">
              <a:srgbClr val="FFFFFF"/>
            </a:gs>
            <a:gs pos="100000">
              <a:srgbClr val="D9D9D9"/>
            </a:gs>
          </a:gsLst>
          <a:lin ang="5400000" scaled="1"/>
        </a:gradFill>
        <a:ln w="12700">
          <a:solidFill>
            <a:srgbClr val="C0C0C0"/>
          </a:solidFill>
          <a:miter lim="800000"/>
          <a:headEnd/>
          <a:tailEnd/>
        </a:ln>
        <a:effectLst>
          <a:outerShdw dist="38100" dir="2700000" algn="tl" rotWithShape="0">
            <a:srgbClr val="808080">
              <a:alpha val="39999"/>
            </a:srgbClr>
          </a:outerShdw>
        </a:effectLst>
      </a:spPr>
      <a:bodyPr lIns="216000" tIns="36000" rIns="216000" bIns="36000" anchor="ctr"/>
      <a:lstStyle>
        <a:defPPr defTabSz="457200" fontAlgn="base">
          <a:spcBef>
            <a:spcPct val="0"/>
          </a:spcBef>
          <a:spcAft>
            <a:spcPct val="0"/>
          </a:spcAft>
          <a:defRPr sz="2400" dirty="0">
            <a:solidFill>
              <a:prstClr val="black"/>
            </a:solidFill>
            <a:latin typeface="Arial" pitchFamily="34" charset="0"/>
            <a:cs typeface="Arial" pitchFamily="34" charset="0"/>
          </a:defRPr>
        </a:defPPr>
      </a:lstStyle>
    </a:spDef>
    <a:lnDef>
      <a:spPr>
        <a:ln w="50800">
          <a:solidFill>
            <a:srgbClr val="FF0000"/>
          </a:solidFill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472</Words>
  <Application>Microsoft Office PowerPoint</Application>
  <PresentationFormat>Широкоэкранный</PresentationFormat>
  <Paragraphs>73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8</vt:i4>
      </vt:variant>
    </vt:vector>
  </HeadingPairs>
  <TitlesOfParts>
    <vt:vector size="18" baseType="lpstr">
      <vt:lpstr>Arial Unicode MS</vt:lpstr>
      <vt:lpstr>Arial</vt:lpstr>
      <vt:lpstr>Arial Black</vt:lpstr>
      <vt:lpstr>Calibri</vt:lpstr>
      <vt:lpstr>Lucida Grande CY</vt:lpstr>
      <vt:lpstr>Symbol</vt:lpstr>
      <vt:lpstr>Wingdings</vt:lpstr>
      <vt:lpstr>Larissa-Design</vt:lpstr>
      <vt:lpstr>Тема Office</vt:lpstr>
      <vt:lpstr>4_Тема Office</vt:lpstr>
      <vt:lpstr>Тема 7</vt:lpstr>
      <vt:lpstr>Алгоритмы голосования</vt:lpstr>
      <vt:lpstr>Алгоритмы голосования</vt:lpstr>
      <vt:lpstr>Алгоритмы голосования</vt:lpstr>
      <vt:lpstr>Алгоритмы голосования</vt:lpstr>
      <vt:lpstr>Алгоритмы голосования</vt:lpstr>
      <vt:lpstr>Алгоритмы голосования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Операционные системы лекция 7</dc:title>
  <dc:creator/>
  <cp:lastModifiedBy>carpson</cp:lastModifiedBy>
  <cp:revision>3</cp:revision>
  <dcterms:created xsi:type="dcterms:W3CDTF">2016-02-27T09:01:20Z</dcterms:created>
  <dcterms:modified xsi:type="dcterms:W3CDTF">2026-04-18T03:28:32Z</dcterms:modified>
</cp:coreProperties>
</file>