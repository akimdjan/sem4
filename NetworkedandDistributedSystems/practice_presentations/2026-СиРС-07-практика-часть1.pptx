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72" r:id="rId1"/>
    <p:sldMasterId id="2147483678" r:id="rId2"/>
    <p:sldMasterId id="2147483681" r:id="rId3"/>
  </p:sldMasterIdLst>
  <p:notesMasterIdLst>
    <p:notesMasterId r:id="rId11"/>
  </p:notesMasterIdLst>
  <p:sldIdLst>
    <p:sldId id="445" r:id="rId4"/>
    <p:sldId id="454" r:id="rId5"/>
    <p:sldId id="462" r:id="rId6"/>
    <p:sldId id="463" r:id="rId7"/>
    <p:sldId id="464" r:id="rId8"/>
    <p:sldId id="465" r:id="rId9"/>
    <p:sldId id="271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60606"/>
    <a:srgbClr val="345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514" autoAdjust="0"/>
    <p:restoredTop sz="91335" autoAdjust="0"/>
  </p:normalViewPr>
  <p:slideViewPr>
    <p:cSldViewPr>
      <p:cViewPr varScale="1">
        <p:scale>
          <a:sx n="103" d="100"/>
          <a:sy n="103" d="100"/>
        </p:scale>
        <p:origin x="138" y="414"/>
      </p:cViewPr>
      <p:guideLst>
        <p:guide orient="horz" pos="261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9AABB-C9C6-43AA-902A-833FEB3847CE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ECF74-1CAC-4F88-AAFE-84C98DBB3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846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23CC4-FED0-46D8-B338-6A49B477DF9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7556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829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313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635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511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457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0A90FD3-1104-4C0E-BD19-C04AAB04E560}" type="slidenum">
              <a:rPr lang="de-DE" altLang="ru-RU" smtClean="0">
                <a:solidFill>
                  <a:prstClr val="black"/>
                </a:solidFill>
              </a:rPr>
              <a:pPr/>
              <a:t>7</a:t>
            </a:fld>
            <a:endParaRPr lang="de-DE" altLang="ru-RU">
              <a:solidFill>
                <a:prstClr val="black"/>
              </a:solidFill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4123936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430130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43371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056435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611339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64407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260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292343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936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2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973251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18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22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2" y="6410328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3429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8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3429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3429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732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sldNum="0" hdr="0" ftr="0" dt="0"/>
  <p:txStyles>
    <p:titleStyle>
      <a:lvl1pPr algn="ctr" defTabSz="342900" rtl="0" eaLnBrk="0" fontAlgn="base" hangingPunct="0">
        <a:spcBef>
          <a:spcPct val="0"/>
        </a:spcBef>
        <a:spcAft>
          <a:spcPct val="0"/>
        </a:spcAft>
        <a:defRPr kumimoji="1" sz="33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3429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6858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0287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3716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257175" indent="-257175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557213" indent="-214313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1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8572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1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2001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15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15430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15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Название 1"/>
          <p:cNvSpPr>
            <a:spLocks noGrp="1"/>
          </p:cNvSpPr>
          <p:nvPr>
            <p:ph type="title"/>
          </p:nvPr>
        </p:nvSpPr>
        <p:spPr>
          <a:xfrm>
            <a:off x="4026582" y="1035844"/>
            <a:ext cx="6372225" cy="463154"/>
          </a:xfrm>
        </p:spPr>
        <p:txBody>
          <a:bodyPr/>
          <a:lstStyle/>
          <a:p>
            <a:pPr algn="l" eaLnBrk="1" hangingPunct="1"/>
            <a:r>
              <a:rPr kumimoji="0" lang="ru-RU" sz="27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Тема</a:t>
            </a:r>
            <a:r>
              <a:rPr kumimoji="0" lang="en-US" sz="2700" b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2700" b="1" smtClean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7</a:t>
            </a:r>
            <a:endParaRPr kumimoji="0" lang="ru-RU" sz="2700" b="1" dirty="0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477831" y="1659733"/>
            <a:ext cx="6100669" cy="17033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3429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003794"/>
              </a:solidFill>
              <a:effectLst/>
              <a:uLnTx/>
              <a:uFillTx/>
              <a:latin typeface="Lucida Grande CY" pitchFamily="2" charset="-52"/>
              <a:ea typeface="+mn-ea"/>
              <a:cs typeface="Arial" pitchFamily="34" charset="0"/>
            </a:endParaRPr>
          </a:p>
          <a:p>
            <a:pPr marL="1080000" marR="0" lvl="0" indent="0" algn="l" defTabSz="3429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Практика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1080000" marR="0" lvl="0" indent="0" algn="l" defTabSz="3429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30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Алгоритм забияки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568258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48050" y="2377485"/>
            <a:ext cx="8352606" cy="3240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MPI-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программа должна эмулировать работу алгоритма забияки.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Считается, что мы запускаем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процессов 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5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Вначале производится жеребьевка: кому жить, а кому не жить. Процесс с рангом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RANK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в жеребьевке не участвует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 algn="ctr">
              <a:lnSpc>
                <a:spcPct val="120000"/>
              </a:lnSpc>
              <a:buAutoNum type="arabicPeriod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415CDA9A-ACC5-4D96-AC1F-DC4D263184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Алгоритм забияки 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(Bully algorithm)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45690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48050" y="2377485"/>
            <a:ext cx="8352606" cy="412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Жеребьевка проводится случайным образом по следующим правилам:</a:t>
            </a:r>
          </a:p>
          <a:p>
            <a:pPr marL="457200" indent="-457200" algn="ctr">
              <a:lnSpc>
                <a:spcPct val="120000"/>
              </a:lnSpc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Каждый процесс, участвующий в жеребьевке,  инициирует генератор случайных чисел </a:t>
            </a:r>
            <a:r>
              <a:rPr lang="ru-RU" sz="2000" u="sng" dirty="0">
                <a:latin typeface="Arial" panose="020B0604020202020204" pitchFamily="34" charset="0"/>
                <a:cs typeface="Arial" panose="020B0604020202020204" pitchFamily="34" charset="0"/>
              </a:rPr>
              <a:t>своим рангом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 получает случайное число. Для инициализации следует использовать функцию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srandom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для получения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случайного числа 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random().</a:t>
            </a:r>
          </a:p>
          <a:p>
            <a:pPr marL="457200" indent="-457200" algn="ctr">
              <a:lnSpc>
                <a:spcPct val="120000"/>
              </a:lnSpc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Процесс, которому выпало чётное число, продолжает жить. Процесс, которому выпало нечётное число, сообщает, что он считается мертвым и </a:t>
            </a:r>
            <a:r>
              <a:rPr lang="ru-RU" sz="2000" u="sng" dirty="0">
                <a:latin typeface="Arial" panose="020B0604020202020204" pitchFamily="34" charset="0"/>
                <a:cs typeface="Arial" panose="020B0604020202020204" pitchFamily="34" charset="0"/>
              </a:rPr>
              <a:t>аккуратно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прекращает свою работу.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ctr">
              <a:lnSpc>
                <a:spcPct val="120000"/>
              </a:lnSpc>
              <a:buAutoNum type="arabicPeriod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ctr">
              <a:lnSpc>
                <a:spcPct val="120000"/>
              </a:lnSpc>
              <a:buAutoNum type="arabicPeriod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415CDA9A-ACC5-4D96-AC1F-DC4D263184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Алгоритм забияки 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(Bully algorithm)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2379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48050" y="2377485"/>
            <a:ext cx="8352606" cy="3905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Считается, что вся полезная работа живущих процессов сводится к получению и приему сообщений, организующих голосование.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Сообщения ходят трёх типов: </a:t>
            </a:r>
          </a:p>
          <a:p>
            <a:pPr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«голосование» - предложение стать инициатором голосования, </a:t>
            </a:r>
          </a:p>
          <a:p>
            <a:pPr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«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ок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» - ответ на предложение стать инициатором, </a:t>
            </a:r>
          </a:p>
          <a:p>
            <a:pPr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«координатор» - сообщение, кто стал координатором (включает в себя номер координатора)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Первоначальным инициатором голосования является процесс с рангом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RANK.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отладки считать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RANK = 1.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ctr">
              <a:lnSpc>
                <a:spcPct val="120000"/>
              </a:lnSpc>
              <a:buAutoNum type="arabicPeriod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415CDA9A-ACC5-4D96-AC1F-DC4D263184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Алгоритм забияки 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(Bully algorithm)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1906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48050" y="2377485"/>
            <a:ext cx="8352606" cy="412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Процесс, ставший инициатором голосования, сразу после инициализации голосования выставляет время ожидания ответов на значение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TIMEOUT,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отладки принять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TIMEOUT = 5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секунд.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После получения хотя бы одного ответа «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ок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» он сбрасывает таймер.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Во время ожидания он не должен забывать отвечать на другие предложения стать инициатором голосования.</a:t>
            </a: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Живущий процесс </a:t>
            </a:r>
            <a:r>
              <a:rPr lang="ru-RU" sz="2000" u="sng" dirty="0">
                <a:latin typeface="Arial" panose="020B0604020202020204" pitchFamily="34" charset="0"/>
                <a:cs typeface="Arial" panose="020B0604020202020204" pitchFamily="34" charset="0"/>
              </a:rPr>
              <a:t>аккуратно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завершает свою работу только после принятия сообщения «координатор», если он не является новым координатором, либо после рассылки всем процессам сообщения «координатор», если он стал новым координатором.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415CDA9A-ACC5-4D96-AC1F-DC4D263184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Алгоритм забияки 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(Bully algorithm)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9566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Алгоритмы голосования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48050" y="2377485"/>
            <a:ext cx="8352606" cy="3382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Все процессы обязаны полностью комментировать свои действия: какое сообщение от кого он получил и какое сообщение он кому послал.</a:t>
            </a: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Без подробной выдачи отладка и проверка программ будут крайне затруднительны! </a:t>
            </a: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Перед отправкой решения просьба протестировать свои программы при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N=6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N=9</a:t>
            </a:r>
          </a:p>
        </p:txBody>
      </p:sp>
      <p:sp>
        <p:nvSpPr>
          <p:cNvPr id="7" name="Rechteck 36">
            <a:extLst>
              <a:ext uri="{FF2B5EF4-FFF2-40B4-BE49-F238E27FC236}">
                <a16:creationId xmlns:a16="http://schemas.microsoft.com/office/drawing/2014/main" xmlns="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8" name="Rechteck 36">
            <a:extLst>
              <a:ext uri="{FF2B5EF4-FFF2-40B4-BE49-F238E27FC236}">
                <a16:creationId xmlns:a16="http://schemas.microsoft.com/office/drawing/2014/main" xmlns="" id="{415CDA9A-ACC5-4D96-AC1F-DC4D263184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026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Алгоритм забияки 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(Bully algorithm)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80803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WordArt 3"/>
          <p:cNvSpPr>
            <a:spLocks noChangeArrowheads="1" noChangeShapeType="1" noTextEdit="1"/>
          </p:cNvSpPr>
          <p:nvPr/>
        </p:nvSpPr>
        <p:spPr bwMode="gray">
          <a:xfrm>
            <a:off x="8971209" y="1585914"/>
            <a:ext cx="1322388" cy="21669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C0C0C0"/>
                    </a:gs>
                    <a:gs pos="100000">
                      <a:srgbClr val="484848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2" name="WordArt 8"/>
          <p:cNvSpPr>
            <a:spLocks noChangeArrowheads="1" noChangeShapeType="1" noTextEdit="1"/>
          </p:cNvSpPr>
          <p:nvPr/>
        </p:nvSpPr>
        <p:spPr bwMode="gray">
          <a:xfrm>
            <a:off x="8153648" y="2536826"/>
            <a:ext cx="1004887" cy="1647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B4B4B4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3" name="WordArt 9"/>
          <p:cNvSpPr>
            <a:spLocks noChangeArrowheads="1" noChangeShapeType="1" noTextEdit="1"/>
          </p:cNvSpPr>
          <p:nvPr/>
        </p:nvSpPr>
        <p:spPr bwMode="gray">
          <a:xfrm>
            <a:off x="9590335" y="2484439"/>
            <a:ext cx="1546225" cy="2535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1C4FF"/>
                    </a:gs>
                    <a:gs pos="100000">
                      <a:srgbClr val="2A79FF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56595197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4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gradFill rotWithShape="0">
          <a:gsLst>
            <a:gs pos="0">
              <a:srgbClr val="FFFFFF"/>
            </a:gs>
            <a:gs pos="100000">
              <a:srgbClr val="D9D9D9"/>
            </a:gs>
          </a:gsLst>
          <a:lin ang="5400000" scaled="1"/>
        </a:gradFill>
        <a:ln w="12700">
          <a:solidFill>
            <a:srgbClr val="C0C0C0"/>
          </a:solidFill>
          <a:miter lim="800000"/>
          <a:headEnd/>
          <a:tailEnd/>
        </a:ln>
        <a:effectLst>
          <a:outerShdw dist="38100" dir="2700000" algn="tl" rotWithShape="0">
            <a:srgbClr val="808080">
              <a:alpha val="39999"/>
            </a:srgbClr>
          </a:outerShdw>
        </a:effectLst>
      </a:spPr>
      <a:bodyPr lIns="216000" tIns="36000" rIns="216000" bIns="36000" anchor="ctr"/>
      <a:lstStyle>
        <a:defPPr defTabSz="457200" fontAlgn="base">
          <a:spcBef>
            <a:spcPct val="0"/>
          </a:spcBef>
          <a:spcAft>
            <a:spcPct val="0"/>
          </a:spcAft>
          <a:defRPr sz="2400" dirty="0">
            <a:solidFill>
              <a:prstClr val="black"/>
            </a:solidFill>
            <a:latin typeface="Arial" pitchFamily="34" charset="0"/>
            <a:cs typeface="Arial" pitchFamily="34" charset="0"/>
          </a:defRPr>
        </a:defPPr>
      </a:lstStyle>
    </a:spDef>
    <a:lnDef>
      <a:spPr>
        <a:ln w="50800">
          <a:solidFill>
            <a:srgbClr val="FF0000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</Words>
  <Application>Microsoft Office PowerPoint</Application>
  <PresentationFormat>Широкоэкранный</PresentationFormat>
  <Paragraphs>66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7</vt:i4>
      </vt:variant>
    </vt:vector>
  </HeadingPairs>
  <TitlesOfParts>
    <vt:vector size="17" baseType="lpstr">
      <vt:lpstr>Arial Unicode MS</vt:lpstr>
      <vt:lpstr>Arial</vt:lpstr>
      <vt:lpstr>Arial Black</vt:lpstr>
      <vt:lpstr>Calibri</vt:lpstr>
      <vt:lpstr>Lucida Grande CY</vt:lpstr>
      <vt:lpstr>Symbol</vt:lpstr>
      <vt:lpstr>Wingdings</vt:lpstr>
      <vt:lpstr>Larissa-Design</vt:lpstr>
      <vt:lpstr>Тема Office</vt:lpstr>
      <vt:lpstr>4_Тема Office</vt:lpstr>
      <vt:lpstr>Тема 7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Алгоритмы голосования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Операционные системы лекция 7</dc:title>
  <dc:creator/>
  <cp:lastModifiedBy/>
  <cp:revision>1</cp:revision>
  <dcterms:created xsi:type="dcterms:W3CDTF">2016-02-27T09:01:20Z</dcterms:created>
  <dcterms:modified xsi:type="dcterms:W3CDTF">2026-04-07T02:35:44Z</dcterms:modified>
</cp:coreProperties>
</file>